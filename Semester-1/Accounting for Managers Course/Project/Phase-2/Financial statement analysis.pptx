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 id="2147483704" r:id="rId6"/>
    <p:sldMasterId id="2147483721" r:id="rId7"/>
  </p:sldMasterIdLst>
  <p:notesMasterIdLst>
    <p:notesMasterId r:id="rId48"/>
  </p:notesMasterIdLst>
  <p:handoutMasterIdLst>
    <p:handoutMasterId r:id="rId49"/>
  </p:handoutMasterIdLst>
  <p:sldIdLst>
    <p:sldId id="257" r:id="rId8"/>
    <p:sldId id="365" r:id="rId9"/>
    <p:sldId id="441" r:id="rId10"/>
    <p:sldId id="443" r:id="rId11"/>
    <p:sldId id="267" r:id="rId12"/>
    <p:sldId id="311" r:id="rId13"/>
    <p:sldId id="312" r:id="rId14"/>
    <p:sldId id="307" r:id="rId15"/>
    <p:sldId id="258" r:id="rId16"/>
    <p:sldId id="291" r:id="rId17"/>
    <p:sldId id="321" r:id="rId18"/>
    <p:sldId id="322" r:id="rId19"/>
    <p:sldId id="320" r:id="rId20"/>
    <p:sldId id="364" r:id="rId21"/>
    <p:sldId id="298" r:id="rId22"/>
    <p:sldId id="323" r:id="rId23"/>
    <p:sldId id="363" r:id="rId24"/>
    <p:sldId id="261" r:id="rId25"/>
    <p:sldId id="325" r:id="rId26"/>
    <p:sldId id="367" r:id="rId27"/>
    <p:sldId id="368" r:id="rId28"/>
    <p:sldId id="369" r:id="rId29"/>
    <p:sldId id="283" r:id="rId30"/>
    <p:sldId id="284" r:id="rId31"/>
    <p:sldId id="274" r:id="rId32"/>
    <p:sldId id="275" r:id="rId33"/>
    <p:sldId id="331" r:id="rId34"/>
    <p:sldId id="329" r:id="rId35"/>
    <p:sldId id="277" r:id="rId36"/>
    <p:sldId id="315" r:id="rId37"/>
    <p:sldId id="370" r:id="rId38"/>
    <p:sldId id="314" r:id="rId39"/>
    <p:sldId id="294" r:id="rId40"/>
    <p:sldId id="313" r:id="rId41"/>
    <p:sldId id="371" r:id="rId42"/>
    <p:sldId id="295" r:id="rId43"/>
    <p:sldId id="316" r:id="rId44"/>
    <p:sldId id="332" r:id="rId45"/>
    <p:sldId id="333" r:id="rId46"/>
    <p:sldId id="317"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816">
          <p15:clr>
            <a:srgbClr val="A4A3A4"/>
          </p15:clr>
        </p15:guide>
        <p15:guide id="3" orient="horz" pos="96">
          <p15:clr>
            <a:srgbClr val="A4A3A4"/>
          </p15:clr>
        </p15:guide>
        <p15:guide id="4" orient="horz" pos="912">
          <p15:clr>
            <a:srgbClr val="A4A3A4"/>
          </p15:clr>
        </p15:guide>
        <p15:guide id="5" orient="horz" pos="3888">
          <p15:clr>
            <a:srgbClr val="A4A3A4"/>
          </p15:clr>
        </p15:guide>
        <p15:guide id="6" orient="horz" pos="1413">
          <p15:clr>
            <a:srgbClr val="A4A3A4"/>
          </p15:clr>
        </p15:guide>
        <p15:guide id="7" pos="2880">
          <p15:clr>
            <a:srgbClr val="A4A3A4"/>
          </p15:clr>
        </p15:guide>
        <p15:guide id="8" pos="240">
          <p15:clr>
            <a:srgbClr val="A4A3A4"/>
          </p15:clr>
        </p15:guide>
        <p15:guide id="9" pos="55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F7F2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2" autoAdjust="0"/>
    <p:restoredTop sz="93417" autoAdjust="0"/>
  </p:normalViewPr>
  <p:slideViewPr>
    <p:cSldViewPr>
      <p:cViewPr varScale="1">
        <p:scale>
          <a:sx n="63" d="100"/>
          <a:sy n="63" d="100"/>
        </p:scale>
        <p:origin x="984" y="54"/>
      </p:cViewPr>
      <p:guideLst>
        <p:guide orient="horz" pos="2160"/>
        <p:guide orient="horz" pos="816"/>
        <p:guide orient="horz" pos="96"/>
        <p:guide orient="horz" pos="912"/>
        <p:guide orient="horz" pos="3888"/>
        <p:guide orient="horz" pos="1413"/>
        <p:guide pos="2880"/>
        <p:guide pos="240"/>
        <p:guide pos="5520"/>
      </p:guideLst>
    </p:cSldViewPr>
  </p:slideViewPr>
  <p:notesTextViewPr>
    <p:cViewPr>
      <p:scale>
        <a:sx n="75" d="100"/>
        <a:sy n="75" d="100"/>
      </p:scale>
      <p:origin x="0" y="0"/>
    </p:cViewPr>
  </p:notesTextViewPr>
  <p:sorterViewPr>
    <p:cViewPr>
      <p:scale>
        <a:sx n="100" d="100"/>
        <a:sy n="100" d="100"/>
      </p:scale>
      <p:origin x="0" y="0"/>
    </p:cViewPr>
  </p:sorterViewPr>
  <p:notesViewPr>
    <p:cSldViewPr showGuides="1">
      <p:cViewPr varScale="1">
        <p:scale>
          <a:sx n="83" d="100"/>
          <a:sy n="83" d="100"/>
        </p:scale>
        <p:origin x="-3816"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a Ramadan" userId="c0ecf777-ba1c-427e-9e8a-21cf1c8cb74e" providerId="ADAL" clId="{A62C7648-6038-43EF-9526-7AC95784EFEB}"/>
    <pc:docChg chg="custSel modSld">
      <pc:chgData name="Maha Ramadan" userId="c0ecf777-ba1c-427e-9e8a-21cf1c8cb74e" providerId="ADAL" clId="{A62C7648-6038-43EF-9526-7AC95784EFEB}" dt="2026-04-18T22:51:17.238" v="48" actId="20577"/>
      <pc:docMkLst>
        <pc:docMk/>
      </pc:docMkLst>
      <pc:sldChg chg="modSp mod">
        <pc:chgData name="Maha Ramadan" userId="c0ecf777-ba1c-427e-9e8a-21cf1c8cb74e" providerId="ADAL" clId="{A62C7648-6038-43EF-9526-7AC95784EFEB}" dt="2026-04-18T22:51:17.238" v="48" actId="20577"/>
        <pc:sldMkLst>
          <pc:docMk/>
          <pc:sldMk cId="4122053461" sldId="257"/>
        </pc:sldMkLst>
        <pc:spChg chg="mod">
          <ac:chgData name="Maha Ramadan" userId="c0ecf777-ba1c-427e-9e8a-21cf1c8cb74e" providerId="ADAL" clId="{A62C7648-6038-43EF-9526-7AC95784EFEB}" dt="2026-04-18T22:51:17.238" v="48" actId="20577"/>
          <ac:spMkLst>
            <pc:docMk/>
            <pc:sldMk cId="4122053461" sldId="257"/>
            <ac:spMk id="3" creationId="{6C5B7F3E-5D27-4F63-94AC-D264145D7F9F}"/>
          </ac:spMkLst>
        </pc:spChg>
        <pc:spChg chg="mod">
          <ac:chgData name="Maha Ramadan" userId="c0ecf777-ba1c-427e-9e8a-21cf1c8cb74e" providerId="ADAL" clId="{A62C7648-6038-43EF-9526-7AC95784EFEB}" dt="2026-04-18T22:51:04.763" v="29" actId="20577"/>
          <ac:spMkLst>
            <pc:docMk/>
            <pc:sldMk cId="4122053461" sldId="257"/>
            <ac:spMk id="4" creationId="{BAC7DF7E-99FC-4B1F-A6BD-E6D4E544B60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277A44-C423-4CB7-AC97-A3A279E3D52D}" type="doc">
      <dgm:prSet loTypeId="urn:microsoft.com/office/officeart/2005/8/layout/lProcess2" loCatId="list" qsTypeId="urn:microsoft.com/office/officeart/2005/8/quickstyle/3d1" qsCatId="3D" csTypeId="urn:microsoft.com/office/officeart/2005/8/colors/colorful3" csCatId="colorful" phldr="1"/>
      <dgm:spPr/>
      <dgm:t>
        <a:bodyPr/>
        <a:lstStyle/>
        <a:p>
          <a:endParaRPr lang="en-US"/>
        </a:p>
      </dgm:t>
    </dgm:pt>
    <dgm:pt modelId="{BAE79261-5FA9-4D48-BEBA-FA9BAE66A0DE}">
      <dgm:prSet phldrT="[Text]" custT="1"/>
      <dgm:spPr/>
      <dgm:t>
        <a:bodyPr/>
        <a:lstStyle/>
        <a:p>
          <a:r>
            <a:rPr lang="en-US" sz="2000" dirty="0"/>
            <a:t>Activity Ratios</a:t>
          </a:r>
        </a:p>
      </dgm:t>
    </dgm:pt>
    <dgm:pt modelId="{39C19027-1936-451D-A0EB-13BF257D3666}" type="parTrans" cxnId="{ABF3A837-87C4-4BBA-9F25-6F0A7FE7BF9A}">
      <dgm:prSet/>
      <dgm:spPr/>
      <dgm:t>
        <a:bodyPr/>
        <a:lstStyle/>
        <a:p>
          <a:endParaRPr lang="en-US"/>
        </a:p>
      </dgm:t>
    </dgm:pt>
    <dgm:pt modelId="{A777B6AF-FD11-41BD-AFD4-CD4104CD320D}" type="sibTrans" cxnId="{ABF3A837-87C4-4BBA-9F25-6F0A7FE7BF9A}">
      <dgm:prSet/>
      <dgm:spPr/>
      <dgm:t>
        <a:bodyPr/>
        <a:lstStyle/>
        <a:p>
          <a:endParaRPr lang="en-US"/>
        </a:p>
      </dgm:t>
    </dgm:pt>
    <dgm:pt modelId="{431E5CF9-1CC6-4C87-AD59-7EA6C53C5B27}">
      <dgm:prSet phldrT="[Text]" custT="1"/>
      <dgm:spPr/>
      <dgm:t>
        <a:bodyPr/>
        <a:lstStyle/>
        <a:p>
          <a:r>
            <a:rPr lang="en-US" sz="1600" b="0" dirty="0"/>
            <a:t>Effectiveness in putting its asset investment to use.</a:t>
          </a:r>
        </a:p>
      </dgm:t>
    </dgm:pt>
    <dgm:pt modelId="{4A0E04F9-C304-46E2-BBC2-19EBD17D0601}" type="parTrans" cxnId="{AAB52515-35AB-46FE-A921-67AB63C0337C}">
      <dgm:prSet/>
      <dgm:spPr/>
      <dgm:t>
        <a:bodyPr/>
        <a:lstStyle/>
        <a:p>
          <a:endParaRPr lang="en-US"/>
        </a:p>
      </dgm:t>
    </dgm:pt>
    <dgm:pt modelId="{5D0C4E25-F14D-48B1-94F2-515D06C0DF99}" type="sibTrans" cxnId="{AAB52515-35AB-46FE-A921-67AB63C0337C}">
      <dgm:prSet/>
      <dgm:spPr/>
      <dgm:t>
        <a:bodyPr/>
        <a:lstStyle/>
        <a:p>
          <a:endParaRPr lang="en-US"/>
        </a:p>
      </dgm:t>
    </dgm:pt>
    <dgm:pt modelId="{45532201-A49B-4FBB-B57D-7EAD5BC9A2F6}">
      <dgm:prSet phldrT="[Text]" custT="1"/>
      <dgm:spPr/>
      <dgm:t>
        <a:bodyPr/>
        <a:lstStyle/>
        <a:p>
          <a:r>
            <a:rPr lang="en-US" sz="2000" dirty="0"/>
            <a:t>Liquidity Ratios</a:t>
          </a:r>
        </a:p>
      </dgm:t>
    </dgm:pt>
    <dgm:pt modelId="{DDFDCA2D-B988-4672-B121-9EDF21EEE64E}" type="parTrans" cxnId="{DCE480AD-8061-4D0C-819D-FF8B0B27E6A9}">
      <dgm:prSet/>
      <dgm:spPr/>
      <dgm:t>
        <a:bodyPr/>
        <a:lstStyle/>
        <a:p>
          <a:endParaRPr lang="en-US"/>
        </a:p>
      </dgm:t>
    </dgm:pt>
    <dgm:pt modelId="{68DBF404-A488-4FCF-AE4C-84ABA7FDFBE6}" type="sibTrans" cxnId="{DCE480AD-8061-4D0C-819D-FF8B0B27E6A9}">
      <dgm:prSet/>
      <dgm:spPr/>
      <dgm:t>
        <a:bodyPr/>
        <a:lstStyle/>
        <a:p>
          <a:endParaRPr lang="en-US"/>
        </a:p>
      </dgm:t>
    </dgm:pt>
    <dgm:pt modelId="{A3A5B9C6-675E-46EC-99FE-2F9C279765BF}">
      <dgm:prSet phldrT="[Text]" custT="1"/>
      <dgm:spPr/>
      <dgm:t>
        <a:bodyPr/>
        <a:lstStyle/>
        <a:p>
          <a:r>
            <a:rPr lang="en-US" sz="1600" b="0" dirty="0"/>
            <a:t>Ability to meet short-term, immediate obligations.</a:t>
          </a:r>
        </a:p>
      </dgm:t>
    </dgm:pt>
    <dgm:pt modelId="{F61107D0-7F66-4044-8D36-3935F7BC2A4F}" type="parTrans" cxnId="{01627D27-444E-4E33-8B29-02EAA0F19C74}">
      <dgm:prSet/>
      <dgm:spPr/>
      <dgm:t>
        <a:bodyPr/>
        <a:lstStyle/>
        <a:p>
          <a:endParaRPr lang="en-US"/>
        </a:p>
      </dgm:t>
    </dgm:pt>
    <dgm:pt modelId="{4394645A-93C7-4FB1-AADD-CF5C0C0B29D6}" type="sibTrans" cxnId="{01627D27-444E-4E33-8B29-02EAA0F19C74}">
      <dgm:prSet/>
      <dgm:spPr/>
      <dgm:t>
        <a:bodyPr/>
        <a:lstStyle/>
        <a:p>
          <a:endParaRPr lang="en-US"/>
        </a:p>
      </dgm:t>
    </dgm:pt>
    <dgm:pt modelId="{35DE8EC0-3C12-4EBA-8783-D0EF8F9EFDE3}">
      <dgm:prSet phldrT="[Text]" custT="1"/>
      <dgm:spPr/>
      <dgm:t>
        <a:bodyPr/>
        <a:lstStyle/>
        <a:p>
          <a:r>
            <a:rPr lang="en-US" sz="2000" dirty="0"/>
            <a:t>Solvency Ratios</a:t>
          </a:r>
        </a:p>
      </dgm:t>
    </dgm:pt>
    <dgm:pt modelId="{2BCE3E9A-44E7-4AC2-9439-E8479522C06B}" type="parTrans" cxnId="{91A14353-0B61-483B-B6AA-A50993E0A54D}">
      <dgm:prSet/>
      <dgm:spPr/>
      <dgm:t>
        <a:bodyPr/>
        <a:lstStyle/>
        <a:p>
          <a:endParaRPr lang="en-US"/>
        </a:p>
      </dgm:t>
    </dgm:pt>
    <dgm:pt modelId="{DA7DD326-DC27-44DC-A484-757AD4A4599F}" type="sibTrans" cxnId="{91A14353-0B61-483B-B6AA-A50993E0A54D}">
      <dgm:prSet/>
      <dgm:spPr/>
      <dgm:t>
        <a:bodyPr/>
        <a:lstStyle/>
        <a:p>
          <a:endParaRPr lang="en-US"/>
        </a:p>
      </dgm:t>
    </dgm:pt>
    <dgm:pt modelId="{DE3DDAF8-EC68-4082-95ED-BFB31D09A2E2}">
      <dgm:prSet phldrT="[Text]" custT="1"/>
      <dgm:spPr/>
      <dgm:t>
        <a:bodyPr/>
        <a:lstStyle/>
        <a:p>
          <a:r>
            <a:rPr lang="en-US" sz="1600" dirty="0"/>
            <a:t>Ability to satisfy debt obligations.</a:t>
          </a:r>
        </a:p>
      </dgm:t>
    </dgm:pt>
    <dgm:pt modelId="{4F5B6267-5875-4502-9072-87E79557E33B}" type="parTrans" cxnId="{70E01E9E-0DD6-4E61-B91C-4A1B84A592DD}">
      <dgm:prSet/>
      <dgm:spPr/>
      <dgm:t>
        <a:bodyPr/>
        <a:lstStyle/>
        <a:p>
          <a:endParaRPr lang="en-US"/>
        </a:p>
      </dgm:t>
    </dgm:pt>
    <dgm:pt modelId="{F856F030-4641-4B8C-B262-068A6BFF884D}" type="sibTrans" cxnId="{70E01E9E-0DD6-4E61-B91C-4A1B84A592DD}">
      <dgm:prSet/>
      <dgm:spPr/>
      <dgm:t>
        <a:bodyPr/>
        <a:lstStyle/>
        <a:p>
          <a:endParaRPr lang="en-US"/>
        </a:p>
      </dgm:t>
    </dgm:pt>
    <dgm:pt modelId="{1B339AA5-4F0A-4B33-A342-902FA37B1F51}">
      <dgm:prSet phldrT="[Text]" custT="1"/>
      <dgm:spPr/>
      <dgm:t>
        <a:bodyPr/>
        <a:lstStyle/>
        <a:p>
          <a:r>
            <a:rPr lang="en-US" sz="2000" dirty="0"/>
            <a:t>Profitability Ratios</a:t>
          </a:r>
        </a:p>
      </dgm:t>
    </dgm:pt>
    <dgm:pt modelId="{1B2C9BC9-5E52-47A4-82B3-C0819FC4344A}" type="parTrans" cxnId="{41749F4B-6216-4B0C-A6E5-4512754E34A3}">
      <dgm:prSet/>
      <dgm:spPr/>
      <dgm:t>
        <a:bodyPr/>
        <a:lstStyle/>
        <a:p>
          <a:endParaRPr lang="en-US"/>
        </a:p>
      </dgm:t>
    </dgm:pt>
    <dgm:pt modelId="{47B9F7D6-3EE5-469E-BA4F-81206E8A598B}" type="sibTrans" cxnId="{41749F4B-6216-4B0C-A6E5-4512754E34A3}">
      <dgm:prSet/>
      <dgm:spPr/>
      <dgm:t>
        <a:bodyPr/>
        <a:lstStyle/>
        <a:p>
          <a:endParaRPr lang="en-US"/>
        </a:p>
      </dgm:t>
    </dgm:pt>
    <dgm:pt modelId="{9158D0F7-FF41-47A0-918E-460F0DC1BEEC}">
      <dgm:prSet phldrT="[Text]" custT="1"/>
      <dgm:spPr/>
      <dgm:t>
        <a:bodyPr/>
        <a:lstStyle/>
        <a:p>
          <a:r>
            <a:rPr lang="en-US" sz="1600" dirty="0"/>
            <a:t>Ability to manage expenses to produce profits from sales.</a:t>
          </a:r>
        </a:p>
      </dgm:t>
    </dgm:pt>
    <dgm:pt modelId="{2927ED99-3E04-43B0-8389-62876D39878D}" type="parTrans" cxnId="{387A80E2-0C35-4B17-936A-A8DDEF0E17D3}">
      <dgm:prSet/>
      <dgm:spPr/>
      <dgm:t>
        <a:bodyPr/>
        <a:lstStyle/>
        <a:p>
          <a:endParaRPr lang="en-US"/>
        </a:p>
      </dgm:t>
    </dgm:pt>
    <dgm:pt modelId="{A29C14EE-6018-4FC8-A2C8-280CD6021619}" type="sibTrans" cxnId="{387A80E2-0C35-4B17-936A-A8DDEF0E17D3}">
      <dgm:prSet/>
      <dgm:spPr/>
      <dgm:t>
        <a:bodyPr/>
        <a:lstStyle/>
        <a:p>
          <a:endParaRPr lang="en-US"/>
        </a:p>
      </dgm:t>
    </dgm:pt>
    <dgm:pt modelId="{ECAD1729-1DC8-435C-94D6-1184425ED32D}" type="pres">
      <dgm:prSet presAssocID="{4B277A44-C423-4CB7-AC97-A3A279E3D52D}" presName="theList" presStyleCnt="0">
        <dgm:presLayoutVars>
          <dgm:dir/>
          <dgm:animLvl val="lvl"/>
          <dgm:resizeHandles val="exact"/>
        </dgm:presLayoutVars>
      </dgm:prSet>
      <dgm:spPr/>
    </dgm:pt>
    <dgm:pt modelId="{CC88BC1B-8F88-42B3-BEB1-C00EE98C24A3}" type="pres">
      <dgm:prSet presAssocID="{BAE79261-5FA9-4D48-BEBA-FA9BAE66A0DE}" presName="compNode" presStyleCnt="0"/>
      <dgm:spPr/>
    </dgm:pt>
    <dgm:pt modelId="{78B37FC6-8A1F-42EB-AA60-99EC06DB1F13}" type="pres">
      <dgm:prSet presAssocID="{BAE79261-5FA9-4D48-BEBA-FA9BAE66A0DE}" presName="aNode" presStyleLbl="bgShp" presStyleIdx="0" presStyleCnt="4"/>
      <dgm:spPr/>
    </dgm:pt>
    <dgm:pt modelId="{8DF89AB2-FC34-4E84-B697-220659328D79}" type="pres">
      <dgm:prSet presAssocID="{BAE79261-5FA9-4D48-BEBA-FA9BAE66A0DE}" presName="textNode" presStyleLbl="bgShp" presStyleIdx="0" presStyleCnt="4"/>
      <dgm:spPr/>
    </dgm:pt>
    <dgm:pt modelId="{C9A33F00-FBD5-435E-A0D3-E69DFC4D54D7}" type="pres">
      <dgm:prSet presAssocID="{BAE79261-5FA9-4D48-BEBA-FA9BAE66A0DE}" presName="compChildNode" presStyleCnt="0"/>
      <dgm:spPr/>
    </dgm:pt>
    <dgm:pt modelId="{9B222766-0D5D-41CE-B37A-0D464B0651C9}" type="pres">
      <dgm:prSet presAssocID="{BAE79261-5FA9-4D48-BEBA-FA9BAE66A0DE}" presName="theInnerList" presStyleCnt="0"/>
      <dgm:spPr/>
    </dgm:pt>
    <dgm:pt modelId="{1D0EF1E1-948F-44EB-8115-115CDCBF5E47}" type="pres">
      <dgm:prSet presAssocID="{431E5CF9-1CC6-4C87-AD59-7EA6C53C5B27}" presName="childNode" presStyleLbl="node1" presStyleIdx="0" presStyleCnt="4">
        <dgm:presLayoutVars>
          <dgm:bulletEnabled val="1"/>
        </dgm:presLayoutVars>
      </dgm:prSet>
      <dgm:spPr/>
    </dgm:pt>
    <dgm:pt modelId="{0B40E2D9-F78F-4B59-A9D2-5BF33819E2E0}" type="pres">
      <dgm:prSet presAssocID="{BAE79261-5FA9-4D48-BEBA-FA9BAE66A0DE}" presName="aSpace" presStyleCnt="0"/>
      <dgm:spPr/>
    </dgm:pt>
    <dgm:pt modelId="{EA9ABD41-F0FC-429D-87E6-F6780E0AEA9E}" type="pres">
      <dgm:prSet presAssocID="{45532201-A49B-4FBB-B57D-7EAD5BC9A2F6}" presName="compNode" presStyleCnt="0"/>
      <dgm:spPr/>
    </dgm:pt>
    <dgm:pt modelId="{9F428561-ABB5-46B6-B3F4-7F569C87BA47}" type="pres">
      <dgm:prSet presAssocID="{45532201-A49B-4FBB-B57D-7EAD5BC9A2F6}" presName="aNode" presStyleLbl="bgShp" presStyleIdx="1" presStyleCnt="4"/>
      <dgm:spPr/>
    </dgm:pt>
    <dgm:pt modelId="{1AF523FF-7861-40CD-8F33-2924F9E35983}" type="pres">
      <dgm:prSet presAssocID="{45532201-A49B-4FBB-B57D-7EAD5BC9A2F6}" presName="textNode" presStyleLbl="bgShp" presStyleIdx="1" presStyleCnt="4"/>
      <dgm:spPr/>
    </dgm:pt>
    <dgm:pt modelId="{71D0291A-9109-4506-AE46-7ED653857E21}" type="pres">
      <dgm:prSet presAssocID="{45532201-A49B-4FBB-B57D-7EAD5BC9A2F6}" presName="compChildNode" presStyleCnt="0"/>
      <dgm:spPr/>
    </dgm:pt>
    <dgm:pt modelId="{52B8C7CF-1577-47A5-BAB9-E5B5648F6E3A}" type="pres">
      <dgm:prSet presAssocID="{45532201-A49B-4FBB-B57D-7EAD5BC9A2F6}" presName="theInnerList" presStyleCnt="0"/>
      <dgm:spPr/>
    </dgm:pt>
    <dgm:pt modelId="{515717F4-8D0B-4BF6-AD6A-2876714B2815}" type="pres">
      <dgm:prSet presAssocID="{A3A5B9C6-675E-46EC-99FE-2F9C279765BF}" presName="childNode" presStyleLbl="node1" presStyleIdx="1" presStyleCnt="4">
        <dgm:presLayoutVars>
          <dgm:bulletEnabled val="1"/>
        </dgm:presLayoutVars>
      </dgm:prSet>
      <dgm:spPr/>
    </dgm:pt>
    <dgm:pt modelId="{A3D67817-D179-4A29-8FBB-2D18D4E14682}" type="pres">
      <dgm:prSet presAssocID="{45532201-A49B-4FBB-B57D-7EAD5BC9A2F6}" presName="aSpace" presStyleCnt="0"/>
      <dgm:spPr/>
    </dgm:pt>
    <dgm:pt modelId="{7380F15F-C8CB-4D9B-911E-165F7DA53EBA}" type="pres">
      <dgm:prSet presAssocID="{35DE8EC0-3C12-4EBA-8783-D0EF8F9EFDE3}" presName="compNode" presStyleCnt="0"/>
      <dgm:spPr/>
    </dgm:pt>
    <dgm:pt modelId="{231D32D2-B494-4004-8AC0-3BBAB3CFE875}" type="pres">
      <dgm:prSet presAssocID="{35DE8EC0-3C12-4EBA-8783-D0EF8F9EFDE3}" presName="aNode" presStyleLbl="bgShp" presStyleIdx="2" presStyleCnt="4"/>
      <dgm:spPr/>
    </dgm:pt>
    <dgm:pt modelId="{B60BB3EF-6528-4714-BFF7-E2EB512A9B42}" type="pres">
      <dgm:prSet presAssocID="{35DE8EC0-3C12-4EBA-8783-D0EF8F9EFDE3}" presName="textNode" presStyleLbl="bgShp" presStyleIdx="2" presStyleCnt="4"/>
      <dgm:spPr/>
    </dgm:pt>
    <dgm:pt modelId="{FD7B98B8-963D-4ED2-B8FE-312A57F9D745}" type="pres">
      <dgm:prSet presAssocID="{35DE8EC0-3C12-4EBA-8783-D0EF8F9EFDE3}" presName="compChildNode" presStyleCnt="0"/>
      <dgm:spPr/>
    </dgm:pt>
    <dgm:pt modelId="{F72AC186-5B28-4C4D-B047-D032B7E588D1}" type="pres">
      <dgm:prSet presAssocID="{35DE8EC0-3C12-4EBA-8783-D0EF8F9EFDE3}" presName="theInnerList" presStyleCnt="0"/>
      <dgm:spPr/>
    </dgm:pt>
    <dgm:pt modelId="{20C38765-49B6-440D-8B5E-BE4DFBE5C7BA}" type="pres">
      <dgm:prSet presAssocID="{DE3DDAF8-EC68-4082-95ED-BFB31D09A2E2}" presName="childNode" presStyleLbl="node1" presStyleIdx="2" presStyleCnt="4">
        <dgm:presLayoutVars>
          <dgm:bulletEnabled val="1"/>
        </dgm:presLayoutVars>
      </dgm:prSet>
      <dgm:spPr/>
    </dgm:pt>
    <dgm:pt modelId="{0A14BDF0-C62D-4080-9B2B-C4139842972E}" type="pres">
      <dgm:prSet presAssocID="{35DE8EC0-3C12-4EBA-8783-D0EF8F9EFDE3}" presName="aSpace" presStyleCnt="0"/>
      <dgm:spPr/>
    </dgm:pt>
    <dgm:pt modelId="{FD5B8765-5CAC-413E-8101-BBD59B0AF809}" type="pres">
      <dgm:prSet presAssocID="{1B339AA5-4F0A-4B33-A342-902FA37B1F51}" presName="compNode" presStyleCnt="0"/>
      <dgm:spPr/>
    </dgm:pt>
    <dgm:pt modelId="{56BA7663-B725-417F-8020-811B5FC2D1CF}" type="pres">
      <dgm:prSet presAssocID="{1B339AA5-4F0A-4B33-A342-902FA37B1F51}" presName="aNode" presStyleLbl="bgShp" presStyleIdx="3" presStyleCnt="4" custLinFactNeighborX="4281"/>
      <dgm:spPr/>
    </dgm:pt>
    <dgm:pt modelId="{530B0362-B03B-4587-972B-535B7D06281A}" type="pres">
      <dgm:prSet presAssocID="{1B339AA5-4F0A-4B33-A342-902FA37B1F51}" presName="textNode" presStyleLbl="bgShp" presStyleIdx="3" presStyleCnt="4"/>
      <dgm:spPr/>
    </dgm:pt>
    <dgm:pt modelId="{064454F1-8E33-4A47-ABD9-ACBD80845189}" type="pres">
      <dgm:prSet presAssocID="{1B339AA5-4F0A-4B33-A342-902FA37B1F51}" presName="compChildNode" presStyleCnt="0"/>
      <dgm:spPr/>
    </dgm:pt>
    <dgm:pt modelId="{E15BDCE2-3138-4623-9883-1F6449DD6924}" type="pres">
      <dgm:prSet presAssocID="{1B339AA5-4F0A-4B33-A342-902FA37B1F51}" presName="theInnerList" presStyleCnt="0"/>
      <dgm:spPr/>
    </dgm:pt>
    <dgm:pt modelId="{AB312176-BE1E-43B4-9736-CF721B143C19}" type="pres">
      <dgm:prSet presAssocID="{9158D0F7-FF41-47A0-918E-460F0DC1BEEC}" presName="childNode" presStyleLbl="node1" presStyleIdx="3" presStyleCnt="4">
        <dgm:presLayoutVars>
          <dgm:bulletEnabled val="1"/>
        </dgm:presLayoutVars>
      </dgm:prSet>
      <dgm:spPr/>
    </dgm:pt>
  </dgm:ptLst>
  <dgm:cxnLst>
    <dgm:cxn modelId="{FBFB1211-117D-42BC-AF29-4E80950149B9}" type="presOf" srcId="{A3A5B9C6-675E-46EC-99FE-2F9C279765BF}" destId="{515717F4-8D0B-4BF6-AD6A-2876714B2815}" srcOrd="0" destOrd="0" presId="urn:microsoft.com/office/officeart/2005/8/layout/lProcess2"/>
    <dgm:cxn modelId="{AAB52515-35AB-46FE-A921-67AB63C0337C}" srcId="{BAE79261-5FA9-4D48-BEBA-FA9BAE66A0DE}" destId="{431E5CF9-1CC6-4C87-AD59-7EA6C53C5B27}" srcOrd="0" destOrd="0" parTransId="{4A0E04F9-C304-46E2-BBC2-19EBD17D0601}" sibTransId="{5D0C4E25-F14D-48B1-94F2-515D06C0DF99}"/>
    <dgm:cxn modelId="{3323B926-96DF-4D84-ABF9-712B8492E7F3}" type="presOf" srcId="{45532201-A49B-4FBB-B57D-7EAD5BC9A2F6}" destId="{1AF523FF-7861-40CD-8F33-2924F9E35983}" srcOrd="1" destOrd="0" presId="urn:microsoft.com/office/officeart/2005/8/layout/lProcess2"/>
    <dgm:cxn modelId="{01627D27-444E-4E33-8B29-02EAA0F19C74}" srcId="{45532201-A49B-4FBB-B57D-7EAD5BC9A2F6}" destId="{A3A5B9C6-675E-46EC-99FE-2F9C279765BF}" srcOrd="0" destOrd="0" parTransId="{F61107D0-7F66-4044-8D36-3935F7BC2A4F}" sibTransId="{4394645A-93C7-4FB1-AADD-CF5C0C0B29D6}"/>
    <dgm:cxn modelId="{C39BBE34-CB72-49BE-BD21-0E236F046595}" type="presOf" srcId="{4B277A44-C423-4CB7-AC97-A3A279E3D52D}" destId="{ECAD1729-1DC8-435C-94D6-1184425ED32D}" srcOrd="0" destOrd="0" presId="urn:microsoft.com/office/officeart/2005/8/layout/lProcess2"/>
    <dgm:cxn modelId="{ABF3A837-87C4-4BBA-9F25-6F0A7FE7BF9A}" srcId="{4B277A44-C423-4CB7-AC97-A3A279E3D52D}" destId="{BAE79261-5FA9-4D48-BEBA-FA9BAE66A0DE}" srcOrd="0" destOrd="0" parTransId="{39C19027-1936-451D-A0EB-13BF257D3666}" sibTransId="{A777B6AF-FD11-41BD-AFD4-CD4104CD320D}"/>
    <dgm:cxn modelId="{5566DC3D-9FF2-4BC8-A938-259C19A38EBC}" type="presOf" srcId="{DE3DDAF8-EC68-4082-95ED-BFB31D09A2E2}" destId="{20C38765-49B6-440D-8B5E-BE4DFBE5C7BA}" srcOrd="0" destOrd="0" presId="urn:microsoft.com/office/officeart/2005/8/layout/lProcess2"/>
    <dgm:cxn modelId="{08D6315F-07D6-46FF-969D-940CA7D1C7B4}" type="presOf" srcId="{9158D0F7-FF41-47A0-918E-460F0DC1BEEC}" destId="{AB312176-BE1E-43B4-9736-CF721B143C19}" srcOrd="0" destOrd="0" presId="urn:microsoft.com/office/officeart/2005/8/layout/lProcess2"/>
    <dgm:cxn modelId="{813E6162-6A97-4E89-88AA-7AA379C09ABD}" type="presOf" srcId="{35DE8EC0-3C12-4EBA-8783-D0EF8F9EFDE3}" destId="{231D32D2-B494-4004-8AC0-3BBAB3CFE875}" srcOrd="0" destOrd="0" presId="urn:microsoft.com/office/officeart/2005/8/layout/lProcess2"/>
    <dgm:cxn modelId="{1B2CB964-B641-4A98-868E-9F4BF8BD6D9F}" type="presOf" srcId="{BAE79261-5FA9-4D48-BEBA-FA9BAE66A0DE}" destId="{78B37FC6-8A1F-42EB-AA60-99EC06DB1F13}" srcOrd="0" destOrd="0" presId="urn:microsoft.com/office/officeart/2005/8/layout/lProcess2"/>
    <dgm:cxn modelId="{41749F4B-6216-4B0C-A6E5-4512754E34A3}" srcId="{4B277A44-C423-4CB7-AC97-A3A279E3D52D}" destId="{1B339AA5-4F0A-4B33-A342-902FA37B1F51}" srcOrd="3" destOrd="0" parTransId="{1B2C9BC9-5E52-47A4-82B3-C0819FC4344A}" sibTransId="{47B9F7D6-3EE5-469E-BA4F-81206E8A598B}"/>
    <dgm:cxn modelId="{78A2CA6D-1D8F-4459-93FA-495B5C70F7A6}" type="presOf" srcId="{45532201-A49B-4FBB-B57D-7EAD5BC9A2F6}" destId="{9F428561-ABB5-46B6-B3F4-7F569C87BA47}" srcOrd="0" destOrd="0" presId="urn:microsoft.com/office/officeart/2005/8/layout/lProcess2"/>
    <dgm:cxn modelId="{91A14353-0B61-483B-B6AA-A50993E0A54D}" srcId="{4B277A44-C423-4CB7-AC97-A3A279E3D52D}" destId="{35DE8EC0-3C12-4EBA-8783-D0EF8F9EFDE3}" srcOrd="2" destOrd="0" parTransId="{2BCE3E9A-44E7-4AC2-9439-E8479522C06B}" sibTransId="{DA7DD326-DC27-44DC-A484-757AD4A4599F}"/>
    <dgm:cxn modelId="{34A5F174-1C5C-4E8A-BA3C-67E9AD8CB0CA}" type="presOf" srcId="{BAE79261-5FA9-4D48-BEBA-FA9BAE66A0DE}" destId="{8DF89AB2-FC34-4E84-B697-220659328D79}" srcOrd="1" destOrd="0" presId="urn:microsoft.com/office/officeart/2005/8/layout/lProcess2"/>
    <dgm:cxn modelId="{78FD3078-5DDF-40CA-ABAA-61A605767784}" type="presOf" srcId="{35DE8EC0-3C12-4EBA-8783-D0EF8F9EFDE3}" destId="{B60BB3EF-6528-4714-BFF7-E2EB512A9B42}" srcOrd="1" destOrd="0" presId="urn:microsoft.com/office/officeart/2005/8/layout/lProcess2"/>
    <dgm:cxn modelId="{3211427B-85E9-4DDD-9926-C937060BEF9A}" type="presOf" srcId="{1B339AA5-4F0A-4B33-A342-902FA37B1F51}" destId="{530B0362-B03B-4587-972B-535B7D06281A}" srcOrd="1" destOrd="0" presId="urn:microsoft.com/office/officeart/2005/8/layout/lProcess2"/>
    <dgm:cxn modelId="{20773F7E-6393-46FB-B505-36671E547862}" type="presOf" srcId="{431E5CF9-1CC6-4C87-AD59-7EA6C53C5B27}" destId="{1D0EF1E1-948F-44EB-8115-115CDCBF5E47}" srcOrd="0" destOrd="0" presId="urn:microsoft.com/office/officeart/2005/8/layout/lProcess2"/>
    <dgm:cxn modelId="{70E01E9E-0DD6-4E61-B91C-4A1B84A592DD}" srcId="{35DE8EC0-3C12-4EBA-8783-D0EF8F9EFDE3}" destId="{DE3DDAF8-EC68-4082-95ED-BFB31D09A2E2}" srcOrd="0" destOrd="0" parTransId="{4F5B6267-5875-4502-9072-87E79557E33B}" sibTransId="{F856F030-4641-4B8C-B262-068A6BFF884D}"/>
    <dgm:cxn modelId="{DCE480AD-8061-4D0C-819D-FF8B0B27E6A9}" srcId="{4B277A44-C423-4CB7-AC97-A3A279E3D52D}" destId="{45532201-A49B-4FBB-B57D-7EAD5BC9A2F6}" srcOrd="1" destOrd="0" parTransId="{DDFDCA2D-B988-4672-B121-9EDF21EEE64E}" sibTransId="{68DBF404-A488-4FCF-AE4C-84ABA7FDFBE6}"/>
    <dgm:cxn modelId="{387A80E2-0C35-4B17-936A-A8DDEF0E17D3}" srcId="{1B339AA5-4F0A-4B33-A342-902FA37B1F51}" destId="{9158D0F7-FF41-47A0-918E-460F0DC1BEEC}" srcOrd="0" destOrd="0" parTransId="{2927ED99-3E04-43B0-8389-62876D39878D}" sibTransId="{A29C14EE-6018-4FC8-A2C8-280CD6021619}"/>
    <dgm:cxn modelId="{5B58FCFD-3799-40CF-B809-838FBF76EF24}" type="presOf" srcId="{1B339AA5-4F0A-4B33-A342-902FA37B1F51}" destId="{56BA7663-B725-417F-8020-811B5FC2D1CF}" srcOrd="0" destOrd="0" presId="urn:microsoft.com/office/officeart/2005/8/layout/lProcess2"/>
    <dgm:cxn modelId="{095A83DF-1D49-4B20-98D6-677F768C23E9}" type="presParOf" srcId="{ECAD1729-1DC8-435C-94D6-1184425ED32D}" destId="{CC88BC1B-8F88-42B3-BEB1-C00EE98C24A3}" srcOrd="0" destOrd="0" presId="urn:microsoft.com/office/officeart/2005/8/layout/lProcess2"/>
    <dgm:cxn modelId="{31EE27DA-9E97-47A0-AAF9-AB591C78558C}" type="presParOf" srcId="{CC88BC1B-8F88-42B3-BEB1-C00EE98C24A3}" destId="{78B37FC6-8A1F-42EB-AA60-99EC06DB1F13}" srcOrd="0" destOrd="0" presId="urn:microsoft.com/office/officeart/2005/8/layout/lProcess2"/>
    <dgm:cxn modelId="{739A521E-7C9A-4838-BE98-DBE7300CD3C6}" type="presParOf" srcId="{CC88BC1B-8F88-42B3-BEB1-C00EE98C24A3}" destId="{8DF89AB2-FC34-4E84-B697-220659328D79}" srcOrd="1" destOrd="0" presId="urn:microsoft.com/office/officeart/2005/8/layout/lProcess2"/>
    <dgm:cxn modelId="{34878446-8190-43C9-92DD-8A4D31F708E9}" type="presParOf" srcId="{CC88BC1B-8F88-42B3-BEB1-C00EE98C24A3}" destId="{C9A33F00-FBD5-435E-A0D3-E69DFC4D54D7}" srcOrd="2" destOrd="0" presId="urn:microsoft.com/office/officeart/2005/8/layout/lProcess2"/>
    <dgm:cxn modelId="{BC4A29AD-A7AF-41F8-BEEE-70C90A99B34D}" type="presParOf" srcId="{C9A33F00-FBD5-435E-A0D3-E69DFC4D54D7}" destId="{9B222766-0D5D-41CE-B37A-0D464B0651C9}" srcOrd="0" destOrd="0" presId="urn:microsoft.com/office/officeart/2005/8/layout/lProcess2"/>
    <dgm:cxn modelId="{E6796608-4978-46D8-A01D-DAE812EF4865}" type="presParOf" srcId="{9B222766-0D5D-41CE-B37A-0D464B0651C9}" destId="{1D0EF1E1-948F-44EB-8115-115CDCBF5E47}" srcOrd="0" destOrd="0" presId="urn:microsoft.com/office/officeart/2005/8/layout/lProcess2"/>
    <dgm:cxn modelId="{9D44E2EA-CE5B-491E-9322-368D07C33C61}" type="presParOf" srcId="{ECAD1729-1DC8-435C-94D6-1184425ED32D}" destId="{0B40E2D9-F78F-4B59-A9D2-5BF33819E2E0}" srcOrd="1" destOrd="0" presId="urn:microsoft.com/office/officeart/2005/8/layout/lProcess2"/>
    <dgm:cxn modelId="{E59DF8D5-0263-41AC-AB1F-DB6FCF6F24FA}" type="presParOf" srcId="{ECAD1729-1DC8-435C-94D6-1184425ED32D}" destId="{EA9ABD41-F0FC-429D-87E6-F6780E0AEA9E}" srcOrd="2" destOrd="0" presId="urn:microsoft.com/office/officeart/2005/8/layout/lProcess2"/>
    <dgm:cxn modelId="{6E472FEB-F9F4-4F60-9D35-1C0ADADA439F}" type="presParOf" srcId="{EA9ABD41-F0FC-429D-87E6-F6780E0AEA9E}" destId="{9F428561-ABB5-46B6-B3F4-7F569C87BA47}" srcOrd="0" destOrd="0" presId="urn:microsoft.com/office/officeart/2005/8/layout/lProcess2"/>
    <dgm:cxn modelId="{C38C3A9C-2E27-4123-9613-52EBE8946A65}" type="presParOf" srcId="{EA9ABD41-F0FC-429D-87E6-F6780E0AEA9E}" destId="{1AF523FF-7861-40CD-8F33-2924F9E35983}" srcOrd="1" destOrd="0" presId="urn:microsoft.com/office/officeart/2005/8/layout/lProcess2"/>
    <dgm:cxn modelId="{C5DB87FD-1359-410B-90F8-5BCD1E92CDEB}" type="presParOf" srcId="{EA9ABD41-F0FC-429D-87E6-F6780E0AEA9E}" destId="{71D0291A-9109-4506-AE46-7ED653857E21}" srcOrd="2" destOrd="0" presId="urn:microsoft.com/office/officeart/2005/8/layout/lProcess2"/>
    <dgm:cxn modelId="{F5ECF8D3-6A59-4A47-A3B0-AC32A7E1BE73}" type="presParOf" srcId="{71D0291A-9109-4506-AE46-7ED653857E21}" destId="{52B8C7CF-1577-47A5-BAB9-E5B5648F6E3A}" srcOrd="0" destOrd="0" presId="urn:microsoft.com/office/officeart/2005/8/layout/lProcess2"/>
    <dgm:cxn modelId="{3EC2DEDC-138C-4903-AA26-9ED9F939797A}" type="presParOf" srcId="{52B8C7CF-1577-47A5-BAB9-E5B5648F6E3A}" destId="{515717F4-8D0B-4BF6-AD6A-2876714B2815}" srcOrd="0" destOrd="0" presId="urn:microsoft.com/office/officeart/2005/8/layout/lProcess2"/>
    <dgm:cxn modelId="{3814488F-779C-4821-91E4-36CBE599371C}" type="presParOf" srcId="{ECAD1729-1DC8-435C-94D6-1184425ED32D}" destId="{A3D67817-D179-4A29-8FBB-2D18D4E14682}" srcOrd="3" destOrd="0" presId="urn:microsoft.com/office/officeart/2005/8/layout/lProcess2"/>
    <dgm:cxn modelId="{3D315A86-3DA5-40F2-9BB7-55BD736E14A7}" type="presParOf" srcId="{ECAD1729-1DC8-435C-94D6-1184425ED32D}" destId="{7380F15F-C8CB-4D9B-911E-165F7DA53EBA}" srcOrd="4" destOrd="0" presId="urn:microsoft.com/office/officeart/2005/8/layout/lProcess2"/>
    <dgm:cxn modelId="{A2DE38B6-29C0-4343-864D-CCC6AE4E942B}" type="presParOf" srcId="{7380F15F-C8CB-4D9B-911E-165F7DA53EBA}" destId="{231D32D2-B494-4004-8AC0-3BBAB3CFE875}" srcOrd="0" destOrd="0" presId="urn:microsoft.com/office/officeart/2005/8/layout/lProcess2"/>
    <dgm:cxn modelId="{770BE657-DF34-4B9D-8A1E-C704801841B3}" type="presParOf" srcId="{7380F15F-C8CB-4D9B-911E-165F7DA53EBA}" destId="{B60BB3EF-6528-4714-BFF7-E2EB512A9B42}" srcOrd="1" destOrd="0" presId="urn:microsoft.com/office/officeart/2005/8/layout/lProcess2"/>
    <dgm:cxn modelId="{020E1819-D3DA-4641-A075-3F81244F1B49}" type="presParOf" srcId="{7380F15F-C8CB-4D9B-911E-165F7DA53EBA}" destId="{FD7B98B8-963D-4ED2-B8FE-312A57F9D745}" srcOrd="2" destOrd="0" presId="urn:microsoft.com/office/officeart/2005/8/layout/lProcess2"/>
    <dgm:cxn modelId="{9F9EEB0A-2D7B-4F8A-BB22-A67ABC1964F6}" type="presParOf" srcId="{FD7B98B8-963D-4ED2-B8FE-312A57F9D745}" destId="{F72AC186-5B28-4C4D-B047-D032B7E588D1}" srcOrd="0" destOrd="0" presId="urn:microsoft.com/office/officeart/2005/8/layout/lProcess2"/>
    <dgm:cxn modelId="{4B10F229-BEF0-41E5-9BF7-57BAA9607159}" type="presParOf" srcId="{F72AC186-5B28-4C4D-B047-D032B7E588D1}" destId="{20C38765-49B6-440D-8B5E-BE4DFBE5C7BA}" srcOrd="0" destOrd="0" presId="urn:microsoft.com/office/officeart/2005/8/layout/lProcess2"/>
    <dgm:cxn modelId="{FBB3A84D-539C-44EC-9DFD-44E627A5A793}" type="presParOf" srcId="{ECAD1729-1DC8-435C-94D6-1184425ED32D}" destId="{0A14BDF0-C62D-4080-9B2B-C4139842972E}" srcOrd="5" destOrd="0" presId="urn:microsoft.com/office/officeart/2005/8/layout/lProcess2"/>
    <dgm:cxn modelId="{5AE47DBA-E317-436E-A08A-6AF99C9BE87F}" type="presParOf" srcId="{ECAD1729-1DC8-435C-94D6-1184425ED32D}" destId="{FD5B8765-5CAC-413E-8101-BBD59B0AF809}" srcOrd="6" destOrd="0" presId="urn:microsoft.com/office/officeart/2005/8/layout/lProcess2"/>
    <dgm:cxn modelId="{B367E73B-3212-4BDB-974B-00284A93C8D0}" type="presParOf" srcId="{FD5B8765-5CAC-413E-8101-BBD59B0AF809}" destId="{56BA7663-B725-417F-8020-811B5FC2D1CF}" srcOrd="0" destOrd="0" presId="urn:microsoft.com/office/officeart/2005/8/layout/lProcess2"/>
    <dgm:cxn modelId="{B7941F16-BB33-470D-858D-7C90997C877B}" type="presParOf" srcId="{FD5B8765-5CAC-413E-8101-BBD59B0AF809}" destId="{530B0362-B03B-4587-972B-535B7D06281A}" srcOrd="1" destOrd="0" presId="urn:microsoft.com/office/officeart/2005/8/layout/lProcess2"/>
    <dgm:cxn modelId="{971041A1-1D48-4B36-B1F1-B127757018E5}" type="presParOf" srcId="{FD5B8765-5CAC-413E-8101-BBD59B0AF809}" destId="{064454F1-8E33-4A47-ABD9-ACBD80845189}" srcOrd="2" destOrd="0" presId="urn:microsoft.com/office/officeart/2005/8/layout/lProcess2"/>
    <dgm:cxn modelId="{5DF82F08-1323-4FE9-8B04-4670CC12ADCE}" type="presParOf" srcId="{064454F1-8E33-4A47-ABD9-ACBD80845189}" destId="{E15BDCE2-3138-4623-9883-1F6449DD6924}" srcOrd="0" destOrd="0" presId="urn:microsoft.com/office/officeart/2005/8/layout/lProcess2"/>
    <dgm:cxn modelId="{A64138EC-98CF-4E68-8F6F-89AE6EA2F4F0}" type="presParOf" srcId="{E15BDCE2-3138-4623-9883-1F6449DD6924}" destId="{AB312176-BE1E-43B4-9736-CF721B143C19}"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030033-7249-45E6-A196-6468E0AFD0CB}" type="doc">
      <dgm:prSet loTypeId="urn:microsoft.com/office/officeart/2005/8/layout/orgChart1" loCatId="hierarchy" qsTypeId="urn:microsoft.com/office/officeart/2005/8/quickstyle/3d1" qsCatId="3D" csTypeId="urn:microsoft.com/office/officeart/2005/8/colors/colorful2" csCatId="colorful" phldr="1"/>
      <dgm:spPr/>
      <dgm:t>
        <a:bodyPr/>
        <a:lstStyle/>
        <a:p>
          <a:endParaRPr lang="en-US"/>
        </a:p>
      </dgm:t>
    </dgm:pt>
    <dgm:pt modelId="{D4667CC1-A9DA-4B29-9A40-D64668141F95}">
      <dgm:prSet phldrT="[Text]" custT="1"/>
      <dgm:spPr/>
      <dgm:t>
        <a:bodyPr/>
        <a:lstStyle/>
        <a:p>
          <a:r>
            <a:rPr lang="en-US" sz="1800" b="1" dirty="0"/>
            <a:t>Risk</a:t>
          </a:r>
        </a:p>
      </dgm:t>
    </dgm:pt>
    <dgm:pt modelId="{8A96DFF9-7CA6-4BB0-8B01-76FA63A55A47}" type="parTrans" cxnId="{043DBE2A-86C1-4FF0-9208-DA182F4A305A}">
      <dgm:prSet/>
      <dgm:spPr/>
      <dgm:t>
        <a:bodyPr/>
        <a:lstStyle/>
        <a:p>
          <a:endParaRPr lang="en-US" sz="1800" b="1"/>
        </a:p>
      </dgm:t>
    </dgm:pt>
    <dgm:pt modelId="{A8BE9899-9B71-428A-BFDB-49E458F1E659}" type="sibTrans" cxnId="{043DBE2A-86C1-4FF0-9208-DA182F4A305A}">
      <dgm:prSet/>
      <dgm:spPr/>
      <dgm:t>
        <a:bodyPr/>
        <a:lstStyle/>
        <a:p>
          <a:endParaRPr lang="en-US" sz="1800" b="1"/>
        </a:p>
      </dgm:t>
    </dgm:pt>
    <dgm:pt modelId="{B40FC907-0FE2-4A5A-94A0-29FA6852A7DB}">
      <dgm:prSet phldrT="[Text]" custT="1"/>
      <dgm:spPr/>
      <dgm:t>
        <a:bodyPr/>
        <a:lstStyle/>
        <a:p>
          <a:r>
            <a:rPr lang="en-US" sz="1800" b="1" dirty="0"/>
            <a:t>Business Risk</a:t>
          </a:r>
        </a:p>
      </dgm:t>
    </dgm:pt>
    <dgm:pt modelId="{BE956F40-C495-4841-88D6-6A305E3411FE}" type="parTrans" cxnId="{36B2CFC6-A970-4034-BC16-29DDB5DC49FD}">
      <dgm:prSet/>
      <dgm:spPr/>
      <dgm:t>
        <a:bodyPr/>
        <a:lstStyle/>
        <a:p>
          <a:endParaRPr lang="en-US" sz="1800" b="1"/>
        </a:p>
      </dgm:t>
    </dgm:pt>
    <dgm:pt modelId="{94EE27FC-CD41-4A4F-9C36-30F6E246DE38}" type="sibTrans" cxnId="{36B2CFC6-A970-4034-BC16-29DDB5DC49FD}">
      <dgm:prSet/>
      <dgm:spPr/>
      <dgm:t>
        <a:bodyPr/>
        <a:lstStyle/>
        <a:p>
          <a:endParaRPr lang="en-US" sz="1800" b="1"/>
        </a:p>
      </dgm:t>
    </dgm:pt>
    <dgm:pt modelId="{E80482D3-3B65-4A8A-9187-34116267923A}">
      <dgm:prSet phldrT="[Text]" custT="1"/>
      <dgm:spPr/>
      <dgm:t>
        <a:bodyPr/>
        <a:lstStyle/>
        <a:p>
          <a:r>
            <a:rPr lang="en-US" sz="1800" b="1" dirty="0"/>
            <a:t>Financial Risk</a:t>
          </a:r>
        </a:p>
      </dgm:t>
    </dgm:pt>
    <dgm:pt modelId="{57E95E30-CF04-459A-9034-3325CC3E6F31}" type="parTrans" cxnId="{E3C6353E-8D38-4264-86C2-36F400A3F59B}">
      <dgm:prSet/>
      <dgm:spPr/>
      <dgm:t>
        <a:bodyPr/>
        <a:lstStyle/>
        <a:p>
          <a:endParaRPr lang="en-US" sz="1800" b="1"/>
        </a:p>
      </dgm:t>
    </dgm:pt>
    <dgm:pt modelId="{F9291D5B-9062-4A9F-8F81-F827CA47D5F2}" type="sibTrans" cxnId="{E3C6353E-8D38-4264-86C2-36F400A3F59B}">
      <dgm:prSet/>
      <dgm:spPr/>
      <dgm:t>
        <a:bodyPr/>
        <a:lstStyle/>
        <a:p>
          <a:endParaRPr lang="en-US" sz="1800" b="1"/>
        </a:p>
      </dgm:t>
    </dgm:pt>
    <dgm:pt modelId="{94167453-D939-4A30-A0EF-B82529272523}">
      <dgm:prSet phldrT="[Text]" custT="1"/>
      <dgm:spPr/>
      <dgm:t>
        <a:bodyPr/>
        <a:lstStyle/>
        <a:p>
          <a:r>
            <a:rPr lang="en-US" sz="1800" b="1" dirty="0"/>
            <a:t>Sales Risk</a:t>
          </a:r>
        </a:p>
      </dgm:t>
    </dgm:pt>
    <dgm:pt modelId="{27163975-ADD6-4F39-A112-E7872559654E}" type="parTrans" cxnId="{D3685493-B4F9-4C6B-970A-A6992F83AC90}">
      <dgm:prSet/>
      <dgm:spPr/>
      <dgm:t>
        <a:bodyPr/>
        <a:lstStyle/>
        <a:p>
          <a:endParaRPr lang="en-US" sz="1800" b="1"/>
        </a:p>
      </dgm:t>
    </dgm:pt>
    <dgm:pt modelId="{B8F377FF-A38C-47D8-A129-5BCFF6F7784D}" type="sibTrans" cxnId="{D3685493-B4F9-4C6B-970A-A6992F83AC90}">
      <dgm:prSet/>
      <dgm:spPr/>
      <dgm:t>
        <a:bodyPr/>
        <a:lstStyle/>
        <a:p>
          <a:endParaRPr lang="en-US" sz="1800" b="1"/>
        </a:p>
      </dgm:t>
    </dgm:pt>
    <dgm:pt modelId="{912A525B-C793-40D9-A6E0-86AA2F8E8486}">
      <dgm:prSet phldrT="[Text]" custT="1"/>
      <dgm:spPr/>
      <dgm:t>
        <a:bodyPr/>
        <a:lstStyle/>
        <a:p>
          <a:r>
            <a:rPr lang="en-US" sz="1800" b="1" dirty="0"/>
            <a:t>Operating Risk</a:t>
          </a:r>
        </a:p>
      </dgm:t>
    </dgm:pt>
    <dgm:pt modelId="{6BCD9638-9A10-48D7-AEA1-0BC409621A01}" type="parTrans" cxnId="{ECE58090-BAD2-42E1-B921-86C0BBDD715A}">
      <dgm:prSet/>
      <dgm:spPr/>
      <dgm:t>
        <a:bodyPr/>
        <a:lstStyle/>
        <a:p>
          <a:endParaRPr lang="en-US" sz="1800" b="1"/>
        </a:p>
      </dgm:t>
    </dgm:pt>
    <dgm:pt modelId="{94176A61-0181-44E9-A59D-4BAC9ED4C275}" type="sibTrans" cxnId="{ECE58090-BAD2-42E1-B921-86C0BBDD715A}">
      <dgm:prSet/>
      <dgm:spPr/>
      <dgm:t>
        <a:bodyPr/>
        <a:lstStyle/>
        <a:p>
          <a:endParaRPr lang="en-US" sz="1800" b="1"/>
        </a:p>
      </dgm:t>
    </dgm:pt>
    <dgm:pt modelId="{44780D81-8284-4AFC-8975-6BF609F20B51}" type="pres">
      <dgm:prSet presAssocID="{A5030033-7249-45E6-A196-6468E0AFD0CB}" presName="hierChild1" presStyleCnt="0">
        <dgm:presLayoutVars>
          <dgm:orgChart val="1"/>
          <dgm:chPref val="1"/>
          <dgm:dir/>
          <dgm:animOne val="branch"/>
          <dgm:animLvl val="lvl"/>
          <dgm:resizeHandles/>
        </dgm:presLayoutVars>
      </dgm:prSet>
      <dgm:spPr/>
    </dgm:pt>
    <dgm:pt modelId="{A11FA91C-D5FE-4C4D-A29B-2AC97DCCE7E3}" type="pres">
      <dgm:prSet presAssocID="{D4667CC1-A9DA-4B29-9A40-D64668141F95}" presName="hierRoot1" presStyleCnt="0">
        <dgm:presLayoutVars>
          <dgm:hierBranch val="init"/>
        </dgm:presLayoutVars>
      </dgm:prSet>
      <dgm:spPr/>
    </dgm:pt>
    <dgm:pt modelId="{EA7E12F5-99F7-43B1-A025-76AF383D9B02}" type="pres">
      <dgm:prSet presAssocID="{D4667CC1-A9DA-4B29-9A40-D64668141F95}" presName="rootComposite1" presStyleCnt="0"/>
      <dgm:spPr/>
    </dgm:pt>
    <dgm:pt modelId="{14040A64-41D6-4A7F-BE36-1114E3E85F14}" type="pres">
      <dgm:prSet presAssocID="{D4667CC1-A9DA-4B29-9A40-D64668141F95}" presName="rootText1" presStyleLbl="node0" presStyleIdx="0" presStyleCnt="1">
        <dgm:presLayoutVars>
          <dgm:chPref val="3"/>
        </dgm:presLayoutVars>
      </dgm:prSet>
      <dgm:spPr/>
    </dgm:pt>
    <dgm:pt modelId="{B5B8057F-F229-45D7-A922-AB78752A6FD3}" type="pres">
      <dgm:prSet presAssocID="{D4667CC1-A9DA-4B29-9A40-D64668141F95}" presName="rootConnector1" presStyleLbl="node1" presStyleIdx="0" presStyleCnt="0"/>
      <dgm:spPr/>
    </dgm:pt>
    <dgm:pt modelId="{71B66E00-9AF0-481F-A200-000F80B92AE3}" type="pres">
      <dgm:prSet presAssocID="{D4667CC1-A9DA-4B29-9A40-D64668141F95}" presName="hierChild2" presStyleCnt="0"/>
      <dgm:spPr/>
    </dgm:pt>
    <dgm:pt modelId="{29A3B196-945E-4AB3-8B7B-EDEBD41417D5}" type="pres">
      <dgm:prSet presAssocID="{BE956F40-C495-4841-88D6-6A305E3411FE}" presName="Name37" presStyleLbl="parChTrans1D2" presStyleIdx="0" presStyleCnt="2"/>
      <dgm:spPr/>
    </dgm:pt>
    <dgm:pt modelId="{F9652F05-7C0C-4E49-AEAE-2B67F9180AB6}" type="pres">
      <dgm:prSet presAssocID="{B40FC907-0FE2-4A5A-94A0-29FA6852A7DB}" presName="hierRoot2" presStyleCnt="0">
        <dgm:presLayoutVars>
          <dgm:hierBranch val="init"/>
        </dgm:presLayoutVars>
      </dgm:prSet>
      <dgm:spPr/>
    </dgm:pt>
    <dgm:pt modelId="{0733A288-1710-4CBB-A4BD-A588E27AB20E}" type="pres">
      <dgm:prSet presAssocID="{B40FC907-0FE2-4A5A-94A0-29FA6852A7DB}" presName="rootComposite" presStyleCnt="0"/>
      <dgm:spPr/>
    </dgm:pt>
    <dgm:pt modelId="{7377B934-FADE-4CDF-B316-F2667A5389D8}" type="pres">
      <dgm:prSet presAssocID="{B40FC907-0FE2-4A5A-94A0-29FA6852A7DB}" presName="rootText" presStyleLbl="node2" presStyleIdx="0" presStyleCnt="2">
        <dgm:presLayoutVars>
          <dgm:chPref val="3"/>
        </dgm:presLayoutVars>
      </dgm:prSet>
      <dgm:spPr/>
    </dgm:pt>
    <dgm:pt modelId="{5854683A-1096-4056-9CA9-0547DCCC07C0}" type="pres">
      <dgm:prSet presAssocID="{B40FC907-0FE2-4A5A-94A0-29FA6852A7DB}" presName="rootConnector" presStyleLbl="node2" presStyleIdx="0" presStyleCnt="2"/>
      <dgm:spPr/>
    </dgm:pt>
    <dgm:pt modelId="{7878FA24-15E3-40A3-97FE-596D2C1B2BED}" type="pres">
      <dgm:prSet presAssocID="{B40FC907-0FE2-4A5A-94A0-29FA6852A7DB}" presName="hierChild4" presStyleCnt="0"/>
      <dgm:spPr/>
    </dgm:pt>
    <dgm:pt modelId="{D21C5EA4-F0B2-46C6-8B0A-29ED0BFDD6F9}" type="pres">
      <dgm:prSet presAssocID="{27163975-ADD6-4F39-A112-E7872559654E}" presName="Name37" presStyleLbl="parChTrans1D3" presStyleIdx="0" presStyleCnt="2"/>
      <dgm:spPr/>
    </dgm:pt>
    <dgm:pt modelId="{B3AA3AAB-A9A7-4A08-A249-6D288BF0B948}" type="pres">
      <dgm:prSet presAssocID="{94167453-D939-4A30-A0EF-B82529272523}" presName="hierRoot2" presStyleCnt="0">
        <dgm:presLayoutVars>
          <dgm:hierBranch val="init"/>
        </dgm:presLayoutVars>
      </dgm:prSet>
      <dgm:spPr/>
    </dgm:pt>
    <dgm:pt modelId="{DC371E4F-A0DA-4B70-89A2-0DA111E54722}" type="pres">
      <dgm:prSet presAssocID="{94167453-D939-4A30-A0EF-B82529272523}" presName="rootComposite" presStyleCnt="0"/>
      <dgm:spPr/>
    </dgm:pt>
    <dgm:pt modelId="{1DE62CA9-8EC8-4D5C-B351-C2E73A56C906}" type="pres">
      <dgm:prSet presAssocID="{94167453-D939-4A30-A0EF-B82529272523}" presName="rootText" presStyleLbl="node3" presStyleIdx="0" presStyleCnt="2">
        <dgm:presLayoutVars>
          <dgm:chPref val="3"/>
        </dgm:presLayoutVars>
      </dgm:prSet>
      <dgm:spPr/>
    </dgm:pt>
    <dgm:pt modelId="{41F89010-2512-4AE2-9D24-170B249D1960}" type="pres">
      <dgm:prSet presAssocID="{94167453-D939-4A30-A0EF-B82529272523}" presName="rootConnector" presStyleLbl="node3" presStyleIdx="0" presStyleCnt="2"/>
      <dgm:spPr/>
    </dgm:pt>
    <dgm:pt modelId="{B1B18F63-A006-4E46-BCC5-3D84A9B464F1}" type="pres">
      <dgm:prSet presAssocID="{94167453-D939-4A30-A0EF-B82529272523}" presName="hierChild4" presStyleCnt="0"/>
      <dgm:spPr/>
    </dgm:pt>
    <dgm:pt modelId="{E818B526-3081-4D3E-8C32-436584987F76}" type="pres">
      <dgm:prSet presAssocID="{94167453-D939-4A30-A0EF-B82529272523}" presName="hierChild5" presStyleCnt="0"/>
      <dgm:spPr/>
    </dgm:pt>
    <dgm:pt modelId="{CCB59F08-8E8F-48D6-A8F8-33C1A151B635}" type="pres">
      <dgm:prSet presAssocID="{6BCD9638-9A10-48D7-AEA1-0BC409621A01}" presName="Name37" presStyleLbl="parChTrans1D3" presStyleIdx="1" presStyleCnt="2"/>
      <dgm:spPr/>
    </dgm:pt>
    <dgm:pt modelId="{A4C095FF-5875-44F1-B3AA-B91FF9BF3138}" type="pres">
      <dgm:prSet presAssocID="{912A525B-C793-40D9-A6E0-86AA2F8E8486}" presName="hierRoot2" presStyleCnt="0">
        <dgm:presLayoutVars>
          <dgm:hierBranch val="init"/>
        </dgm:presLayoutVars>
      </dgm:prSet>
      <dgm:spPr/>
    </dgm:pt>
    <dgm:pt modelId="{6E2699C1-E6A8-4016-9039-3802CC0988D7}" type="pres">
      <dgm:prSet presAssocID="{912A525B-C793-40D9-A6E0-86AA2F8E8486}" presName="rootComposite" presStyleCnt="0"/>
      <dgm:spPr/>
    </dgm:pt>
    <dgm:pt modelId="{3953240E-46E7-4827-A3BF-53A7ACEDE7D9}" type="pres">
      <dgm:prSet presAssocID="{912A525B-C793-40D9-A6E0-86AA2F8E8486}" presName="rootText" presStyleLbl="node3" presStyleIdx="1" presStyleCnt="2">
        <dgm:presLayoutVars>
          <dgm:chPref val="3"/>
        </dgm:presLayoutVars>
      </dgm:prSet>
      <dgm:spPr/>
    </dgm:pt>
    <dgm:pt modelId="{CADA4AF0-8D5A-4417-BC50-1DD5736C45B5}" type="pres">
      <dgm:prSet presAssocID="{912A525B-C793-40D9-A6E0-86AA2F8E8486}" presName="rootConnector" presStyleLbl="node3" presStyleIdx="1" presStyleCnt="2"/>
      <dgm:spPr/>
    </dgm:pt>
    <dgm:pt modelId="{29E50ED9-08CB-4548-9997-6EC6A8928C19}" type="pres">
      <dgm:prSet presAssocID="{912A525B-C793-40D9-A6E0-86AA2F8E8486}" presName="hierChild4" presStyleCnt="0"/>
      <dgm:spPr/>
    </dgm:pt>
    <dgm:pt modelId="{61CE0B25-CAAF-4AD2-896C-7CB8CE6FBA7E}" type="pres">
      <dgm:prSet presAssocID="{912A525B-C793-40D9-A6E0-86AA2F8E8486}" presName="hierChild5" presStyleCnt="0"/>
      <dgm:spPr/>
    </dgm:pt>
    <dgm:pt modelId="{ED194F2A-A30E-4BAF-AC01-9E29FC577FF3}" type="pres">
      <dgm:prSet presAssocID="{B40FC907-0FE2-4A5A-94A0-29FA6852A7DB}" presName="hierChild5" presStyleCnt="0"/>
      <dgm:spPr/>
    </dgm:pt>
    <dgm:pt modelId="{DFE684C9-6430-4020-B599-36423B07537B}" type="pres">
      <dgm:prSet presAssocID="{57E95E30-CF04-459A-9034-3325CC3E6F31}" presName="Name37" presStyleLbl="parChTrans1D2" presStyleIdx="1" presStyleCnt="2"/>
      <dgm:spPr/>
    </dgm:pt>
    <dgm:pt modelId="{67A5EAC0-DB7F-4FC7-ACE7-7C954FA89DB5}" type="pres">
      <dgm:prSet presAssocID="{E80482D3-3B65-4A8A-9187-34116267923A}" presName="hierRoot2" presStyleCnt="0">
        <dgm:presLayoutVars>
          <dgm:hierBranch val="init"/>
        </dgm:presLayoutVars>
      </dgm:prSet>
      <dgm:spPr/>
    </dgm:pt>
    <dgm:pt modelId="{B2E45DFE-CDBE-4E1C-8121-E278DFF9E491}" type="pres">
      <dgm:prSet presAssocID="{E80482D3-3B65-4A8A-9187-34116267923A}" presName="rootComposite" presStyleCnt="0"/>
      <dgm:spPr/>
    </dgm:pt>
    <dgm:pt modelId="{36CA0FE3-2A4F-4A71-A2A0-1D91ADC4FE36}" type="pres">
      <dgm:prSet presAssocID="{E80482D3-3B65-4A8A-9187-34116267923A}" presName="rootText" presStyleLbl="node2" presStyleIdx="1" presStyleCnt="2">
        <dgm:presLayoutVars>
          <dgm:chPref val="3"/>
        </dgm:presLayoutVars>
      </dgm:prSet>
      <dgm:spPr/>
    </dgm:pt>
    <dgm:pt modelId="{38A5E678-A700-47F9-899D-AED889B82C3E}" type="pres">
      <dgm:prSet presAssocID="{E80482D3-3B65-4A8A-9187-34116267923A}" presName="rootConnector" presStyleLbl="node2" presStyleIdx="1" presStyleCnt="2"/>
      <dgm:spPr/>
    </dgm:pt>
    <dgm:pt modelId="{D5862D14-A966-4D7B-AEB0-7189FFC79095}" type="pres">
      <dgm:prSet presAssocID="{E80482D3-3B65-4A8A-9187-34116267923A}" presName="hierChild4" presStyleCnt="0"/>
      <dgm:spPr/>
    </dgm:pt>
    <dgm:pt modelId="{CDC7CB88-7391-4AA4-8595-06B381D4178A}" type="pres">
      <dgm:prSet presAssocID="{E80482D3-3B65-4A8A-9187-34116267923A}" presName="hierChild5" presStyleCnt="0"/>
      <dgm:spPr/>
    </dgm:pt>
    <dgm:pt modelId="{3E76E75C-7E97-4EEC-82C2-0B8FABDB1D75}" type="pres">
      <dgm:prSet presAssocID="{D4667CC1-A9DA-4B29-9A40-D64668141F95}" presName="hierChild3" presStyleCnt="0"/>
      <dgm:spPr/>
    </dgm:pt>
  </dgm:ptLst>
  <dgm:cxnLst>
    <dgm:cxn modelId="{0A3A4A07-468C-41CD-8FF1-767C22B5C2B8}" type="presOf" srcId="{E80482D3-3B65-4A8A-9187-34116267923A}" destId="{36CA0FE3-2A4F-4A71-A2A0-1D91ADC4FE36}" srcOrd="0" destOrd="0" presId="urn:microsoft.com/office/officeart/2005/8/layout/orgChart1"/>
    <dgm:cxn modelId="{724FAB14-8913-4FAA-A20F-DF01FA528617}" type="presOf" srcId="{6BCD9638-9A10-48D7-AEA1-0BC409621A01}" destId="{CCB59F08-8E8F-48D6-A8F8-33C1A151B635}" srcOrd="0" destOrd="0" presId="urn:microsoft.com/office/officeart/2005/8/layout/orgChart1"/>
    <dgm:cxn modelId="{043DBE2A-86C1-4FF0-9208-DA182F4A305A}" srcId="{A5030033-7249-45E6-A196-6468E0AFD0CB}" destId="{D4667CC1-A9DA-4B29-9A40-D64668141F95}" srcOrd="0" destOrd="0" parTransId="{8A96DFF9-7CA6-4BB0-8B01-76FA63A55A47}" sibTransId="{A8BE9899-9B71-428A-BFDB-49E458F1E659}"/>
    <dgm:cxn modelId="{DE5CA13A-8871-45DE-965A-4DD7CE35570B}" type="presOf" srcId="{D4667CC1-A9DA-4B29-9A40-D64668141F95}" destId="{B5B8057F-F229-45D7-A922-AB78752A6FD3}" srcOrd="1" destOrd="0" presId="urn:microsoft.com/office/officeart/2005/8/layout/orgChart1"/>
    <dgm:cxn modelId="{E3C6353E-8D38-4264-86C2-36F400A3F59B}" srcId="{D4667CC1-A9DA-4B29-9A40-D64668141F95}" destId="{E80482D3-3B65-4A8A-9187-34116267923A}" srcOrd="1" destOrd="0" parTransId="{57E95E30-CF04-459A-9034-3325CC3E6F31}" sibTransId="{F9291D5B-9062-4A9F-8F81-F827CA47D5F2}"/>
    <dgm:cxn modelId="{8E2E5B47-7977-4D9A-9F39-B27066397980}" type="presOf" srcId="{BE956F40-C495-4841-88D6-6A305E3411FE}" destId="{29A3B196-945E-4AB3-8B7B-EDEBD41417D5}" srcOrd="0" destOrd="0" presId="urn:microsoft.com/office/officeart/2005/8/layout/orgChart1"/>
    <dgm:cxn modelId="{5097E372-894A-426E-8CD9-4B18DD810959}" type="presOf" srcId="{B40FC907-0FE2-4A5A-94A0-29FA6852A7DB}" destId="{7377B934-FADE-4CDF-B316-F2667A5389D8}" srcOrd="0" destOrd="0" presId="urn:microsoft.com/office/officeart/2005/8/layout/orgChart1"/>
    <dgm:cxn modelId="{1D254554-3126-4690-9CD7-D583321BFF48}" type="presOf" srcId="{912A525B-C793-40D9-A6E0-86AA2F8E8486}" destId="{CADA4AF0-8D5A-4417-BC50-1DD5736C45B5}" srcOrd="1" destOrd="0" presId="urn:microsoft.com/office/officeart/2005/8/layout/orgChart1"/>
    <dgm:cxn modelId="{FCC60355-76DC-489B-98E0-04B270390B76}" type="presOf" srcId="{27163975-ADD6-4F39-A112-E7872559654E}" destId="{D21C5EA4-F0B2-46C6-8B0A-29ED0BFDD6F9}" srcOrd="0" destOrd="0" presId="urn:microsoft.com/office/officeart/2005/8/layout/orgChart1"/>
    <dgm:cxn modelId="{D6245057-4BCE-4FBF-8C70-4DE0FC47D3CE}" type="presOf" srcId="{94167453-D939-4A30-A0EF-B82529272523}" destId="{1DE62CA9-8EC8-4D5C-B351-C2E73A56C906}" srcOrd="0" destOrd="0" presId="urn:microsoft.com/office/officeart/2005/8/layout/orgChart1"/>
    <dgm:cxn modelId="{ECE58090-BAD2-42E1-B921-86C0BBDD715A}" srcId="{B40FC907-0FE2-4A5A-94A0-29FA6852A7DB}" destId="{912A525B-C793-40D9-A6E0-86AA2F8E8486}" srcOrd="1" destOrd="0" parTransId="{6BCD9638-9A10-48D7-AEA1-0BC409621A01}" sibTransId="{94176A61-0181-44E9-A59D-4BAC9ED4C275}"/>
    <dgm:cxn modelId="{D3685493-B4F9-4C6B-970A-A6992F83AC90}" srcId="{B40FC907-0FE2-4A5A-94A0-29FA6852A7DB}" destId="{94167453-D939-4A30-A0EF-B82529272523}" srcOrd="0" destOrd="0" parTransId="{27163975-ADD6-4F39-A112-E7872559654E}" sibTransId="{B8F377FF-A38C-47D8-A129-5BCFF6F7784D}"/>
    <dgm:cxn modelId="{31CB65A8-C4F5-4F22-A1A6-6E4A2208E0E3}" type="presOf" srcId="{57E95E30-CF04-459A-9034-3325CC3E6F31}" destId="{DFE684C9-6430-4020-B599-36423B07537B}" srcOrd="0" destOrd="0" presId="urn:microsoft.com/office/officeart/2005/8/layout/orgChart1"/>
    <dgm:cxn modelId="{9E7593AF-EF44-4902-A4E8-76CC28708256}" type="presOf" srcId="{B40FC907-0FE2-4A5A-94A0-29FA6852A7DB}" destId="{5854683A-1096-4056-9CA9-0547DCCC07C0}" srcOrd="1" destOrd="0" presId="urn:microsoft.com/office/officeart/2005/8/layout/orgChart1"/>
    <dgm:cxn modelId="{36B2CFC6-A970-4034-BC16-29DDB5DC49FD}" srcId="{D4667CC1-A9DA-4B29-9A40-D64668141F95}" destId="{B40FC907-0FE2-4A5A-94A0-29FA6852A7DB}" srcOrd="0" destOrd="0" parTransId="{BE956F40-C495-4841-88D6-6A305E3411FE}" sibTransId="{94EE27FC-CD41-4A4F-9C36-30F6E246DE38}"/>
    <dgm:cxn modelId="{5DD3B6CB-1CF8-4FE5-8814-E0122A24D4AA}" type="presOf" srcId="{D4667CC1-A9DA-4B29-9A40-D64668141F95}" destId="{14040A64-41D6-4A7F-BE36-1114E3E85F14}" srcOrd="0" destOrd="0" presId="urn:microsoft.com/office/officeart/2005/8/layout/orgChart1"/>
    <dgm:cxn modelId="{7B7867F0-5016-4EC8-8141-EC36CBD622D5}" type="presOf" srcId="{E80482D3-3B65-4A8A-9187-34116267923A}" destId="{38A5E678-A700-47F9-899D-AED889B82C3E}" srcOrd="1" destOrd="0" presId="urn:microsoft.com/office/officeart/2005/8/layout/orgChart1"/>
    <dgm:cxn modelId="{476311F2-F3CA-4BA2-AA14-37B8D00F72E7}" type="presOf" srcId="{912A525B-C793-40D9-A6E0-86AA2F8E8486}" destId="{3953240E-46E7-4827-A3BF-53A7ACEDE7D9}" srcOrd="0" destOrd="0" presId="urn:microsoft.com/office/officeart/2005/8/layout/orgChart1"/>
    <dgm:cxn modelId="{DD2473F4-2D4A-4DD8-AE97-CA3562FB6B63}" type="presOf" srcId="{A5030033-7249-45E6-A196-6468E0AFD0CB}" destId="{44780D81-8284-4AFC-8975-6BF609F20B51}" srcOrd="0" destOrd="0" presId="urn:microsoft.com/office/officeart/2005/8/layout/orgChart1"/>
    <dgm:cxn modelId="{BD5CE7F8-A16D-4DC7-B800-551133A176CC}" type="presOf" srcId="{94167453-D939-4A30-A0EF-B82529272523}" destId="{41F89010-2512-4AE2-9D24-170B249D1960}" srcOrd="1" destOrd="0" presId="urn:microsoft.com/office/officeart/2005/8/layout/orgChart1"/>
    <dgm:cxn modelId="{DAC9CD2D-BD8D-44DE-9215-94A44D41B420}" type="presParOf" srcId="{44780D81-8284-4AFC-8975-6BF609F20B51}" destId="{A11FA91C-D5FE-4C4D-A29B-2AC97DCCE7E3}" srcOrd="0" destOrd="0" presId="urn:microsoft.com/office/officeart/2005/8/layout/orgChart1"/>
    <dgm:cxn modelId="{21288BB9-F5FE-4644-9818-D81CCD9C30FA}" type="presParOf" srcId="{A11FA91C-D5FE-4C4D-A29B-2AC97DCCE7E3}" destId="{EA7E12F5-99F7-43B1-A025-76AF383D9B02}" srcOrd="0" destOrd="0" presId="urn:microsoft.com/office/officeart/2005/8/layout/orgChart1"/>
    <dgm:cxn modelId="{2E0D1A68-E6CD-438A-80E1-6C46606A70C1}" type="presParOf" srcId="{EA7E12F5-99F7-43B1-A025-76AF383D9B02}" destId="{14040A64-41D6-4A7F-BE36-1114E3E85F14}" srcOrd="0" destOrd="0" presId="urn:microsoft.com/office/officeart/2005/8/layout/orgChart1"/>
    <dgm:cxn modelId="{7B901936-2908-4FCA-B701-9F3086A7394D}" type="presParOf" srcId="{EA7E12F5-99F7-43B1-A025-76AF383D9B02}" destId="{B5B8057F-F229-45D7-A922-AB78752A6FD3}" srcOrd="1" destOrd="0" presId="urn:microsoft.com/office/officeart/2005/8/layout/orgChart1"/>
    <dgm:cxn modelId="{FE052718-00BF-4EA5-95AA-8B4F94B114EA}" type="presParOf" srcId="{A11FA91C-D5FE-4C4D-A29B-2AC97DCCE7E3}" destId="{71B66E00-9AF0-481F-A200-000F80B92AE3}" srcOrd="1" destOrd="0" presId="urn:microsoft.com/office/officeart/2005/8/layout/orgChart1"/>
    <dgm:cxn modelId="{69D17100-B3BF-4B0A-99EE-39281C4B230E}" type="presParOf" srcId="{71B66E00-9AF0-481F-A200-000F80B92AE3}" destId="{29A3B196-945E-4AB3-8B7B-EDEBD41417D5}" srcOrd="0" destOrd="0" presId="urn:microsoft.com/office/officeart/2005/8/layout/orgChart1"/>
    <dgm:cxn modelId="{7B9E423E-C2BC-4E68-9D73-CB824ABCABC6}" type="presParOf" srcId="{71B66E00-9AF0-481F-A200-000F80B92AE3}" destId="{F9652F05-7C0C-4E49-AEAE-2B67F9180AB6}" srcOrd="1" destOrd="0" presId="urn:microsoft.com/office/officeart/2005/8/layout/orgChart1"/>
    <dgm:cxn modelId="{8301A605-85BA-4201-A9B0-ADE938B0DB01}" type="presParOf" srcId="{F9652F05-7C0C-4E49-AEAE-2B67F9180AB6}" destId="{0733A288-1710-4CBB-A4BD-A588E27AB20E}" srcOrd="0" destOrd="0" presId="urn:microsoft.com/office/officeart/2005/8/layout/orgChart1"/>
    <dgm:cxn modelId="{304916E8-8DCA-45B9-8F7E-5C3D4FA48BBA}" type="presParOf" srcId="{0733A288-1710-4CBB-A4BD-A588E27AB20E}" destId="{7377B934-FADE-4CDF-B316-F2667A5389D8}" srcOrd="0" destOrd="0" presId="urn:microsoft.com/office/officeart/2005/8/layout/orgChart1"/>
    <dgm:cxn modelId="{87B5BE63-B2F6-4E5F-93D2-FC9FEA121291}" type="presParOf" srcId="{0733A288-1710-4CBB-A4BD-A588E27AB20E}" destId="{5854683A-1096-4056-9CA9-0547DCCC07C0}" srcOrd="1" destOrd="0" presId="urn:microsoft.com/office/officeart/2005/8/layout/orgChart1"/>
    <dgm:cxn modelId="{0A3116C2-F7B0-4B19-B5A3-700D5D6EB4AF}" type="presParOf" srcId="{F9652F05-7C0C-4E49-AEAE-2B67F9180AB6}" destId="{7878FA24-15E3-40A3-97FE-596D2C1B2BED}" srcOrd="1" destOrd="0" presId="urn:microsoft.com/office/officeart/2005/8/layout/orgChart1"/>
    <dgm:cxn modelId="{BE021534-F4D5-4482-AA95-2A4AB9A1375E}" type="presParOf" srcId="{7878FA24-15E3-40A3-97FE-596D2C1B2BED}" destId="{D21C5EA4-F0B2-46C6-8B0A-29ED0BFDD6F9}" srcOrd="0" destOrd="0" presId="urn:microsoft.com/office/officeart/2005/8/layout/orgChart1"/>
    <dgm:cxn modelId="{ACD4EEDE-6D5A-4B45-81B1-542048AE9356}" type="presParOf" srcId="{7878FA24-15E3-40A3-97FE-596D2C1B2BED}" destId="{B3AA3AAB-A9A7-4A08-A249-6D288BF0B948}" srcOrd="1" destOrd="0" presId="urn:microsoft.com/office/officeart/2005/8/layout/orgChart1"/>
    <dgm:cxn modelId="{CCFD6057-998C-4906-A2BE-3413DD0979DB}" type="presParOf" srcId="{B3AA3AAB-A9A7-4A08-A249-6D288BF0B948}" destId="{DC371E4F-A0DA-4B70-89A2-0DA111E54722}" srcOrd="0" destOrd="0" presId="urn:microsoft.com/office/officeart/2005/8/layout/orgChart1"/>
    <dgm:cxn modelId="{6562DD8F-5237-4201-A07A-CC20197B0DBD}" type="presParOf" srcId="{DC371E4F-A0DA-4B70-89A2-0DA111E54722}" destId="{1DE62CA9-8EC8-4D5C-B351-C2E73A56C906}" srcOrd="0" destOrd="0" presId="urn:microsoft.com/office/officeart/2005/8/layout/orgChart1"/>
    <dgm:cxn modelId="{E1F20892-2597-4494-8317-44144930B461}" type="presParOf" srcId="{DC371E4F-A0DA-4B70-89A2-0DA111E54722}" destId="{41F89010-2512-4AE2-9D24-170B249D1960}" srcOrd="1" destOrd="0" presId="urn:microsoft.com/office/officeart/2005/8/layout/orgChart1"/>
    <dgm:cxn modelId="{41072850-E12F-4197-A457-16A8C63EC0C3}" type="presParOf" srcId="{B3AA3AAB-A9A7-4A08-A249-6D288BF0B948}" destId="{B1B18F63-A006-4E46-BCC5-3D84A9B464F1}" srcOrd="1" destOrd="0" presId="urn:microsoft.com/office/officeart/2005/8/layout/orgChart1"/>
    <dgm:cxn modelId="{215A68A6-DACC-4FED-9307-5C8D5C6D0C88}" type="presParOf" srcId="{B3AA3AAB-A9A7-4A08-A249-6D288BF0B948}" destId="{E818B526-3081-4D3E-8C32-436584987F76}" srcOrd="2" destOrd="0" presId="urn:microsoft.com/office/officeart/2005/8/layout/orgChart1"/>
    <dgm:cxn modelId="{B3F4965B-C8F1-4683-BD82-B577E937F088}" type="presParOf" srcId="{7878FA24-15E3-40A3-97FE-596D2C1B2BED}" destId="{CCB59F08-8E8F-48D6-A8F8-33C1A151B635}" srcOrd="2" destOrd="0" presId="urn:microsoft.com/office/officeart/2005/8/layout/orgChart1"/>
    <dgm:cxn modelId="{167D8252-0C36-4EFC-8B4D-A4C1FE2D768A}" type="presParOf" srcId="{7878FA24-15E3-40A3-97FE-596D2C1B2BED}" destId="{A4C095FF-5875-44F1-B3AA-B91FF9BF3138}" srcOrd="3" destOrd="0" presId="urn:microsoft.com/office/officeart/2005/8/layout/orgChart1"/>
    <dgm:cxn modelId="{FFEB69EB-6BA3-4371-B3A4-FFD2F9B4F4F7}" type="presParOf" srcId="{A4C095FF-5875-44F1-B3AA-B91FF9BF3138}" destId="{6E2699C1-E6A8-4016-9039-3802CC0988D7}" srcOrd="0" destOrd="0" presId="urn:microsoft.com/office/officeart/2005/8/layout/orgChart1"/>
    <dgm:cxn modelId="{4AF9AEFC-DA6E-4E2C-A802-93AE84A6CCFF}" type="presParOf" srcId="{6E2699C1-E6A8-4016-9039-3802CC0988D7}" destId="{3953240E-46E7-4827-A3BF-53A7ACEDE7D9}" srcOrd="0" destOrd="0" presId="urn:microsoft.com/office/officeart/2005/8/layout/orgChart1"/>
    <dgm:cxn modelId="{F7581415-0963-4979-8164-06CA0707E7DA}" type="presParOf" srcId="{6E2699C1-E6A8-4016-9039-3802CC0988D7}" destId="{CADA4AF0-8D5A-4417-BC50-1DD5736C45B5}" srcOrd="1" destOrd="0" presId="urn:microsoft.com/office/officeart/2005/8/layout/orgChart1"/>
    <dgm:cxn modelId="{C034C830-6AEF-478F-8C77-395B53D5F3D1}" type="presParOf" srcId="{A4C095FF-5875-44F1-B3AA-B91FF9BF3138}" destId="{29E50ED9-08CB-4548-9997-6EC6A8928C19}" srcOrd="1" destOrd="0" presId="urn:microsoft.com/office/officeart/2005/8/layout/orgChart1"/>
    <dgm:cxn modelId="{6D140292-DE6F-4F4E-A4CB-5014816C6881}" type="presParOf" srcId="{A4C095FF-5875-44F1-B3AA-B91FF9BF3138}" destId="{61CE0B25-CAAF-4AD2-896C-7CB8CE6FBA7E}" srcOrd="2" destOrd="0" presId="urn:microsoft.com/office/officeart/2005/8/layout/orgChart1"/>
    <dgm:cxn modelId="{E8BFBF44-2117-4D4C-BC4A-06D0F804F5BF}" type="presParOf" srcId="{F9652F05-7C0C-4E49-AEAE-2B67F9180AB6}" destId="{ED194F2A-A30E-4BAF-AC01-9E29FC577FF3}" srcOrd="2" destOrd="0" presId="urn:microsoft.com/office/officeart/2005/8/layout/orgChart1"/>
    <dgm:cxn modelId="{030774C4-22F9-4A0A-95E1-D1EBF895B3EC}" type="presParOf" srcId="{71B66E00-9AF0-481F-A200-000F80B92AE3}" destId="{DFE684C9-6430-4020-B599-36423B07537B}" srcOrd="2" destOrd="0" presId="urn:microsoft.com/office/officeart/2005/8/layout/orgChart1"/>
    <dgm:cxn modelId="{58CB1332-D5CA-478A-BF7B-821F266CBE63}" type="presParOf" srcId="{71B66E00-9AF0-481F-A200-000F80B92AE3}" destId="{67A5EAC0-DB7F-4FC7-ACE7-7C954FA89DB5}" srcOrd="3" destOrd="0" presId="urn:microsoft.com/office/officeart/2005/8/layout/orgChart1"/>
    <dgm:cxn modelId="{C2DE065F-27AA-48BC-A419-F146546390FD}" type="presParOf" srcId="{67A5EAC0-DB7F-4FC7-ACE7-7C954FA89DB5}" destId="{B2E45DFE-CDBE-4E1C-8121-E278DFF9E491}" srcOrd="0" destOrd="0" presId="urn:microsoft.com/office/officeart/2005/8/layout/orgChart1"/>
    <dgm:cxn modelId="{05A1A1BD-9E86-4967-A84E-E9C23CD96E33}" type="presParOf" srcId="{B2E45DFE-CDBE-4E1C-8121-E278DFF9E491}" destId="{36CA0FE3-2A4F-4A71-A2A0-1D91ADC4FE36}" srcOrd="0" destOrd="0" presId="urn:microsoft.com/office/officeart/2005/8/layout/orgChart1"/>
    <dgm:cxn modelId="{B8A23CFD-50C8-48BB-A2EF-C4CF0AF286B8}" type="presParOf" srcId="{B2E45DFE-CDBE-4E1C-8121-E278DFF9E491}" destId="{38A5E678-A700-47F9-899D-AED889B82C3E}" srcOrd="1" destOrd="0" presId="urn:microsoft.com/office/officeart/2005/8/layout/orgChart1"/>
    <dgm:cxn modelId="{ED463B86-4251-4286-A320-BB29EC2E4001}" type="presParOf" srcId="{67A5EAC0-DB7F-4FC7-ACE7-7C954FA89DB5}" destId="{D5862D14-A966-4D7B-AEB0-7189FFC79095}" srcOrd="1" destOrd="0" presId="urn:microsoft.com/office/officeart/2005/8/layout/orgChart1"/>
    <dgm:cxn modelId="{0A41B4B2-AD73-4681-9056-9E6C352AC1F4}" type="presParOf" srcId="{67A5EAC0-DB7F-4FC7-ACE7-7C954FA89DB5}" destId="{CDC7CB88-7391-4AA4-8595-06B381D4178A}" srcOrd="2" destOrd="0" presId="urn:microsoft.com/office/officeart/2005/8/layout/orgChart1"/>
    <dgm:cxn modelId="{594FA13C-F2F5-489E-A18C-E2F7056EE3F8}" type="presParOf" srcId="{A11FA91C-D5FE-4C4D-A29B-2AC97DCCE7E3}" destId="{3E76E75C-7E97-4EEC-82C2-0B8FABDB1D7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B37FC6-8A1F-42EB-AA60-99EC06DB1F13}">
      <dsp:nvSpPr>
        <dsp:cNvPr id="0" name=""/>
        <dsp:cNvSpPr/>
      </dsp:nvSpPr>
      <dsp:spPr>
        <a:xfrm>
          <a:off x="1928" y="0"/>
          <a:ext cx="1892814" cy="2667000"/>
        </a:xfrm>
        <a:prstGeom prst="roundRect">
          <a:avLst>
            <a:gd name="adj" fmla="val 10000"/>
          </a:avLst>
        </a:prstGeom>
        <a:solidFill>
          <a:schemeClr val="accent3">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Activity Ratios</a:t>
          </a:r>
        </a:p>
      </dsp:txBody>
      <dsp:txXfrm>
        <a:off x="1928" y="0"/>
        <a:ext cx="1892814" cy="800100"/>
      </dsp:txXfrm>
    </dsp:sp>
    <dsp:sp modelId="{1D0EF1E1-948F-44EB-8115-115CDCBF5E47}">
      <dsp:nvSpPr>
        <dsp:cNvPr id="0" name=""/>
        <dsp:cNvSpPr/>
      </dsp:nvSpPr>
      <dsp:spPr>
        <a:xfrm>
          <a:off x="191210" y="800100"/>
          <a:ext cx="1514251" cy="1733550"/>
        </a:xfrm>
        <a:prstGeom prst="roundRect">
          <a:avLst>
            <a:gd name="adj" fmla="val 10000"/>
          </a:avLst>
        </a:prstGeom>
        <a:solidFill>
          <a:schemeClr val="accent3">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b="0" kern="1200" dirty="0"/>
            <a:t>Effectiveness in putting its asset investment to use.</a:t>
          </a:r>
        </a:p>
      </dsp:txBody>
      <dsp:txXfrm>
        <a:off x="235561" y="844451"/>
        <a:ext cx="1425549" cy="1644848"/>
      </dsp:txXfrm>
    </dsp:sp>
    <dsp:sp modelId="{9F428561-ABB5-46B6-B3F4-7F569C87BA47}">
      <dsp:nvSpPr>
        <dsp:cNvPr id="0" name=""/>
        <dsp:cNvSpPr/>
      </dsp:nvSpPr>
      <dsp:spPr>
        <a:xfrm>
          <a:off x="2036704" y="0"/>
          <a:ext cx="1892814" cy="2667000"/>
        </a:xfrm>
        <a:prstGeom prst="roundRect">
          <a:avLst>
            <a:gd name="adj" fmla="val 10000"/>
          </a:avLst>
        </a:prstGeom>
        <a:solidFill>
          <a:schemeClr val="accent3">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Liquidity Ratios</a:t>
          </a:r>
        </a:p>
      </dsp:txBody>
      <dsp:txXfrm>
        <a:off x="2036704" y="0"/>
        <a:ext cx="1892814" cy="800100"/>
      </dsp:txXfrm>
    </dsp:sp>
    <dsp:sp modelId="{515717F4-8D0B-4BF6-AD6A-2876714B2815}">
      <dsp:nvSpPr>
        <dsp:cNvPr id="0" name=""/>
        <dsp:cNvSpPr/>
      </dsp:nvSpPr>
      <dsp:spPr>
        <a:xfrm>
          <a:off x="2225986" y="800100"/>
          <a:ext cx="1514251" cy="1733550"/>
        </a:xfrm>
        <a:prstGeom prst="roundRect">
          <a:avLst>
            <a:gd name="adj" fmla="val 10000"/>
          </a:avLst>
        </a:prstGeom>
        <a:solidFill>
          <a:schemeClr val="accent3">
            <a:hueOff val="1067468"/>
            <a:satOff val="13076"/>
            <a:lumOff val="-9739"/>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b="0" kern="1200" dirty="0"/>
            <a:t>Ability to meet short-term, immediate obligations.</a:t>
          </a:r>
        </a:p>
      </dsp:txBody>
      <dsp:txXfrm>
        <a:off x="2270337" y="844451"/>
        <a:ext cx="1425549" cy="1644848"/>
      </dsp:txXfrm>
    </dsp:sp>
    <dsp:sp modelId="{231D32D2-B494-4004-8AC0-3BBAB3CFE875}">
      <dsp:nvSpPr>
        <dsp:cNvPr id="0" name=""/>
        <dsp:cNvSpPr/>
      </dsp:nvSpPr>
      <dsp:spPr>
        <a:xfrm>
          <a:off x="4071480" y="0"/>
          <a:ext cx="1892814" cy="2667000"/>
        </a:xfrm>
        <a:prstGeom prst="roundRect">
          <a:avLst>
            <a:gd name="adj" fmla="val 10000"/>
          </a:avLst>
        </a:prstGeom>
        <a:solidFill>
          <a:schemeClr val="accent3">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Solvency Ratios</a:t>
          </a:r>
        </a:p>
      </dsp:txBody>
      <dsp:txXfrm>
        <a:off x="4071480" y="0"/>
        <a:ext cx="1892814" cy="800100"/>
      </dsp:txXfrm>
    </dsp:sp>
    <dsp:sp modelId="{20C38765-49B6-440D-8B5E-BE4DFBE5C7BA}">
      <dsp:nvSpPr>
        <dsp:cNvPr id="0" name=""/>
        <dsp:cNvSpPr/>
      </dsp:nvSpPr>
      <dsp:spPr>
        <a:xfrm>
          <a:off x="4260762" y="800100"/>
          <a:ext cx="1514251" cy="1733550"/>
        </a:xfrm>
        <a:prstGeom prst="roundRect">
          <a:avLst>
            <a:gd name="adj" fmla="val 10000"/>
          </a:avLst>
        </a:prstGeom>
        <a:solidFill>
          <a:schemeClr val="accent3">
            <a:hueOff val="2134936"/>
            <a:satOff val="26152"/>
            <a:lumOff val="-19478"/>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dirty="0"/>
            <a:t>Ability to satisfy debt obligations.</a:t>
          </a:r>
        </a:p>
      </dsp:txBody>
      <dsp:txXfrm>
        <a:off x="4305113" y="844451"/>
        <a:ext cx="1425549" cy="1644848"/>
      </dsp:txXfrm>
    </dsp:sp>
    <dsp:sp modelId="{56BA7663-B725-417F-8020-811B5FC2D1CF}">
      <dsp:nvSpPr>
        <dsp:cNvPr id="0" name=""/>
        <dsp:cNvSpPr/>
      </dsp:nvSpPr>
      <dsp:spPr>
        <a:xfrm>
          <a:off x="6108185" y="0"/>
          <a:ext cx="1892814" cy="2667000"/>
        </a:xfrm>
        <a:prstGeom prst="roundRect">
          <a:avLst>
            <a:gd name="adj" fmla="val 10000"/>
          </a:avLst>
        </a:prstGeom>
        <a:solidFill>
          <a:schemeClr val="accent3">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Profitability Ratios</a:t>
          </a:r>
        </a:p>
      </dsp:txBody>
      <dsp:txXfrm>
        <a:off x="6108185" y="0"/>
        <a:ext cx="1892814" cy="800100"/>
      </dsp:txXfrm>
    </dsp:sp>
    <dsp:sp modelId="{AB312176-BE1E-43B4-9736-CF721B143C19}">
      <dsp:nvSpPr>
        <dsp:cNvPr id="0" name=""/>
        <dsp:cNvSpPr/>
      </dsp:nvSpPr>
      <dsp:spPr>
        <a:xfrm>
          <a:off x="6295537" y="800100"/>
          <a:ext cx="1514251" cy="1733550"/>
        </a:xfrm>
        <a:prstGeom prst="roundRect">
          <a:avLst>
            <a:gd name="adj" fmla="val 10000"/>
          </a:avLst>
        </a:prstGeom>
        <a:solidFill>
          <a:schemeClr val="accent3">
            <a:hueOff val="3202404"/>
            <a:satOff val="39228"/>
            <a:lumOff val="-29217"/>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dirty="0"/>
            <a:t>Ability to manage expenses to produce profits from sales.</a:t>
          </a:r>
        </a:p>
      </dsp:txBody>
      <dsp:txXfrm>
        <a:off x="6339888" y="844451"/>
        <a:ext cx="1425549" cy="16448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684C9-6430-4020-B599-36423B07537B}">
      <dsp:nvSpPr>
        <dsp:cNvPr id="0" name=""/>
        <dsp:cNvSpPr/>
      </dsp:nvSpPr>
      <dsp:spPr>
        <a:xfrm>
          <a:off x="1638300" y="824243"/>
          <a:ext cx="896555" cy="311201"/>
        </a:xfrm>
        <a:custGeom>
          <a:avLst/>
          <a:gdLst/>
          <a:ahLst/>
          <a:cxnLst/>
          <a:rect l="0" t="0" r="0" b="0"/>
          <a:pathLst>
            <a:path>
              <a:moveTo>
                <a:pt x="0" y="0"/>
              </a:moveTo>
              <a:lnTo>
                <a:pt x="0" y="155600"/>
              </a:lnTo>
              <a:lnTo>
                <a:pt x="896555" y="155600"/>
              </a:lnTo>
              <a:lnTo>
                <a:pt x="896555" y="311201"/>
              </a:lnTo>
            </a:path>
          </a:pathLst>
        </a:custGeom>
        <a:noFill/>
        <a:ln w="12700" cap="flat" cmpd="sng" algn="ctr">
          <a:solidFill>
            <a:schemeClr val="accent3">
              <a:hueOff val="0"/>
              <a:satOff val="0"/>
              <a:lumOff val="0"/>
              <a:alphaOff val="0"/>
            </a:schemeClr>
          </a:solidFill>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CB59F08-8E8F-48D6-A8F8-33C1A151B635}">
      <dsp:nvSpPr>
        <dsp:cNvPr id="0" name=""/>
        <dsp:cNvSpPr/>
      </dsp:nvSpPr>
      <dsp:spPr>
        <a:xfrm>
          <a:off x="148980" y="1876399"/>
          <a:ext cx="222286" cy="1733834"/>
        </a:xfrm>
        <a:custGeom>
          <a:avLst/>
          <a:gdLst/>
          <a:ahLst/>
          <a:cxnLst/>
          <a:rect l="0" t="0" r="0" b="0"/>
          <a:pathLst>
            <a:path>
              <a:moveTo>
                <a:pt x="0" y="0"/>
              </a:moveTo>
              <a:lnTo>
                <a:pt x="0" y="1733834"/>
              </a:lnTo>
              <a:lnTo>
                <a:pt x="222286" y="1733834"/>
              </a:lnTo>
            </a:path>
          </a:pathLst>
        </a:custGeom>
        <a:noFill/>
        <a:ln w="12700" cap="flat" cmpd="sng" algn="ctr">
          <a:solidFill>
            <a:schemeClr val="accent4">
              <a:hueOff val="0"/>
              <a:satOff val="0"/>
              <a:lumOff val="0"/>
              <a:alphaOff val="0"/>
            </a:schemeClr>
          </a:solidFill>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D21C5EA4-F0B2-46C6-8B0A-29ED0BFDD6F9}">
      <dsp:nvSpPr>
        <dsp:cNvPr id="0" name=""/>
        <dsp:cNvSpPr/>
      </dsp:nvSpPr>
      <dsp:spPr>
        <a:xfrm>
          <a:off x="148980" y="1876399"/>
          <a:ext cx="222286" cy="681678"/>
        </a:xfrm>
        <a:custGeom>
          <a:avLst/>
          <a:gdLst/>
          <a:ahLst/>
          <a:cxnLst/>
          <a:rect l="0" t="0" r="0" b="0"/>
          <a:pathLst>
            <a:path>
              <a:moveTo>
                <a:pt x="0" y="0"/>
              </a:moveTo>
              <a:lnTo>
                <a:pt x="0" y="681678"/>
              </a:lnTo>
              <a:lnTo>
                <a:pt x="222286" y="681678"/>
              </a:lnTo>
            </a:path>
          </a:pathLst>
        </a:custGeom>
        <a:noFill/>
        <a:ln w="12700" cap="flat" cmpd="sng" algn="ctr">
          <a:solidFill>
            <a:schemeClr val="accent4">
              <a:hueOff val="0"/>
              <a:satOff val="0"/>
              <a:lumOff val="0"/>
              <a:alphaOff val="0"/>
            </a:schemeClr>
          </a:solidFill>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9A3B196-945E-4AB3-8B7B-EDEBD41417D5}">
      <dsp:nvSpPr>
        <dsp:cNvPr id="0" name=""/>
        <dsp:cNvSpPr/>
      </dsp:nvSpPr>
      <dsp:spPr>
        <a:xfrm>
          <a:off x="741744" y="824243"/>
          <a:ext cx="896555" cy="311201"/>
        </a:xfrm>
        <a:custGeom>
          <a:avLst/>
          <a:gdLst/>
          <a:ahLst/>
          <a:cxnLst/>
          <a:rect l="0" t="0" r="0" b="0"/>
          <a:pathLst>
            <a:path>
              <a:moveTo>
                <a:pt x="896555" y="0"/>
              </a:moveTo>
              <a:lnTo>
                <a:pt x="896555" y="155600"/>
              </a:lnTo>
              <a:lnTo>
                <a:pt x="0" y="155600"/>
              </a:lnTo>
              <a:lnTo>
                <a:pt x="0" y="311201"/>
              </a:lnTo>
            </a:path>
          </a:pathLst>
        </a:custGeom>
        <a:noFill/>
        <a:ln w="12700" cap="flat" cmpd="sng" algn="ctr">
          <a:solidFill>
            <a:schemeClr val="accent3">
              <a:hueOff val="0"/>
              <a:satOff val="0"/>
              <a:lumOff val="0"/>
              <a:alphaOff val="0"/>
            </a:schemeClr>
          </a:solidFill>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4040A64-41D6-4A7F-BE36-1114E3E85F14}">
      <dsp:nvSpPr>
        <dsp:cNvPr id="0" name=""/>
        <dsp:cNvSpPr/>
      </dsp:nvSpPr>
      <dsp:spPr>
        <a:xfrm>
          <a:off x="897345" y="83288"/>
          <a:ext cx="1481909" cy="740954"/>
        </a:xfrm>
        <a:prstGeom prst="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Risk</a:t>
          </a:r>
        </a:p>
      </dsp:txBody>
      <dsp:txXfrm>
        <a:off x="897345" y="83288"/>
        <a:ext cx="1481909" cy="740954"/>
      </dsp:txXfrm>
    </dsp:sp>
    <dsp:sp modelId="{7377B934-FADE-4CDF-B316-F2667A5389D8}">
      <dsp:nvSpPr>
        <dsp:cNvPr id="0" name=""/>
        <dsp:cNvSpPr/>
      </dsp:nvSpPr>
      <dsp:spPr>
        <a:xfrm>
          <a:off x="789" y="1135444"/>
          <a:ext cx="1481909" cy="740954"/>
        </a:xfrm>
        <a:prstGeom prst="rect">
          <a:avLst/>
        </a:prstGeom>
        <a:solidFill>
          <a:schemeClr val="accent3">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Business Risk</a:t>
          </a:r>
        </a:p>
      </dsp:txBody>
      <dsp:txXfrm>
        <a:off x="789" y="1135444"/>
        <a:ext cx="1481909" cy="740954"/>
      </dsp:txXfrm>
    </dsp:sp>
    <dsp:sp modelId="{1DE62CA9-8EC8-4D5C-B351-C2E73A56C906}">
      <dsp:nvSpPr>
        <dsp:cNvPr id="0" name=""/>
        <dsp:cNvSpPr/>
      </dsp:nvSpPr>
      <dsp:spPr>
        <a:xfrm>
          <a:off x="371267" y="2187600"/>
          <a:ext cx="1481909" cy="740954"/>
        </a:xfrm>
        <a:prstGeom prst="rect">
          <a:avLst/>
        </a:prstGeom>
        <a:solidFill>
          <a:schemeClr val="accent4">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Sales Risk</a:t>
          </a:r>
        </a:p>
      </dsp:txBody>
      <dsp:txXfrm>
        <a:off x="371267" y="2187600"/>
        <a:ext cx="1481909" cy="740954"/>
      </dsp:txXfrm>
    </dsp:sp>
    <dsp:sp modelId="{3953240E-46E7-4827-A3BF-53A7ACEDE7D9}">
      <dsp:nvSpPr>
        <dsp:cNvPr id="0" name=""/>
        <dsp:cNvSpPr/>
      </dsp:nvSpPr>
      <dsp:spPr>
        <a:xfrm>
          <a:off x="371267" y="3239756"/>
          <a:ext cx="1481909" cy="740954"/>
        </a:xfrm>
        <a:prstGeom prst="rect">
          <a:avLst/>
        </a:prstGeom>
        <a:solidFill>
          <a:schemeClr val="accent4">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Operating Risk</a:t>
          </a:r>
        </a:p>
      </dsp:txBody>
      <dsp:txXfrm>
        <a:off x="371267" y="3239756"/>
        <a:ext cx="1481909" cy="740954"/>
      </dsp:txXfrm>
    </dsp:sp>
    <dsp:sp modelId="{36CA0FE3-2A4F-4A71-A2A0-1D91ADC4FE36}">
      <dsp:nvSpPr>
        <dsp:cNvPr id="0" name=""/>
        <dsp:cNvSpPr/>
      </dsp:nvSpPr>
      <dsp:spPr>
        <a:xfrm>
          <a:off x="1793900" y="1135444"/>
          <a:ext cx="1481909" cy="740954"/>
        </a:xfrm>
        <a:prstGeom prst="rect">
          <a:avLst/>
        </a:prstGeom>
        <a:solidFill>
          <a:schemeClr val="accent3">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Financial Risk</a:t>
          </a:r>
        </a:p>
      </dsp:txBody>
      <dsp:txXfrm>
        <a:off x="1793900" y="1135444"/>
        <a:ext cx="1481909" cy="740954"/>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DAEF2A-A3C2-4396-A632-62C6518C59D9}" type="datetimeFigureOut">
              <a:rPr lang="en-US"/>
              <a:pPr/>
              <a:t>4/19/2026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B285DE7-15BC-4997-887D-47D87A7F3D59}" type="slidenum">
              <a:rPr/>
              <a:pPr/>
              <a:t>‹#›</a:t>
            </a:fld>
            <a:endParaRPr/>
          </a:p>
        </p:txBody>
      </p:sp>
    </p:spTree>
    <p:extLst>
      <p:ext uri="{BB962C8B-B14F-4D97-AF65-F5344CB8AC3E}">
        <p14:creationId xmlns:p14="http://schemas.microsoft.com/office/powerpoint/2010/main" val="13091773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C834A8-1C2E-429D-8B31-19C6635C9DA5}" type="datetimeFigureOut">
              <a:rPr lang="en-US"/>
              <a:pPr/>
              <a:t>4/19/2026</a:t>
            </a:fld>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4F8672-8174-4157-9CD7-BC591DEEF2E8}" type="slidenum">
              <a:rPr/>
              <a:pPr/>
              <a:t>‹#›</a:t>
            </a:fld>
            <a:endParaRPr/>
          </a:p>
        </p:txBody>
      </p:sp>
    </p:spTree>
    <p:extLst>
      <p:ext uri="{BB962C8B-B14F-4D97-AF65-F5344CB8AC3E}">
        <p14:creationId xmlns:p14="http://schemas.microsoft.com/office/powerpoint/2010/main" val="414819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Financial statement analysis </a:t>
            </a:r>
            <a:r>
              <a:rPr lang="en-US" sz="1200" dirty="0"/>
              <a:t>applies analytical tools to financial statements and related data for making business decisions. </a:t>
            </a:r>
          </a:p>
          <a:p>
            <a:endParaRPr lang="en-US" altLang="en-US" sz="1200" dirty="0">
              <a:ea typeface="MS PGothic" pitchFamily="34" charset="-128"/>
            </a:endParaRPr>
          </a:p>
          <a:p>
            <a:r>
              <a:rPr lang="en-US" sz="1200" dirty="0"/>
              <a:t>Internal users of accounting information manage and operate the company. They include managers, officers,</a:t>
            </a:r>
            <a:r>
              <a:rPr lang="en-US" sz="1200" baseline="0" dirty="0"/>
              <a:t> and </a:t>
            </a:r>
            <a:r>
              <a:rPr lang="en-US" sz="1200" dirty="0"/>
              <a:t>internal auditors. </a:t>
            </a:r>
            <a:r>
              <a:rPr lang="en-US" sz="1200" baseline="0" dirty="0"/>
              <a:t>The pu</a:t>
            </a:r>
            <a:r>
              <a:rPr lang="en-US" sz="1200" dirty="0"/>
              <a:t>rpose of financial statement analysis for internal users is to provide information to improve efficiency and effectiveness in providing products and services.</a:t>
            </a:r>
          </a:p>
          <a:p>
            <a:endParaRPr lang="en-US" sz="1200" dirty="0"/>
          </a:p>
          <a:p>
            <a:r>
              <a:rPr lang="en-US" sz="1200" dirty="0"/>
              <a:t>External users of accounting information are </a:t>
            </a:r>
            <a:r>
              <a:rPr lang="en-US" sz="1200" i="1" dirty="0"/>
              <a:t>not </a:t>
            </a:r>
            <a:r>
              <a:rPr lang="en-US" sz="1200" dirty="0"/>
              <a:t>directly involved in running the company. They include shareholders, lenders,</a:t>
            </a:r>
            <a:r>
              <a:rPr lang="en-US" sz="1200" baseline="0" dirty="0"/>
              <a:t> and </a:t>
            </a:r>
            <a:r>
              <a:rPr lang="en-US" sz="1200" dirty="0"/>
              <a:t>suppliers. External users use financial statement analysis to make more informed decisions to pursue their own goals.</a:t>
            </a:r>
          </a:p>
          <a:p>
            <a:endParaRPr lang="en-US" altLang="en-US" sz="1200" dirty="0">
              <a:ea typeface="MS PGothic" pitchFamily="34" charset="-128"/>
            </a:endParaRPr>
          </a:p>
          <a:p>
            <a:r>
              <a:rPr lang="en-US" sz="1200" dirty="0"/>
              <a:t>The common goal of these users is to evaluate company performance and financial condition. This includes evaluating (1) past and current performance, (2) current financial position, and (3) future performance and risk.</a:t>
            </a:r>
            <a:endParaRPr lang="en-US" altLang="en-US" sz="1200" dirty="0">
              <a:ea typeface="MS PGothic" pitchFamily="34" charset="-128"/>
            </a:endParaRPr>
          </a:p>
        </p:txBody>
      </p:sp>
      <p:sp>
        <p:nvSpPr>
          <p:cNvPr id="4" name="Slide Number Placeholder 3"/>
          <p:cNvSpPr>
            <a:spLocks noGrp="1"/>
          </p:cNvSpPr>
          <p:nvPr>
            <p:ph type="sldNum" sz="quarter" idx="5"/>
          </p:nvPr>
        </p:nvSpPr>
        <p:spPr/>
        <p:txBody>
          <a:bodyPr/>
          <a:lstStyle/>
          <a:p>
            <a:fld id="{902C29D7-C9B7-4A56-9857-CE44867190C3}" type="slidenum">
              <a:rPr lang="en-IN" smtClean="0"/>
              <a:t>2</a:t>
            </a:fld>
            <a:endParaRPr lang="en-IN"/>
          </a:p>
        </p:txBody>
      </p:sp>
    </p:spTree>
    <p:extLst>
      <p:ext uri="{BB962C8B-B14F-4D97-AF65-F5344CB8AC3E}">
        <p14:creationId xmlns:p14="http://schemas.microsoft.com/office/powerpoint/2010/main" val="1501747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statement analysis focuses on one or more elements of the four areas that are the </a:t>
            </a:r>
            <a:r>
              <a:rPr lang="en-US" i="1" dirty="0"/>
              <a:t>building blocks </a:t>
            </a:r>
            <a:r>
              <a:rPr lang="en-US" dirty="0"/>
              <a:t>of financial statement analysis:</a:t>
            </a:r>
          </a:p>
          <a:p>
            <a:r>
              <a:rPr lang="en-US" b="1" dirty="0"/>
              <a:t>Liquidity </a:t>
            </a:r>
            <a:r>
              <a:rPr lang="en-US" dirty="0"/>
              <a:t>and </a:t>
            </a:r>
            <a:r>
              <a:rPr lang="en-US" b="1" dirty="0"/>
              <a:t>efficiency</a:t>
            </a:r>
            <a:r>
              <a:rPr lang="en-US" dirty="0"/>
              <a:t>—ability to meet short-term obligations and to efficiently generate revenues. </a:t>
            </a:r>
          </a:p>
          <a:p>
            <a:r>
              <a:rPr lang="en-US" b="1" dirty="0"/>
              <a:t>Solvency</a:t>
            </a:r>
            <a:r>
              <a:rPr lang="en-US" dirty="0"/>
              <a:t>—ability to generate future revenues and meet long-term obligations. </a:t>
            </a:r>
          </a:p>
          <a:p>
            <a:r>
              <a:rPr lang="en-US" b="1" dirty="0"/>
              <a:t>Profitability</a:t>
            </a:r>
            <a:r>
              <a:rPr lang="en-US" dirty="0"/>
              <a:t>—ability to provide financial rewards sufficient to attract and retain financing.</a:t>
            </a:r>
          </a:p>
          <a:p>
            <a:r>
              <a:rPr lang="en-US" b="1" dirty="0"/>
              <a:t>Market prospects</a:t>
            </a:r>
            <a:r>
              <a:rPr lang="en-US" dirty="0"/>
              <a:t>—ability to generate positive market expectations.</a:t>
            </a:r>
          </a:p>
        </p:txBody>
      </p:sp>
      <p:sp>
        <p:nvSpPr>
          <p:cNvPr id="4" name="Slide Number Placeholder 3"/>
          <p:cNvSpPr>
            <a:spLocks noGrp="1"/>
          </p:cNvSpPr>
          <p:nvPr>
            <p:ph type="sldNum" sz="quarter" idx="5"/>
          </p:nvPr>
        </p:nvSpPr>
        <p:spPr/>
        <p:txBody>
          <a:bodyPr/>
          <a:lstStyle/>
          <a:p>
            <a:fld id="{902C29D7-C9B7-4A56-9857-CE44867190C3}" type="slidenum">
              <a:rPr lang="en-IN" smtClean="0"/>
              <a:t>3</a:t>
            </a:fld>
            <a:endParaRPr lang="en-IN"/>
          </a:p>
        </p:txBody>
      </p:sp>
    </p:spTree>
    <p:extLst>
      <p:ext uri="{BB962C8B-B14F-4D97-AF65-F5344CB8AC3E}">
        <p14:creationId xmlns:p14="http://schemas.microsoft.com/office/powerpoint/2010/main" val="2962562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When analyzing financial statements, we use the following standards (benchmarks) for comparison:</a:t>
            </a:r>
          </a:p>
          <a:p>
            <a:endParaRPr lang="en-US" sz="1200" dirty="0"/>
          </a:p>
          <a:p>
            <a:r>
              <a:rPr lang="en-US" sz="1200" i="1" dirty="0"/>
              <a:t>Intracompany</a:t>
            </a:r>
            <a:r>
              <a:rPr lang="en-US" sz="1200" dirty="0"/>
              <a:t>—The company’s current performance is compared to its prior performance and its relations between financial items. </a:t>
            </a:r>
            <a:r>
              <a:rPr lang="en-US" sz="1200" b="1" dirty="0"/>
              <a:t>Apple</a:t>
            </a:r>
            <a:r>
              <a:rPr lang="en-US" sz="1200" b="0" dirty="0"/>
              <a:t>’s</a:t>
            </a:r>
            <a:r>
              <a:rPr lang="en-US" sz="1200" dirty="0"/>
              <a:t> current net income, for instance, can be compared with its prior years’ net income and in relation to its revenues or total assets.</a:t>
            </a:r>
          </a:p>
          <a:p>
            <a:r>
              <a:rPr lang="en-US" sz="1200" i="1" dirty="0"/>
              <a:t>Competitor</a:t>
            </a:r>
            <a:r>
              <a:rPr lang="en-US" sz="1200" dirty="0"/>
              <a:t>—Competitors provide standards for comparisons. </a:t>
            </a:r>
            <a:r>
              <a:rPr lang="en-US" sz="1200" b="1" dirty="0"/>
              <a:t>Coca-Cola</a:t>
            </a:r>
            <a:r>
              <a:rPr lang="en-US" sz="1200" dirty="0"/>
              <a:t>’s profit margin can be compared with </a:t>
            </a:r>
            <a:r>
              <a:rPr lang="en-US" sz="1200" b="1" dirty="0"/>
              <a:t>PepsiCo</a:t>
            </a:r>
            <a:r>
              <a:rPr lang="en-US" sz="1200" dirty="0"/>
              <a:t>’s profit margin.</a:t>
            </a:r>
          </a:p>
          <a:p>
            <a:r>
              <a:rPr lang="en-US" sz="1200" i="1" dirty="0"/>
              <a:t>Industry</a:t>
            </a:r>
            <a:r>
              <a:rPr lang="en-US" sz="1200" dirty="0"/>
              <a:t>—Industry statistics provide standards of comparisons. </a:t>
            </a:r>
            <a:r>
              <a:rPr lang="en-US" sz="1200" b="1" dirty="0"/>
              <a:t>Intel</a:t>
            </a:r>
            <a:r>
              <a:rPr lang="en-US" sz="1200" b="0" dirty="0"/>
              <a:t>’s</a:t>
            </a:r>
            <a:r>
              <a:rPr lang="en-US" sz="1200" dirty="0"/>
              <a:t> profit margin can be compared with its industry’s profit margin.</a:t>
            </a:r>
          </a:p>
          <a:p>
            <a:r>
              <a:rPr lang="en-US" sz="1200" i="1" dirty="0"/>
              <a:t>Guidelines (rules of thumb)</a:t>
            </a:r>
            <a:r>
              <a:rPr lang="en-US" sz="1200" dirty="0"/>
              <a:t>—Standards of comparisons can develop from experience. Examples are the 2:1 level for the current ratio or 1:1 level for the acid-test ratio. </a:t>
            </a:r>
          </a:p>
          <a:p>
            <a:endParaRPr lang="en-US" sz="1200" dirty="0"/>
          </a:p>
          <a:p>
            <a:r>
              <a:rPr lang="en-US" sz="1200" dirty="0"/>
              <a:t>Benchmarks from a competitor or group of competitors are often best. Intracompany and industry measures are also important. Guidelines or rules of thumb should be applied with care, and then only if they seem reasonable given past experience and industry norms.</a:t>
            </a:r>
            <a:endParaRPr lang="en-US" altLang="en-US" sz="1200" dirty="0">
              <a:ea typeface="MS PGothic" pitchFamily="34" charset="-128"/>
            </a:endParaRPr>
          </a:p>
        </p:txBody>
      </p:sp>
      <p:sp>
        <p:nvSpPr>
          <p:cNvPr id="4" name="Slide Number Placeholder 3"/>
          <p:cNvSpPr>
            <a:spLocks noGrp="1"/>
          </p:cNvSpPr>
          <p:nvPr>
            <p:ph type="sldNum" sz="quarter" idx="5"/>
          </p:nvPr>
        </p:nvSpPr>
        <p:spPr/>
        <p:txBody>
          <a:bodyPr/>
          <a:lstStyle/>
          <a:p>
            <a:fld id="{902C29D7-C9B7-4A56-9857-CE44867190C3}" type="slidenum">
              <a:rPr lang="en-IN" smtClean="0"/>
              <a:t>4</a:t>
            </a:fld>
            <a:endParaRPr lang="en-IN"/>
          </a:p>
        </p:txBody>
      </p:sp>
    </p:spTree>
    <p:extLst>
      <p:ext uri="{BB962C8B-B14F-4D97-AF65-F5344CB8AC3E}">
        <p14:creationId xmlns:p14="http://schemas.microsoft.com/office/powerpoint/2010/main" val="3129628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LOS: Calculate and interpret measures of a company’s operating efficiency, internal liquidity (liquidity ratios), solvency, and profitability, and demonstrate the use of these measures in company analysis.</a:t>
            </a:r>
          </a:p>
          <a:p>
            <a:r>
              <a:rPr lang="en-US" sz="1400" dirty="0"/>
              <a:t>Pages 356–357</a:t>
            </a:r>
          </a:p>
          <a:p>
            <a:endParaRPr lang="en-US" sz="1400" dirty="0"/>
          </a:p>
          <a:p>
            <a:r>
              <a:rPr lang="en-US" sz="1400" dirty="0"/>
              <a:t>3. Financial Ratio Analysis</a:t>
            </a:r>
          </a:p>
          <a:p>
            <a:endParaRPr lang="en-US" dirty="0"/>
          </a:p>
          <a:p>
            <a:r>
              <a:rPr lang="en-US" sz="1200" dirty="0"/>
              <a:t>Classifying ratios: </a:t>
            </a:r>
          </a:p>
          <a:p>
            <a:pPr marL="182880" lvl="0" indent="-182880">
              <a:buFont typeface="Arial" pitchFamily="34" charset="0"/>
              <a:buChar char="•"/>
            </a:pPr>
            <a:r>
              <a:rPr lang="en-US" sz="1200" dirty="0"/>
              <a:t>Activity ratios</a:t>
            </a:r>
          </a:p>
          <a:p>
            <a:pPr marL="640080" lvl="2" indent="-182880">
              <a:buFont typeface="Arial" pitchFamily="34" charset="0"/>
              <a:buChar char="•"/>
            </a:pPr>
            <a:r>
              <a:rPr lang="en-US" sz="1200" b="0" dirty="0"/>
              <a:t>Effectiveness in putting asset investment to use.</a:t>
            </a:r>
          </a:p>
          <a:p>
            <a:pPr marL="182880" lvl="0" indent="-182880">
              <a:buFont typeface="Arial" pitchFamily="34" charset="0"/>
              <a:buChar char="•"/>
            </a:pPr>
            <a:r>
              <a:rPr lang="en-US" sz="1200" dirty="0"/>
              <a:t>Liquidity ratios</a:t>
            </a:r>
          </a:p>
          <a:p>
            <a:pPr marL="640080" lvl="2" indent="-182880">
              <a:buFont typeface="Arial" pitchFamily="34" charset="0"/>
              <a:buChar char="•"/>
            </a:pPr>
            <a:r>
              <a:rPr lang="en-US" sz="1200" b="0" dirty="0"/>
              <a:t>Ability to meet short-term, immediate obligations.</a:t>
            </a:r>
          </a:p>
          <a:p>
            <a:pPr marL="182880" lvl="0" indent="-182880">
              <a:buFont typeface="Arial" pitchFamily="34" charset="0"/>
              <a:buChar char="•"/>
            </a:pPr>
            <a:r>
              <a:rPr lang="en-US" sz="1200" dirty="0"/>
              <a:t>Solvency ratios</a:t>
            </a:r>
          </a:p>
          <a:p>
            <a:pPr marL="640080" lvl="2" indent="-182880">
              <a:buFont typeface="Arial" pitchFamily="34" charset="0"/>
              <a:buChar char="•"/>
            </a:pPr>
            <a:r>
              <a:rPr lang="en-US" sz="1200" dirty="0"/>
              <a:t>Ability to satisfy debt obligations.</a:t>
            </a:r>
          </a:p>
          <a:p>
            <a:pPr marL="182880" lvl="0" indent="-182880">
              <a:buFont typeface="Arial" pitchFamily="34" charset="0"/>
              <a:buChar char="•"/>
            </a:pPr>
            <a:r>
              <a:rPr lang="en-US" sz="1200" dirty="0"/>
              <a:t>Profitability ratios</a:t>
            </a:r>
          </a:p>
          <a:p>
            <a:pPr marL="640080" lvl="2" indent="-182880">
              <a:buFont typeface="Arial" pitchFamily="34" charset="0"/>
              <a:buChar char="•"/>
            </a:pPr>
            <a:r>
              <a:rPr lang="en-US" sz="1200" dirty="0"/>
              <a:t>Ability to manage expenses to produce profits from sales.</a:t>
            </a:r>
          </a:p>
          <a:p>
            <a:endParaRPr lang="en-US" sz="1200" dirty="0"/>
          </a:p>
          <a:p>
            <a:endParaRPr lang="en-US" sz="1200" dirty="0"/>
          </a:p>
        </p:txBody>
      </p:sp>
      <p:sp>
        <p:nvSpPr>
          <p:cNvPr id="4" name="Slide Number Placeholder 3"/>
          <p:cNvSpPr>
            <a:spLocks noGrp="1"/>
          </p:cNvSpPr>
          <p:nvPr>
            <p:ph type="sldNum" sz="quarter" idx="10"/>
          </p:nvPr>
        </p:nvSpPr>
        <p:spPr/>
        <p:txBody>
          <a:bodyPr/>
          <a:lstStyle/>
          <a:p>
            <a:fld id="{9A4F8672-8174-4157-9CD7-BC591DEEF2E8}" type="slidenum">
              <a:rPr lang="en-US" smtClean="0"/>
              <a:pPr/>
              <a:t>5</a:t>
            </a:fld>
            <a:endParaRPr lang="en-US"/>
          </a:p>
        </p:txBody>
      </p:sp>
    </p:spTree>
    <p:extLst>
      <p:ext uri="{BB962C8B-B14F-4D97-AF65-F5344CB8AC3E}">
        <p14:creationId xmlns:p14="http://schemas.microsoft.com/office/powerpoint/2010/main" val="2941258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050"/>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5300" name="Rectangle 2051"/>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dirty="0"/>
              <a:t>On</a:t>
            </a:r>
          </a:p>
          <a:p>
            <a:r>
              <a:rPr lang="en-US" dirty="0"/>
              <a:t> this slide, you see the assets section of The Home Depot’s</a:t>
            </a:r>
            <a:r>
              <a:rPr lang="en-US" baseline="0" dirty="0"/>
              <a:t> </a:t>
            </a:r>
            <a:r>
              <a:rPr lang="en-US" dirty="0"/>
              <a:t>balance sheets for both fiscal 2017</a:t>
            </a:r>
            <a:r>
              <a:rPr lang="en-US" baseline="0" dirty="0"/>
              <a:t> </a:t>
            </a:r>
            <a:r>
              <a:rPr lang="en-US" dirty="0"/>
              <a:t>and 2016. This information will be used to calculate the ratios on the following</a:t>
            </a:r>
            <a:r>
              <a:rPr lang="en-US" baseline="0" dirty="0"/>
              <a:t> slides.</a:t>
            </a:r>
          </a:p>
          <a:p>
            <a:r>
              <a:rPr lang="en-US" baseline="0" dirty="0"/>
              <a:t>Average A/ Receivable= (1952+2029)/2 = 1990.5</a:t>
            </a:r>
          </a:p>
          <a:p>
            <a:r>
              <a:rPr lang="en-US" baseline="0" dirty="0"/>
              <a:t>  Receivables TO= 100904/1990.5= 50.69 </a:t>
            </a:r>
          </a:p>
          <a:p>
            <a:r>
              <a:rPr lang="en-US" baseline="0" dirty="0"/>
              <a:t>  365/50.69=7.2 days </a:t>
            </a:r>
          </a:p>
          <a:p>
            <a:r>
              <a:rPr lang="en-US" baseline="0" dirty="0"/>
              <a:t>Cogs=66548</a:t>
            </a:r>
          </a:p>
          <a:p>
            <a:r>
              <a:rPr lang="en-US" baseline="0" dirty="0"/>
              <a:t>Average inventory = (12748+12549)/2=12648.5</a:t>
            </a:r>
          </a:p>
          <a:p>
            <a:r>
              <a:rPr lang="en-US" baseline="0" dirty="0"/>
              <a:t>Inventory To= 66548/12648.5= 5.26                                       365/5.26= 69.39 days      operating cycle = 69.39+7.2=76.59</a:t>
            </a:r>
            <a:endParaRPr lang="en-US" dirty="0"/>
          </a:p>
        </p:txBody>
      </p:sp>
    </p:spTree>
    <p:extLst>
      <p:ext uri="{BB962C8B-B14F-4D97-AF65-F5344CB8AC3E}">
        <p14:creationId xmlns:p14="http://schemas.microsoft.com/office/powerpoint/2010/main" val="1448521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6324"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dirty="0"/>
              <a:t>On this slide, you see the liabilities and stockholders’ equity sections of The Home Depot’s balance sheets for both fiscal 2017 and 2016. This information will be used to calculate the ratios on the following</a:t>
            </a:r>
            <a:r>
              <a:rPr lang="en-US" baseline="0" dirty="0"/>
              <a:t> slides.</a:t>
            </a:r>
            <a:endParaRPr lang="en-US" dirty="0"/>
          </a:p>
        </p:txBody>
      </p:sp>
    </p:spTree>
    <p:extLst>
      <p:ext uri="{BB962C8B-B14F-4D97-AF65-F5344CB8AC3E}">
        <p14:creationId xmlns:p14="http://schemas.microsoft.com/office/powerpoint/2010/main" val="4022043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04" name="Rectangle 1027"/>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First, we will look at Fiscal </a:t>
            </a:r>
            <a:r>
              <a:rPr lang="en-US" baseline="0" dirty="0"/>
              <a:t>2017</a:t>
            </a:r>
            <a:r>
              <a:rPr lang="en-US" dirty="0"/>
              <a:t>. We will set net sales to 100</a:t>
            </a:r>
            <a:r>
              <a:rPr lang="en-US" baseline="0" dirty="0"/>
              <a:t> percent</a:t>
            </a:r>
            <a:r>
              <a:rPr lang="en-US" dirty="0"/>
              <a:t> and express all other line items on the income statement as a percentage of net sales.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Component percentages are a type of ratio. Ratios simply express one number relative to another number. With component percentages, both the numerator and the denominator of the ratio come from the same financial statement, either the income statement or the balance sheet. </a:t>
            </a:r>
            <a:endParaRPr lang="en-US" dirty="0"/>
          </a:p>
          <a:p>
            <a:endParaRPr lang="en-US" dirty="0"/>
          </a:p>
        </p:txBody>
      </p:sp>
    </p:spTree>
    <p:extLst>
      <p:ext uri="{BB962C8B-B14F-4D97-AF65-F5344CB8AC3E}">
        <p14:creationId xmlns:p14="http://schemas.microsoft.com/office/powerpoint/2010/main" val="3439174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857F2C5F-C1D7-4106-9D3B-49D2C2503CBE}"/>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16BCD33-51FD-42CE-9E73-621111ACF889}"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8371" name="Rectangle 2">
            <a:extLst>
              <a:ext uri="{FF2B5EF4-FFF2-40B4-BE49-F238E27FC236}">
                <a16:creationId xmlns:a16="http://schemas.microsoft.com/office/drawing/2014/main" id="{B5A5AF01-2DD7-44D3-B601-7EE64A4301C8}"/>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5A917BD4-6133-4197-A0D9-F842469ABE39}"/>
              </a:ext>
            </a:extLst>
          </p:cNvPr>
          <p:cNvSpPr>
            <a:spLocks noGrp="1" noChangeArrowheads="1"/>
          </p:cNvSpPr>
          <p:nvPr>
            <p:ph type="body" idx="1"/>
          </p:nvPr>
        </p:nvSpPr>
        <p:spPr>
          <a:noFill/>
        </p:spPr>
        <p:txBody>
          <a:bodyPr/>
          <a:lstStyle/>
          <a:p>
            <a:pPr eaLnBrk="1" hangingPunct="1"/>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LOS: Calculate and interpret measures of a company’s operating efficiency, internal liquidity (liquidity ratios), solvency, and profitability, and demonstrate the use of these measures in company analysis.</a:t>
            </a:r>
          </a:p>
          <a:p>
            <a:r>
              <a:rPr lang="en-US" sz="1400" dirty="0"/>
              <a:t>Pages 363–365</a:t>
            </a:r>
          </a:p>
          <a:p>
            <a:endParaRPr lang="en-US" sz="1400" dirty="0"/>
          </a:p>
          <a:p>
            <a:r>
              <a:rPr lang="en-US" sz="1400" dirty="0"/>
              <a:t>Liquidity</a:t>
            </a:r>
          </a:p>
          <a:p>
            <a:endParaRPr lang="en-US" dirty="0"/>
          </a:p>
          <a:p>
            <a:pPr marL="171450" indent="-171450">
              <a:buFont typeface="Arial" pitchFamily="34" charset="0"/>
              <a:buChar char="•"/>
            </a:pPr>
            <a:r>
              <a:rPr lang="en-US" b="1" dirty="0"/>
              <a:t>Liquidity</a:t>
            </a:r>
            <a:r>
              <a:rPr lang="en-US" dirty="0"/>
              <a:t> is the ability to satisfy the company’s short-term obligations using assets that can be most readily converted into cash.</a:t>
            </a:r>
          </a:p>
          <a:p>
            <a:pPr marL="171450" indent="-171450">
              <a:buFont typeface="Arial" pitchFamily="34" charset="0"/>
              <a:buChar char="•"/>
            </a:pPr>
            <a:r>
              <a:rPr lang="en-US" dirty="0"/>
              <a:t>Liquidity ratios: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a:t>Current ratio:</a:t>
            </a:r>
            <a:r>
              <a:rPr lang="en-US" dirty="0"/>
              <a:t> </a:t>
            </a:r>
            <a:r>
              <a:rPr lang="en-US" sz="1200" b="0" i="0" u="none" strike="noStrike" kern="1200" dirty="0">
                <a:solidFill>
                  <a:srgbClr val="000000"/>
                </a:solidFill>
                <a:effectLst/>
                <a:latin typeface="+mn-lt"/>
              </a:rPr>
              <a:t>Ability to satisfy current liabilities using current assets.</a:t>
            </a:r>
            <a:endParaRPr lang="en-US" sz="1400" b="0" i="0" u="none" strike="noStrike" dirty="0">
              <a:effectLst/>
              <a:latin typeface="+mn-lt"/>
            </a:endParaRP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a:t>Quick ratio:</a:t>
            </a:r>
            <a:r>
              <a:rPr lang="en-US" dirty="0"/>
              <a:t> </a:t>
            </a:r>
            <a:r>
              <a:rPr lang="en-US" sz="1200" b="0" i="0" u="none" strike="noStrike" kern="1200" dirty="0">
                <a:solidFill>
                  <a:srgbClr val="000000"/>
                </a:solidFill>
                <a:effectLst/>
                <a:latin typeface="+mn-lt"/>
              </a:rPr>
              <a:t>Ability to satisfy current liabilities</a:t>
            </a:r>
            <a:r>
              <a:rPr lang="en-US" sz="1200" b="0" i="0" u="none" strike="noStrike" kern="1200" baseline="0" dirty="0">
                <a:solidFill>
                  <a:srgbClr val="000000"/>
                </a:solidFill>
                <a:effectLst/>
                <a:latin typeface="+mn-lt"/>
              </a:rPr>
              <a:t> using the most liquid of current assets.</a:t>
            </a:r>
            <a:endParaRPr lang="en-US" sz="1400" b="0" i="0" u="none" strike="noStrike" dirty="0">
              <a:effectLst/>
              <a:latin typeface="+mn-lt"/>
            </a:endParaRP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a:t>Cash ratio: </a:t>
            </a:r>
            <a:r>
              <a:rPr lang="en-US" sz="1200" b="0" i="0" u="none" strike="noStrike" kern="1200" dirty="0">
                <a:solidFill>
                  <a:srgbClr val="000000"/>
                </a:solidFill>
                <a:effectLst/>
                <a:latin typeface="+mn-lt"/>
              </a:rPr>
              <a:t>Ability to satisfy current liabilities</a:t>
            </a:r>
            <a:r>
              <a:rPr lang="en-US" sz="1200" b="0" i="0" u="none" strike="noStrike" kern="1200" baseline="0" dirty="0">
                <a:solidFill>
                  <a:srgbClr val="000000"/>
                </a:solidFill>
                <a:effectLst/>
                <a:latin typeface="+mn-lt"/>
              </a:rPr>
              <a:t> using only cash and cash equivalents.</a:t>
            </a:r>
            <a:endParaRPr lang="en-US" sz="1400" b="0" i="0" u="none" strike="noStrike" dirty="0">
              <a:effectLst/>
              <a:latin typeface="+mn-lt"/>
            </a:endParaRPr>
          </a:p>
          <a:p>
            <a:endParaRPr lang="en-US" dirty="0"/>
          </a:p>
          <a:p>
            <a:pPr marL="0" algn="l" rtl="0" eaLnBrk="1" fontAlgn="t" latinLnBrk="0" hangingPunct="1">
              <a:spcBef>
                <a:spcPts val="0"/>
              </a:spcBef>
              <a:spcAft>
                <a:spcPts val="0"/>
              </a:spcAft>
            </a:pPr>
            <a:endParaRPr lang="en-US" sz="1400" b="0" i="0" u="none" strike="noStrike" dirty="0">
              <a:effectLst/>
              <a:latin typeface="+mn-lt"/>
            </a:endParaRPr>
          </a:p>
        </p:txBody>
      </p:sp>
      <p:sp>
        <p:nvSpPr>
          <p:cNvPr id="4" name="Slide Number Placeholder 3"/>
          <p:cNvSpPr>
            <a:spLocks noGrp="1"/>
          </p:cNvSpPr>
          <p:nvPr>
            <p:ph type="sldNum" sz="quarter" idx="10"/>
          </p:nvPr>
        </p:nvSpPr>
        <p:spPr/>
        <p:txBody>
          <a:bodyPr/>
          <a:lstStyle/>
          <a:p>
            <a:fld id="{9A4F8672-8174-4157-9CD7-BC591DEEF2E8}" type="slidenum">
              <a:rPr lang="en-US" smtClean="0"/>
              <a:pPr/>
              <a:t>10</a:t>
            </a:fld>
            <a:endParaRPr lang="en-US"/>
          </a:p>
        </p:txBody>
      </p:sp>
    </p:spTree>
    <p:extLst>
      <p:ext uri="{BB962C8B-B14F-4D97-AF65-F5344CB8AC3E}">
        <p14:creationId xmlns:p14="http://schemas.microsoft.com/office/powerpoint/2010/main" val="1594696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5540"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The current ratio measures to what extent a company’s total current assets cover its total current liabilities on a specific date. A ratio greater than 1 implies that a company’s current assets are sufficient to cover its current liabilities. If a company’s current ratio is less than 1, analysts will want to understand how the company intends to meet its short-term obligations.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optimal level of the current ratio depends on the business environment in which a company operates. If cash flows are predictable and stable, the current ratio can be low, even less than 1. When cash flows are highly variable, a higher current ratio is desirable.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Analysts become concerned if a company’s current ratio is high compared to that of other companies in its industry. A firm is operating inefficiently when it ties up too much money in inventory or accounts receivable. It is also important to keep in mind that current assets other than cash need to be converted to cash before they can be used to satisfy current obligations. </a:t>
            </a:r>
            <a:endParaRPr lang="en-US" dirty="0"/>
          </a:p>
        </p:txBody>
      </p:sp>
    </p:spTree>
    <p:extLst>
      <p:ext uri="{BB962C8B-B14F-4D97-AF65-F5344CB8AC3E}">
        <p14:creationId xmlns:p14="http://schemas.microsoft.com/office/powerpoint/2010/main" val="524272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6564"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The quick ratio, sometimes referred to as the </a:t>
            </a:r>
            <a:r>
              <a:rPr lang="en-US" sz="1200" b="1" i="0" u="none" strike="noStrike" kern="1200" baseline="0" dirty="0">
                <a:solidFill>
                  <a:schemeClr val="tx1"/>
                </a:solidFill>
                <a:latin typeface="+mn-lt"/>
                <a:ea typeface="+mn-ea"/>
                <a:cs typeface="+mn-cs"/>
              </a:rPr>
              <a:t>acid test, </a:t>
            </a:r>
            <a:r>
              <a:rPr lang="en-US" sz="1200" b="0" i="0" u="none" strike="noStrike" kern="1200" baseline="0" dirty="0">
                <a:solidFill>
                  <a:schemeClr val="tx1"/>
                </a:solidFill>
                <a:latin typeface="+mn-lt"/>
                <a:ea typeface="+mn-ea"/>
                <a:cs typeface="+mn-cs"/>
              </a:rPr>
              <a:t>is a more stringent test of short-term liquidity than is the current ratio. The quick ratio compares quick assets, defined as cash and near-cash assets, to current liabilities. Quick assets include cash, net accounts receivable, and marketable securities. Inventory is omitted from quick assets because of the uncertainty of the timing of cash flows from its sale. Prepaid expenses also are excluded from quick assets.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quick ratio is a measure of whether the highly liquid assets of a company, those that can be converted to cash quickly, are sufficient to cover current liabilities. The Home Depot has 34 cents in cash and near-cash assets for every $1.00 in current liabilities. This margin of safety is typical of the retail industry and would be considered a sufficient margin in light of the large amount of cash The Home Depot generates from its operating activities.</a:t>
            </a:r>
          </a:p>
          <a:p>
            <a:endParaRPr lang="en-US" dirty="0"/>
          </a:p>
        </p:txBody>
      </p:sp>
    </p:spTree>
    <p:extLst>
      <p:ext uri="{BB962C8B-B14F-4D97-AF65-F5344CB8AC3E}">
        <p14:creationId xmlns:p14="http://schemas.microsoft.com/office/powerpoint/2010/main" val="579829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4516"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Cash is the lifeblood of a business. Without cash, a company cannot pay its employees or meet its obligations to creditors. Even a profitable business will fail without sufficient cash. </a:t>
            </a:r>
          </a:p>
          <a:p>
            <a:endParaRPr lang="en-US" dirty="0"/>
          </a:p>
          <a:p>
            <a:r>
              <a:rPr lang="en-US" sz="1200" b="0" i="0" u="none" strike="noStrike" kern="1200" baseline="0" dirty="0">
                <a:solidFill>
                  <a:schemeClr val="tx1"/>
                </a:solidFill>
                <a:latin typeface="+mn-lt"/>
                <a:ea typeface="+mn-ea"/>
                <a:cs typeface="+mn-cs"/>
              </a:rPr>
              <a:t>In fiscal 2017, The Home Depot’s cash ratio was 0.22. The Home Depot’s cash ratio indicates that the company has on hand 22 cents of cash for each $1.00 of current liabilities. Would analysts be concerned about this number? Not likely. It is important to keep in mind that not all of The Home Depot’s current liabilities need to be paid immediately. It therefore does not need to keep enough cash on hand at any point in time to cover all of its short-term obligations. As mentioned previously, The Home Depot’s statement of cash flows shows that the company generated $12.0 billion in cash from its operating activities in fiscal 2017. As a result, it is highly likely that The Home Depot will have sufficient cash on hand when the time comes to meet any given current liability. Many analysts believe the cash ratio should not be too high because holding excessive amounts of cash implies that the company is not investing the cash in more productive assets to grow the business. </a:t>
            </a:r>
            <a:endParaRPr lang="en-US" dirty="0"/>
          </a:p>
        </p:txBody>
      </p:sp>
    </p:spTree>
    <p:extLst>
      <p:ext uri="{BB962C8B-B14F-4D97-AF65-F5344CB8AC3E}">
        <p14:creationId xmlns:p14="http://schemas.microsoft.com/office/powerpoint/2010/main" val="4207918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9636" name="Rectangle 1027"/>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Each of the ratios measures the number of days it takes, on average, to complete an operating activity. Examining each phase of the operating cycle helps us understand the cash needs of the company.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Companies prefer to minimize the time between paying vendors and collecting cash from customers because it frees up cash for other productive purposes. Companies could reduce this time by slowing payments to creditors or by increasing how quickly it turns over its inventory.</a:t>
            </a:r>
            <a:endParaRPr lang="en-US" dirty="0"/>
          </a:p>
        </p:txBody>
      </p:sp>
    </p:spTree>
    <p:extLst>
      <p:ext uri="{BB962C8B-B14F-4D97-AF65-F5344CB8AC3E}">
        <p14:creationId xmlns:p14="http://schemas.microsoft.com/office/powerpoint/2010/main" val="1998043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LOS: Calculate and interpret measures of a company’s operating efficiency, internal liquidity (liquidity ratios), solvency, and profitability, and demonstrate the use of these measures in company analysis.</a:t>
            </a:r>
          </a:p>
          <a:p>
            <a:r>
              <a:rPr lang="en-US" sz="1400" dirty="0"/>
              <a:t>Pages 358–360</a:t>
            </a:r>
          </a:p>
          <a:p>
            <a:endParaRPr lang="en-US" sz="1400" dirty="0"/>
          </a:p>
          <a:p>
            <a:r>
              <a:rPr lang="en-US" sz="1400" dirty="0"/>
              <a:t>Activity Ratios</a:t>
            </a:r>
          </a:p>
          <a:p>
            <a:endParaRPr lang="en-US" sz="1400" dirty="0"/>
          </a:p>
          <a:p>
            <a:pPr marL="171450" indent="-171450">
              <a:buFont typeface="Arial" pitchFamily="34" charset="0"/>
              <a:buChar char="•"/>
            </a:pPr>
            <a:r>
              <a:rPr lang="en-US" sz="1200" dirty="0"/>
              <a:t>Turnover ratios reflect the number of times assets flow into and out of the company during the period. </a:t>
            </a:r>
          </a:p>
          <a:p>
            <a:pPr marL="171450" indent="-171450">
              <a:buFont typeface="Arial" pitchFamily="34" charset="0"/>
              <a:buChar char="•"/>
            </a:pPr>
            <a:r>
              <a:rPr lang="en-US" sz="1200" dirty="0"/>
              <a:t>A turnover is a gauge of the efficiency of putting assets to work.</a:t>
            </a:r>
          </a:p>
          <a:p>
            <a:pPr marL="628650" lvl="1" indent="-171450" rtl="0" eaLnBrk="1" fontAlgn="t" latinLnBrk="0" hangingPunct="1">
              <a:buFont typeface="Arial" pitchFamily="34" charset="0"/>
              <a:buChar char="•"/>
            </a:pPr>
            <a:r>
              <a:rPr lang="en-US" sz="1200" b="1" i="0" u="none" strike="noStrike" kern="1200" dirty="0">
                <a:solidFill>
                  <a:schemeClr val="tx1"/>
                </a:solidFill>
                <a:effectLst/>
                <a:latin typeface="+mn-lt"/>
                <a:ea typeface="+mn-ea"/>
                <a:cs typeface="+mn-cs"/>
              </a:rPr>
              <a:t>Inventory turnover:</a:t>
            </a:r>
            <a:r>
              <a:rPr lang="en-US" sz="1200" b="0" i="0" u="none" strike="noStrike" kern="1200" dirty="0">
                <a:solidFill>
                  <a:schemeClr val="tx1"/>
                </a:solidFill>
                <a:effectLst/>
                <a:latin typeface="+mn-lt"/>
                <a:ea typeface="+mn-ea"/>
                <a:cs typeface="+mn-cs"/>
              </a:rPr>
              <a:t> How many times inventory is created and sold during the period.</a:t>
            </a:r>
          </a:p>
          <a:p>
            <a:pPr marL="628650" lvl="1" indent="-171450" rtl="0" eaLnBrk="1" fontAlgn="t" latinLnBrk="0" hangingPunct="1">
              <a:buFont typeface="Arial" pitchFamily="34" charset="0"/>
              <a:buChar char="•"/>
            </a:pPr>
            <a:r>
              <a:rPr lang="en-US" sz="1200" b="1" i="0" u="none" strike="noStrike" kern="1200" dirty="0">
                <a:solidFill>
                  <a:schemeClr val="tx1"/>
                </a:solidFill>
                <a:effectLst/>
                <a:latin typeface="+mn-lt"/>
                <a:ea typeface="+mn-ea"/>
                <a:cs typeface="+mn-cs"/>
              </a:rPr>
              <a:t>Receivables turnover:</a:t>
            </a:r>
            <a:r>
              <a:rPr lang="en-US" sz="1200" b="0" i="0" u="none" strike="noStrike" kern="1200" dirty="0">
                <a:solidFill>
                  <a:schemeClr val="tx1"/>
                </a:solidFill>
                <a:effectLst/>
                <a:latin typeface="+mn-lt"/>
                <a:ea typeface="+mn-ea"/>
                <a:cs typeface="+mn-cs"/>
              </a:rPr>
              <a:t> How many times accounts receivable are created and collected during the period.</a:t>
            </a:r>
          </a:p>
          <a:p>
            <a:pPr marL="628650" lvl="1" indent="-171450" rtl="0" eaLnBrk="1" fontAlgn="t" latinLnBrk="0" hangingPunct="1">
              <a:buFont typeface="Arial" pitchFamily="34" charset="0"/>
              <a:buChar char="•"/>
            </a:pPr>
            <a:r>
              <a:rPr lang="en-US" sz="1200" b="1" i="0" u="none" strike="noStrike" kern="1200" dirty="0">
                <a:solidFill>
                  <a:schemeClr val="tx1"/>
                </a:solidFill>
                <a:effectLst/>
                <a:latin typeface="+mn-lt"/>
                <a:ea typeface="+mn-ea"/>
                <a:cs typeface="+mn-cs"/>
              </a:rPr>
              <a:t>Total asset turnover:</a:t>
            </a:r>
            <a:r>
              <a:rPr lang="en-US" sz="1200" b="0" i="0" u="none" strike="noStrike" kern="1200" dirty="0">
                <a:solidFill>
                  <a:schemeClr val="tx1"/>
                </a:solidFill>
                <a:effectLst/>
                <a:latin typeface="+mn-lt"/>
                <a:ea typeface="+mn-ea"/>
                <a:cs typeface="+mn-cs"/>
              </a:rPr>
              <a:t> The extent to which total</a:t>
            </a:r>
            <a:r>
              <a:rPr lang="en-US" sz="1200" b="0" i="0" u="none" strike="noStrike" kern="1200" baseline="0" dirty="0">
                <a:solidFill>
                  <a:schemeClr val="tx1"/>
                </a:solidFill>
                <a:effectLst/>
                <a:latin typeface="+mn-lt"/>
                <a:ea typeface="+mn-ea"/>
                <a:cs typeface="+mn-cs"/>
              </a:rPr>
              <a:t> assets create revenues during the period.</a:t>
            </a:r>
            <a:endParaRPr lang="en-US" sz="1200" b="0" i="0" u="none" strike="noStrike" kern="1200" dirty="0">
              <a:solidFill>
                <a:schemeClr val="tx1"/>
              </a:solidFill>
              <a:effectLst/>
              <a:latin typeface="+mn-lt"/>
              <a:ea typeface="+mn-ea"/>
              <a:cs typeface="+mn-cs"/>
            </a:endParaRPr>
          </a:p>
          <a:p>
            <a:pPr marL="628650" lvl="1" indent="-171450" rtl="0" eaLnBrk="1" fontAlgn="t" latinLnBrk="0" hangingPunct="1">
              <a:buFont typeface="Arial" pitchFamily="34" charset="0"/>
              <a:buChar char="•"/>
            </a:pPr>
            <a:r>
              <a:rPr lang="en-US" sz="1200" b="1" i="0" u="none" strike="noStrike" kern="1200" dirty="0">
                <a:solidFill>
                  <a:schemeClr val="tx1"/>
                </a:solidFill>
                <a:effectLst/>
                <a:latin typeface="+mn-lt"/>
                <a:ea typeface="+mn-ea"/>
                <a:cs typeface="+mn-cs"/>
              </a:rPr>
              <a:t>Working capital turnover: </a:t>
            </a:r>
            <a:r>
              <a:rPr lang="en-US" sz="1200" b="0" i="0" u="none" strike="noStrike" kern="1200" dirty="0">
                <a:solidFill>
                  <a:schemeClr val="tx1"/>
                </a:solidFill>
                <a:effectLst/>
                <a:latin typeface="+mn-lt"/>
                <a:ea typeface="+mn-ea"/>
                <a:cs typeface="+mn-cs"/>
              </a:rPr>
              <a:t>The efficiency of putting working capital to work.</a:t>
            </a:r>
          </a:p>
          <a:p>
            <a:endParaRPr lang="en-US" sz="1200" dirty="0"/>
          </a:p>
          <a:p>
            <a:r>
              <a:rPr lang="en-US" sz="1200" i="1" dirty="0"/>
              <a:t>Note: </a:t>
            </a:r>
            <a:r>
              <a:rPr lang="en-US" sz="1200" i="0" dirty="0"/>
              <a:t>A</a:t>
            </a:r>
            <a:r>
              <a:rPr lang="en-US" sz="1200" dirty="0"/>
              <a:t> way of looking at turnover ratios</a:t>
            </a:r>
            <a:r>
              <a:rPr lang="en-US" sz="1200" baseline="0" dirty="0"/>
              <a:t> is to consider that the denominator is the investment that is being put to work and the numerator is the result of that effort.</a:t>
            </a:r>
            <a:endParaRPr lang="en-US" sz="1200" dirty="0"/>
          </a:p>
        </p:txBody>
      </p:sp>
      <p:sp>
        <p:nvSpPr>
          <p:cNvPr id="4" name="Slide Number Placeholder 3"/>
          <p:cNvSpPr>
            <a:spLocks noGrp="1"/>
          </p:cNvSpPr>
          <p:nvPr>
            <p:ph type="sldNum" sz="quarter" idx="10"/>
          </p:nvPr>
        </p:nvSpPr>
        <p:spPr/>
        <p:txBody>
          <a:bodyPr/>
          <a:lstStyle/>
          <a:p>
            <a:fld id="{9A4F8672-8174-4157-9CD7-BC591DEEF2E8}" type="slidenum">
              <a:rPr lang="en-US" smtClean="0"/>
              <a:pPr/>
              <a:t>15</a:t>
            </a:fld>
            <a:endParaRPr lang="en-US"/>
          </a:p>
        </p:txBody>
      </p:sp>
    </p:spTree>
    <p:extLst>
      <p:ext uri="{BB962C8B-B14F-4D97-AF65-F5344CB8AC3E}">
        <p14:creationId xmlns:p14="http://schemas.microsoft.com/office/powerpoint/2010/main" val="3250256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050"/>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7588" name="Rectangle 2051"/>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Being able to efficiently collect accounts receivable is critical to a company. Analysts know this and therefore keep close watch on a company’s receivable turnover ratio.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 high receivable turnover ratio suggests that a company collects its accounts receivable many times during a year. The Home Depot, on average, collects its accounts receivable over 50 times a year. Granting credit to customers with poor credit and ineffective collection efforts will produce a low receivable turnover ratio. While a very low ratio is obviously a problem, a very high ratio also can be troublesome because it suggests an overly stringent credit policy that could cause lost sales and profits. </a:t>
            </a:r>
            <a:endParaRPr lang="en-US" dirty="0"/>
          </a:p>
        </p:txBody>
      </p:sp>
    </p:spTree>
    <p:extLst>
      <p:ext uri="{BB962C8B-B14F-4D97-AF65-F5344CB8AC3E}">
        <p14:creationId xmlns:p14="http://schemas.microsoft.com/office/powerpoint/2010/main" val="1664170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050"/>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7588" name="Rectangle 2051"/>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The receivable turnover ratio often is converted to reflect the number of days, on average, it takes a company to collect its receivables.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Home Depot’s average days to collect receivables ratio implies that it takes the company an average of just over seven days to collect its accounts receivable. Although the receivable turnover ratio normally provides useful insights, the one for The Home Depot is not meaningful. It is highly unlikely that The Home Depot collects cash from its credit customers in just seven days. Because we did not know the amount of The Home Depot’s credit sales, we used total sales as an approximation. In this case, the approximation is not reasonable. Most customers use a bank credit card such as MasterCard or Visa. From The Home Depot’s perspective, a sales transaction involving a bank credit card is recorded as a cash sale because the credit card company quickly transfers cash to The Home Depot and then takes on the responsibility of collecting from the customer. As a result, many of The Home Depot’s sales are actually cash sales, invalidating the assumption that total sales are a reasonable proxy for credit sales. This situation illustrates that ratio analysis involves more than the mere computation of numbers. Analysts must evaluate the results based on their understanding of a company’s business strategy. </a:t>
            </a:r>
            <a:endParaRPr lang="en-US" dirty="0"/>
          </a:p>
        </p:txBody>
      </p:sp>
    </p:spTree>
    <p:extLst>
      <p:ext uri="{BB962C8B-B14F-4D97-AF65-F5344CB8AC3E}">
        <p14:creationId xmlns:p14="http://schemas.microsoft.com/office/powerpoint/2010/main" val="3936854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LOS: Calculate and interpret measures of a company’s operating efficiency, internal liquidity (liquidity ratios), solvency, and profitability, and demonstrate the use of these measures in company analysis.</a:t>
            </a:r>
          </a:p>
          <a:p>
            <a:r>
              <a:rPr lang="en-US" sz="1400" dirty="0"/>
              <a:t>Pages 358–360</a:t>
            </a:r>
          </a:p>
          <a:p>
            <a:endParaRPr lang="en-US" sz="1400" dirty="0"/>
          </a:p>
          <a:p>
            <a:r>
              <a:rPr lang="en-US" sz="1400" dirty="0"/>
              <a:t>Activity Ratios</a:t>
            </a:r>
          </a:p>
          <a:p>
            <a:endParaRPr lang="en-US" sz="1400" dirty="0"/>
          </a:p>
          <a:p>
            <a:pPr marL="171450" indent="-171450">
              <a:buFont typeface="Arial" pitchFamily="34" charset="0"/>
              <a:buChar char="•"/>
            </a:pPr>
            <a:r>
              <a:rPr lang="en-US" sz="1200" dirty="0"/>
              <a:t>Turnover ratios reflect the number of times assets flow into and out of the company during the period. </a:t>
            </a:r>
          </a:p>
          <a:p>
            <a:pPr marL="171450" indent="-171450">
              <a:buFont typeface="Arial" pitchFamily="34" charset="0"/>
              <a:buChar char="•"/>
            </a:pPr>
            <a:r>
              <a:rPr lang="en-US" sz="1200" dirty="0"/>
              <a:t>A turnover is a gauge of the efficiency of putting assets to work.</a:t>
            </a:r>
          </a:p>
          <a:p>
            <a:pPr marL="628650" lvl="1" indent="-171450" rtl="0" eaLnBrk="1" fontAlgn="t" latinLnBrk="0" hangingPunct="1">
              <a:buFont typeface="Arial" pitchFamily="34" charset="0"/>
              <a:buChar char="•"/>
            </a:pPr>
            <a:r>
              <a:rPr lang="en-US" sz="1200" b="1" i="0" u="none" strike="noStrike" kern="1200" dirty="0">
                <a:solidFill>
                  <a:schemeClr val="tx1"/>
                </a:solidFill>
                <a:effectLst/>
                <a:latin typeface="+mn-lt"/>
                <a:ea typeface="+mn-ea"/>
                <a:cs typeface="+mn-cs"/>
              </a:rPr>
              <a:t>Inventory turnover:</a:t>
            </a:r>
            <a:r>
              <a:rPr lang="en-US" sz="1200" b="0" i="0" u="none" strike="noStrike" kern="1200" dirty="0">
                <a:solidFill>
                  <a:schemeClr val="tx1"/>
                </a:solidFill>
                <a:effectLst/>
                <a:latin typeface="+mn-lt"/>
                <a:ea typeface="+mn-ea"/>
                <a:cs typeface="+mn-cs"/>
              </a:rPr>
              <a:t> How many times inventory is created and sold during the period.</a:t>
            </a:r>
          </a:p>
          <a:p>
            <a:pPr marL="628650" lvl="1" indent="-171450" rtl="0" eaLnBrk="1" fontAlgn="t" latinLnBrk="0" hangingPunct="1">
              <a:buFont typeface="Arial" pitchFamily="34" charset="0"/>
              <a:buChar char="•"/>
            </a:pPr>
            <a:r>
              <a:rPr lang="en-US" sz="1200" b="1" i="0" u="none" strike="noStrike" kern="1200" dirty="0">
                <a:solidFill>
                  <a:schemeClr val="tx1"/>
                </a:solidFill>
                <a:effectLst/>
                <a:latin typeface="+mn-lt"/>
                <a:ea typeface="+mn-ea"/>
                <a:cs typeface="+mn-cs"/>
              </a:rPr>
              <a:t>Receivables turnover:</a:t>
            </a:r>
            <a:r>
              <a:rPr lang="en-US" sz="1200" b="0" i="0" u="none" strike="noStrike" kern="1200" dirty="0">
                <a:solidFill>
                  <a:schemeClr val="tx1"/>
                </a:solidFill>
                <a:effectLst/>
                <a:latin typeface="+mn-lt"/>
                <a:ea typeface="+mn-ea"/>
                <a:cs typeface="+mn-cs"/>
              </a:rPr>
              <a:t> How many times accounts receivable are created and collected during the period.</a:t>
            </a:r>
          </a:p>
          <a:p>
            <a:pPr marL="628650" lvl="1" indent="-171450" rtl="0" eaLnBrk="1" fontAlgn="t" latinLnBrk="0" hangingPunct="1">
              <a:buFont typeface="Arial" pitchFamily="34" charset="0"/>
              <a:buChar char="•"/>
            </a:pPr>
            <a:r>
              <a:rPr lang="en-US" sz="1200" b="1" i="0" u="none" strike="noStrike" kern="1200" dirty="0">
                <a:solidFill>
                  <a:schemeClr val="tx1"/>
                </a:solidFill>
                <a:effectLst/>
                <a:latin typeface="+mn-lt"/>
                <a:ea typeface="+mn-ea"/>
                <a:cs typeface="+mn-cs"/>
              </a:rPr>
              <a:t>Total asset turnover:</a:t>
            </a:r>
            <a:r>
              <a:rPr lang="en-US" sz="1200" b="0" i="0" u="none" strike="noStrike" kern="1200" dirty="0">
                <a:solidFill>
                  <a:schemeClr val="tx1"/>
                </a:solidFill>
                <a:effectLst/>
                <a:latin typeface="+mn-lt"/>
                <a:ea typeface="+mn-ea"/>
                <a:cs typeface="+mn-cs"/>
              </a:rPr>
              <a:t> The extent to which total</a:t>
            </a:r>
            <a:r>
              <a:rPr lang="en-US" sz="1200" b="0" i="0" u="none" strike="noStrike" kern="1200" baseline="0" dirty="0">
                <a:solidFill>
                  <a:schemeClr val="tx1"/>
                </a:solidFill>
                <a:effectLst/>
                <a:latin typeface="+mn-lt"/>
                <a:ea typeface="+mn-ea"/>
                <a:cs typeface="+mn-cs"/>
              </a:rPr>
              <a:t> assets create revenues during the period.</a:t>
            </a:r>
            <a:endParaRPr lang="en-US" sz="1200" b="0" i="0" u="none" strike="noStrike" kern="1200" dirty="0">
              <a:solidFill>
                <a:schemeClr val="tx1"/>
              </a:solidFill>
              <a:effectLst/>
              <a:latin typeface="+mn-lt"/>
              <a:ea typeface="+mn-ea"/>
              <a:cs typeface="+mn-cs"/>
            </a:endParaRPr>
          </a:p>
          <a:p>
            <a:pPr marL="628650" lvl="1" indent="-171450" rtl="0" eaLnBrk="1" fontAlgn="t" latinLnBrk="0" hangingPunct="1">
              <a:buFont typeface="Arial" pitchFamily="34" charset="0"/>
              <a:buChar char="•"/>
            </a:pPr>
            <a:r>
              <a:rPr lang="en-US" sz="1200" b="1" i="0" u="none" strike="noStrike" kern="1200" dirty="0">
                <a:solidFill>
                  <a:schemeClr val="tx1"/>
                </a:solidFill>
                <a:effectLst/>
                <a:latin typeface="+mn-lt"/>
                <a:ea typeface="+mn-ea"/>
                <a:cs typeface="+mn-cs"/>
              </a:rPr>
              <a:t>Working capital turnover: </a:t>
            </a:r>
            <a:r>
              <a:rPr lang="en-US" sz="1200" b="0" i="0" u="none" strike="noStrike" kern="1200" dirty="0">
                <a:solidFill>
                  <a:schemeClr val="tx1"/>
                </a:solidFill>
                <a:effectLst/>
                <a:latin typeface="+mn-lt"/>
                <a:ea typeface="+mn-ea"/>
                <a:cs typeface="+mn-cs"/>
              </a:rPr>
              <a:t>The efficiency of putting working capital to work.</a:t>
            </a:r>
          </a:p>
          <a:p>
            <a:endParaRPr lang="en-US" sz="1200" dirty="0"/>
          </a:p>
          <a:p>
            <a:r>
              <a:rPr lang="en-US" sz="1200" i="1" dirty="0"/>
              <a:t>Note: </a:t>
            </a:r>
            <a:r>
              <a:rPr lang="en-US" sz="1200" i="0" dirty="0"/>
              <a:t>A</a:t>
            </a:r>
            <a:r>
              <a:rPr lang="en-US" sz="1200" dirty="0"/>
              <a:t> way of looking at turnover ratios</a:t>
            </a:r>
            <a:r>
              <a:rPr lang="en-US" sz="1200" baseline="0" dirty="0"/>
              <a:t> is to consider that the denominator is the investment that is being put to work and the numerator is the result of that effort.</a:t>
            </a:r>
            <a:endParaRPr lang="en-US" sz="1200" dirty="0"/>
          </a:p>
        </p:txBody>
      </p:sp>
      <p:sp>
        <p:nvSpPr>
          <p:cNvPr id="4" name="Slide Number Placeholder 3"/>
          <p:cNvSpPr>
            <a:spLocks noGrp="1"/>
          </p:cNvSpPr>
          <p:nvPr>
            <p:ph type="sldNum" sz="quarter" idx="10"/>
          </p:nvPr>
        </p:nvSpPr>
        <p:spPr/>
        <p:txBody>
          <a:bodyPr/>
          <a:lstStyle/>
          <a:p>
            <a:fld id="{9A4F8672-8174-4157-9CD7-BC591DEEF2E8}" type="slidenum">
              <a:rPr lang="en-US" smtClean="0"/>
              <a:pPr/>
              <a:t>18</a:t>
            </a:fld>
            <a:endParaRPr lang="en-US"/>
          </a:p>
        </p:txBody>
      </p:sp>
    </p:spTree>
    <p:extLst>
      <p:ext uri="{BB962C8B-B14F-4D97-AF65-F5344CB8AC3E}">
        <p14:creationId xmlns:p14="http://schemas.microsoft.com/office/powerpoint/2010/main" val="3250256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9636" name="Rectangle 1027"/>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The inventory turnover ratio is a measure of operating efficiency. </a:t>
            </a:r>
            <a:endParaRPr lang="en-US" dirty="0"/>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Because a company normally realizes profit each time inventory is sold, an increase in this ratio is usually favorable. If the ratio is too high, however, it may be an indication that sales were lost because desired items were not in stock. A company must balance the cost of holding inventory with the potential cost of losing a sale.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On average, The Home Depot’s inventory was acquired and sold to customers just over 5 times during the year. The inventory turnover ratio is critical for The Home Depot because of its business strategy. It wants to be able to offer customers the right product when they need it at a price that beats the competition. The Home Depot’s effectiveness in inventory management means that the company is able to tie up less money in carrying inventory.</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Turnover ratios vary significantly from one industry to the next. Companies in the food industry (grocery stores and restaurants) have high inventory turnover ratios because their inventory is subject to rapid deterioration. Companies that sell expensive merchandise (automobiles and high-fashion clothes) have much lower ratios because sales tend to be less frequent, but customers want to have a selection to choose from so companies in these industries must still carry significant inventory. </a:t>
            </a:r>
            <a:endParaRPr lang="en-US" dirty="0"/>
          </a:p>
        </p:txBody>
      </p:sp>
    </p:spTree>
    <p:extLst>
      <p:ext uri="{BB962C8B-B14F-4D97-AF65-F5344CB8AC3E}">
        <p14:creationId xmlns:p14="http://schemas.microsoft.com/office/powerpoint/2010/main" val="16469777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050"/>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7588" name="Rectangle 2051"/>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The inventory turnover ratio often is converted to reflect the number of days, on average, it takes a company to sell its inventory.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On average, The Home Depot’s inventory was acquired and sold to customers just over 5 times during the year. Converting this ratio to days shows that the company takes just over 69 days to sell its inventory.</a:t>
            </a:r>
            <a:endParaRPr lang="en-US" dirty="0"/>
          </a:p>
        </p:txBody>
      </p:sp>
    </p:spTree>
    <p:extLst>
      <p:ext uri="{BB962C8B-B14F-4D97-AF65-F5344CB8AC3E}">
        <p14:creationId xmlns:p14="http://schemas.microsoft.com/office/powerpoint/2010/main" val="3972852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1026"/>
          <p:cNvSpPr>
            <a:spLocks noGrp="1" noRot="1" noChangeAspect="1" noChangeArrowheads="1" noTextEdit="1"/>
          </p:cNvSpPr>
          <p:nvPr>
            <p:ph type="sldImg"/>
          </p:nvPr>
        </p:nvSpPr>
        <p:spPr bwMode="auto">
          <a:noFill/>
          <a:ln>
            <a:solidFill>
              <a:srgbClr val="000000"/>
            </a:solidFill>
            <a:miter lim="800000"/>
            <a:headEnd/>
            <a:tailEnd/>
          </a:ln>
        </p:spPr>
      </p:sp>
      <p:sp>
        <p:nvSpPr>
          <p:cNvPr id="54276" name="Rectangle 1027"/>
          <p:cNvSpPr>
            <a:spLocks noGrp="1" noChangeArrowheads="1"/>
          </p:cNvSpPr>
          <p:nvPr>
            <p:ph type="body" idx="1"/>
          </p:nvPr>
        </p:nvSpPr>
        <p:spPr bwMode="auto">
          <a:noFill/>
        </p:spPr>
        <p:txBody>
          <a:bodyPr wrap="square" numCol="1" anchor="t" anchorCtr="0" compatLnSpc="1">
            <a:prstTxWarp prst="textNoShape">
              <a:avLst/>
            </a:prstTxWarp>
          </a:bodyPr>
          <a:lstStyle/>
          <a:p>
            <a:r>
              <a:rPr lang="en-US" dirty="0"/>
              <a:t>Beginning inventory 1000 end of previous year (B/S) +  Purchases  x 3000 – ending inventory 500 end of current year (I/S) = Cost of goods sold 3500 (I/S) </a:t>
            </a:r>
          </a:p>
          <a:p>
            <a:endParaRPr lang="en-US" dirty="0"/>
          </a:p>
          <a:p>
            <a:endParaRPr lang="en-US" dirty="0"/>
          </a:p>
          <a:p>
            <a:r>
              <a:rPr lang="en-US" dirty="0"/>
              <a:t>The accounts payable turnover ratio measures how quickly management is paying its suppliers. A high accounts payable ratio normally suggests that a company is paying its suppliers in a timely manner. The accounts payable turnover ratio is computed as follows:</a:t>
            </a:r>
            <a:r>
              <a:rPr lang="en-US" baseline="0" dirty="0"/>
              <a:t> </a:t>
            </a:r>
            <a:r>
              <a:rPr lang="en-US" dirty="0"/>
              <a:t>Cost of Goods Sold ÷ Average Accounts Payable.</a:t>
            </a:r>
          </a:p>
          <a:p>
            <a:endParaRPr lang="en-US" dirty="0"/>
          </a:p>
          <a:p>
            <a:r>
              <a:rPr lang="en-US" dirty="0"/>
              <a:t>The ratio can be made more intuitive by dividing it into the number of days in a year: Average Number</a:t>
            </a:r>
            <a:r>
              <a:rPr lang="en-US" baseline="0" dirty="0"/>
              <a:t> of Days</a:t>
            </a:r>
            <a:r>
              <a:rPr lang="en-US" dirty="0"/>
              <a:t> Payables Are Outstanding = 365 Days ÷ Accounts Payable Turnover Ratio.</a:t>
            </a:r>
          </a:p>
        </p:txBody>
      </p:sp>
    </p:spTree>
    <p:extLst>
      <p:ext uri="{BB962C8B-B14F-4D97-AF65-F5344CB8AC3E}">
        <p14:creationId xmlns:p14="http://schemas.microsoft.com/office/powerpoint/2010/main" val="4263117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1026"/>
          <p:cNvSpPr>
            <a:spLocks noGrp="1" noRot="1" noChangeAspect="1" noChangeArrowheads="1" noTextEdit="1"/>
          </p:cNvSpPr>
          <p:nvPr>
            <p:ph type="sldImg"/>
          </p:nvPr>
        </p:nvSpPr>
        <p:spPr bwMode="auto">
          <a:noFill/>
          <a:ln>
            <a:solidFill>
              <a:srgbClr val="000000"/>
            </a:solidFill>
            <a:miter lim="800000"/>
            <a:headEnd/>
            <a:tailEnd/>
          </a:ln>
        </p:spPr>
      </p:sp>
      <p:sp>
        <p:nvSpPr>
          <p:cNvPr id="54276" name="Rectangle 1027"/>
          <p:cNvSpPr>
            <a:spLocks noGrp="1" noChangeArrowheads="1"/>
          </p:cNvSpPr>
          <p:nvPr>
            <p:ph type="body" idx="1"/>
          </p:nvPr>
        </p:nvSpPr>
        <p:spPr bwMode="auto">
          <a:noFill/>
        </p:spPr>
        <p:txBody>
          <a:bodyPr wrap="square" numCol="1" anchor="t" anchorCtr="0" compatLnSpc="1">
            <a:prstTxWarp prst="textNoShape">
              <a:avLst/>
            </a:prstTxWarp>
          </a:bodyPr>
          <a:lstStyle/>
          <a:p>
            <a:r>
              <a:rPr lang="en-US" dirty="0"/>
              <a:t>The accounts payable turnover ratio measures how quickly management is paying its suppliers. A high accounts payable ratio normally suggests that a company is paying its suppliers in a timely manner. The accounts payable turnover ratio is computed as follows:</a:t>
            </a:r>
            <a:r>
              <a:rPr lang="en-US" baseline="0" dirty="0"/>
              <a:t> </a:t>
            </a:r>
            <a:r>
              <a:rPr lang="en-US" dirty="0"/>
              <a:t>Cost of Goods Sold ÷ Average Accounts Payable.</a:t>
            </a:r>
          </a:p>
          <a:p>
            <a:endParaRPr lang="en-US" dirty="0"/>
          </a:p>
          <a:p>
            <a:r>
              <a:rPr lang="en-US" dirty="0"/>
              <a:t>The ratio can be made more intuitive by dividing it into the number of days in a year: Average Number</a:t>
            </a:r>
            <a:r>
              <a:rPr lang="en-US" baseline="0" dirty="0"/>
              <a:t> of Days</a:t>
            </a:r>
            <a:r>
              <a:rPr lang="en-US" dirty="0"/>
              <a:t> Payables Are Outstanding = 365 Days ÷ Accounts Payable Turnover Ratio.</a:t>
            </a:r>
          </a:p>
        </p:txBody>
      </p:sp>
    </p:spTree>
    <p:extLst>
      <p:ext uri="{BB962C8B-B14F-4D97-AF65-F5344CB8AC3E}">
        <p14:creationId xmlns:p14="http://schemas.microsoft.com/office/powerpoint/2010/main" val="2374017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LOS: Calculate and interpret measures of a company’s operating efficiency, internal liquidity (liquidity ratios), solvency, and profitability, and demonstrate the use of these measures in company analysis.</a:t>
            </a:r>
          </a:p>
          <a:p>
            <a:r>
              <a:rPr lang="en-US" sz="1400" dirty="0"/>
              <a:t>Pages 365–369</a:t>
            </a:r>
          </a:p>
          <a:p>
            <a:endParaRPr lang="en-US" sz="1400" dirty="0"/>
          </a:p>
          <a:p>
            <a:r>
              <a:rPr lang="en-US" sz="1400" dirty="0"/>
              <a:t>Solvency Analysis</a:t>
            </a:r>
          </a:p>
          <a:p>
            <a:endParaRPr lang="en-US" dirty="0"/>
          </a:p>
          <a:p>
            <a:pPr marL="171450" indent="-171450">
              <a:buFont typeface="Arial" pitchFamily="34" charset="0"/>
              <a:buChar char="•"/>
            </a:pPr>
            <a:r>
              <a:rPr lang="en-US" dirty="0"/>
              <a:t>A company’s business risk is determined, in large part, from the company’s line of business. </a:t>
            </a:r>
          </a:p>
          <a:p>
            <a:pPr marL="171450" indent="-171450">
              <a:buFont typeface="Arial" pitchFamily="34" charset="0"/>
              <a:buChar char="•"/>
            </a:pPr>
            <a:r>
              <a:rPr lang="en-US" b="1" dirty="0"/>
              <a:t>Financial risk </a:t>
            </a:r>
            <a:r>
              <a:rPr lang="en-US" dirty="0"/>
              <a:t>is the risk resulting from a company’s choice of how to finance the business using debt or equity. </a:t>
            </a:r>
          </a:p>
          <a:p>
            <a:pPr marL="171450" indent="-171450">
              <a:buFont typeface="Arial" pitchFamily="34" charset="0"/>
              <a:buChar char="•"/>
            </a:pPr>
            <a:r>
              <a:rPr lang="en-US" dirty="0"/>
              <a:t>We use solvency ratios to assess a company’s financial risk.</a:t>
            </a:r>
          </a:p>
          <a:p>
            <a:pPr marL="171450" indent="-171450">
              <a:buFont typeface="Arial" pitchFamily="34" charset="0"/>
              <a:buChar char="•"/>
            </a:pPr>
            <a:r>
              <a:rPr lang="en-US" dirty="0"/>
              <a:t>There are two types of solvency ratios: component percentages and coverage ratios.</a:t>
            </a:r>
          </a:p>
          <a:p>
            <a:pPr marL="628650" lvl="1" indent="-171450">
              <a:buFont typeface="Arial" pitchFamily="34" charset="0"/>
              <a:buChar char="•"/>
            </a:pPr>
            <a:r>
              <a:rPr lang="en-US" dirty="0"/>
              <a:t>Component percentages involve comparing the elements in the capital structure.</a:t>
            </a:r>
          </a:p>
          <a:p>
            <a:pPr marL="628650" lvl="1" indent="-171450">
              <a:buFont typeface="Arial" pitchFamily="34" charset="0"/>
              <a:buChar char="•"/>
            </a:pPr>
            <a:r>
              <a:rPr lang="en-US" dirty="0"/>
              <a:t>Coverage ratios measure the ability to meet interest and other fixed financing costs.</a:t>
            </a:r>
          </a:p>
          <a:p>
            <a:endParaRPr lang="en-US" dirty="0"/>
          </a:p>
        </p:txBody>
      </p:sp>
      <p:sp>
        <p:nvSpPr>
          <p:cNvPr id="4" name="Slide Number Placeholder 3"/>
          <p:cNvSpPr>
            <a:spLocks noGrp="1"/>
          </p:cNvSpPr>
          <p:nvPr>
            <p:ph type="sldNum" sz="quarter" idx="10"/>
          </p:nvPr>
        </p:nvSpPr>
        <p:spPr/>
        <p:txBody>
          <a:bodyPr/>
          <a:lstStyle/>
          <a:p>
            <a:fld id="{9A4F8672-8174-4157-9CD7-BC591DEEF2E8}" type="slidenum">
              <a:rPr lang="en-US" smtClean="0"/>
              <a:pPr/>
              <a:t>25</a:t>
            </a:fld>
            <a:endParaRPr lang="en-US"/>
          </a:p>
        </p:txBody>
      </p:sp>
    </p:spTree>
    <p:extLst>
      <p:ext uri="{BB962C8B-B14F-4D97-AF65-F5344CB8AC3E}">
        <p14:creationId xmlns:p14="http://schemas.microsoft.com/office/powerpoint/2010/main" val="1106456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LOS: Calculate and interpret measures of a company’s operating efficiency, internal liquidity (liquidity ratios), solvency, and profitability, and demonstrate the use of these measures in company analysis.</a:t>
                </a:r>
              </a:p>
              <a:p>
                <a:r>
                  <a:rPr lang="en-US" sz="1400" dirty="0"/>
                  <a:t>Pages 366–368</a:t>
                </a:r>
              </a:p>
              <a:p>
                <a:endParaRPr lang="en-US" sz="1400" dirty="0"/>
              </a:p>
              <a:p>
                <a:r>
                  <a:rPr lang="en-US" sz="1400" dirty="0"/>
                  <a:t>Solvency Ratios</a:t>
                </a:r>
              </a:p>
              <a:p>
                <a:endParaRPr lang="en-US" dirty="0"/>
              </a:p>
              <a:p>
                <a:pPr marL="171450" indent="-171450">
                  <a:buFont typeface="Arial" pitchFamily="34" charset="0"/>
                  <a:buChar char="•"/>
                </a:pPr>
                <a:r>
                  <a:rPr lang="en-US" sz="1200" kern="1200" dirty="0">
                    <a:solidFill>
                      <a:schemeClr val="tx1"/>
                    </a:solidFill>
                    <a:effectLst/>
                    <a:latin typeface="+mn-lt"/>
                    <a:ea typeface="+mn-ea"/>
                    <a:cs typeface="+mn-cs"/>
                  </a:rPr>
                  <a:t>Component-Percentage Solvency Ratios</a:t>
                </a:r>
              </a:p>
              <a:p>
                <a:pPr marL="628650" lvl="1" indent="-171450">
                  <a:buFont typeface="Arial" pitchFamily="34" charset="0"/>
                  <a:buChar char="•"/>
                </a:pPr>
                <a:r>
                  <a:rPr lang="en-US" sz="1200" kern="1200" dirty="0">
                    <a:solidFill>
                      <a:schemeClr val="tx1"/>
                    </a:solidFill>
                    <a:effectLst/>
                    <a:latin typeface="+mn-lt"/>
                    <a:ea typeface="+mn-ea"/>
                    <a:cs typeface="+mn-cs"/>
                  </a:rPr>
                  <a:t>Debt-to-assets ratio</a:t>
                </a:r>
              </a:p>
              <a:p>
                <a:pPr marL="914400" lvl="2" indent="0">
                  <a:buFont typeface="Arial" pitchFamily="34" charset="0"/>
                  <a:buNone/>
                </a:pPr>
                <a14:m>
                  <m:oMathPara xmlns:m="http://schemas.openxmlformats.org/officeDocument/2006/math">
                    <m:oMathParaPr>
                      <m:jc m:val="left"/>
                    </m:oMathParaPr>
                    <m:oMath xmlns:m="http://schemas.openxmlformats.org/officeDocument/2006/math">
                      <m:r>
                        <m:rPr>
                          <m:nor/>
                        </m:rPr>
                        <a:rPr lang="en-US" sz="1200" i="0" kern="1200">
                          <a:solidFill>
                            <a:schemeClr val="tx1"/>
                          </a:solidFill>
                          <a:effectLst/>
                          <a:latin typeface="+mn-lt"/>
                          <a:ea typeface="+mn-ea"/>
                          <a:cs typeface="+mn-cs"/>
                        </a:rPr>
                        <m:t>Debt</m:t>
                      </m:r>
                      <m:r>
                        <m:rPr>
                          <m:nor/>
                        </m:rPr>
                        <a:rPr lang="en-US" sz="1200" b="0" i="0" kern="1200" smtClean="0">
                          <a:solidFill>
                            <a:schemeClr val="tx1"/>
                          </a:solidFill>
                          <a:effectLst/>
                          <a:latin typeface="+mn-lt"/>
                          <a:ea typeface="+mn-ea"/>
                          <a:cs typeface="+mn-cs"/>
                        </a:rPr>
                        <m:t>−</m:t>
                      </m:r>
                      <m:r>
                        <m:rPr>
                          <m:nor/>
                        </m:rPr>
                        <a:rPr lang="en-US" sz="1200" i="0" kern="1200">
                          <a:solidFill>
                            <a:schemeClr val="tx1"/>
                          </a:solidFill>
                          <a:effectLst/>
                          <a:latin typeface="+mn-lt"/>
                          <a:ea typeface="+mn-ea"/>
                          <a:cs typeface="+mn-cs"/>
                        </a:rPr>
                        <m:t>to</m:t>
                      </m:r>
                      <m:r>
                        <m:rPr>
                          <m:nor/>
                        </m:rPr>
                        <a:rPr lang="en-US" sz="1200" b="0" i="0" kern="1200" smtClean="0">
                          <a:solidFill>
                            <a:schemeClr val="tx1"/>
                          </a:solidFill>
                          <a:effectLst/>
                          <a:latin typeface="+mn-lt"/>
                          <a:ea typeface="+mn-ea"/>
                          <a:cs typeface="+mn-cs"/>
                        </a:rPr>
                        <m:t>−</m:t>
                      </m:r>
                      <m:r>
                        <m:rPr>
                          <m:nor/>
                        </m:rPr>
                        <a:rPr lang="en-US" sz="1200" i="0" kern="1200">
                          <a:solidFill>
                            <a:schemeClr val="tx1"/>
                          </a:solidFill>
                          <a:effectLst/>
                          <a:latin typeface="+mn-lt"/>
                          <a:ea typeface="+mn-ea"/>
                          <a:cs typeface="+mn-cs"/>
                        </a:rPr>
                        <m:t>assets</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ratio</m:t>
                      </m:r>
                      <m:r>
                        <m:rPr>
                          <m:nor/>
                        </m:rPr>
                        <a:rPr lang="en-US" sz="1200" i="0" kern="1200">
                          <a:solidFill>
                            <a:schemeClr val="tx1"/>
                          </a:solidFill>
                          <a:effectLst/>
                          <a:latin typeface="+mn-lt"/>
                          <a:ea typeface="+mn-ea"/>
                          <a:cs typeface="+mn-cs"/>
                        </a:rPr>
                        <m:t> = </m:t>
                      </m:r>
                      <m:f>
                        <m:fPr>
                          <m:ctrlPr>
                            <a:rPr lang="en-US" sz="1200" i="1" kern="1200">
                              <a:solidFill>
                                <a:schemeClr val="tx1"/>
                              </a:solidFill>
                              <a:effectLst/>
                              <a:latin typeface="Cambria Math" panose="02040503050406030204" pitchFamily="18" charset="0"/>
                              <a:ea typeface="+mn-ea"/>
                              <a:cs typeface="+mn-cs"/>
                            </a:rPr>
                          </m:ctrlPr>
                        </m:fPr>
                        <m:num>
                          <m:r>
                            <m:rPr>
                              <m:nor/>
                            </m:rPr>
                            <a:rPr lang="en-US" sz="1200" i="0" kern="1200">
                              <a:solidFill>
                                <a:schemeClr val="tx1"/>
                              </a:solidFill>
                              <a:effectLst/>
                              <a:latin typeface="+mn-lt"/>
                              <a:ea typeface="+mn-ea"/>
                              <a:cs typeface="+mn-cs"/>
                            </a:rPr>
                            <m:t>Total</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debt</m:t>
                          </m:r>
                        </m:num>
                        <m:den>
                          <m:r>
                            <m:rPr>
                              <m:nor/>
                            </m:rPr>
                            <a:rPr lang="en-US" sz="1200" i="0" kern="1200">
                              <a:solidFill>
                                <a:schemeClr val="tx1"/>
                              </a:solidFill>
                              <a:effectLst/>
                              <a:latin typeface="+mn-lt"/>
                              <a:ea typeface="+mn-ea"/>
                              <a:cs typeface="+mn-cs"/>
                            </a:rPr>
                            <m:t>Total</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assets</m:t>
                          </m:r>
                        </m:den>
                      </m:f>
                    </m:oMath>
                  </m:oMathPara>
                </a14:m>
                <a:endParaRPr lang="en-US" sz="1200" kern="1200" dirty="0">
                  <a:solidFill>
                    <a:schemeClr val="tx1"/>
                  </a:solidFill>
                  <a:effectLst/>
                  <a:latin typeface="+mn-lt"/>
                  <a:ea typeface="+mn-ea"/>
                  <a:cs typeface="+mn-cs"/>
                </a:endParaRPr>
              </a:p>
              <a:p>
                <a:pPr marL="914400" lvl="2" indent="0">
                  <a:buFont typeface="Arial" pitchFamily="34" charset="0"/>
                  <a:buNone/>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Proportion of assets financed with debt.</a:t>
                </a:r>
              </a:p>
              <a:p>
                <a:pPr marL="914400" lvl="2" indent="0">
                  <a:buFont typeface="Arial" pitchFamily="34" charset="0"/>
                  <a:buNone/>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Long-term debt-to-assets ratio</a:t>
                </a:r>
              </a:p>
              <a:p>
                <a:pPr marL="914400" lvl="2" indent="0">
                  <a:buFont typeface="Arial" pitchFamily="34" charset="0"/>
                  <a:buNone/>
                </a:pPr>
                <a14:m>
                  <m:oMathPara xmlns:m="http://schemas.openxmlformats.org/officeDocument/2006/math">
                    <m:oMathParaPr>
                      <m:jc m:val="left"/>
                    </m:oMathParaPr>
                    <m:oMath xmlns:m="http://schemas.openxmlformats.org/officeDocument/2006/math">
                      <m:r>
                        <m:rPr>
                          <m:nor/>
                        </m:rPr>
                        <a:rPr lang="en-US" sz="1200" i="0" kern="1200">
                          <a:solidFill>
                            <a:schemeClr val="tx1"/>
                          </a:solidFill>
                          <a:effectLst/>
                          <a:latin typeface="+mn-lt"/>
                          <a:ea typeface="+mn-ea"/>
                          <a:cs typeface="+mn-cs"/>
                        </a:rPr>
                        <m:t>Long</m:t>
                      </m:r>
                      <m:r>
                        <m:rPr>
                          <m:nor/>
                        </m:rPr>
                        <a:rPr lang="en-US" sz="1200" b="0" i="0" kern="1200" smtClean="0">
                          <a:solidFill>
                            <a:schemeClr val="tx1"/>
                          </a:solidFill>
                          <a:effectLst/>
                          <a:latin typeface="+mn-lt"/>
                          <a:ea typeface="+mn-ea"/>
                          <a:cs typeface="+mn-cs"/>
                        </a:rPr>
                        <m:t>−</m:t>
                      </m:r>
                      <m:r>
                        <m:rPr>
                          <m:nor/>
                        </m:rPr>
                        <a:rPr lang="en-US" sz="1200" i="0" kern="1200">
                          <a:solidFill>
                            <a:schemeClr val="tx1"/>
                          </a:solidFill>
                          <a:effectLst/>
                          <a:latin typeface="+mn-lt"/>
                          <a:ea typeface="+mn-ea"/>
                          <a:cs typeface="+mn-cs"/>
                        </a:rPr>
                        <m:t>term</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debt</m:t>
                      </m:r>
                      <m:r>
                        <m:rPr>
                          <m:nor/>
                        </m:rPr>
                        <a:rPr lang="en-US" sz="1200" b="0" i="0" kern="1200" smtClean="0">
                          <a:solidFill>
                            <a:schemeClr val="tx1"/>
                          </a:solidFill>
                          <a:effectLst/>
                          <a:latin typeface="+mn-lt"/>
                          <a:ea typeface="+mn-ea"/>
                          <a:cs typeface="+mn-cs"/>
                        </a:rPr>
                        <m:t>−</m:t>
                      </m:r>
                      <m:r>
                        <m:rPr>
                          <m:nor/>
                        </m:rPr>
                        <a:rPr lang="en-US" sz="1200" i="0" kern="1200">
                          <a:solidFill>
                            <a:schemeClr val="tx1"/>
                          </a:solidFill>
                          <a:effectLst/>
                          <a:latin typeface="+mn-lt"/>
                          <a:ea typeface="+mn-ea"/>
                          <a:cs typeface="+mn-cs"/>
                        </a:rPr>
                        <m:t>to</m:t>
                      </m:r>
                      <m:r>
                        <m:rPr>
                          <m:nor/>
                        </m:rPr>
                        <a:rPr lang="en-US" sz="1200" b="0" i="0" kern="1200" smtClean="0">
                          <a:solidFill>
                            <a:schemeClr val="tx1"/>
                          </a:solidFill>
                          <a:effectLst/>
                          <a:latin typeface="+mn-lt"/>
                          <a:ea typeface="+mn-ea"/>
                          <a:cs typeface="+mn-cs"/>
                        </a:rPr>
                        <m:t>−</m:t>
                      </m:r>
                      <m:r>
                        <m:rPr>
                          <m:nor/>
                        </m:rPr>
                        <a:rPr lang="en-US" sz="1200" i="0" kern="1200">
                          <a:solidFill>
                            <a:schemeClr val="tx1"/>
                          </a:solidFill>
                          <a:effectLst/>
                          <a:latin typeface="+mn-lt"/>
                          <a:ea typeface="+mn-ea"/>
                          <a:cs typeface="+mn-cs"/>
                        </a:rPr>
                        <m:t>assets</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ratio</m:t>
                      </m:r>
                      <m:r>
                        <m:rPr>
                          <m:nor/>
                        </m:rPr>
                        <a:rPr lang="en-US" sz="1200" i="0" kern="1200">
                          <a:solidFill>
                            <a:schemeClr val="tx1"/>
                          </a:solidFill>
                          <a:effectLst/>
                          <a:latin typeface="+mn-lt"/>
                          <a:ea typeface="+mn-ea"/>
                          <a:cs typeface="+mn-cs"/>
                        </a:rPr>
                        <m:t> = </m:t>
                      </m:r>
                      <m:f>
                        <m:fPr>
                          <m:ctrlPr>
                            <a:rPr lang="en-US" sz="1200" i="1" kern="1200">
                              <a:solidFill>
                                <a:schemeClr val="tx1"/>
                              </a:solidFill>
                              <a:effectLst/>
                              <a:latin typeface="Cambria Math" panose="02040503050406030204" pitchFamily="18" charset="0"/>
                              <a:ea typeface="+mn-ea"/>
                              <a:cs typeface="+mn-cs"/>
                            </a:rPr>
                          </m:ctrlPr>
                        </m:fPr>
                        <m:num>
                          <m:r>
                            <m:rPr>
                              <m:nor/>
                            </m:rPr>
                            <a:rPr lang="en-US" sz="1200" i="0" kern="1200">
                              <a:solidFill>
                                <a:schemeClr val="tx1"/>
                              </a:solidFill>
                              <a:effectLst/>
                              <a:latin typeface="+mn-lt"/>
                              <a:ea typeface="+mn-ea"/>
                              <a:cs typeface="+mn-cs"/>
                            </a:rPr>
                            <m:t>Long</m:t>
                          </m:r>
                          <m:r>
                            <m:rPr>
                              <m:nor/>
                            </m:rPr>
                            <a:rPr lang="en-US" sz="1200" b="0" i="0" kern="1200" smtClean="0">
                              <a:solidFill>
                                <a:schemeClr val="tx1"/>
                              </a:solidFill>
                              <a:effectLst/>
                              <a:latin typeface="+mn-lt"/>
                              <a:ea typeface="+mn-ea"/>
                              <a:cs typeface="+mn-cs"/>
                            </a:rPr>
                            <m:t>−</m:t>
                          </m:r>
                          <m:r>
                            <m:rPr>
                              <m:nor/>
                            </m:rPr>
                            <a:rPr lang="en-US" sz="1200" i="0" kern="1200">
                              <a:solidFill>
                                <a:schemeClr val="tx1"/>
                              </a:solidFill>
                              <a:effectLst/>
                              <a:latin typeface="+mn-lt"/>
                              <a:ea typeface="+mn-ea"/>
                              <a:cs typeface="+mn-cs"/>
                            </a:rPr>
                            <m:t>term</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debt</m:t>
                          </m:r>
                        </m:num>
                        <m:den>
                          <m:r>
                            <m:rPr>
                              <m:nor/>
                            </m:rPr>
                            <a:rPr lang="en-US" sz="1200" i="0" kern="1200">
                              <a:solidFill>
                                <a:schemeClr val="tx1"/>
                              </a:solidFill>
                              <a:effectLst/>
                              <a:latin typeface="+mn-lt"/>
                              <a:ea typeface="+mn-ea"/>
                              <a:cs typeface="+mn-cs"/>
                            </a:rPr>
                            <m:t>Total</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assets</m:t>
                          </m:r>
                        </m:den>
                      </m:f>
                    </m:oMath>
                  </m:oMathPara>
                </a14:m>
                <a:endParaRPr lang="en-US" sz="1200" kern="1200" dirty="0">
                  <a:solidFill>
                    <a:schemeClr val="tx1"/>
                  </a:solidFill>
                  <a:effectLst/>
                  <a:latin typeface="+mn-lt"/>
                  <a:ea typeface="+mn-ea"/>
                  <a:cs typeface="+mn-cs"/>
                </a:endParaRP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Proportion of assets financed with long-term debt.</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Debt-to-equity ratio</a:t>
                </a:r>
              </a:p>
              <a:p>
                <a:pPr marL="914400" lvl="2" indent="0">
                  <a:buFont typeface="Arial" pitchFamily="34" charset="0"/>
                  <a:buNone/>
                </a:pPr>
                <a14:m>
                  <m:oMathPara xmlns:m="http://schemas.openxmlformats.org/officeDocument/2006/math">
                    <m:oMathParaPr>
                      <m:jc m:val="centerGroup"/>
                    </m:oMathParaPr>
                    <m:oMath xmlns:m="http://schemas.openxmlformats.org/officeDocument/2006/math">
                      <m:r>
                        <m:rPr>
                          <m:nor/>
                        </m:rPr>
                        <a:rPr lang="en-US" sz="1200" i="0" kern="1200">
                          <a:solidFill>
                            <a:schemeClr val="tx1"/>
                          </a:solidFill>
                          <a:effectLst/>
                          <a:latin typeface="+mn-lt"/>
                          <a:ea typeface="+mn-ea"/>
                          <a:cs typeface="+mn-cs"/>
                        </a:rPr>
                        <m:t>Debt</m:t>
                      </m:r>
                      <m:r>
                        <m:rPr>
                          <m:nor/>
                        </m:rPr>
                        <a:rPr lang="en-US" sz="1200" b="0" i="0" kern="1200" smtClean="0">
                          <a:solidFill>
                            <a:schemeClr val="tx1"/>
                          </a:solidFill>
                          <a:effectLst/>
                          <a:latin typeface="+mn-lt"/>
                          <a:ea typeface="+mn-ea"/>
                          <a:cs typeface="+mn-cs"/>
                        </a:rPr>
                        <m:t>−</m:t>
                      </m:r>
                      <m:r>
                        <m:rPr>
                          <m:nor/>
                        </m:rPr>
                        <a:rPr lang="en-US" sz="1200" i="0" kern="1200">
                          <a:solidFill>
                            <a:schemeClr val="tx1"/>
                          </a:solidFill>
                          <a:effectLst/>
                          <a:latin typeface="+mn-lt"/>
                          <a:ea typeface="+mn-ea"/>
                          <a:cs typeface="+mn-cs"/>
                        </a:rPr>
                        <m:t>to</m:t>
                      </m:r>
                      <m:r>
                        <m:rPr>
                          <m:nor/>
                        </m:rPr>
                        <a:rPr lang="en-US" sz="1200" b="0" i="0" kern="1200" smtClean="0">
                          <a:solidFill>
                            <a:schemeClr val="tx1"/>
                          </a:solidFill>
                          <a:effectLst/>
                          <a:latin typeface="+mn-lt"/>
                          <a:ea typeface="+mn-ea"/>
                          <a:cs typeface="+mn-cs"/>
                        </a:rPr>
                        <m:t>−</m:t>
                      </m:r>
                      <m:r>
                        <m:rPr>
                          <m:nor/>
                        </m:rPr>
                        <a:rPr lang="en-US" sz="1200" b="0" i="0" kern="1200" smtClean="0">
                          <a:solidFill>
                            <a:schemeClr val="tx1"/>
                          </a:solidFill>
                          <a:effectLst/>
                          <a:latin typeface="+mn-lt"/>
                          <a:ea typeface="+mn-ea"/>
                          <a:cs typeface="+mn-cs"/>
                        </a:rPr>
                        <m:t>equity</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ratio</m:t>
                      </m:r>
                      <m:r>
                        <m:rPr>
                          <m:nor/>
                        </m:rPr>
                        <a:rPr lang="en-US" sz="1200" i="0" kern="1200">
                          <a:solidFill>
                            <a:schemeClr val="tx1"/>
                          </a:solidFill>
                          <a:effectLst/>
                          <a:latin typeface="+mn-lt"/>
                          <a:ea typeface="+mn-ea"/>
                          <a:cs typeface="+mn-cs"/>
                        </a:rPr>
                        <m:t> = </m:t>
                      </m:r>
                      <m:f>
                        <m:fPr>
                          <m:ctrlPr>
                            <a:rPr lang="en-US" sz="1200" i="1" kern="1200">
                              <a:solidFill>
                                <a:schemeClr val="tx1"/>
                              </a:solidFill>
                              <a:effectLst/>
                              <a:latin typeface="Cambria Math" panose="02040503050406030204" pitchFamily="18" charset="0"/>
                              <a:ea typeface="+mn-ea"/>
                              <a:cs typeface="+mn-cs"/>
                            </a:rPr>
                          </m:ctrlPr>
                        </m:fPr>
                        <m:num>
                          <m:r>
                            <m:rPr>
                              <m:nor/>
                            </m:rPr>
                            <a:rPr lang="en-US" sz="1200" i="0" kern="1200">
                              <a:solidFill>
                                <a:schemeClr val="tx1"/>
                              </a:solidFill>
                              <a:effectLst/>
                              <a:latin typeface="+mn-lt"/>
                              <a:ea typeface="+mn-ea"/>
                              <a:cs typeface="+mn-cs"/>
                            </a:rPr>
                            <m:t>Total</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debt</m:t>
                          </m:r>
                        </m:num>
                        <m:den>
                          <m:r>
                            <m:rPr>
                              <m:nor/>
                            </m:rPr>
                            <a:rPr lang="en-US" sz="1200" i="0" kern="1200">
                              <a:solidFill>
                                <a:schemeClr val="tx1"/>
                              </a:solidFill>
                              <a:effectLst/>
                              <a:latin typeface="+mn-lt"/>
                              <a:ea typeface="+mn-ea"/>
                              <a:cs typeface="+mn-cs"/>
                            </a:rPr>
                            <m:t>Total</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shareholders</m:t>
                          </m:r>
                          <m:r>
                            <m:rPr>
                              <m:nor/>
                            </m:rPr>
                            <a:rPr lang="en-US" sz="1200" b="0" i="0" kern="1200" smtClean="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equity</m:t>
                          </m:r>
                        </m:den>
                      </m:f>
                    </m:oMath>
                  </m:oMathPara>
                </a14:m>
                <a:endParaRPr lang="en-US" sz="1200" kern="1200" dirty="0">
                  <a:solidFill>
                    <a:schemeClr val="tx1"/>
                  </a:solidFill>
                  <a:effectLst/>
                  <a:latin typeface="+mn-lt"/>
                  <a:ea typeface="+mn-ea"/>
                  <a:cs typeface="+mn-cs"/>
                </a:endParaRPr>
              </a:p>
              <a:p>
                <a:pPr marL="914400" lvl="2" indent="0">
                  <a:buFont typeface="Arial" pitchFamily="34" charset="0"/>
                  <a:buNone/>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Debt financing relative to equity financing.</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Financial leverage (also referred to as the equity multiplier)</a:t>
                </a:r>
              </a:p>
              <a:p>
                <a:pPr marL="914400" lvl="2" indent="0">
                  <a:buFont typeface="Arial" pitchFamily="34" charset="0"/>
                  <a:buNone/>
                </a:pPr>
                <a14:m>
                  <m:oMathPara xmlns:m="http://schemas.openxmlformats.org/officeDocument/2006/math">
                    <m:oMathParaPr>
                      <m:jc m:val="left"/>
                    </m:oMathParaPr>
                    <m:oMath xmlns:m="http://schemas.openxmlformats.org/officeDocument/2006/math">
                      <m:r>
                        <m:rPr>
                          <m:nor/>
                        </m:rPr>
                        <a:rPr lang="en-US" sz="1200" i="0" kern="1200">
                          <a:solidFill>
                            <a:schemeClr val="tx1"/>
                          </a:solidFill>
                          <a:effectLst/>
                          <a:latin typeface="+mn-lt"/>
                          <a:ea typeface="+mn-ea"/>
                          <a:cs typeface="+mn-cs"/>
                        </a:rPr>
                        <m:t>Financial</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leverage</m:t>
                      </m:r>
                      <m:r>
                        <m:rPr>
                          <m:nor/>
                        </m:rPr>
                        <a:rPr lang="en-US" sz="1200" i="0" kern="1200">
                          <a:solidFill>
                            <a:schemeClr val="tx1"/>
                          </a:solidFill>
                          <a:effectLst/>
                          <a:latin typeface="+mn-lt"/>
                          <a:ea typeface="+mn-ea"/>
                          <a:cs typeface="+mn-cs"/>
                        </a:rPr>
                        <m:t> = </m:t>
                      </m:r>
                      <m:f>
                        <m:fPr>
                          <m:ctrlPr>
                            <a:rPr lang="en-US" sz="1200" i="1" kern="1200">
                              <a:solidFill>
                                <a:schemeClr val="tx1"/>
                              </a:solidFill>
                              <a:effectLst/>
                              <a:latin typeface="Cambria Math" panose="02040503050406030204" pitchFamily="18" charset="0"/>
                              <a:ea typeface="+mn-ea"/>
                              <a:cs typeface="+mn-cs"/>
                            </a:rPr>
                          </m:ctrlPr>
                        </m:fPr>
                        <m:num>
                          <m:r>
                            <m:rPr>
                              <m:nor/>
                            </m:rPr>
                            <a:rPr lang="en-US" sz="1200" i="0" kern="1200">
                              <a:solidFill>
                                <a:schemeClr val="tx1"/>
                              </a:solidFill>
                              <a:effectLst/>
                              <a:latin typeface="+mn-lt"/>
                              <a:ea typeface="+mn-ea"/>
                              <a:cs typeface="+mn-cs"/>
                            </a:rPr>
                            <m:t>Total</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assets</m:t>
                          </m:r>
                        </m:num>
                        <m:den>
                          <m:r>
                            <m:rPr>
                              <m:nor/>
                            </m:rPr>
                            <a:rPr lang="en-US" sz="1200" i="0" kern="1200">
                              <a:solidFill>
                                <a:schemeClr val="tx1"/>
                              </a:solidFill>
                              <a:effectLst/>
                              <a:latin typeface="+mn-lt"/>
                              <a:ea typeface="+mn-ea"/>
                              <a:cs typeface="+mn-cs"/>
                            </a:rPr>
                            <m:t>Total</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shareholders</m:t>
                          </m:r>
                          <m:r>
                            <m:rPr>
                              <m:nor/>
                            </m:rPr>
                            <a:rPr lang="en-US" sz="1200" b="0" i="0" kern="1200" smtClean="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equity</m:t>
                          </m:r>
                        </m:den>
                      </m:f>
                    </m:oMath>
                  </m:oMathPara>
                </a14:m>
                <a:endParaRPr lang="en-US" sz="1200" kern="1200" dirty="0">
                  <a:solidFill>
                    <a:schemeClr val="tx1"/>
                  </a:solidFill>
                  <a:effectLst/>
                  <a:latin typeface="+mn-lt"/>
                  <a:ea typeface="+mn-ea"/>
                  <a:cs typeface="+mn-cs"/>
                </a:endParaRPr>
              </a:p>
              <a:p>
                <a:pPr marL="914400" lvl="2" indent="0">
                  <a:buFont typeface="Arial" pitchFamily="34" charset="0"/>
                  <a:buNone/>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Reliance on debt financing.</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171450" indent="-171450">
                  <a:buFont typeface="Arial" pitchFamily="34" charset="0"/>
                  <a:buChar char="•"/>
                </a:pPr>
                <a:r>
                  <a:rPr lang="en-US" sz="1200" kern="1200" dirty="0">
                    <a:solidFill>
                      <a:schemeClr val="tx1"/>
                    </a:solidFill>
                    <a:effectLst/>
                    <a:latin typeface="+mn-lt"/>
                    <a:ea typeface="+mn-ea"/>
                    <a:cs typeface="+mn-cs"/>
                  </a:rPr>
                  <a:t>Coverage ratios</a:t>
                </a:r>
              </a:p>
              <a:p>
                <a:pPr marL="628650" lvl="1" indent="-171450">
                  <a:buFont typeface="Arial" pitchFamily="34" charset="0"/>
                  <a:buChar char="•"/>
                </a:pPr>
                <a:r>
                  <a:rPr lang="en-US" sz="1200" kern="1200" dirty="0">
                    <a:solidFill>
                      <a:schemeClr val="tx1"/>
                    </a:solidFill>
                    <a:effectLst/>
                    <a:latin typeface="+mn-lt"/>
                    <a:ea typeface="+mn-ea"/>
                    <a:cs typeface="+mn-cs"/>
                  </a:rPr>
                  <a:t>Interest coverage ratio</a:t>
                </a:r>
              </a:p>
              <a:p>
                <a:pPr marL="914400" lvl="2" indent="0">
                  <a:buFont typeface="Arial" pitchFamily="34" charset="0"/>
                  <a:buNone/>
                </a:pPr>
                <a14:m>
                  <m:oMathPara xmlns:m="http://schemas.openxmlformats.org/officeDocument/2006/math">
                    <m:oMathParaPr>
                      <m:jc m:val="centerGroup"/>
                    </m:oMathParaPr>
                    <m:oMath xmlns:m="http://schemas.openxmlformats.org/officeDocument/2006/math">
                      <m:r>
                        <m:rPr>
                          <m:nor/>
                        </m:rPr>
                        <a:rPr lang="en-US" sz="1200" i="0" kern="1200">
                          <a:solidFill>
                            <a:schemeClr val="tx1"/>
                          </a:solidFill>
                          <a:effectLst/>
                          <a:latin typeface="+mn-lt"/>
                          <a:ea typeface="+mn-ea"/>
                          <a:cs typeface="+mn-cs"/>
                        </a:rPr>
                        <m:t>Interest</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coverage</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ratio</m:t>
                      </m:r>
                      <m:r>
                        <m:rPr>
                          <m:nor/>
                        </m:rPr>
                        <a:rPr lang="en-US" sz="1200" i="0" kern="1200">
                          <a:solidFill>
                            <a:schemeClr val="tx1"/>
                          </a:solidFill>
                          <a:effectLst/>
                          <a:latin typeface="+mn-lt"/>
                          <a:ea typeface="+mn-ea"/>
                          <a:cs typeface="+mn-cs"/>
                        </a:rPr>
                        <m:t> = </m:t>
                      </m:r>
                      <m:f>
                        <m:fPr>
                          <m:ctrlPr>
                            <a:rPr lang="en-US" sz="1200" i="1" kern="1200">
                              <a:solidFill>
                                <a:schemeClr val="tx1"/>
                              </a:solidFill>
                              <a:effectLst/>
                              <a:latin typeface="Cambria Math" panose="02040503050406030204" pitchFamily="18" charset="0"/>
                              <a:ea typeface="+mn-ea"/>
                              <a:cs typeface="+mn-cs"/>
                            </a:rPr>
                          </m:ctrlPr>
                        </m:fPr>
                        <m:num>
                          <m:r>
                            <m:rPr>
                              <m:nor/>
                            </m:rPr>
                            <a:rPr lang="en-US" sz="1200" i="0" kern="1200">
                              <a:solidFill>
                                <a:schemeClr val="tx1"/>
                              </a:solidFill>
                              <a:effectLst/>
                              <a:latin typeface="+mn-lt"/>
                              <a:ea typeface="+mn-ea"/>
                              <a:cs typeface="+mn-cs"/>
                            </a:rPr>
                            <m:t>EBIT</m:t>
                          </m:r>
                        </m:num>
                        <m:den>
                          <m:r>
                            <m:rPr>
                              <m:nor/>
                            </m:rPr>
                            <a:rPr lang="en-US" sz="1200" i="0" kern="1200">
                              <a:solidFill>
                                <a:schemeClr val="tx1"/>
                              </a:solidFill>
                              <a:effectLst/>
                              <a:latin typeface="+mn-lt"/>
                              <a:ea typeface="+mn-ea"/>
                              <a:cs typeface="+mn-cs"/>
                            </a:rPr>
                            <m:t>Interest</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payments</m:t>
                          </m:r>
                        </m:den>
                      </m:f>
                    </m:oMath>
                  </m:oMathPara>
                </a14:m>
                <a:endParaRPr lang="en-US" sz="1200" kern="1200" dirty="0">
                  <a:solidFill>
                    <a:schemeClr val="tx1"/>
                  </a:solidFill>
                  <a:effectLst/>
                  <a:latin typeface="+mn-lt"/>
                  <a:ea typeface="+mn-ea"/>
                  <a:cs typeface="+mn-cs"/>
                </a:endParaRPr>
              </a:p>
              <a:p>
                <a:pPr marL="914400" lvl="2" indent="0">
                  <a:buFont typeface="Arial" pitchFamily="34" charset="0"/>
                  <a:buNone/>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Ability to satisfy interest obligations.</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Fixed charge coverage ratio</a:t>
                </a:r>
              </a:p>
              <a:p>
                <a:pPr marL="914400" lvl="2" indent="0">
                  <a:buFont typeface="Arial"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200" i="1" kern="1200">
                              <a:solidFill>
                                <a:schemeClr val="tx1"/>
                              </a:solidFill>
                              <a:effectLst/>
                              <a:latin typeface="Cambria Math" panose="02040503050406030204" pitchFamily="18" charset="0"/>
                              <a:ea typeface="+mn-ea"/>
                              <a:cs typeface="+mn-cs"/>
                            </a:rPr>
                          </m:ctrlPr>
                        </m:mPr>
                        <m:mr>
                          <m:e>
                            <m:r>
                              <m:rPr>
                                <m:nor/>
                              </m:rPr>
                              <a:rPr lang="en-US" sz="1200" i="0" kern="1200">
                                <a:solidFill>
                                  <a:schemeClr val="tx1"/>
                                </a:solidFill>
                                <a:effectLst/>
                                <a:latin typeface="+mn-lt"/>
                                <a:ea typeface="+mn-ea"/>
                                <a:cs typeface="+mn-cs"/>
                              </a:rPr>
                              <m:t>Fixed</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charge</m:t>
                            </m:r>
                          </m:e>
                        </m:mr>
                        <m:mr>
                          <m:e>
                            <m:r>
                              <m:rPr>
                                <m:nor/>
                              </m:rPr>
                              <a:rPr lang="en-US" sz="1200" i="0" kern="1200">
                                <a:solidFill>
                                  <a:schemeClr val="tx1"/>
                                </a:solidFill>
                                <a:effectLst/>
                                <a:latin typeface="+mn-lt"/>
                                <a:ea typeface="+mn-ea"/>
                                <a:cs typeface="+mn-cs"/>
                              </a:rPr>
                              <m:t>coverage</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ratio</m:t>
                            </m:r>
                          </m:e>
                        </m:mr>
                      </m:m>
                      <m:r>
                        <m:rPr>
                          <m:nor/>
                        </m:rPr>
                        <a:rPr lang="en-US" sz="1200" i="0" kern="1200">
                          <a:solidFill>
                            <a:schemeClr val="tx1"/>
                          </a:solidFill>
                          <a:effectLst/>
                          <a:latin typeface="+mn-lt"/>
                          <a:ea typeface="+mn-ea"/>
                          <a:cs typeface="+mn-cs"/>
                        </a:rPr>
                        <m:t> = </m:t>
                      </m:r>
                      <m:f>
                        <m:fPr>
                          <m:ctrlPr>
                            <a:rPr lang="en-US" sz="1200" i="1" kern="1200">
                              <a:solidFill>
                                <a:schemeClr val="tx1"/>
                              </a:solidFill>
                              <a:effectLst/>
                              <a:latin typeface="Cambria Math" panose="02040503050406030204" pitchFamily="18" charset="0"/>
                              <a:ea typeface="+mn-ea"/>
                              <a:cs typeface="+mn-cs"/>
                            </a:rPr>
                          </m:ctrlPr>
                        </m:fPr>
                        <m:num>
                          <m:r>
                            <m:rPr>
                              <m:nor/>
                            </m:rPr>
                            <a:rPr lang="en-US" sz="1200" i="0" kern="1200">
                              <a:solidFill>
                                <a:schemeClr val="tx1"/>
                              </a:solidFill>
                              <a:effectLst/>
                              <a:latin typeface="+mn-lt"/>
                              <a:ea typeface="+mn-ea"/>
                              <a:cs typeface="+mn-cs"/>
                            </a:rPr>
                            <m:t>EBIT</m:t>
                          </m:r>
                          <m:r>
                            <m:rPr>
                              <m:nor/>
                            </m:rPr>
                            <a:rPr lang="en-US" sz="1200" b="0" i="0" kern="1200" smtClean="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m:t>
                          </m:r>
                          <m:r>
                            <m:rPr>
                              <m:nor/>
                            </m:rPr>
                            <a:rPr lang="en-US" sz="1200" b="0" i="0" kern="1200" smtClean="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Lease</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payments</m:t>
                          </m:r>
                        </m:num>
                        <m:den>
                          <m:r>
                            <m:rPr>
                              <m:nor/>
                            </m:rPr>
                            <a:rPr lang="en-US" sz="1200" i="0" kern="1200">
                              <a:solidFill>
                                <a:schemeClr val="tx1"/>
                              </a:solidFill>
                              <a:effectLst/>
                              <a:latin typeface="+mn-lt"/>
                              <a:ea typeface="+mn-ea"/>
                              <a:cs typeface="+mn-cs"/>
                            </a:rPr>
                            <m:t>Interest</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payments</m:t>
                          </m:r>
                          <m:r>
                            <m:rPr>
                              <m:nor/>
                            </m:rPr>
                            <a:rPr lang="en-US" sz="1200" b="0" i="0" kern="1200" smtClean="0">
                              <a:solidFill>
                                <a:schemeClr val="tx1"/>
                              </a:solidFill>
                              <a:effectLst/>
                              <a:latin typeface="+mn-lt"/>
                              <a:ea typeface="+mn-ea"/>
                              <a:cs typeface="+mn-cs"/>
                            </a:rPr>
                            <m:t> </m:t>
                          </m:r>
                          <m:r>
                            <m:rPr>
                              <m:nor/>
                            </m:rPr>
                            <a:rPr lang="en-US" sz="1200" i="0" kern="1200" smtClean="0">
                              <a:solidFill>
                                <a:schemeClr val="tx1"/>
                              </a:solidFill>
                              <a:effectLst/>
                              <a:latin typeface="+mn-lt"/>
                              <a:ea typeface="+mn-ea"/>
                              <a:cs typeface="+mn-cs"/>
                            </a:rPr>
                            <m:t>+</m:t>
                          </m:r>
                          <m:r>
                            <m:rPr>
                              <m:nor/>
                            </m:rPr>
                            <a:rPr lang="en-US" sz="1200" b="0" i="0" kern="1200" smtClean="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Lease</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payments</m:t>
                          </m:r>
                        </m:den>
                      </m:f>
                    </m:oMath>
                  </m:oMathPara>
                </a14:m>
                <a:endParaRPr lang="en-US" sz="1200" kern="1200" dirty="0">
                  <a:solidFill>
                    <a:schemeClr val="tx1"/>
                  </a:solidFill>
                  <a:effectLst/>
                  <a:latin typeface="+mn-lt"/>
                  <a:ea typeface="+mn-ea"/>
                  <a:cs typeface="+mn-cs"/>
                </a:endParaRPr>
              </a:p>
              <a:p>
                <a:pPr marL="914400" lvl="2" indent="0">
                  <a:buFont typeface="Arial" pitchFamily="34" charset="0"/>
                  <a:buNone/>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Ability to satisfy interest and lease obligations.</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Cash flow coverage ratio</a:t>
                </a:r>
              </a:p>
              <a:p>
                <a:pPr marL="914400" lvl="2" indent="0">
                  <a:buFont typeface="Arial" pitchFamily="34" charset="0"/>
                  <a:buNone/>
                </a:pPr>
                <a14:m>
                  <m:oMathPara xmlns:m="http://schemas.openxmlformats.org/officeDocument/2006/math">
                    <m:oMathParaPr>
                      <m:jc m:val="left"/>
                    </m:oMathParaPr>
                    <m:oMath xmlns:m="http://schemas.openxmlformats.org/officeDocument/2006/math">
                      <m:m>
                        <m:mPr>
                          <m:mcs>
                            <m:mc>
                              <m:mcPr>
                                <m:count m:val="1"/>
                                <m:mcJc m:val="center"/>
                              </m:mcPr>
                            </m:mc>
                          </m:mcs>
                          <m:ctrlPr>
                            <a:rPr lang="en-US" sz="1200" i="1" kern="1200">
                              <a:solidFill>
                                <a:schemeClr val="tx1"/>
                              </a:solidFill>
                              <a:effectLst/>
                              <a:latin typeface="Cambria Math" panose="02040503050406030204" pitchFamily="18" charset="0"/>
                              <a:ea typeface="+mn-ea"/>
                              <a:cs typeface="+mn-cs"/>
                            </a:rPr>
                          </m:ctrlPr>
                        </m:mPr>
                        <m:mr>
                          <m:e>
                            <m:r>
                              <m:rPr>
                                <m:nor/>
                              </m:rPr>
                              <a:rPr lang="en-US" sz="1200" i="0" kern="1200">
                                <a:solidFill>
                                  <a:schemeClr val="tx1"/>
                                </a:solidFill>
                                <a:effectLst/>
                                <a:latin typeface="+mn-lt"/>
                                <a:ea typeface="+mn-ea"/>
                                <a:cs typeface="+mn-cs"/>
                              </a:rPr>
                              <m:t>Cash</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flow</m:t>
                            </m:r>
                          </m:e>
                        </m:mr>
                        <m:mr>
                          <m:e>
                            <m:r>
                              <m:rPr>
                                <m:nor/>
                              </m:rPr>
                              <a:rPr lang="en-US" sz="1200" i="0" kern="1200">
                                <a:solidFill>
                                  <a:schemeClr val="tx1"/>
                                </a:solidFill>
                                <a:effectLst/>
                                <a:latin typeface="+mn-lt"/>
                                <a:ea typeface="+mn-ea"/>
                                <a:cs typeface="+mn-cs"/>
                              </a:rPr>
                              <m:t>coverage</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ratio</m:t>
                            </m:r>
                          </m:e>
                        </m:mr>
                      </m:m>
                      <m:r>
                        <m:rPr>
                          <m:nor/>
                        </m:rPr>
                        <a:rPr lang="en-US" sz="1200" b="0" i="0" kern="1200" smtClean="0">
                          <a:solidFill>
                            <a:schemeClr val="tx1"/>
                          </a:solidFill>
                          <a:effectLst/>
                          <a:latin typeface="Cambria Math"/>
                          <a:ea typeface="+mn-ea"/>
                          <a:cs typeface="+mn-cs"/>
                        </a:rPr>
                        <m:t> </m:t>
                      </m:r>
                      <m:r>
                        <m:rPr>
                          <m:nor/>
                        </m:rPr>
                        <a:rPr lang="en-US" sz="1200" i="0" kern="1200">
                          <a:solidFill>
                            <a:schemeClr val="tx1"/>
                          </a:solidFill>
                          <a:effectLst/>
                          <a:latin typeface="+mn-lt"/>
                          <a:ea typeface="+mn-ea"/>
                          <a:cs typeface="+mn-cs"/>
                        </a:rPr>
                        <m:t>= </m:t>
                      </m:r>
                      <m:f>
                        <m:fPr>
                          <m:ctrlPr>
                            <a:rPr lang="en-US" sz="1200" i="1" kern="1200">
                              <a:solidFill>
                                <a:schemeClr val="tx1"/>
                              </a:solidFill>
                              <a:effectLst/>
                              <a:latin typeface="Cambria Math" panose="02040503050406030204" pitchFamily="18" charset="0"/>
                              <a:ea typeface="+mn-ea"/>
                              <a:cs typeface="+mn-cs"/>
                            </a:rPr>
                          </m:ctrlPr>
                        </m:fPr>
                        <m:num>
                          <m:r>
                            <m:rPr>
                              <m:nor/>
                            </m:rPr>
                            <a:rPr lang="en-US" sz="1200" i="0" kern="1200">
                              <a:solidFill>
                                <a:schemeClr val="tx1"/>
                              </a:solidFill>
                              <a:effectLst/>
                              <a:latin typeface="+mn-lt"/>
                              <a:ea typeface="+mn-ea"/>
                              <a:cs typeface="+mn-cs"/>
                            </a:rPr>
                            <m:t>CFO</m:t>
                          </m:r>
                          <m:r>
                            <m:rPr>
                              <m:nor/>
                            </m:rPr>
                            <a:rPr lang="en-US" sz="1200" b="0" i="0" kern="1200" smtClean="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m:t>
                          </m:r>
                          <m:r>
                            <m:rPr>
                              <m:nor/>
                            </m:rPr>
                            <a:rPr lang="en-US" sz="1200" b="0" i="0" kern="1200" smtClean="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Interest</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payments</m:t>
                          </m:r>
                          <m:r>
                            <m:rPr>
                              <m:nor/>
                            </m:rPr>
                            <a:rPr lang="en-US" sz="1200" b="0" i="0" kern="1200" smtClean="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m:t>
                          </m:r>
                          <m:r>
                            <m:rPr>
                              <m:nor/>
                            </m:rPr>
                            <a:rPr lang="en-US" sz="1200" b="0" i="0" kern="1200" smtClean="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Tax</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payments</m:t>
                          </m:r>
                        </m:num>
                        <m:den>
                          <m:r>
                            <m:rPr>
                              <m:nor/>
                            </m:rPr>
                            <a:rPr lang="en-US" sz="1200" i="0" kern="1200">
                              <a:solidFill>
                                <a:schemeClr val="tx1"/>
                              </a:solidFill>
                              <a:effectLst/>
                              <a:latin typeface="+mn-lt"/>
                              <a:ea typeface="+mn-ea"/>
                              <a:cs typeface="+mn-cs"/>
                            </a:rPr>
                            <m:t>Interest</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payments</m:t>
                          </m:r>
                        </m:den>
                      </m:f>
                    </m:oMath>
                  </m:oMathPara>
                </a14:m>
                <a:endParaRPr lang="en-US" sz="1200" kern="1200" dirty="0">
                  <a:solidFill>
                    <a:schemeClr val="tx1"/>
                  </a:solidFill>
                  <a:effectLst/>
                  <a:latin typeface="+mn-lt"/>
                  <a:ea typeface="+mn-ea"/>
                  <a:cs typeface="+mn-cs"/>
                </a:endParaRPr>
              </a:p>
              <a:p>
                <a:pPr marL="914400" lvl="2" indent="0">
                  <a:buFont typeface="Arial" pitchFamily="34" charset="0"/>
                  <a:buNone/>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Ability to satisfy interest obligations with cash flows.</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Cash-flow-to-debt ratio</a:t>
                </a:r>
              </a:p>
              <a:p>
                <a:pPr marL="914400" lvl="2" indent="0">
                  <a:buFont typeface="Arial"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200" i="1" kern="1200">
                              <a:solidFill>
                                <a:schemeClr val="tx1"/>
                              </a:solidFill>
                              <a:effectLst/>
                              <a:latin typeface="Cambria Math" panose="02040503050406030204" pitchFamily="18" charset="0"/>
                              <a:ea typeface="+mn-ea"/>
                              <a:cs typeface="+mn-cs"/>
                            </a:rPr>
                          </m:ctrlPr>
                        </m:mPr>
                        <m:mr>
                          <m:e>
                            <m:r>
                              <m:rPr>
                                <m:nor/>
                              </m:rPr>
                              <a:rPr lang="en-US" sz="1200" i="0" kern="1200">
                                <a:solidFill>
                                  <a:schemeClr val="tx1"/>
                                </a:solidFill>
                                <a:effectLst/>
                                <a:latin typeface="+mn-lt"/>
                                <a:ea typeface="+mn-ea"/>
                                <a:cs typeface="+mn-cs"/>
                              </a:rPr>
                              <m:t>Cash</m:t>
                            </m:r>
                            <m:r>
                              <m:rPr>
                                <m:nor/>
                              </m:rPr>
                              <a:rPr lang="en-US" sz="1200" b="0" i="0" kern="1200" smtClean="0">
                                <a:solidFill>
                                  <a:schemeClr val="tx1"/>
                                </a:solidFill>
                                <a:effectLst/>
                                <a:latin typeface="+mn-lt"/>
                                <a:ea typeface="+mn-ea"/>
                                <a:cs typeface="+mn-cs"/>
                              </a:rPr>
                              <m:t>−</m:t>
                            </m:r>
                            <m:r>
                              <m:rPr>
                                <m:nor/>
                              </m:rPr>
                              <a:rPr lang="en-US" sz="1200" i="0" kern="1200">
                                <a:solidFill>
                                  <a:schemeClr val="tx1"/>
                                </a:solidFill>
                                <a:effectLst/>
                                <a:latin typeface="+mn-lt"/>
                                <a:ea typeface="+mn-ea"/>
                                <a:cs typeface="+mn-cs"/>
                              </a:rPr>
                              <m:t>flow</m:t>
                            </m:r>
                            <m:r>
                              <m:rPr>
                                <m:nor/>
                              </m:rPr>
                              <a:rPr lang="en-US" sz="1200" b="0" i="0" kern="1200" smtClean="0">
                                <a:solidFill>
                                  <a:schemeClr val="tx1"/>
                                </a:solidFill>
                                <a:effectLst/>
                                <a:latin typeface="+mn-lt"/>
                                <a:ea typeface="+mn-ea"/>
                                <a:cs typeface="+mn-cs"/>
                              </a:rPr>
                              <m:t>−</m:t>
                            </m:r>
                            <m:r>
                              <m:rPr>
                                <m:nor/>
                              </m:rPr>
                              <a:rPr lang="en-US" sz="1200" b="0" i="0" kern="1200" smtClean="0">
                                <a:solidFill>
                                  <a:schemeClr val="tx1"/>
                                </a:solidFill>
                                <a:effectLst/>
                                <a:latin typeface="+mn-lt"/>
                                <a:ea typeface="+mn-ea"/>
                                <a:cs typeface="+mn-cs"/>
                              </a:rPr>
                              <m:t>to</m:t>
                            </m:r>
                            <m:r>
                              <m:rPr>
                                <m:nor/>
                              </m:rPr>
                              <a:rPr lang="en-US" sz="1200" b="0" i="0" kern="1200" smtClean="0">
                                <a:solidFill>
                                  <a:schemeClr val="tx1"/>
                                </a:solidFill>
                                <a:effectLst/>
                                <a:latin typeface="+mn-lt"/>
                                <a:ea typeface="+mn-ea"/>
                                <a:cs typeface="+mn-cs"/>
                              </a:rPr>
                              <m:t>−</m:t>
                            </m:r>
                            <m:r>
                              <a:rPr lang="en-US" sz="1200" b="0" i="1" kern="1200" smtClean="0">
                                <a:solidFill>
                                  <a:schemeClr val="tx1"/>
                                </a:solidFill>
                                <a:effectLst/>
                                <a:latin typeface="Cambria Math"/>
                                <a:ea typeface="+mn-ea"/>
                                <a:cs typeface="+mn-cs"/>
                              </a:rPr>
                              <m:t> </m:t>
                            </m:r>
                          </m:e>
                        </m:mr>
                        <m:mr>
                          <m:e>
                            <m:r>
                              <m:rPr>
                                <m:nor/>
                              </m:rPr>
                              <a:rPr lang="en-US" sz="1200" i="0" kern="1200">
                                <a:solidFill>
                                  <a:schemeClr val="tx1"/>
                                </a:solidFill>
                                <a:effectLst/>
                                <a:latin typeface="+mn-lt"/>
                                <a:ea typeface="+mn-ea"/>
                                <a:cs typeface="+mn-cs"/>
                              </a:rPr>
                              <m:t>debt</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ratio</m:t>
                            </m:r>
                          </m:e>
                        </m:mr>
                      </m:m>
                      <m:r>
                        <m:rPr>
                          <m:nor/>
                        </m:rPr>
                        <a:rPr lang="en-US" sz="1200" i="0" kern="1200">
                          <a:solidFill>
                            <a:schemeClr val="tx1"/>
                          </a:solidFill>
                          <a:effectLst/>
                          <a:latin typeface="+mn-lt"/>
                          <a:ea typeface="+mn-ea"/>
                          <a:cs typeface="+mn-cs"/>
                        </a:rPr>
                        <m:t>=</m:t>
                      </m:r>
                      <m:r>
                        <m:rPr>
                          <m:nor/>
                        </m:rPr>
                        <a:rPr lang="en-US" sz="1200" b="0" i="0" kern="1200" smtClean="0">
                          <a:solidFill>
                            <a:schemeClr val="tx1"/>
                          </a:solidFill>
                          <a:effectLst/>
                          <a:latin typeface="+mn-lt"/>
                          <a:ea typeface="+mn-ea"/>
                          <a:cs typeface="+mn-cs"/>
                        </a:rPr>
                        <m:t> </m:t>
                      </m:r>
                      <m:f>
                        <m:fPr>
                          <m:ctrlPr>
                            <a:rPr lang="en-US" sz="1200" i="1" kern="1200">
                              <a:solidFill>
                                <a:schemeClr val="tx1"/>
                              </a:solidFill>
                              <a:effectLst/>
                              <a:latin typeface="Cambria Math" panose="02040503050406030204" pitchFamily="18" charset="0"/>
                              <a:ea typeface="+mn-ea"/>
                              <a:cs typeface="+mn-cs"/>
                            </a:rPr>
                          </m:ctrlPr>
                        </m:fPr>
                        <m:num>
                          <m:r>
                            <m:rPr>
                              <m:nor/>
                            </m:rPr>
                            <a:rPr lang="en-US" sz="1200" i="0" kern="1200">
                              <a:solidFill>
                                <a:schemeClr val="tx1"/>
                              </a:solidFill>
                              <a:effectLst/>
                              <a:latin typeface="+mn-lt"/>
                              <a:ea typeface="+mn-ea"/>
                              <a:cs typeface="+mn-cs"/>
                            </a:rPr>
                            <m:t>CFO</m:t>
                          </m:r>
                        </m:num>
                        <m:den>
                          <m:r>
                            <m:rPr>
                              <m:nor/>
                            </m:rPr>
                            <a:rPr lang="en-US" sz="1200" i="0" kern="1200">
                              <a:solidFill>
                                <a:schemeClr val="tx1"/>
                              </a:solidFill>
                              <a:effectLst/>
                              <a:latin typeface="+mn-lt"/>
                              <a:ea typeface="+mn-ea"/>
                              <a:cs typeface="+mn-cs"/>
                            </a:rPr>
                            <m:t>Total</m:t>
                          </m:r>
                          <m:r>
                            <m:rPr>
                              <m:nor/>
                            </m:rPr>
                            <a:rPr lang="en-US" sz="1200" i="0" kern="1200">
                              <a:solidFill>
                                <a:schemeClr val="tx1"/>
                              </a:solidFill>
                              <a:effectLst/>
                              <a:latin typeface="+mn-lt"/>
                              <a:ea typeface="+mn-ea"/>
                              <a:cs typeface="+mn-cs"/>
                            </a:rPr>
                            <m:t> </m:t>
                          </m:r>
                          <m:r>
                            <m:rPr>
                              <m:nor/>
                            </m:rPr>
                            <a:rPr lang="en-US" sz="1200" i="0" kern="1200">
                              <a:solidFill>
                                <a:schemeClr val="tx1"/>
                              </a:solidFill>
                              <a:effectLst/>
                              <a:latin typeface="+mn-lt"/>
                              <a:ea typeface="+mn-ea"/>
                              <a:cs typeface="+mn-cs"/>
                            </a:rPr>
                            <m:t>debt</m:t>
                          </m:r>
                        </m:den>
                      </m:f>
                    </m:oMath>
                  </m:oMathPara>
                </a14:m>
                <a:endParaRPr lang="en-US" sz="1200" kern="1200" dirty="0">
                  <a:solidFill>
                    <a:schemeClr val="tx1"/>
                  </a:solidFill>
                  <a:effectLst/>
                  <a:latin typeface="+mn-lt"/>
                  <a:ea typeface="+mn-ea"/>
                  <a:cs typeface="+mn-cs"/>
                </a:endParaRPr>
              </a:p>
              <a:p>
                <a:pPr marL="914400" lvl="2" indent="0">
                  <a:buFont typeface="Arial" pitchFamily="34" charset="0"/>
                  <a:buNone/>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Length of time needed to pay off debt with cash flows.</a:t>
                </a:r>
              </a:p>
              <a:p>
                <a:pPr lvl="1"/>
                <a:r>
                  <a:rPr lang="en-US" sz="1200" kern="1200" dirty="0">
                    <a:solidFill>
                      <a:schemeClr val="tx1"/>
                    </a:solidFill>
                    <a:effectLst/>
                    <a:latin typeface="+mn-lt"/>
                    <a:ea typeface="+mn-ea"/>
                    <a:cs typeface="+mn-cs"/>
                  </a:rPr>
                  <a:t> </a:t>
                </a:r>
              </a:p>
              <a:p>
                <a:r>
                  <a:rPr lang="en-US" b="1" i="0" dirty="0"/>
                  <a:t>Discussion question:  </a:t>
                </a:r>
                <a:r>
                  <a:rPr lang="en-US" dirty="0"/>
                  <a:t>Is</a:t>
                </a:r>
                <a:r>
                  <a:rPr lang="en-US" baseline="0" dirty="0"/>
                  <a:t> it possible for a company to have solvency ratios, such as the debt-to-assets and debt-to-equity ratios, that are increasing over time, yet the coverage ratios are not increasing?</a:t>
                </a:r>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LOS: Calculate and interpret measures of a company’s operating efficiency, internal liquidity (liquidity ratios), solvency, and profitability, and demonstrate the use of these measures in company analysis.</a:t>
                </a:r>
              </a:p>
              <a:p>
                <a:r>
                  <a:rPr lang="en-US" sz="1400" dirty="0" smtClean="0"/>
                  <a:t>Pages 366–368</a:t>
                </a:r>
              </a:p>
              <a:p>
                <a:endParaRPr lang="en-US" sz="1400" dirty="0" smtClean="0"/>
              </a:p>
              <a:p>
                <a:r>
                  <a:rPr lang="en-US" sz="1400" dirty="0" smtClean="0"/>
                  <a:t>Solvency Ratios</a:t>
                </a:r>
              </a:p>
              <a:p>
                <a:endParaRPr lang="en-US" dirty="0" smtClean="0"/>
              </a:p>
              <a:p>
                <a:pPr marL="171450" indent="-171450">
                  <a:buFont typeface="Arial" pitchFamily="34" charset="0"/>
                  <a:buChar char="•"/>
                </a:pPr>
                <a:r>
                  <a:rPr lang="en-US" sz="1200" kern="1200" dirty="0" smtClean="0">
                    <a:solidFill>
                      <a:schemeClr val="tx1"/>
                    </a:solidFill>
                    <a:effectLst/>
                    <a:latin typeface="+mn-lt"/>
                    <a:ea typeface="+mn-ea"/>
                    <a:cs typeface="+mn-cs"/>
                  </a:rPr>
                  <a:t>Component-Percentage Solvency Ratios</a:t>
                </a:r>
              </a:p>
              <a:p>
                <a:pPr marL="171450" indent="-171450">
                  <a:buFont typeface="Arial" pitchFamily="34" charset="0"/>
                  <a:buChar char="•"/>
                </a:pPr>
                <a:endParaRPr lang="en-US" sz="1200" kern="1200" dirty="0" smtClean="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Debt-to-assets ratio</a:t>
                </a:r>
              </a:p>
              <a:p>
                <a:pPr marL="914400" lvl="2" indent="0">
                  <a:buFont typeface="Arial" pitchFamily="34" charset="0"/>
                  <a:buNone/>
                </a:pPr>
                <a:r>
                  <a:rPr lang="en-US" sz="1200" i="0" kern="1200">
                    <a:solidFill>
                      <a:schemeClr val="tx1"/>
                    </a:solidFill>
                    <a:effectLst/>
                    <a:latin typeface="Cambria Math"/>
                    <a:ea typeface="+mn-ea"/>
                    <a:cs typeface="+mn-cs"/>
                  </a:rPr>
                  <a:t>"Debt−to−assets ratio = " </a:t>
                </a:r>
                <a:r>
                  <a:rPr lang="en-US" sz="1200" i="0" kern="1200">
                    <a:solidFill>
                      <a:schemeClr val="tx1"/>
                    </a:solidFill>
                    <a:effectLst/>
                    <a:latin typeface="+mn-lt"/>
                    <a:ea typeface="+mn-ea"/>
                    <a:cs typeface="+mn-cs"/>
                  </a:rPr>
                  <a:t> "Total debt</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"Total assets</a:t>
                </a:r>
                <a:r>
                  <a:rPr lang="en-US" sz="1200" i="0" kern="1200">
                    <a:solidFill>
                      <a:schemeClr val="tx1"/>
                    </a:solidFill>
                    <a:effectLst/>
                    <a:latin typeface="Cambria Math"/>
                    <a:ea typeface="+mn-ea"/>
                    <a:cs typeface="+mn-cs"/>
                  </a:rPr>
                  <a:t>" </a:t>
                </a:r>
                <a:endParaRPr lang="en-US" sz="1200" kern="1200" dirty="0" smtClean="0">
                  <a:solidFill>
                    <a:schemeClr val="tx1"/>
                  </a:solidFill>
                  <a:effectLst/>
                  <a:latin typeface="+mn-lt"/>
                  <a:ea typeface="+mn-ea"/>
                  <a:cs typeface="+mn-cs"/>
                </a:endParaRPr>
              </a:p>
              <a:p>
                <a:pPr marL="914400" lvl="2" indent="0">
                  <a:buFont typeface="Arial" pitchFamily="34" charset="0"/>
                  <a:buNone/>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Proportion of assets financed with </a:t>
                </a:r>
                <a:r>
                  <a:rPr lang="en-US" sz="1200" kern="1200" dirty="0" smtClean="0">
                    <a:solidFill>
                      <a:schemeClr val="tx1"/>
                    </a:solidFill>
                    <a:effectLst/>
                    <a:latin typeface="+mn-lt"/>
                    <a:ea typeface="+mn-ea"/>
                    <a:cs typeface="+mn-cs"/>
                  </a:rPr>
                  <a:t>debt</a:t>
                </a:r>
              </a:p>
              <a:p>
                <a:pPr marL="914400" lvl="2" indent="0">
                  <a:buFont typeface="Arial" pitchFamily="34" charset="0"/>
                  <a:buNone/>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Long-term debt-to-assets </a:t>
                </a:r>
                <a:r>
                  <a:rPr lang="en-US" sz="1200" kern="1200" dirty="0" smtClean="0">
                    <a:solidFill>
                      <a:schemeClr val="tx1"/>
                    </a:solidFill>
                    <a:effectLst/>
                    <a:latin typeface="+mn-lt"/>
                    <a:ea typeface="+mn-ea"/>
                    <a:cs typeface="+mn-cs"/>
                  </a:rPr>
                  <a:t>ratio</a:t>
                </a:r>
              </a:p>
              <a:p>
                <a:pPr marL="914400" lvl="2" indent="0">
                  <a:buFont typeface="Arial" pitchFamily="34" charset="0"/>
                  <a:buNone/>
                </a:pPr>
                <a:r>
                  <a:rPr lang="en-US" sz="1200" i="0" kern="1200">
                    <a:solidFill>
                      <a:schemeClr val="tx1"/>
                    </a:solidFill>
                    <a:effectLst/>
                    <a:latin typeface="Cambria Math"/>
                    <a:ea typeface="+mn-ea"/>
                    <a:cs typeface="+mn-cs"/>
                  </a:rPr>
                  <a:t>"Long−term debt−to−assets ratio = " </a:t>
                </a:r>
                <a:r>
                  <a:rPr lang="en-US" sz="1200" i="0" kern="1200">
                    <a:solidFill>
                      <a:schemeClr val="tx1"/>
                    </a:solidFill>
                    <a:effectLst/>
                    <a:latin typeface="+mn-lt"/>
                    <a:ea typeface="+mn-ea"/>
                    <a:cs typeface="+mn-cs"/>
                  </a:rPr>
                  <a:t> "Long−term debt</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"Total assets</a:t>
                </a:r>
                <a:r>
                  <a:rPr lang="en-US" sz="1200" i="0" kern="1200">
                    <a:solidFill>
                      <a:schemeClr val="tx1"/>
                    </a:solidFill>
                    <a:effectLst/>
                    <a:latin typeface="Cambria Math"/>
                    <a:ea typeface="+mn-ea"/>
                    <a:cs typeface="+mn-cs"/>
                  </a:rPr>
                  <a:t>" </a:t>
                </a:r>
                <a:endParaRPr lang="en-US" sz="1200" kern="1200" dirty="0" smtClean="0">
                  <a:solidFill>
                    <a:schemeClr val="tx1"/>
                  </a:solidFill>
                  <a:effectLst/>
                  <a:latin typeface="+mn-lt"/>
                  <a:ea typeface="+mn-ea"/>
                  <a:cs typeface="+mn-cs"/>
                </a:endParaRP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1085850" lvl="2" indent="-171450">
                  <a:buFont typeface="Arial" pitchFamily="34" charset="0"/>
                  <a:buChar char="•"/>
                </a:pPr>
                <a:r>
                  <a:rPr lang="en-US" sz="1200" kern="1200" dirty="0">
                    <a:solidFill>
                      <a:schemeClr val="tx1"/>
                    </a:solidFill>
                    <a:effectLst/>
                    <a:latin typeface="+mn-lt"/>
                    <a:ea typeface="+mn-ea"/>
                    <a:cs typeface="+mn-cs"/>
                  </a:rPr>
                  <a:t>Proportion of assets financed with long-term </a:t>
                </a:r>
                <a:r>
                  <a:rPr lang="en-US" sz="1200" kern="1200" dirty="0" smtClean="0">
                    <a:solidFill>
                      <a:schemeClr val="tx1"/>
                    </a:solidFill>
                    <a:effectLst/>
                    <a:latin typeface="+mn-lt"/>
                    <a:ea typeface="+mn-ea"/>
                    <a:cs typeface="+mn-cs"/>
                  </a:rPr>
                  <a:t>debt</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Debt-to-equity </a:t>
                </a:r>
                <a:r>
                  <a:rPr lang="en-US" sz="1200" kern="1200" dirty="0" smtClean="0">
                    <a:solidFill>
                      <a:schemeClr val="tx1"/>
                    </a:solidFill>
                    <a:effectLst/>
                    <a:latin typeface="+mn-lt"/>
                    <a:ea typeface="+mn-ea"/>
                    <a:cs typeface="+mn-cs"/>
                  </a:rPr>
                  <a:t>ratio</a:t>
                </a:r>
              </a:p>
              <a:p>
                <a:pPr marL="628650" lvl="1" indent="-171450">
                  <a:buFont typeface="Arial" pitchFamily="34" charset="0"/>
                  <a:buChar char="•"/>
                </a:pPr>
                <a:endParaRPr lang="en-US" sz="1200" kern="1200" dirty="0">
                  <a:solidFill>
                    <a:schemeClr val="tx1"/>
                  </a:solidFill>
                  <a:effectLst/>
                  <a:latin typeface="+mn-lt"/>
                  <a:ea typeface="+mn-ea"/>
                  <a:cs typeface="+mn-cs"/>
                </a:endParaRPr>
              </a:p>
              <a:p>
                <a:pPr marL="914400" lvl="2" indent="0">
                  <a:buFont typeface="Arial" pitchFamily="34" charset="0"/>
                  <a:buNone/>
                </a:pPr>
                <a:r>
                  <a:rPr lang="en-US" sz="1200" i="0" kern="1200">
                    <a:solidFill>
                      <a:schemeClr val="tx1"/>
                    </a:solidFill>
                    <a:effectLst/>
                    <a:latin typeface="Cambria Math"/>
                    <a:ea typeface="+mn-ea"/>
                    <a:cs typeface="+mn-cs"/>
                  </a:rPr>
                  <a:t>"Debt−to−equity ratio = " </a:t>
                </a:r>
                <a:r>
                  <a:rPr lang="en-US" sz="1200" i="0" kern="1200">
                    <a:solidFill>
                      <a:schemeClr val="tx1"/>
                    </a:solidFill>
                    <a:effectLst/>
                    <a:latin typeface="+mn-lt"/>
                    <a:ea typeface="+mn-ea"/>
                    <a:cs typeface="+mn-cs"/>
                  </a:rPr>
                  <a:t> "Total debt</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"Total shareholder</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"s</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 "equity</a:t>
                </a:r>
                <a:r>
                  <a:rPr lang="en-US" sz="1200" i="0" kern="1200">
                    <a:solidFill>
                      <a:schemeClr val="tx1"/>
                    </a:solidFill>
                    <a:effectLst/>
                    <a:latin typeface="Cambria Math"/>
                    <a:ea typeface="+mn-ea"/>
                    <a:cs typeface="+mn-cs"/>
                  </a:rPr>
                  <a:t>" )</a:t>
                </a:r>
                <a:endParaRPr lang="en-US" sz="1200" kern="1200" dirty="0" smtClean="0">
                  <a:solidFill>
                    <a:schemeClr val="tx1"/>
                  </a:solidFill>
                  <a:effectLst/>
                  <a:latin typeface="+mn-lt"/>
                  <a:ea typeface="+mn-ea"/>
                  <a:cs typeface="+mn-cs"/>
                </a:endParaRPr>
              </a:p>
              <a:p>
                <a:pPr marL="914400" lvl="2" indent="0">
                  <a:buFont typeface="Arial" pitchFamily="34" charset="0"/>
                  <a:buNone/>
                </a:pPr>
                <a:endParaRPr/>
              </a:p>
              <a:p>
                <a:pPr marL="1085850" lvl="2" indent="-171450">
                  <a:buFont typeface="Arial" pitchFamily="34" charset="0"/>
                  <a:buChar char="•"/>
                </a:pPr>
                <a:r>
                  <a:rPr lang="en-US" sz="1200" kern="1200" dirty="0">
                    <a:solidFill>
                      <a:schemeClr val="tx1"/>
                    </a:solidFill>
                    <a:effectLst/>
                    <a:latin typeface="+mn-lt"/>
                    <a:ea typeface="+mn-ea"/>
                    <a:cs typeface="+mn-cs"/>
                  </a:rPr>
                  <a:t>Debt financing relative to equity </a:t>
                </a:r>
                <a:r>
                  <a:rPr lang="en-US" sz="1200" kern="1200" dirty="0" smtClean="0">
                    <a:solidFill>
                      <a:schemeClr val="tx1"/>
                    </a:solidFill>
                    <a:effectLst/>
                    <a:latin typeface="+mn-lt"/>
                    <a:ea typeface="+mn-ea"/>
                    <a:cs typeface="+mn-cs"/>
                  </a:rPr>
                  <a:t>financing</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Financial leverage (also referred to as the equity </a:t>
                </a:r>
                <a:r>
                  <a:rPr lang="en-US" sz="1200" kern="1200" dirty="0" smtClean="0">
                    <a:solidFill>
                      <a:schemeClr val="tx1"/>
                    </a:solidFill>
                    <a:effectLst/>
                    <a:latin typeface="+mn-lt"/>
                    <a:ea typeface="+mn-ea"/>
                    <a:cs typeface="+mn-cs"/>
                  </a:rPr>
                  <a:t>multiplier</a:t>
                </a:r>
              </a:p>
              <a:p>
                <a:pPr marL="628650" lvl="1" indent="-171450">
                  <a:buFont typeface="Arial" pitchFamily="34" charset="0"/>
                  <a:buChar char="•"/>
                </a:pPr>
                <a:endParaRPr lang="en-US" sz="1200" kern="1200" dirty="0">
                  <a:solidFill>
                    <a:schemeClr val="tx1"/>
                  </a:solidFill>
                  <a:effectLst/>
                  <a:latin typeface="+mn-lt"/>
                  <a:ea typeface="+mn-ea"/>
                  <a:cs typeface="+mn-cs"/>
                </a:endParaRPr>
              </a:p>
              <a:p>
                <a:pPr marL="914400" lvl="2" indent="0">
                  <a:buFont typeface="Arial" pitchFamily="34" charset="0"/>
                  <a:buNone/>
                </a:pPr>
                <a:r>
                  <a:rPr lang="en-US" sz="1200" i="0" kern="1200">
                    <a:solidFill>
                      <a:schemeClr val="tx1"/>
                    </a:solidFill>
                    <a:effectLst/>
                    <a:latin typeface="Cambria Math"/>
                    <a:ea typeface="+mn-ea"/>
                    <a:cs typeface="+mn-cs"/>
                  </a:rPr>
                  <a:t>"Financial leverage = " </a:t>
                </a:r>
                <a:r>
                  <a:rPr lang="en-US" sz="1200" i="0" kern="1200">
                    <a:solidFill>
                      <a:schemeClr val="tx1"/>
                    </a:solidFill>
                    <a:effectLst/>
                    <a:latin typeface="+mn-lt"/>
                    <a:ea typeface="+mn-ea"/>
                    <a:cs typeface="+mn-cs"/>
                  </a:rPr>
                  <a:t> "Total assets</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"Total shareholder</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"s</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 "equity</a:t>
                </a:r>
                <a:r>
                  <a:rPr lang="en-US" sz="1200" i="0" kern="1200">
                    <a:solidFill>
                      <a:schemeClr val="tx1"/>
                    </a:solidFill>
                    <a:effectLst/>
                    <a:latin typeface="Cambria Math"/>
                    <a:ea typeface="+mn-ea"/>
                    <a:cs typeface="+mn-cs"/>
                  </a:rPr>
                  <a:t>" )</a:t>
                </a:r>
                <a:endParaRPr lang="en-US" sz="1200" kern="1200" dirty="0" smtClean="0">
                  <a:solidFill>
                    <a:schemeClr val="tx1"/>
                  </a:solidFill>
                  <a:effectLst/>
                  <a:latin typeface="+mn-lt"/>
                  <a:ea typeface="+mn-ea"/>
                  <a:cs typeface="+mn-cs"/>
                </a:endParaRPr>
              </a:p>
              <a:p>
                <a:pPr marL="914400" lvl="2" indent="0">
                  <a:buFont typeface="Arial" pitchFamily="34" charset="0"/>
                  <a:buNone/>
                </a:pPr>
                <a:endParaRPr/>
              </a:p>
              <a:p>
                <a:pPr marL="1085850" lvl="2" indent="-171450">
                  <a:buFont typeface="Arial" pitchFamily="34" charset="0"/>
                  <a:buChar char="•"/>
                </a:pPr>
                <a:r>
                  <a:rPr lang="en-US" sz="1200" kern="1200" dirty="0">
                    <a:solidFill>
                      <a:schemeClr val="tx1"/>
                    </a:solidFill>
                    <a:effectLst/>
                    <a:latin typeface="+mn-lt"/>
                    <a:ea typeface="+mn-ea"/>
                    <a:cs typeface="+mn-cs"/>
                  </a:rPr>
                  <a:t>Reliance on debt financing </a:t>
                </a:r>
                <a:endParaRPr lang="en-US" sz="1200" kern="1200" dirty="0" smtClean="0">
                  <a:solidFill>
                    <a:schemeClr val="tx1"/>
                  </a:solidFill>
                  <a:effectLst/>
                  <a:latin typeface="+mn-lt"/>
                  <a:ea typeface="+mn-ea"/>
                  <a:cs typeface="+mn-cs"/>
                </a:endParaRP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171450" indent="-171450">
                  <a:buFont typeface="Arial" pitchFamily="34" charset="0"/>
                  <a:buChar char="•"/>
                </a:pPr>
                <a:r>
                  <a:rPr lang="en-US" sz="1200" kern="1200" dirty="0">
                    <a:solidFill>
                      <a:schemeClr val="tx1"/>
                    </a:solidFill>
                    <a:effectLst/>
                    <a:latin typeface="+mn-lt"/>
                    <a:ea typeface="+mn-ea"/>
                    <a:cs typeface="+mn-cs"/>
                  </a:rPr>
                  <a:t>Coverage </a:t>
                </a:r>
                <a:r>
                  <a:rPr lang="en-US" sz="1200" kern="1200" dirty="0" smtClean="0">
                    <a:solidFill>
                      <a:schemeClr val="tx1"/>
                    </a:solidFill>
                    <a:effectLst/>
                    <a:latin typeface="+mn-lt"/>
                    <a:ea typeface="+mn-ea"/>
                    <a:cs typeface="+mn-cs"/>
                  </a:rPr>
                  <a:t>ratios</a:t>
                </a:r>
              </a:p>
              <a:p>
                <a:pPr marL="171450"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Interest coverage </a:t>
                </a:r>
                <a:r>
                  <a:rPr lang="en-US" sz="1200" kern="1200" dirty="0" smtClean="0">
                    <a:solidFill>
                      <a:schemeClr val="tx1"/>
                    </a:solidFill>
                    <a:effectLst/>
                    <a:latin typeface="+mn-lt"/>
                    <a:ea typeface="+mn-ea"/>
                    <a:cs typeface="+mn-cs"/>
                  </a:rPr>
                  <a:t>ratio</a:t>
                </a:r>
              </a:p>
              <a:p>
                <a:pPr marL="628650" lvl="1" indent="-171450">
                  <a:buFont typeface="Arial" pitchFamily="34" charset="0"/>
                  <a:buChar char="•"/>
                </a:pPr>
                <a:endParaRPr lang="en-US" sz="1200" kern="1200" dirty="0">
                  <a:solidFill>
                    <a:schemeClr val="tx1"/>
                  </a:solidFill>
                  <a:effectLst/>
                  <a:latin typeface="+mn-lt"/>
                  <a:ea typeface="+mn-ea"/>
                  <a:cs typeface="+mn-cs"/>
                </a:endParaRPr>
              </a:p>
              <a:p>
                <a:pPr marL="914400" lvl="2" indent="0">
                  <a:buFont typeface="Arial" pitchFamily="34" charset="0"/>
                  <a:buNone/>
                </a:pPr>
                <a:r>
                  <a:rPr lang="en-US" sz="1200" i="0" kern="1200">
                    <a:solidFill>
                      <a:schemeClr val="tx1"/>
                    </a:solidFill>
                    <a:effectLst/>
                    <a:latin typeface="Cambria Math"/>
                    <a:ea typeface="+mn-ea"/>
                    <a:cs typeface="+mn-cs"/>
                  </a:rPr>
                  <a:t>"Interest coverage ratio = " </a:t>
                </a:r>
                <a:r>
                  <a:rPr lang="en-US" sz="1200" i="0" kern="1200">
                    <a:solidFill>
                      <a:schemeClr val="tx1"/>
                    </a:solidFill>
                    <a:effectLst/>
                    <a:latin typeface="+mn-lt"/>
                    <a:ea typeface="+mn-ea"/>
                    <a:cs typeface="+mn-cs"/>
                  </a:rPr>
                  <a:t> "EBIT</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"Interest payments</a:t>
                </a:r>
                <a:r>
                  <a:rPr lang="en-US" sz="1200" i="0" kern="1200">
                    <a:solidFill>
                      <a:schemeClr val="tx1"/>
                    </a:solidFill>
                    <a:effectLst/>
                    <a:latin typeface="Cambria Math"/>
                    <a:ea typeface="+mn-ea"/>
                    <a:cs typeface="+mn-cs"/>
                  </a:rPr>
                  <a:t>" </a:t>
                </a:r>
                <a:endParaRPr lang="en-US" sz="1200" kern="1200" dirty="0" smtClean="0">
                  <a:solidFill>
                    <a:schemeClr val="tx1"/>
                  </a:solidFill>
                  <a:effectLst/>
                  <a:latin typeface="+mn-lt"/>
                  <a:ea typeface="+mn-ea"/>
                  <a:cs typeface="+mn-cs"/>
                </a:endParaRPr>
              </a:p>
              <a:p>
                <a:pPr marL="914400" lvl="2" indent="0">
                  <a:buFont typeface="Arial" pitchFamily="34" charset="0"/>
                  <a:buNone/>
                </a:pPr>
                <a:endParaRPr/>
              </a:p>
              <a:p>
                <a:pPr marL="1085850" lvl="2" indent="-171450">
                  <a:buFont typeface="Arial" pitchFamily="34" charset="0"/>
                  <a:buChar char="•"/>
                </a:pPr>
                <a:r>
                  <a:rPr lang="en-US" sz="1200" kern="1200" dirty="0">
                    <a:solidFill>
                      <a:schemeClr val="tx1"/>
                    </a:solidFill>
                    <a:effectLst/>
                    <a:latin typeface="+mn-lt"/>
                    <a:ea typeface="+mn-ea"/>
                    <a:cs typeface="+mn-cs"/>
                  </a:rPr>
                  <a:t>Ability to satisfy interest </a:t>
                </a:r>
                <a:r>
                  <a:rPr lang="en-US" sz="1200" kern="1200" dirty="0" smtClean="0">
                    <a:solidFill>
                      <a:schemeClr val="tx1"/>
                    </a:solidFill>
                    <a:effectLst/>
                    <a:latin typeface="+mn-lt"/>
                    <a:ea typeface="+mn-ea"/>
                    <a:cs typeface="+mn-cs"/>
                  </a:rPr>
                  <a:t>obligations</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Fixed charge coverage </a:t>
                </a:r>
                <a:r>
                  <a:rPr lang="en-US" sz="1200" kern="1200" dirty="0" smtClean="0">
                    <a:solidFill>
                      <a:schemeClr val="tx1"/>
                    </a:solidFill>
                    <a:effectLst/>
                    <a:latin typeface="+mn-lt"/>
                    <a:ea typeface="+mn-ea"/>
                    <a:cs typeface="+mn-cs"/>
                  </a:rPr>
                  <a:t>ratio</a:t>
                </a:r>
              </a:p>
              <a:p>
                <a:pPr marL="628650" lvl="1" indent="-171450">
                  <a:buFont typeface="Arial" pitchFamily="34" charset="0"/>
                  <a:buChar char="•"/>
                </a:pPr>
                <a:endParaRPr lang="en-US" sz="1200" kern="1200" dirty="0" smtClean="0">
                  <a:solidFill>
                    <a:schemeClr val="tx1"/>
                  </a:solidFill>
                  <a:effectLst/>
                  <a:latin typeface="+mn-lt"/>
                  <a:ea typeface="+mn-ea"/>
                  <a:cs typeface="+mn-cs"/>
                </a:endParaRPr>
              </a:p>
              <a:p>
                <a:pPr marL="914400" lvl="2" indent="0">
                  <a:buFont typeface="Arial" pitchFamily="34" charset="0"/>
                  <a:buNone/>
                </a:pPr>
                <a:r>
                  <a:rPr lang="en-US" sz="1200" i="0" kern="1200">
                    <a:solidFill>
                      <a:schemeClr val="tx1"/>
                    </a:solidFill>
                    <a:effectLst/>
                    <a:latin typeface="Cambria Math"/>
                    <a:ea typeface="+mn-ea"/>
                    <a:cs typeface="+mn-cs"/>
                  </a:rPr>
                  <a:t>■8(</a:t>
                </a:r>
                <a:r>
                  <a:rPr lang="en-US" sz="1200" i="0" kern="1200">
                    <a:solidFill>
                      <a:schemeClr val="tx1"/>
                    </a:solidFill>
                    <a:effectLst/>
                    <a:latin typeface="+mn-lt"/>
                    <a:ea typeface="+mn-ea"/>
                    <a:cs typeface="+mn-cs"/>
                  </a:rPr>
                  <a:t>"Fixed charge</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"coverage ratio</a:t>
                </a:r>
                <a:r>
                  <a:rPr lang="en-US" sz="1200" i="0" kern="1200">
                    <a:solidFill>
                      <a:schemeClr val="tx1"/>
                    </a:solidFill>
                    <a:effectLst/>
                    <a:latin typeface="Cambria Math"/>
                    <a:ea typeface="+mn-ea"/>
                    <a:cs typeface="+mn-cs"/>
                  </a:rPr>
                  <a:t>" )" = " </a:t>
                </a:r>
                <a:r>
                  <a:rPr lang="en-US" sz="1200" i="0" kern="1200">
                    <a:solidFill>
                      <a:schemeClr val="tx1"/>
                    </a:solidFill>
                    <a:effectLst/>
                    <a:latin typeface="+mn-lt"/>
                    <a:ea typeface="+mn-ea"/>
                    <a:cs typeface="+mn-cs"/>
                  </a:rPr>
                  <a:t> "EBIT+Lease payments</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"Interest payments</a:t>
                </a:r>
                <a:r>
                  <a:rPr lang="en-US" sz="1200" i="0" kern="1200" smtClean="0">
                    <a:solidFill>
                      <a:schemeClr val="tx1"/>
                    </a:solidFill>
                    <a:effectLst/>
                    <a:latin typeface="+mn-lt"/>
                    <a:ea typeface="+mn-ea"/>
                    <a:cs typeface="+mn-cs"/>
                  </a:rPr>
                  <a:t>"  </a:t>
                </a:r>
                <a:r>
                  <a:rPr lang="en-US" sz="1200" i="0" kern="1200">
                    <a:solidFill>
                      <a:schemeClr val="tx1"/>
                    </a:solidFill>
                    <a:effectLst/>
                    <a:latin typeface="+mn-lt"/>
                    <a:ea typeface="+mn-ea"/>
                    <a:cs typeface="+mn-cs"/>
                  </a:rPr>
                  <a:t>"Lease payments</a:t>
                </a:r>
                <a:r>
                  <a:rPr lang="en-US" sz="1200" i="0" kern="1200">
                    <a:solidFill>
                      <a:schemeClr val="tx1"/>
                    </a:solidFill>
                    <a:effectLst/>
                    <a:latin typeface="Cambria Math"/>
                    <a:ea typeface="+mn-ea"/>
                    <a:cs typeface="+mn-cs"/>
                  </a:rPr>
                  <a:t>" )</a:t>
                </a:r>
                <a:endParaRPr lang="en-US" sz="1200" kern="1200" dirty="0" smtClean="0">
                  <a:solidFill>
                    <a:schemeClr val="tx1"/>
                  </a:solidFill>
                  <a:effectLst/>
                  <a:latin typeface="+mn-lt"/>
                  <a:ea typeface="+mn-ea"/>
                  <a:cs typeface="+mn-cs"/>
                </a:endParaRPr>
              </a:p>
              <a:p>
                <a:pPr marL="914400" lvl="2" indent="0">
                  <a:buFont typeface="Arial" pitchFamily="34" charset="0"/>
                  <a:buNone/>
                </a:pPr>
                <a:endParaRPr/>
              </a:p>
              <a:p>
                <a:pPr marL="1085850" lvl="2" indent="-171450">
                  <a:buFont typeface="Arial" pitchFamily="34" charset="0"/>
                  <a:buChar char="•"/>
                </a:pPr>
                <a:r>
                  <a:rPr lang="en-US" sz="1200" kern="1200" dirty="0">
                    <a:solidFill>
                      <a:schemeClr val="tx1"/>
                    </a:solidFill>
                    <a:effectLst/>
                    <a:latin typeface="+mn-lt"/>
                    <a:ea typeface="+mn-ea"/>
                    <a:cs typeface="+mn-cs"/>
                  </a:rPr>
                  <a:t>Ability to satisfy interest and lease </a:t>
                </a:r>
                <a:r>
                  <a:rPr lang="en-US" sz="1200" kern="1200" dirty="0" smtClean="0">
                    <a:solidFill>
                      <a:schemeClr val="tx1"/>
                    </a:solidFill>
                    <a:effectLst/>
                    <a:latin typeface="+mn-lt"/>
                    <a:ea typeface="+mn-ea"/>
                    <a:cs typeface="+mn-cs"/>
                  </a:rPr>
                  <a:t>obligations</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Cash flow coverage </a:t>
                </a:r>
                <a:r>
                  <a:rPr lang="en-US" sz="1200" kern="1200" dirty="0" smtClean="0">
                    <a:solidFill>
                      <a:schemeClr val="tx1"/>
                    </a:solidFill>
                    <a:effectLst/>
                    <a:latin typeface="+mn-lt"/>
                    <a:ea typeface="+mn-ea"/>
                    <a:cs typeface="+mn-cs"/>
                  </a:rPr>
                  <a:t>ratio</a:t>
                </a:r>
              </a:p>
              <a:p>
                <a:pPr marL="628650" lvl="1" indent="-171450">
                  <a:buFont typeface="Arial" pitchFamily="34" charset="0"/>
                  <a:buChar char="•"/>
                </a:pPr>
                <a:endParaRPr lang="en-US" sz="1200" kern="1200" dirty="0">
                  <a:solidFill>
                    <a:schemeClr val="tx1"/>
                  </a:solidFill>
                  <a:effectLst/>
                  <a:latin typeface="+mn-lt"/>
                  <a:ea typeface="+mn-ea"/>
                  <a:cs typeface="+mn-cs"/>
                </a:endParaRPr>
              </a:p>
              <a:p>
                <a:pPr marL="914400" lvl="2" indent="0">
                  <a:buFont typeface="Arial" pitchFamily="34" charset="0"/>
                  <a:buNone/>
                </a:pPr>
                <a:r>
                  <a:rPr lang="en-US" sz="1200" i="0" kern="1200">
                    <a:solidFill>
                      <a:schemeClr val="tx1"/>
                    </a:solidFill>
                    <a:effectLst/>
                    <a:latin typeface="Cambria Math"/>
                    <a:ea typeface="+mn-ea"/>
                    <a:cs typeface="+mn-cs"/>
                  </a:rPr>
                  <a:t>■8(</a:t>
                </a:r>
                <a:r>
                  <a:rPr lang="en-US" sz="1200" i="0" kern="1200">
                    <a:solidFill>
                      <a:schemeClr val="tx1"/>
                    </a:solidFill>
                    <a:effectLst/>
                    <a:latin typeface="+mn-lt"/>
                    <a:ea typeface="+mn-ea"/>
                    <a:cs typeface="+mn-cs"/>
                  </a:rPr>
                  <a:t>"Cash flow</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"coverage ratio</a:t>
                </a:r>
                <a:r>
                  <a:rPr lang="en-US" sz="1200" i="0" kern="1200">
                    <a:solidFill>
                      <a:schemeClr val="tx1"/>
                    </a:solidFill>
                    <a:effectLst/>
                    <a:latin typeface="Cambria Math"/>
                    <a:ea typeface="+mn-ea"/>
                    <a:cs typeface="+mn-cs"/>
                  </a:rPr>
                  <a:t>" )"= " </a:t>
                </a:r>
                <a:r>
                  <a:rPr lang="en-US" sz="1200" i="0" kern="1200">
                    <a:solidFill>
                      <a:schemeClr val="tx1"/>
                    </a:solidFill>
                    <a:effectLst/>
                    <a:latin typeface="+mn-lt"/>
                    <a:ea typeface="+mn-ea"/>
                    <a:cs typeface="+mn-cs"/>
                  </a:rPr>
                  <a:t> "CFO+Interest payments+Tax payments</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"Interest payments</a:t>
                </a:r>
                <a:r>
                  <a:rPr lang="en-US" sz="1200" i="0" kern="1200">
                    <a:solidFill>
                      <a:schemeClr val="tx1"/>
                    </a:solidFill>
                    <a:effectLst/>
                    <a:latin typeface="Cambria Math"/>
                    <a:ea typeface="+mn-ea"/>
                    <a:cs typeface="+mn-cs"/>
                  </a:rPr>
                  <a:t>" </a:t>
                </a:r>
                <a:endParaRPr lang="en-US" sz="1200" kern="1200" dirty="0" smtClean="0">
                  <a:solidFill>
                    <a:schemeClr val="tx1"/>
                  </a:solidFill>
                  <a:effectLst/>
                  <a:latin typeface="+mn-lt"/>
                  <a:ea typeface="+mn-ea"/>
                  <a:cs typeface="+mn-cs"/>
                </a:endParaRPr>
              </a:p>
              <a:p>
                <a:pPr marL="914400" lvl="2" indent="0">
                  <a:buFont typeface="Arial" pitchFamily="34" charset="0"/>
                  <a:buNone/>
                </a:pPr>
                <a:endParaRPr/>
              </a:p>
              <a:p>
                <a:pPr marL="1085850" lvl="2" indent="-171450">
                  <a:buFont typeface="Arial" pitchFamily="34" charset="0"/>
                  <a:buChar char="•"/>
                </a:pPr>
                <a:r>
                  <a:rPr lang="en-US" sz="1200" kern="1200" dirty="0">
                    <a:solidFill>
                      <a:schemeClr val="tx1"/>
                    </a:solidFill>
                    <a:effectLst/>
                    <a:latin typeface="+mn-lt"/>
                    <a:ea typeface="+mn-ea"/>
                    <a:cs typeface="+mn-cs"/>
                  </a:rPr>
                  <a:t>Ability to satisfy interest obligations with cash flows</a:t>
                </a:r>
                <a:r>
                  <a:rPr lang="en-US" sz="1200" kern="1200" dirty="0" smtClean="0">
                    <a:solidFill>
                      <a:schemeClr val="tx1"/>
                    </a:solidFill>
                    <a:effectLst/>
                    <a:latin typeface="+mn-lt"/>
                    <a:ea typeface="+mn-ea"/>
                    <a:cs typeface="+mn-cs"/>
                  </a:rPr>
                  <a:t>.</a:t>
                </a:r>
              </a:p>
              <a:p>
                <a:pPr marL="1085850" lvl="2" indent="-171450">
                  <a:buFont typeface="Arial" pitchFamily="34" charset="0"/>
                  <a:buChar char="•"/>
                </a:pPr>
                <a:endParaRPr lang="en-US" sz="1200" kern="1200" dirty="0">
                  <a:solidFill>
                    <a:schemeClr val="tx1"/>
                  </a:solidFill>
                  <a:effectLst/>
                  <a:latin typeface="+mn-lt"/>
                  <a:ea typeface="+mn-ea"/>
                  <a:cs typeface="+mn-cs"/>
                </a:endParaRPr>
              </a:p>
              <a:p>
                <a:pPr marL="628650" lvl="1" indent="-171450">
                  <a:buFont typeface="Arial" pitchFamily="34" charset="0"/>
                  <a:buChar char="•"/>
                </a:pPr>
                <a:r>
                  <a:rPr lang="en-US" sz="1200" kern="1200" dirty="0">
                    <a:solidFill>
                      <a:schemeClr val="tx1"/>
                    </a:solidFill>
                    <a:effectLst/>
                    <a:latin typeface="+mn-lt"/>
                    <a:ea typeface="+mn-ea"/>
                    <a:cs typeface="+mn-cs"/>
                  </a:rPr>
                  <a:t>Cash-flow-to-debt </a:t>
                </a:r>
                <a:r>
                  <a:rPr lang="en-US" sz="1200" kern="1200" dirty="0" smtClean="0">
                    <a:solidFill>
                      <a:schemeClr val="tx1"/>
                    </a:solidFill>
                    <a:effectLst/>
                    <a:latin typeface="+mn-lt"/>
                    <a:ea typeface="+mn-ea"/>
                    <a:cs typeface="+mn-cs"/>
                  </a:rPr>
                  <a:t>ratio</a:t>
                </a:r>
              </a:p>
              <a:p>
                <a:pPr marL="628650" lvl="1" indent="-171450">
                  <a:buFont typeface="Arial" pitchFamily="34" charset="0"/>
                  <a:buChar char="•"/>
                </a:pPr>
                <a:endParaRPr lang="en-US" sz="1200" kern="1200" dirty="0">
                  <a:solidFill>
                    <a:schemeClr val="tx1"/>
                  </a:solidFill>
                  <a:effectLst/>
                  <a:latin typeface="+mn-lt"/>
                  <a:ea typeface="+mn-ea"/>
                  <a:cs typeface="+mn-cs"/>
                </a:endParaRPr>
              </a:p>
              <a:p>
                <a:pPr marL="914400" lvl="2" indent="0">
                  <a:buFont typeface="Arial" pitchFamily="34" charset="0"/>
                  <a:buNone/>
                </a:pPr>
                <a:r>
                  <a:rPr lang="en-US" sz="1200" i="0" kern="1200">
                    <a:solidFill>
                      <a:schemeClr val="tx1"/>
                    </a:solidFill>
                    <a:effectLst/>
                    <a:latin typeface="Cambria Math"/>
                    <a:ea typeface="+mn-ea"/>
                    <a:cs typeface="+mn-cs"/>
                  </a:rPr>
                  <a:t>■8(</a:t>
                </a:r>
                <a:r>
                  <a:rPr lang="en-US" sz="1200" i="0" kern="1200">
                    <a:solidFill>
                      <a:schemeClr val="tx1"/>
                    </a:solidFill>
                    <a:effectLst/>
                    <a:latin typeface="+mn-lt"/>
                    <a:ea typeface="+mn-ea"/>
                    <a:cs typeface="+mn-cs"/>
                  </a:rPr>
                  <a:t>"Cash−flow−to </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"debt ratio</a:t>
                </a:r>
                <a:r>
                  <a:rPr lang="en-US" sz="1200" i="0" kern="1200">
                    <a:solidFill>
                      <a:schemeClr val="tx1"/>
                    </a:solidFill>
                    <a:effectLst/>
                    <a:latin typeface="Cambria Math"/>
                    <a:ea typeface="+mn-ea"/>
                    <a:cs typeface="+mn-cs"/>
                  </a:rPr>
                  <a:t>" )"=" </a:t>
                </a:r>
                <a:r>
                  <a:rPr lang="en-US" sz="1200" i="0" kern="1200">
                    <a:solidFill>
                      <a:schemeClr val="tx1"/>
                    </a:solidFill>
                    <a:effectLst/>
                    <a:latin typeface="+mn-lt"/>
                    <a:ea typeface="+mn-ea"/>
                    <a:cs typeface="+mn-cs"/>
                  </a:rPr>
                  <a:t> "CFO</a:t>
                </a:r>
                <a:r>
                  <a:rPr lang="en-US" sz="1200" i="0" kern="1200">
                    <a:solidFill>
                      <a:schemeClr val="tx1"/>
                    </a:solidFill>
                    <a:effectLst/>
                    <a:latin typeface="Cambria Math"/>
                    <a:ea typeface="+mn-ea"/>
                    <a:cs typeface="+mn-cs"/>
                  </a:rPr>
                  <a:t>" /</a:t>
                </a:r>
                <a:r>
                  <a:rPr lang="en-US" sz="1200" i="0" kern="1200">
                    <a:solidFill>
                      <a:schemeClr val="tx1"/>
                    </a:solidFill>
                    <a:effectLst/>
                    <a:latin typeface="+mn-lt"/>
                    <a:ea typeface="+mn-ea"/>
                    <a:cs typeface="+mn-cs"/>
                  </a:rPr>
                  <a:t>"Total debt</a:t>
                </a:r>
                <a:r>
                  <a:rPr lang="en-US" sz="1200" i="0" kern="1200">
                    <a:solidFill>
                      <a:schemeClr val="tx1"/>
                    </a:solidFill>
                    <a:effectLst/>
                    <a:latin typeface="Cambria Math"/>
                    <a:ea typeface="+mn-ea"/>
                    <a:cs typeface="+mn-cs"/>
                  </a:rPr>
                  <a:t>" </a:t>
                </a:r>
                <a:endParaRPr lang="en-US" sz="1200" kern="1200" dirty="0" smtClean="0">
                  <a:solidFill>
                    <a:schemeClr val="tx1"/>
                  </a:solidFill>
                  <a:effectLst/>
                  <a:latin typeface="+mn-lt"/>
                  <a:ea typeface="+mn-ea"/>
                  <a:cs typeface="+mn-cs"/>
                </a:endParaRPr>
              </a:p>
              <a:p>
                <a:pPr marL="914400" lvl="2" indent="0">
                  <a:buFont typeface="Arial" pitchFamily="34" charset="0"/>
                  <a:buNone/>
                </a:pPr>
                <a:endParaRPr/>
              </a:p>
              <a:p>
                <a:pPr marL="1085850" lvl="2" indent="-171450">
                  <a:buFont typeface="Arial" pitchFamily="34" charset="0"/>
                  <a:buChar char="•"/>
                </a:pPr>
                <a:r>
                  <a:rPr lang="en-US" sz="1200" kern="1200" dirty="0">
                    <a:solidFill>
                      <a:schemeClr val="tx1"/>
                    </a:solidFill>
                    <a:effectLst/>
                    <a:latin typeface="+mn-lt"/>
                    <a:ea typeface="+mn-ea"/>
                    <a:cs typeface="+mn-cs"/>
                  </a:rPr>
                  <a:t>Length of time needed to pay off debt with cash flows.</a:t>
                </a:r>
              </a:p>
              <a:p>
                <a:pPr lvl="1"/>
                <a:r>
                  <a:rPr lang="en-US" sz="1200" kern="1200" dirty="0">
                    <a:solidFill>
                      <a:schemeClr val="tx1"/>
                    </a:solidFill>
                    <a:effectLst/>
                    <a:latin typeface="+mn-lt"/>
                    <a:ea typeface="+mn-ea"/>
                    <a:cs typeface="+mn-cs"/>
                  </a:rPr>
                  <a:t> </a:t>
                </a:r>
              </a:p>
              <a:p>
                <a:r>
                  <a:rPr lang="en-US" b="1" i="1" dirty="0" smtClean="0"/>
                  <a:t>Discussion question: </a:t>
                </a:r>
                <a:r>
                  <a:rPr lang="en-US" dirty="0" smtClean="0"/>
                  <a:t>Is</a:t>
                </a:r>
                <a:r>
                  <a:rPr lang="en-US" baseline="0" dirty="0" smtClean="0"/>
                  <a:t> it possible for a company to have solvency ratios, such as the debt-to-assets and debt-to-equity ratios, that are increasing over time, yet the coverage ratios are not increasing?</a:t>
                </a:r>
                <a:endParaRPr lang="en-US" dirty="0"/>
              </a:p>
            </p:txBody>
          </p:sp>
        </mc:Fallback>
      </mc:AlternateContent>
      <p:sp>
        <p:nvSpPr>
          <p:cNvPr id="4" name="Slide Number Placeholder 3"/>
          <p:cNvSpPr>
            <a:spLocks noGrp="1"/>
          </p:cNvSpPr>
          <p:nvPr>
            <p:ph type="sldNum" sz="quarter" idx="10"/>
          </p:nvPr>
        </p:nvSpPr>
        <p:spPr/>
        <p:txBody>
          <a:bodyPr/>
          <a:lstStyle/>
          <a:p>
            <a:fld id="{9A4F8672-8174-4157-9CD7-BC591DEEF2E8}" type="slidenum">
              <a:rPr lang="en-US" smtClean="0"/>
              <a:pPr/>
              <a:t>26</a:t>
            </a:fld>
            <a:endParaRPr lang="en-US"/>
          </a:p>
        </p:txBody>
      </p:sp>
    </p:spTree>
    <p:extLst>
      <p:ext uri="{BB962C8B-B14F-4D97-AF65-F5344CB8AC3E}">
        <p14:creationId xmlns:p14="http://schemas.microsoft.com/office/powerpoint/2010/main" val="2167331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75780" name="Rectangle 5"/>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The debt-to-equity ratio expresses a company’s debt as a proportion of its stockholders’ equity.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fiscal 2017, for each $1.00 of stockholders’ equity, The Home Depot had $29.63 of liabilities. The primary reason The Home Depot’s ratio is high is that The Home Depot has been repurchasing treasury stock, which lowers total stockholders’ equity. The Home Depot’s debt-to-equity ratio was 8.92 in fiscal 2016 and 5.65 in fiscal 2015.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Debt is risky for a company because specific interest payments must be made even if the company has not earned sufficient income to pay them. In contrast, dividends are always at the company’s discretion and are not legally enforceable until they are declared by the board of directors. Thus, equity capital is associated with fewer contractual payments than is debt.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Despite the risk associated with debt, however, most companies obtain significant amounts of resources from creditors because of the advantages of borrowing. For example, interest expense is a deductible expense, up to a cap, on a company’s income tax return. Weighing these benefits against the contractual obligations that accompany debt results in companies using a mix of debt and equity financing. Analysts evaluate this mix by computing the debt-to-equity ratio. </a:t>
            </a:r>
            <a:endParaRPr lang="en-US" dirty="0"/>
          </a:p>
        </p:txBody>
      </p:sp>
    </p:spTree>
    <p:extLst>
      <p:ext uri="{BB962C8B-B14F-4D97-AF65-F5344CB8AC3E}">
        <p14:creationId xmlns:p14="http://schemas.microsoft.com/office/powerpoint/2010/main" val="3198013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95000"/>
              </a:lnSpc>
            </a:pPr>
            <a:r>
              <a:rPr lang="en-US" sz="1200" b="0" i="0" u="none" strike="noStrike" kern="1200" baseline="0" dirty="0">
                <a:solidFill>
                  <a:schemeClr val="tx1"/>
                </a:solidFill>
                <a:latin typeface="+mn-lt"/>
                <a:ea typeface="+mn-ea"/>
                <a:cs typeface="+mn-cs"/>
              </a:rPr>
              <a:t>Interest payments are a fixed obligation. If a company fails to make required interest payments, creditors may force it into bankruptcy. Because of the importance of meeting interest payments, analysts often compute a ratio called times interest earned.</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times interest earned ratio compares the income available to pay interest in a period to a company’s interest obligation for the same period. Interest expense and income tax expense are included in the numerator because these amounts are available to pay interest. The times interest earned ratio represents a margin of protection for creditors. In fiscal 2017, </a:t>
            </a:r>
            <a:r>
              <a:rPr lang="en-US" sz="1200" b="1" i="0" u="none" strike="noStrike" kern="1200" baseline="0" dirty="0">
                <a:solidFill>
                  <a:schemeClr val="tx1"/>
                </a:solidFill>
                <a:latin typeface="+mn-lt"/>
                <a:ea typeface="+mn-ea"/>
                <a:cs typeface="+mn-cs"/>
              </a:rPr>
              <a:t>The Home Depot </a:t>
            </a:r>
            <a:r>
              <a:rPr lang="en-US" sz="1200" b="0" i="0" u="none" strike="noStrike" kern="1200" baseline="0" dirty="0">
                <a:solidFill>
                  <a:schemeClr val="tx1"/>
                </a:solidFill>
                <a:latin typeface="+mn-lt"/>
                <a:ea typeface="+mn-ea"/>
                <a:cs typeface="+mn-cs"/>
              </a:rPr>
              <a:t>generated $13.96 in income for each $1.00 of interest expense, a high ratio that indicates a secure position for creditors.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Some analysts believe that the times interest earned ratio is flawed because interest expense is paid in cash, not with net income. These analysts prefer to use the cash coverage ratio.</a:t>
            </a:r>
            <a:endParaRPr lang="en-US" dirty="0"/>
          </a:p>
        </p:txBody>
      </p:sp>
    </p:spTree>
    <p:extLst>
      <p:ext uri="{BB962C8B-B14F-4D97-AF65-F5344CB8AC3E}">
        <p14:creationId xmlns:p14="http://schemas.microsoft.com/office/powerpoint/2010/main" val="1010353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400" dirty="0"/>
                  <a:t>LOS: Calculate and interpret measures of a company’s operating efficiency, internal liquidity (liquidity ratios), solvency, and profitability, and demonstrate the use of these measures in company analysis.</a:t>
                </a:r>
              </a:p>
              <a:p>
                <a:r>
                  <a:rPr lang="en-US" sz="1400" dirty="0"/>
                  <a:t>Pages 369–370</a:t>
                </a:r>
              </a:p>
              <a:p>
                <a:endParaRPr lang="en-US" sz="1400" dirty="0"/>
              </a:p>
              <a:p>
                <a:r>
                  <a:rPr lang="en-US" sz="1400" dirty="0"/>
                  <a:t>Profitability Ratios: Margins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mn-lt"/>
                  </a:rPr>
                  <a:t>Each margin ratio compares a measure income with total revenues:</a:t>
                </a:r>
              </a:p>
              <a:p>
                <a:endParaRPr lang="en-US" dirty="0"/>
              </a:p>
              <a:p>
                <a:pPr marL="171450" indent="-171450">
                  <a:buFont typeface="Arial" pitchFamily="34" charset="0"/>
                  <a:buChar char="•"/>
                </a:pPr>
                <a14:m>
                  <m:oMath xmlns:m="http://schemas.openxmlformats.org/officeDocument/2006/math">
                    <m:r>
                      <m:rPr>
                        <m:nor/>
                      </m:rPr>
                      <a:rPr lang="en-US" sz="1200" b="0" i="0" smtClean="0">
                        <a:latin typeface="+mn-lt"/>
                      </a:rPr>
                      <m:t>Gross</m:t>
                    </m:r>
                    <m:r>
                      <m:rPr>
                        <m:nor/>
                      </m:rPr>
                      <a:rPr lang="en-US" sz="1200" b="0" i="0" smtClean="0">
                        <a:latin typeface="+mn-lt"/>
                      </a:rPr>
                      <m:t> </m:t>
                    </m:r>
                    <m:r>
                      <m:rPr>
                        <m:nor/>
                      </m:rPr>
                      <a:rPr lang="en-US" sz="1200" b="0" i="0" smtClean="0">
                        <a:latin typeface="+mn-lt"/>
                      </a:rPr>
                      <m:t>profit</m:t>
                    </m:r>
                    <m:r>
                      <m:rPr>
                        <m:nor/>
                      </m:rPr>
                      <a:rPr lang="en-US" sz="1200" b="0" i="0" smtClean="0">
                        <a:latin typeface="+mn-lt"/>
                      </a:rPr>
                      <m:t> </m:t>
                    </m:r>
                    <m:r>
                      <m:rPr>
                        <m:nor/>
                      </m:rPr>
                      <a:rPr lang="en-US" sz="1200" b="0" i="0" smtClean="0">
                        <a:latin typeface="+mn-lt"/>
                      </a:rPr>
                      <m:t>margin</m:t>
                    </m:r>
                    <m:r>
                      <m:rPr>
                        <m:nor/>
                      </m:rPr>
                      <a:rPr lang="en-US" sz="1200" b="0" i="0" smtClean="0">
                        <a:latin typeface="+mn-lt"/>
                      </a:rPr>
                      <m:t> = </m:t>
                    </m:r>
                    <m:f>
                      <m:fPr>
                        <m:ctrlPr>
                          <a:rPr lang="en-US" sz="1200" i="1" smtClean="0">
                            <a:latin typeface="Cambria Math" panose="02040503050406030204" pitchFamily="18" charset="0"/>
                          </a:rPr>
                        </m:ctrlPr>
                      </m:fPr>
                      <m:num>
                        <m:r>
                          <m:rPr>
                            <m:nor/>
                          </m:rPr>
                          <a:rPr lang="en-US" sz="1200" b="0" i="0" smtClean="0">
                            <a:latin typeface="+mn-lt"/>
                          </a:rPr>
                          <m:t>Gross</m:t>
                        </m:r>
                        <m:r>
                          <m:rPr>
                            <m:nor/>
                          </m:rPr>
                          <a:rPr lang="en-US" sz="1200" b="0" i="0" smtClean="0">
                            <a:latin typeface="+mn-lt"/>
                          </a:rPr>
                          <m:t> </m:t>
                        </m:r>
                        <m:r>
                          <m:rPr>
                            <m:nor/>
                          </m:rPr>
                          <a:rPr lang="en-US" sz="1200" b="0" i="0" smtClean="0">
                            <a:latin typeface="+mn-lt"/>
                          </a:rPr>
                          <m:t>profit</m:t>
                        </m:r>
                      </m:num>
                      <m:den>
                        <m:r>
                          <m:rPr>
                            <m:nor/>
                          </m:rPr>
                          <a:rPr lang="en-US" sz="1200" b="0" i="0" smtClean="0">
                            <a:latin typeface="+mn-lt"/>
                          </a:rPr>
                          <m:t>Total</m:t>
                        </m:r>
                        <m:r>
                          <m:rPr>
                            <m:nor/>
                          </m:rPr>
                          <a:rPr lang="en-US" sz="1200" b="0" i="0" smtClean="0">
                            <a:latin typeface="+mn-lt"/>
                          </a:rPr>
                          <m:t> </m:t>
                        </m:r>
                        <m:r>
                          <m:rPr>
                            <m:nor/>
                          </m:rPr>
                          <a:rPr lang="en-US" sz="1200" b="0" i="0" smtClean="0">
                            <a:latin typeface="+mn-lt"/>
                          </a:rPr>
                          <m:t>revenue</m:t>
                        </m:r>
                      </m:den>
                    </m:f>
                  </m:oMath>
                </a14:m>
                <a:endParaRPr lang="en-US" dirty="0"/>
              </a:p>
              <a:p>
                <a:pPr algn="l"/>
                <a:endParaRPr lang="en-US" dirty="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14:m>
                  <m:oMath xmlns:m="http://schemas.openxmlformats.org/officeDocument/2006/math">
                    <m:r>
                      <m:rPr>
                        <m:nor/>
                      </m:rPr>
                      <a:rPr lang="en-US" sz="1200" b="0" i="0" smtClean="0">
                        <a:latin typeface="+mn-lt"/>
                      </a:rPr>
                      <m:t>Operating</m:t>
                    </m:r>
                    <m:r>
                      <m:rPr>
                        <m:nor/>
                      </m:rPr>
                      <a:rPr lang="en-US" sz="1200" b="0" i="0" smtClean="0">
                        <a:latin typeface="+mn-lt"/>
                      </a:rPr>
                      <m:t> </m:t>
                    </m:r>
                    <m:r>
                      <m:rPr>
                        <m:nor/>
                      </m:rPr>
                      <a:rPr lang="en-US" sz="1200" b="0" i="0" smtClean="0">
                        <a:latin typeface="+mn-lt"/>
                      </a:rPr>
                      <m:t>profit</m:t>
                    </m:r>
                    <m:r>
                      <m:rPr>
                        <m:nor/>
                      </m:rPr>
                      <a:rPr lang="en-US" sz="1200" b="0" i="0" smtClean="0">
                        <a:latin typeface="+mn-lt"/>
                      </a:rPr>
                      <m:t> </m:t>
                    </m:r>
                    <m:r>
                      <m:rPr>
                        <m:nor/>
                      </m:rPr>
                      <a:rPr lang="en-US" sz="1200" b="0" i="0" smtClean="0">
                        <a:latin typeface="+mn-lt"/>
                      </a:rPr>
                      <m:t>margin</m:t>
                    </m:r>
                    <m:r>
                      <m:rPr>
                        <m:nor/>
                      </m:rPr>
                      <a:rPr lang="en-US" sz="1200" b="0" i="0" smtClean="0">
                        <a:latin typeface="+mn-lt"/>
                      </a:rPr>
                      <m:t> = </m:t>
                    </m:r>
                    <m:f>
                      <m:fPr>
                        <m:ctrlPr>
                          <a:rPr lang="en-US" sz="1200" i="1" smtClean="0">
                            <a:latin typeface="Cambria Math" panose="02040503050406030204" pitchFamily="18" charset="0"/>
                          </a:rPr>
                        </m:ctrlPr>
                      </m:fPr>
                      <m:num>
                        <m:r>
                          <m:rPr>
                            <m:nor/>
                          </m:rPr>
                          <a:rPr lang="en-US" sz="1200" b="0" i="0" smtClean="0">
                            <a:latin typeface="+mn-lt"/>
                          </a:rPr>
                          <m:t>Operating</m:t>
                        </m:r>
                        <m:r>
                          <m:rPr>
                            <m:nor/>
                          </m:rPr>
                          <a:rPr lang="en-US" sz="1200" b="0" i="0" smtClean="0">
                            <a:latin typeface="+mn-lt"/>
                          </a:rPr>
                          <m:t> </m:t>
                        </m:r>
                        <m:r>
                          <m:rPr>
                            <m:nor/>
                          </m:rPr>
                          <a:rPr lang="en-US" sz="1200" b="0" i="0" smtClean="0">
                            <a:latin typeface="+mn-lt"/>
                          </a:rPr>
                          <m:t>profit</m:t>
                        </m:r>
                      </m:num>
                      <m:den>
                        <m:r>
                          <m:rPr>
                            <m:nor/>
                          </m:rPr>
                          <a:rPr lang="en-US" sz="1200" b="0" i="0" smtClean="0">
                            <a:latin typeface="+mn-lt"/>
                          </a:rPr>
                          <m:t>Total</m:t>
                        </m:r>
                        <m:r>
                          <m:rPr>
                            <m:nor/>
                          </m:rPr>
                          <a:rPr lang="en-US" sz="1200" b="0" i="0" smtClean="0">
                            <a:latin typeface="+mn-lt"/>
                          </a:rPr>
                          <m:t> </m:t>
                        </m:r>
                        <m:r>
                          <m:rPr>
                            <m:nor/>
                          </m:rPr>
                          <a:rPr lang="en-US" sz="1200" b="0" i="0" smtClean="0">
                            <a:latin typeface="+mn-lt"/>
                          </a:rPr>
                          <m:t>revenue</m:t>
                        </m:r>
                      </m:den>
                    </m:f>
                  </m:oMath>
                </a14:m>
                <a:endParaRPr lang="en-US" dirty="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14:m>
                  <m:oMath xmlns:m="http://schemas.openxmlformats.org/officeDocument/2006/math">
                    <m:r>
                      <m:rPr>
                        <m:nor/>
                      </m:rPr>
                      <a:rPr lang="en-US" sz="1200" b="0" i="0" smtClean="0">
                        <a:latin typeface="+mn-lt"/>
                      </a:rPr>
                      <m:t>Net</m:t>
                    </m:r>
                    <m:r>
                      <m:rPr>
                        <m:nor/>
                      </m:rPr>
                      <a:rPr lang="en-US" sz="1200" b="0" i="0" smtClean="0">
                        <a:latin typeface="+mn-lt"/>
                      </a:rPr>
                      <m:t> </m:t>
                    </m:r>
                    <m:r>
                      <m:rPr>
                        <m:nor/>
                      </m:rPr>
                      <a:rPr lang="en-US" sz="1200" b="0" i="0" smtClean="0">
                        <a:latin typeface="+mn-lt"/>
                      </a:rPr>
                      <m:t>profit</m:t>
                    </m:r>
                    <m:r>
                      <m:rPr>
                        <m:nor/>
                      </m:rPr>
                      <a:rPr lang="en-US" sz="1200" b="0" i="0" smtClean="0">
                        <a:latin typeface="+mn-lt"/>
                      </a:rPr>
                      <m:t> </m:t>
                    </m:r>
                    <m:r>
                      <m:rPr>
                        <m:nor/>
                      </m:rPr>
                      <a:rPr lang="en-US" sz="1200" b="0" i="0" smtClean="0">
                        <a:latin typeface="+mn-lt"/>
                      </a:rPr>
                      <m:t>margin</m:t>
                    </m:r>
                    <m:r>
                      <m:rPr>
                        <m:nor/>
                      </m:rPr>
                      <a:rPr lang="en-US" sz="1200" b="0" i="0" smtClean="0">
                        <a:latin typeface="+mn-lt"/>
                      </a:rPr>
                      <m:t> = </m:t>
                    </m:r>
                    <m:f>
                      <m:fPr>
                        <m:ctrlPr>
                          <a:rPr lang="en-US" sz="1200" i="1" smtClean="0">
                            <a:latin typeface="Cambria Math" panose="02040503050406030204" pitchFamily="18" charset="0"/>
                          </a:rPr>
                        </m:ctrlPr>
                      </m:fPr>
                      <m:num>
                        <m:r>
                          <m:rPr>
                            <m:nor/>
                          </m:rPr>
                          <a:rPr lang="en-US" sz="1200" b="0" i="0" smtClean="0">
                            <a:latin typeface="+mn-lt"/>
                          </a:rPr>
                          <m:t>Net</m:t>
                        </m:r>
                        <m:r>
                          <m:rPr>
                            <m:nor/>
                          </m:rPr>
                          <a:rPr lang="en-US" sz="1200" b="0" i="0" smtClean="0">
                            <a:latin typeface="+mn-lt"/>
                          </a:rPr>
                          <m:t> </m:t>
                        </m:r>
                        <m:r>
                          <m:rPr>
                            <m:nor/>
                          </m:rPr>
                          <a:rPr lang="en-US" sz="1200" b="0" i="0" smtClean="0">
                            <a:latin typeface="+mn-lt"/>
                          </a:rPr>
                          <m:t>profit</m:t>
                        </m:r>
                      </m:num>
                      <m:den>
                        <m:r>
                          <m:rPr>
                            <m:nor/>
                          </m:rPr>
                          <a:rPr lang="en-US" sz="1200" b="0" i="0" smtClean="0">
                            <a:latin typeface="+mn-lt"/>
                          </a:rPr>
                          <m:t>Total</m:t>
                        </m:r>
                        <m:r>
                          <m:rPr>
                            <m:nor/>
                          </m:rPr>
                          <a:rPr lang="en-US" sz="1200" b="0" i="0" smtClean="0">
                            <a:latin typeface="+mn-lt"/>
                          </a:rPr>
                          <m:t> </m:t>
                        </m:r>
                        <m:r>
                          <m:rPr>
                            <m:nor/>
                          </m:rPr>
                          <a:rPr lang="en-US" sz="1200" b="0" i="0" smtClean="0">
                            <a:latin typeface="+mn-lt"/>
                          </a:rPr>
                          <m:t>revenue</m:t>
                        </m:r>
                      </m:den>
                    </m:f>
                  </m:oMath>
                </a14:m>
                <a:endParaRPr lang="en-US" dirty="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14:m>
                  <m:oMath xmlns:m="http://schemas.openxmlformats.org/officeDocument/2006/math">
                    <m:r>
                      <m:rPr>
                        <m:nor/>
                      </m:rPr>
                      <a:rPr lang="en-US" sz="1200" b="0" i="0" smtClean="0">
                        <a:latin typeface="+mn-lt"/>
                      </a:rPr>
                      <m:t>Pretax</m:t>
                    </m:r>
                    <m:r>
                      <m:rPr>
                        <m:nor/>
                      </m:rPr>
                      <a:rPr lang="en-US" sz="1200" b="0" i="0" smtClean="0">
                        <a:latin typeface="+mn-lt"/>
                      </a:rPr>
                      <m:t> </m:t>
                    </m:r>
                    <m:r>
                      <m:rPr>
                        <m:nor/>
                      </m:rPr>
                      <a:rPr lang="en-US" sz="1200" b="0" i="0" smtClean="0">
                        <a:latin typeface="+mn-lt"/>
                      </a:rPr>
                      <m:t>profit</m:t>
                    </m:r>
                    <m:r>
                      <m:rPr>
                        <m:nor/>
                      </m:rPr>
                      <a:rPr lang="en-US" sz="1200" b="0" i="0" smtClean="0">
                        <a:latin typeface="+mn-lt"/>
                      </a:rPr>
                      <m:t> </m:t>
                    </m:r>
                    <m:r>
                      <m:rPr>
                        <m:nor/>
                      </m:rPr>
                      <a:rPr lang="en-US" sz="1200" b="0" i="0" smtClean="0">
                        <a:latin typeface="+mn-lt"/>
                      </a:rPr>
                      <m:t>margin</m:t>
                    </m:r>
                    <m:r>
                      <m:rPr>
                        <m:nor/>
                      </m:rPr>
                      <a:rPr lang="en-US" sz="1200" b="0" i="0" smtClean="0">
                        <a:latin typeface="+mn-lt"/>
                      </a:rPr>
                      <m:t> = </m:t>
                    </m:r>
                    <m:f>
                      <m:fPr>
                        <m:ctrlPr>
                          <a:rPr lang="en-US" sz="1200" i="1" smtClean="0">
                            <a:latin typeface="Cambria Math" panose="02040503050406030204" pitchFamily="18" charset="0"/>
                          </a:rPr>
                        </m:ctrlPr>
                      </m:fPr>
                      <m:num>
                        <m:r>
                          <m:rPr>
                            <m:nor/>
                          </m:rPr>
                          <a:rPr lang="en-US" sz="1200" b="0" i="0" smtClean="0">
                            <a:latin typeface="+mn-lt"/>
                          </a:rPr>
                          <m:t>Earnings</m:t>
                        </m:r>
                        <m:r>
                          <m:rPr>
                            <m:nor/>
                          </m:rPr>
                          <a:rPr lang="en-US" sz="1200" b="0" i="0" smtClean="0">
                            <a:latin typeface="+mn-lt"/>
                          </a:rPr>
                          <m:t> </m:t>
                        </m:r>
                        <m:r>
                          <m:rPr>
                            <m:nor/>
                          </m:rPr>
                          <a:rPr lang="en-US" sz="1200" b="0" i="0" smtClean="0">
                            <a:latin typeface="+mn-lt"/>
                          </a:rPr>
                          <m:t>before</m:t>
                        </m:r>
                        <m:r>
                          <m:rPr>
                            <m:nor/>
                          </m:rPr>
                          <a:rPr lang="en-US" sz="1200" b="0" i="0" smtClean="0">
                            <a:latin typeface="+mn-lt"/>
                          </a:rPr>
                          <m:t> </m:t>
                        </m:r>
                        <m:r>
                          <m:rPr>
                            <m:nor/>
                          </m:rPr>
                          <a:rPr lang="en-US" sz="1200" b="0" i="0" smtClean="0">
                            <a:latin typeface="+mn-lt"/>
                          </a:rPr>
                          <m:t>taxes</m:t>
                        </m:r>
                      </m:num>
                      <m:den>
                        <m:r>
                          <m:rPr>
                            <m:nor/>
                          </m:rPr>
                          <a:rPr lang="en-US" sz="1200" b="0" i="0" smtClean="0">
                            <a:latin typeface="+mn-lt"/>
                          </a:rPr>
                          <m:t>Total</m:t>
                        </m:r>
                        <m:r>
                          <m:rPr>
                            <m:nor/>
                          </m:rPr>
                          <a:rPr lang="en-US" sz="1200" b="0" i="0" smtClean="0">
                            <a:latin typeface="+mn-lt"/>
                          </a:rPr>
                          <m:t> </m:t>
                        </m:r>
                        <m:r>
                          <m:rPr>
                            <m:nor/>
                          </m:rPr>
                          <a:rPr lang="en-US" sz="1200" b="0" i="0" smtClean="0">
                            <a:latin typeface="+mn-lt"/>
                          </a:rPr>
                          <m:t>revenue</m:t>
                        </m:r>
                      </m:den>
                    </m:f>
                  </m:oMath>
                </a14:m>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smtClean="0"/>
                  <a:t>Profitability ratios: Margins</a:t>
                </a:r>
              </a:p>
              <a:p>
                <a:endParaRPr lang="en-US" dirty="0" smtClean="0"/>
              </a:p>
              <a:p>
                <a:endParaRPr lang="en-US" dirty="0" smtClean="0"/>
              </a:p>
              <a:p>
                <a:pPr marL="171450" indent="-171450">
                  <a:buFont typeface="Arial" pitchFamily="34" charset="0"/>
                  <a:buChar char="•"/>
                </a:pPr>
                <a:r>
                  <a:rPr lang="en-US" dirty="0" smtClean="0"/>
                  <a:t>Gross profit margin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smtClean="0">
                    <a:latin typeface="Cambria Math"/>
                  </a:rPr>
                  <a:t>"Gross profit margin=" </a:t>
                </a:r>
                <a:r>
                  <a:rPr lang="en-US" sz="1200" b="0" i="0" smtClean="0">
                    <a:latin typeface="+mn-lt"/>
                  </a:rPr>
                  <a:t> "Gross profit</a:t>
                </a:r>
                <a:r>
                  <a:rPr lang="en-US" sz="1200" b="0" i="0" smtClean="0">
                    <a:latin typeface="Cambria Math"/>
                  </a:rPr>
                  <a:t>" /</a:t>
                </a:r>
                <a:r>
                  <a:rPr lang="en-US" sz="1200" b="0" i="0" smtClean="0">
                    <a:latin typeface="+mn-lt"/>
                  </a:rPr>
                  <a:t>"Total revenue</a:t>
                </a:r>
                <a:r>
                  <a:rPr lang="en-US" sz="1200" b="0" i="0" smtClean="0">
                    <a:latin typeface="Cambria Math"/>
                  </a:rPr>
                  <a:t>" </a:t>
                </a:r>
                <a:endParaRPr lang="en-US" dirty="0"/>
              </a:p>
              <a:p>
                <a:pPr algn="l"/>
                <a:endParaRPr lang="en-US" dirty="0" smtClean="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i="0" dirty="0" smtClean="0">
                    <a:latin typeface="+mn-lt"/>
                  </a:rPr>
                  <a:t>Operating profit margin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smtClean="0">
                    <a:latin typeface="Cambria Math"/>
                  </a:rPr>
                  <a:t>"Operating profit margin=" </a:t>
                </a:r>
                <a:r>
                  <a:rPr lang="en-US" sz="1200" b="0" i="0" smtClean="0">
                    <a:latin typeface="+mn-lt"/>
                  </a:rPr>
                  <a:t> "Operating profit</a:t>
                </a:r>
                <a:r>
                  <a:rPr lang="en-US" sz="1200" b="0" i="0" smtClean="0">
                    <a:latin typeface="Cambria Math"/>
                  </a:rPr>
                  <a:t>" /</a:t>
                </a:r>
                <a:r>
                  <a:rPr lang="en-US" sz="1200" b="0" i="0" smtClean="0">
                    <a:latin typeface="+mn-lt"/>
                  </a:rPr>
                  <a:t>"Total revenue</a:t>
                </a:r>
                <a:r>
                  <a:rPr lang="en-US" sz="1200" b="0" i="0" smtClean="0">
                    <a:latin typeface="Cambria Math"/>
                  </a:rPr>
                  <a:t>" </a:t>
                </a: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i="0" dirty="0" smtClean="0">
                    <a:latin typeface="+mn-lt"/>
                  </a:rPr>
                  <a:t>Net profit margin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smtClean="0">
                    <a:latin typeface="Cambria Math"/>
                  </a:rPr>
                  <a:t>"Net profit margin=" </a:t>
                </a:r>
                <a:r>
                  <a:rPr lang="en-US" sz="1200" b="0" i="0" smtClean="0">
                    <a:latin typeface="+mn-lt"/>
                  </a:rPr>
                  <a:t> "Net profit</a:t>
                </a:r>
                <a:r>
                  <a:rPr lang="en-US" sz="1200" b="0" i="0" smtClean="0">
                    <a:latin typeface="Cambria Math"/>
                  </a:rPr>
                  <a:t>" /</a:t>
                </a:r>
                <a:r>
                  <a:rPr lang="en-US" sz="1200" b="0" i="0" smtClean="0">
                    <a:latin typeface="+mn-lt"/>
                  </a:rPr>
                  <a:t>"Total revenue</a:t>
                </a:r>
                <a:r>
                  <a:rPr lang="en-US" sz="1200" b="0" i="0" smtClean="0">
                    <a:latin typeface="Cambria Math"/>
                  </a:rPr>
                  <a:t>" </a:t>
                </a:r>
                <a:endParaRPr lang="en-US" dirty="0" smtClean="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Pre-tax profit margin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smtClean="0">
                    <a:latin typeface="Cambria Math"/>
                  </a:rPr>
                  <a:t>"Pretaxmargin=" </a:t>
                </a:r>
                <a:r>
                  <a:rPr lang="en-US" sz="1200" b="0" i="0" smtClean="0">
                    <a:latin typeface="+mn-lt"/>
                  </a:rPr>
                  <a:t> "Earnings before taxes</a:t>
                </a:r>
                <a:r>
                  <a:rPr lang="en-US" sz="1200" b="0" i="0" smtClean="0">
                    <a:latin typeface="Cambria Math"/>
                  </a:rPr>
                  <a:t>" /</a:t>
                </a:r>
                <a:r>
                  <a:rPr lang="en-US" sz="1200" b="0" i="0" smtClean="0">
                    <a:latin typeface="+mn-lt"/>
                  </a:rPr>
                  <a:t>"Total revenue</a:t>
                </a:r>
                <a:r>
                  <a:rPr lang="en-US" sz="1200" b="0" i="0" smtClean="0">
                    <a:latin typeface="Cambria Math"/>
                  </a:rPr>
                  <a:t>" </a:t>
                </a:r>
                <a:endParaRPr lang="en-US" dirty="0"/>
              </a:p>
              <a:p>
                <a:endParaRPr lang="en-US" dirty="0"/>
              </a:p>
            </p:txBody>
          </p:sp>
        </mc:Fallback>
      </mc:AlternateContent>
      <p:sp>
        <p:nvSpPr>
          <p:cNvPr id="4" name="Slide Number Placeholder 3"/>
          <p:cNvSpPr>
            <a:spLocks noGrp="1"/>
          </p:cNvSpPr>
          <p:nvPr>
            <p:ph type="sldNum" sz="quarter" idx="10"/>
          </p:nvPr>
        </p:nvSpPr>
        <p:spPr/>
        <p:txBody>
          <a:bodyPr/>
          <a:lstStyle/>
          <a:p>
            <a:fld id="{9A4F8672-8174-4157-9CD7-BC591DEEF2E8}" type="slidenum">
              <a:rPr lang="en-US" smtClean="0"/>
              <a:pPr/>
              <a:t>29</a:t>
            </a:fld>
            <a:endParaRPr lang="en-US"/>
          </a:p>
        </p:txBody>
      </p:sp>
    </p:spTree>
    <p:extLst>
      <p:ext uri="{BB962C8B-B14F-4D97-AF65-F5344CB8AC3E}">
        <p14:creationId xmlns:p14="http://schemas.microsoft.com/office/powerpoint/2010/main" val="27161319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z="1200" b="0" i="0" u="none" strike="noStrike" kern="1200" baseline="0" dirty="0">
                <a:solidFill>
                  <a:schemeClr val="tx1"/>
                </a:solidFill>
                <a:latin typeface="+mn-lt"/>
                <a:ea typeface="+mn-ea"/>
                <a:cs typeface="+mn-cs"/>
              </a:rPr>
              <a:t>The gross profit percentage (also referred to as the gross profit margin) reflects gross profit as a percent of sales. If not shown separately on a company’s income statement, gross profit is computed by subtracting cost of sales from net sales. </a:t>
            </a:r>
          </a:p>
          <a:p>
            <a:pPr>
              <a:spcBef>
                <a:spcPct val="0"/>
              </a:spcBef>
            </a:pPr>
            <a:endParaRPr lang="en-US" dirty="0"/>
          </a:p>
          <a:p>
            <a:pPr>
              <a:spcBef>
                <a:spcPct val="0"/>
              </a:spcBef>
            </a:pPr>
            <a:r>
              <a:rPr lang="en-US" sz="1200" b="0" i="0" u="none" strike="noStrike" kern="1200" baseline="0" dirty="0">
                <a:solidFill>
                  <a:schemeClr val="tx1"/>
                </a:solidFill>
                <a:latin typeface="+mn-lt"/>
                <a:ea typeface="+mn-ea"/>
                <a:cs typeface="+mn-cs"/>
              </a:rPr>
              <a:t>This implies that, after subtracting the direct costs associated with selling products, The Home Depot had approximately 34 cents of each dollar of sales remaining to cover other expenses. </a:t>
            </a:r>
            <a:endParaRPr lang="en-US" dirty="0"/>
          </a:p>
        </p:txBody>
      </p:sp>
    </p:spTree>
    <p:extLst>
      <p:ext uri="{BB962C8B-B14F-4D97-AF65-F5344CB8AC3E}">
        <p14:creationId xmlns:p14="http://schemas.microsoft.com/office/powerpoint/2010/main" val="30763249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2468"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For fiscal 2017, each dollar of The Home Depot’s sales generated over 8 cents of profit. For each dollar of sales, The Home Depot is subtracting just under 92 cents in expenses.</a:t>
            </a:r>
          </a:p>
          <a:p>
            <a:r>
              <a:rPr lang="en-US" sz="1200" b="0" i="0" u="none" strike="noStrike" kern="1200" baseline="0" dirty="0">
                <a:solidFill>
                  <a:schemeClr val="tx1"/>
                </a:solidFill>
                <a:latin typeface="+mn-lt"/>
                <a:ea typeface="+mn-ea"/>
                <a:cs typeface="+mn-cs"/>
              </a:rPr>
              <a:t> </a:t>
            </a:r>
          </a:p>
          <a:p>
            <a:r>
              <a:rPr lang="en-US" sz="1200" b="0" i="0" u="none" strike="noStrike" kern="1200" baseline="0" dirty="0">
                <a:solidFill>
                  <a:schemeClr val="tx1"/>
                </a:solidFill>
                <a:latin typeface="+mn-lt"/>
                <a:ea typeface="+mn-ea"/>
                <a:cs typeface="+mn-cs"/>
              </a:rPr>
              <a:t>While both the gross profit percentage and the net profit margin are good measures of operating efficiency, you should be careful not to analyze them in isolation because they do not consider the resources needed to earn income. It is very difficult to compare profit margins for companies in different industries. For example, profit margins are low in the food industry while profit margins in the jewelry industry are high. Both types of businesses can be quite profitable, however, because a high sales volume can compensate for a low profit margin. Grocery stores have low profit margins, but they generate a high sales volume from a broad customer base that tends to purchase items on a daily or weekly basis. Although jewelry stores earn comparatively more profit from each sales dollar, fewer people purchase jewelry and typically do so only occasionally. Thus, jewelry stores tend to have fewer sales transactions than grocery stores.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trade-off between profit margin and sales volume can be stated in simple terms: Would you prefer to have 5 percent of $1,000,000 or 10 percent of $100,000? As you can see, a larger profit margin is not always better in terms of total dollars earned. </a:t>
            </a:r>
            <a:endParaRPr lang="en-US" dirty="0"/>
          </a:p>
        </p:txBody>
      </p:sp>
    </p:spTree>
    <p:extLst>
      <p:ext uri="{BB962C8B-B14F-4D97-AF65-F5344CB8AC3E}">
        <p14:creationId xmlns:p14="http://schemas.microsoft.com/office/powerpoint/2010/main" val="18648183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Return on total assets measures how well assets have been employed by the business. To calculate this ratio, we divide net income by the average total assets for the period. </a:t>
            </a:r>
          </a:p>
          <a:p>
            <a:endParaRPr lang="en-US" dirty="0"/>
          </a:p>
          <a:p>
            <a:r>
              <a:rPr lang="en-US" sz="1200" b="0" i="0" u="none" strike="noStrike" kern="1200" baseline="0" dirty="0">
                <a:solidFill>
                  <a:schemeClr val="tx1"/>
                </a:solidFill>
                <a:latin typeface="+mn-lt"/>
                <a:ea typeface="+mn-ea"/>
                <a:cs typeface="+mn-cs"/>
              </a:rPr>
              <a:t>This implies that, on average, for every $1.00 of assets reported on The Home Depot’s balance sheet, the company earned just under 20 cents in fiscal 2017</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Some analysts modify the basic ROA computation listed above by adding interest expense (net of tax) to the numerator of the ratio. The logic for making this adjustment is that the denominator of the ratio includes resources (assets) provided by both owners and creditors, so the numerator should include the return that was available to both groups. Interest expense is therefore added back because it was previously deducted in the computation of net income. Note, too, that when making this adjustment, interest expense often is measured net of income tax. The net of tax amount is used when interest is deductible for tax purposes, which it is up to a cap. For companies that can take advantage of this tax break, we adjust interest expense for the tax savings associated with using debt. </a:t>
            </a:r>
            <a:endParaRPr lang="en-US" dirty="0"/>
          </a:p>
        </p:txBody>
      </p:sp>
    </p:spTree>
    <p:extLst>
      <p:ext uri="{BB962C8B-B14F-4D97-AF65-F5344CB8AC3E}">
        <p14:creationId xmlns:p14="http://schemas.microsoft.com/office/powerpoint/2010/main" val="6076785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highlight>
                  <a:srgbClr val="FFFF00"/>
                </a:highlight>
              </a:rPr>
              <a:t>Net income</a:t>
            </a:r>
            <a:r>
              <a:rPr lang="en-US" u="sng" dirty="0"/>
              <a:t> X Sales</a:t>
            </a:r>
            <a:r>
              <a:rPr lang="en-US" dirty="0"/>
              <a:t> </a:t>
            </a:r>
          </a:p>
          <a:p>
            <a:r>
              <a:rPr lang="en-US" dirty="0"/>
              <a:t>Assets  </a:t>
            </a:r>
            <a:r>
              <a:rPr lang="en-US" dirty="0" err="1"/>
              <a:t>Xsales</a:t>
            </a:r>
            <a:endParaRPr lang="en-US" dirty="0"/>
          </a:p>
        </p:txBody>
      </p:sp>
      <p:sp>
        <p:nvSpPr>
          <p:cNvPr id="4" name="Slide Number Placeholder 3"/>
          <p:cNvSpPr>
            <a:spLocks noGrp="1"/>
          </p:cNvSpPr>
          <p:nvPr>
            <p:ph type="sldNum" sz="quarter" idx="5"/>
          </p:nvPr>
        </p:nvSpPr>
        <p:spPr/>
        <p:txBody>
          <a:bodyPr/>
          <a:lstStyle/>
          <a:p>
            <a:fld id="{9A4F8672-8174-4157-9CD7-BC591DEEF2E8}" type="slidenum">
              <a:rPr lang="en-US" smtClean="0"/>
              <a:pPr/>
              <a:t>33</a:t>
            </a:fld>
            <a:endParaRPr lang="en-US"/>
          </a:p>
        </p:txBody>
      </p:sp>
    </p:spTree>
    <p:extLst>
      <p:ext uri="{BB962C8B-B14F-4D97-AF65-F5344CB8AC3E}">
        <p14:creationId xmlns:p14="http://schemas.microsoft.com/office/powerpoint/2010/main" val="42619601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1028"/>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7348" name="Rectangle 1029"/>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1" i="0" u="none" strike="noStrike" kern="1200" baseline="0" dirty="0">
                <a:solidFill>
                  <a:schemeClr val="tx1"/>
                </a:solidFill>
                <a:latin typeface="+mn-lt"/>
                <a:ea typeface="+mn-ea"/>
                <a:cs typeface="+mn-cs"/>
              </a:rPr>
              <a:t>The Home Depot </a:t>
            </a:r>
            <a:r>
              <a:rPr lang="en-US" sz="1200" b="0" i="0" u="none" strike="noStrike" kern="1200" baseline="0" dirty="0">
                <a:solidFill>
                  <a:schemeClr val="tx1"/>
                </a:solidFill>
                <a:latin typeface="+mn-lt"/>
                <a:ea typeface="+mn-ea"/>
                <a:cs typeface="+mn-cs"/>
              </a:rPr>
              <a:t>earned 298.25 percent on the owners’ investment. Another way to interpret this number is to say that, on average, for every $1.00 equity investors contributed to The Home Depot, the company earned $2.98 in fiscal 2017. Was this return good or bad? To answer this question, we need to compare 298.25 percent to what The Home Depot’s ROE was in prior years, or to its competitors’ ROE in 2017. The comparison with previous years indicates consistent improvement in The Home Depot’s performance as measured by its Return on Equity. </a:t>
            </a:r>
            <a:endParaRPr lang="en-US" dirty="0"/>
          </a:p>
        </p:txBody>
      </p:sp>
    </p:spTree>
    <p:extLst>
      <p:ext uri="{BB962C8B-B14F-4D97-AF65-F5344CB8AC3E}">
        <p14:creationId xmlns:p14="http://schemas.microsoft.com/office/powerpoint/2010/main" val="31766804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DuPont model is a useful way to analyze a company’s performance. Understanding it will also help you start making connections among other ratios. For example, multiplying just the net profit margin and the total asset turnover ratio creates a company’s ROA ratio. </a:t>
            </a:r>
            <a:endParaRPr lang="en-US" dirty="0"/>
          </a:p>
        </p:txBody>
      </p:sp>
    </p:spTree>
    <p:extLst>
      <p:ext uri="{BB962C8B-B14F-4D97-AF65-F5344CB8AC3E}">
        <p14:creationId xmlns:p14="http://schemas.microsoft.com/office/powerpoint/2010/main" val="3869274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10"/>
          </p:nvPr>
        </p:nvSpPr>
        <p:spPr/>
        <p:txBody>
          <a:bodyPr/>
          <a:lstStyle/>
          <a:p>
            <a:fld id="{9A4F8672-8174-4157-9CD7-BC591DEEF2E8}" type="slidenum">
              <a:rPr lang="ar-EG" smtClean="0"/>
              <a:pPr/>
              <a:t>36</a:t>
            </a:fld>
            <a:endParaRPr lang="ar-EG"/>
          </a:p>
        </p:txBody>
      </p:sp>
    </p:spTree>
    <p:extLst>
      <p:ext uri="{BB962C8B-B14F-4D97-AF65-F5344CB8AC3E}">
        <p14:creationId xmlns:p14="http://schemas.microsoft.com/office/powerpoint/2010/main" val="34454146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The earnings per share ratio is a measure of return on investment that is based on the number of common shares outstanding. You often can obtain the weighted average number of shares outstanding from the bottom of a company’s income statement (see Exhibit 13.1). Earnings per share is probably the single most widely reported ratio, and it is the only ratio required by GAAP. Analysts develop their own estimates of future EPS and the stock price of a company may change significantly if the actual EPS differs from their estimate. </a:t>
            </a:r>
            <a:endParaRPr lang="en-US" dirty="0"/>
          </a:p>
        </p:txBody>
      </p:sp>
    </p:spTree>
    <p:extLst>
      <p:ext uri="{BB962C8B-B14F-4D97-AF65-F5344CB8AC3E}">
        <p14:creationId xmlns:p14="http://schemas.microsoft.com/office/powerpoint/2010/main" val="17087330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76804"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solidFill>
                  <a:srgbClr val="000000"/>
                </a:solidFill>
              </a:rPr>
              <a:t>The price/earnings ratio measures the relationship between the current market price of the stock and its earnings per share. </a:t>
            </a:r>
            <a:r>
              <a:rPr lang="en-US" dirty="0"/>
              <a:t>Once we know the earnings per share of stock, we can calculate the price/earnings ratio by dividing the current market price per share of the company’s stock by the earnings per share. </a:t>
            </a:r>
          </a:p>
          <a:p>
            <a:pPr>
              <a:spcBef>
                <a:spcPct val="0"/>
              </a:spcBef>
            </a:pPr>
            <a:endParaRPr lang="en-US" dirty="0"/>
          </a:p>
          <a:p>
            <a:pPr>
              <a:spcBef>
                <a:spcPct val="0"/>
              </a:spcBef>
            </a:pPr>
            <a:r>
              <a:rPr lang="en-US" sz="1200" b="0" i="0" u="none" strike="noStrike" kern="1200" baseline="0" dirty="0">
                <a:solidFill>
                  <a:schemeClr val="tx1"/>
                </a:solidFill>
                <a:latin typeface="+mn-lt"/>
                <a:ea typeface="+mn-ea"/>
                <a:cs typeface="+mn-cs"/>
              </a:rPr>
              <a:t>At the end of fiscal 2017, </a:t>
            </a:r>
            <a:r>
              <a:rPr lang="en-US" sz="1200" b="1" i="0" u="none" strike="noStrike" kern="1200" baseline="0" dirty="0">
                <a:solidFill>
                  <a:schemeClr val="tx1"/>
                </a:solidFill>
                <a:latin typeface="+mn-lt"/>
                <a:ea typeface="+mn-ea"/>
                <a:cs typeface="+mn-cs"/>
              </a:rPr>
              <a:t>The Home Depot</a:t>
            </a:r>
            <a:r>
              <a:rPr lang="en-US" sz="1200" b="0" i="0" u="none" strike="noStrike" kern="1200" baseline="0" dirty="0">
                <a:solidFill>
                  <a:schemeClr val="tx1"/>
                </a:solidFill>
                <a:latin typeface="+mn-lt"/>
                <a:ea typeface="+mn-ea"/>
                <a:cs typeface="+mn-cs"/>
              </a:rPr>
              <a:t>’s stock was trading at $207.23 per share. EPS for fiscal 2017 was $7.33. This P/E ratio indicates that The Home Depot’s stock was selling at a price that was just over 28 times its earnings per share. The P/E ratio reflects the stock market’s assessment of a company’s future performance. A high ratio indicates that earnings are expected to grow rapidly. The P/E ratios for The Home Depot indicates that the market expects them to perform well in the future.</a:t>
            </a:r>
          </a:p>
          <a:p>
            <a:pPr>
              <a:spcBef>
                <a:spcPct val="0"/>
              </a:spcBef>
            </a:pP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economic terms, the value of a stock is determined by calculating the present value of the company’s future earnings. Thus, a company that expects to increase its earnings in the future is worth more than one that cannot grow its earnings (assuming other factors are the same). However, while a high P/E ratio and good growth prospects are considered favorable, there are risks. When a company with a high P/E ratio does not meet the level of earnings expected by the market, the negative impact on its stock can be dramatic. </a:t>
            </a:r>
          </a:p>
          <a:p>
            <a:pPr>
              <a:spcBef>
                <a:spcPct val="0"/>
              </a:spcBef>
            </a:pPr>
            <a:endParaRPr lang="en-US" sz="1200" b="0" i="0" u="none" strike="noStrike" kern="1200" baseline="0" dirty="0">
              <a:solidFill>
                <a:schemeClr val="tx1"/>
              </a:solidFill>
              <a:latin typeface="+mn-lt"/>
              <a:ea typeface="+mn-ea"/>
              <a:cs typeface="+mn-cs"/>
            </a:endParaRPr>
          </a:p>
          <a:p>
            <a:pPr>
              <a:spcBef>
                <a:spcPct val="0"/>
              </a:spcBef>
            </a:pPr>
            <a:endParaRPr lang="en-US" dirty="0"/>
          </a:p>
        </p:txBody>
      </p:sp>
    </p:spTree>
    <p:extLst>
      <p:ext uri="{BB962C8B-B14F-4D97-AF65-F5344CB8AC3E}">
        <p14:creationId xmlns:p14="http://schemas.microsoft.com/office/powerpoint/2010/main" val="39046838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77828"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u="none" strike="noStrike" kern="1200" baseline="0" dirty="0">
                <a:solidFill>
                  <a:schemeClr val="tx1"/>
                </a:solidFill>
                <a:latin typeface="+mn-lt"/>
                <a:ea typeface="+mn-ea"/>
                <a:cs typeface="+mn-cs"/>
              </a:rPr>
              <a:t>When investors buy stock, they can earn a return on their investment through dividends or price appreciation. The dividend yield ratio reflects the return on investment absent any capital appreciation, or, said differently, the return attributed solely to the dividends a company pays. Not all companies report the cash dividend they paid per share on their statement of cash flows or statement of stockholders’ equity, so you may need to search their 10-K to find the information. The Home Depot paid dividends of $3.56 per share in fiscal 2017. At the end of fiscal 2017, its stock price was $207.23 per share.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recent years, the dividend yield for The Home Depot has been 2 percent or less. The dividend yield for most stocks is not high compared to alternative investments. Investors are willing to accept low dividend yields if they expect that the price of a stock will increase while they own it. Investors who bought The Home Depot stock did so knowing they would receive a dividend, but they also were expecting its stock price to increase. In contrast, stocks with low growth potential tend to offer much higher dividend yields than do stocks with high growth potential. Stocks with high dividend yields often appeal to retired investors who need current income rather than future growth potential. </a:t>
            </a:r>
          </a:p>
        </p:txBody>
      </p:sp>
    </p:spTree>
    <p:extLst>
      <p:ext uri="{BB962C8B-B14F-4D97-AF65-F5344CB8AC3E}">
        <p14:creationId xmlns:p14="http://schemas.microsoft.com/office/powerpoint/2010/main" val="31654684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44"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z="1200" b="0" i="0" u="none" strike="noStrike" kern="1200" baseline="0" dirty="0">
                <a:solidFill>
                  <a:schemeClr val="tx1"/>
                </a:solidFill>
                <a:latin typeface="+mn-lt"/>
                <a:ea typeface="+mn-ea"/>
                <a:cs typeface="+mn-cs"/>
              </a:rPr>
              <a:t>Most financial analysts are concerned about the quality of a company’s income because some accounting procedures can be used to report higher income. For example, a company that uses LIFO and short estimated lives for depreciable assets will report lower income than an identical company that uses FIFO and longer estimated lives. One method of evaluating the quality of a company’s income is to compare its reported income to its cash flows from operating activities.</a:t>
            </a:r>
          </a:p>
          <a:p>
            <a:pPr>
              <a:spcBef>
                <a:spcPct val="0"/>
              </a:spcBef>
            </a:pPr>
            <a:endParaRPr lang="en-US" sz="1200" b="0" i="0" u="none" strike="noStrike" kern="1200" baseline="0" dirty="0">
              <a:solidFill>
                <a:schemeClr val="tx1"/>
              </a:solidFill>
              <a:latin typeface="+mn-lt"/>
              <a:ea typeface="+mn-ea"/>
              <a:cs typeface="+mn-cs"/>
            </a:endParaRPr>
          </a:p>
          <a:p>
            <a:pPr>
              <a:spcBef>
                <a:spcPct val="0"/>
              </a:spcBef>
            </a:pPr>
            <a:r>
              <a:rPr lang="en-US" sz="1200" b="0" i="0" u="none" strike="noStrike" kern="1200" baseline="0" dirty="0">
                <a:solidFill>
                  <a:schemeClr val="tx1"/>
                </a:solidFill>
                <a:latin typeface="+mn-lt"/>
                <a:ea typeface="+mn-ea"/>
                <a:cs typeface="+mn-cs"/>
              </a:rPr>
              <a:t>A general rule of thumb is that a quality of income ratio that is higher than 1 indicates high-quality income because each dollar of income is supported by one or more dollars of cash flows. A ratio that is below 1 represents lower-quality income.</a:t>
            </a:r>
            <a:endParaRPr lang="en-US" dirty="0"/>
          </a:p>
        </p:txBody>
      </p:sp>
    </p:spTree>
    <p:extLst>
      <p:ext uri="{BB962C8B-B14F-4D97-AF65-F5344CB8AC3E}">
        <p14:creationId xmlns:p14="http://schemas.microsoft.com/office/powerpoint/2010/main" val="25992032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9.jpeg"/><Relationship Id="rId4" Type="http://schemas.openxmlformats.org/officeDocument/2006/relationships/image" Target="../media/image8.jpe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15.jpeg"/><Relationship Id="rId4" Type="http://schemas.openxmlformats.org/officeDocument/2006/relationships/image" Target="../media/image14.jpe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544551" y="5440681"/>
            <a:ext cx="5358384" cy="283464"/>
          </a:xfrm>
          <a:prstGeom prst="rect">
            <a:avLst/>
          </a:prstGeom>
          <a:solidFill>
            <a:srgbClr val="78BE2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81000" y="152400"/>
            <a:ext cx="6705600" cy="1576039"/>
          </a:xfrm>
        </p:spPr>
        <p:txBody>
          <a:bodyPr/>
          <a:lstStyle/>
          <a:p>
            <a:r>
              <a:rPr lang="en-US"/>
              <a:t>Click to edit Master title style</a:t>
            </a:r>
            <a:endParaRPr/>
          </a:p>
        </p:txBody>
      </p:sp>
      <p:sp>
        <p:nvSpPr>
          <p:cNvPr id="3" name="Subtitle 2"/>
          <p:cNvSpPr>
            <a:spLocks noGrp="1"/>
          </p:cNvSpPr>
          <p:nvPr>
            <p:ph type="subTitle" idx="1" hasCustomPrompt="1"/>
          </p:nvPr>
        </p:nvSpPr>
        <p:spPr>
          <a:xfrm>
            <a:off x="381000" y="1784196"/>
            <a:ext cx="6705600" cy="1490472"/>
          </a:xfrm>
        </p:spPr>
        <p:txBody>
          <a:bodyPr/>
          <a:lstStyle>
            <a:lvl1pPr marL="0" indent="0" algn="l">
              <a:spcBef>
                <a:spcPts val="0"/>
              </a:spcBef>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Presenter’s name, </a:t>
            </a:r>
            <a:br>
              <a:rPr/>
            </a:br>
            <a:r>
              <a:t>Presenter’s title, </a:t>
            </a:r>
            <a:br>
              <a:rPr/>
            </a:br>
            <a:r>
              <a:t>dd Month yyyy</a:t>
            </a:r>
          </a:p>
        </p:txBody>
      </p:sp>
      <p:sp>
        <p:nvSpPr>
          <p:cNvPr id="8" name="Rectangle 7"/>
          <p:cNvSpPr/>
          <p:nvPr/>
        </p:nvSpPr>
        <p:spPr>
          <a:xfrm>
            <a:off x="0" y="4595768"/>
            <a:ext cx="9144000" cy="283464"/>
          </a:xfrm>
          <a:prstGeom prst="rect">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981200" y="4879232"/>
            <a:ext cx="5358384" cy="283464"/>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0" y="5162696"/>
            <a:ext cx="9144000" cy="28346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0" y="5724145"/>
            <a:ext cx="9144000" cy="283464"/>
          </a:xfrm>
          <a:prstGeom prst="rect">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210666" y="6007609"/>
            <a:ext cx="4933334" cy="283464"/>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0" y="6291073"/>
            <a:ext cx="9144000" cy="283464"/>
          </a:xfrm>
          <a:prstGeom prst="rect">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p:nvSpPr>
        <p:spPr>
          <a:xfrm>
            <a:off x="3048000" y="6574536"/>
            <a:ext cx="5358384" cy="283464"/>
          </a:xfrm>
          <a:prstGeom prst="rect">
            <a:avLst/>
          </a:prstGeom>
          <a:solidFill>
            <a:srgbClr val="003DA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8" name="logo"/>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562600" y="3512462"/>
            <a:ext cx="3086100" cy="665798"/>
          </a:xfrm>
          <a:prstGeom prst="rect">
            <a:avLst/>
          </a:prstGeom>
        </p:spPr>
      </p:pic>
    </p:spTree>
    <p:extLst>
      <p:ext uri="{BB962C8B-B14F-4D97-AF65-F5344CB8AC3E}">
        <p14:creationId xmlns:p14="http://schemas.microsoft.com/office/powerpoint/2010/main" val="1096845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with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9" name="Text Placeholder 8"/>
          <p:cNvSpPr>
            <a:spLocks noGrp="1"/>
          </p:cNvSpPr>
          <p:nvPr>
            <p:ph type="body" sz="quarter" idx="13" hasCustomPrompt="1"/>
          </p:nvPr>
        </p:nvSpPr>
        <p:spPr>
          <a:xfrm>
            <a:off x="381000" y="1447800"/>
            <a:ext cx="8382000" cy="685800"/>
          </a:xfrm>
        </p:spPr>
        <p:txBody>
          <a:bodyPr/>
          <a:lstStyle>
            <a:lvl1pPr marL="0" indent="0">
              <a:spcBef>
                <a:spcPts val="0"/>
              </a:spcBef>
              <a:buFont typeface="Arial" pitchFamily="34" charset="0"/>
              <a:buNone/>
              <a:defRPr b="1"/>
            </a:lvl1pPr>
            <a:lvl2pPr marL="0" indent="0">
              <a:spcBef>
                <a:spcPts val="0"/>
              </a:spcBef>
              <a:buFont typeface="Arial" pitchFamily="34" charset="0"/>
              <a:buNone/>
              <a:defRPr b="1"/>
            </a:lvl2pPr>
            <a:lvl3pPr marL="0" indent="0">
              <a:spcBef>
                <a:spcPts val="0"/>
              </a:spcBef>
              <a:buFont typeface="Arial" pitchFamily="34" charset="0"/>
              <a:buNone/>
              <a:defRPr b="1"/>
            </a:lvl3pPr>
            <a:lvl4pPr marL="0" indent="0">
              <a:spcBef>
                <a:spcPts val="0"/>
              </a:spcBef>
              <a:buFont typeface="Arial" pitchFamily="34" charset="0"/>
              <a:buNone/>
              <a:defRPr b="1"/>
            </a:lvl4pPr>
            <a:lvl5pPr marL="0" indent="0">
              <a:spcBef>
                <a:spcPts val="0"/>
              </a:spcBef>
              <a:buFont typeface="Arial" pitchFamily="34" charset="0"/>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t>Click to add subtitle</a:t>
            </a:r>
          </a:p>
        </p:txBody>
      </p:sp>
      <p:sp>
        <p:nvSpPr>
          <p:cNvPr id="3" name="Content Placeholder 2"/>
          <p:cNvSpPr>
            <a:spLocks noGrp="1"/>
          </p:cNvSpPr>
          <p:nvPr>
            <p:ph idx="1"/>
          </p:nvPr>
        </p:nvSpPr>
        <p:spPr>
          <a:xfrm>
            <a:off x="381000" y="2243138"/>
            <a:ext cx="8375904" cy="39290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endParaRPr dirty="0"/>
          </a:p>
        </p:txBody>
      </p:sp>
      <p:sp>
        <p:nvSpPr>
          <p:cNvPr id="5" name="Footer Placeholder 4"/>
          <p:cNvSpPr>
            <a:spLocks noGrp="1"/>
          </p:cNvSpPr>
          <p:nvPr>
            <p:ph type="ftr" sz="quarter" idx="11"/>
          </p:nvPr>
        </p:nvSpPr>
        <p:spPr/>
        <p:txBody>
          <a:bodyPr/>
          <a:lstStyle/>
          <a:p>
            <a:r>
              <a:rPr lang="en-US" dirty="0"/>
              <a:t>Copyright © 2013 CFA Institute</a:t>
            </a:r>
          </a:p>
        </p:txBody>
      </p:sp>
      <p:sp>
        <p:nvSpPr>
          <p:cNvPr id="6" name="Slide Number Placeholder 5"/>
          <p:cNvSpPr>
            <a:spLocks noGrp="1"/>
          </p:cNvSpPr>
          <p:nvPr>
            <p:ph type="sldNum" sz="quarter" idx="12"/>
          </p:nvPr>
        </p:nvSpPr>
        <p:spPr/>
        <p:txBody>
          <a:bodyPr/>
          <a:lstStyle/>
          <a:p>
            <a:fld id="{4E4A4924-7CC3-4BF6-9C5C-A8E770D15754}" type="slidenum">
              <a:rPr/>
              <a:pPr/>
              <a:t>‹#›</a:t>
            </a:fld>
            <a:endParaRPr/>
          </a:p>
        </p:txBody>
      </p:sp>
    </p:spTree>
    <p:extLst>
      <p:ext uri="{BB962C8B-B14F-4D97-AF65-F5344CB8AC3E}">
        <p14:creationId xmlns:p14="http://schemas.microsoft.com/office/powerpoint/2010/main" val="3552529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Copyright © 2013 CFA Institute</a:t>
            </a:r>
            <a:endParaRPr dirty="0"/>
          </a:p>
        </p:txBody>
      </p:sp>
      <p:sp>
        <p:nvSpPr>
          <p:cNvPr id="6" name="Slide Number Placeholder 5"/>
          <p:cNvSpPr>
            <a:spLocks noGrp="1"/>
          </p:cNvSpPr>
          <p:nvPr>
            <p:ph type="sldNum" sz="quarter" idx="12"/>
          </p:nvPr>
        </p:nvSpPr>
        <p:spPr/>
        <p:txBody>
          <a:bodyPr/>
          <a:lstStyle/>
          <a:p>
            <a:fld id="{4E4A4924-7CC3-4BF6-9C5C-A8E770D15754}" type="slidenum">
              <a:rPr/>
              <a:pPr/>
              <a:t>‹#›</a:t>
            </a:fld>
            <a:endParaRPr/>
          </a:p>
        </p:txBody>
      </p:sp>
    </p:spTree>
    <p:extLst>
      <p:ext uri="{BB962C8B-B14F-4D97-AF65-F5344CB8AC3E}">
        <p14:creationId xmlns:p14="http://schemas.microsoft.com/office/powerpoint/2010/main" val="1259320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OC Blu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152400"/>
            <a:ext cx="8375904" cy="1143000"/>
          </a:xfrm>
        </p:spPr>
        <p:txBody>
          <a:bodyPr/>
          <a:lstStyle>
            <a:lvl1pPr>
              <a:defRPr>
                <a:solidFill>
                  <a:schemeClr val="bg1"/>
                </a:solidFill>
              </a:defRPr>
            </a:lvl1pPr>
          </a:lstStyle>
          <a:p>
            <a:r>
              <a:t>Click to add title: Table of Contents, Agenda, etc</a:t>
            </a:r>
          </a:p>
        </p:txBody>
      </p:sp>
      <p:sp>
        <p:nvSpPr>
          <p:cNvPr id="3" name="Date Placeholder 2"/>
          <p:cNvSpPr>
            <a:spLocks noGrp="1"/>
          </p:cNvSpPr>
          <p:nvPr>
            <p:ph type="dt" sz="half" idx="10"/>
          </p:nvPr>
        </p:nvSpPr>
        <p:spPr bwMode="black"/>
        <p:txBody>
          <a:bodyPr/>
          <a:lstStyle/>
          <a:p>
            <a:endParaRPr/>
          </a:p>
        </p:txBody>
      </p:sp>
      <p:sp>
        <p:nvSpPr>
          <p:cNvPr id="4" name="Footer Placeholder 3"/>
          <p:cNvSpPr>
            <a:spLocks noGrp="1"/>
          </p:cNvSpPr>
          <p:nvPr>
            <p:ph type="ftr" sz="quarter" idx="11"/>
          </p:nvPr>
        </p:nvSpPr>
        <p:spPr bwMode="black"/>
        <p:txBody>
          <a:bodyPr/>
          <a:lstStyle/>
          <a:p>
            <a:r>
              <a:rPr lang="en-US" dirty="0"/>
              <a:t>Copyright © 2013 CFA Institute</a:t>
            </a:r>
            <a:endParaRPr dirty="0"/>
          </a:p>
        </p:txBody>
      </p:sp>
      <p:sp>
        <p:nvSpPr>
          <p:cNvPr id="5" name="Slide Number Placeholder 4"/>
          <p:cNvSpPr>
            <a:spLocks noGrp="1"/>
          </p:cNvSpPr>
          <p:nvPr>
            <p:ph type="sldNum" sz="quarter" idx="12"/>
          </p:nvPr>
        </p:nvSpPr>
        <p:spPr bwMode="black"/>
        <p:txBody>
          <a:bodyPr/>
          <a:lstStyle/>
          <a:p>
            <a:fld id="{4E4A4924-7CC3-4BF6-9C5C-A8E770D15754}" type="slidenum">
              <a:rPr/>
              <a:pPr/>
              <a:t>‹#›</a:t>
            </a:fld>
            <a:endParaRPr/>
          </a:p>
        </p:txBody>
      </p:sp>
      <p:sp>
        <p:nvSpPr>
          <p:cNvPr id="7" name="Text Placeholder 6"/>
          <p:cNvSpPr>
            <a:spLocks noGrp="1"/>
          </p:cNvSpPr>
          <p:nvPr>
            <p:ph type="body" sz="quarter" idx="13" hasCustomPrompt="1"/>
          </p:nvPr>
        </p:nvSpPr>
        <p:spPr>
          <a:xfrm>
            <a:off x="381000" y="1522809"/>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8" name="Text Placeholder 6"/>
          <p:cNvSpPr>
            <a:spLocks noGrp="1"/>
          </p:cNvSpPr>
          <p:nvPr>
            <p:ph type="body" sz="quarter" idx="14" hasCustomPrompt="1"/>
          </p:nvPr>
        </p:nvSpPr>
        <p:spPr>
          <a:xfrm>
            <a:off x="813762" y="1522809"/>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6" name="Text Placeholder 6"/>
          <p:cNvSpPr>
            <a:spLocks noGrp="1"/>
          </p:cNvSpPr>
          <p:nvPr>
            <p:ph type="body" sz="quarter" idx="15" hasCustomPrompt="1"/>
          </p:nvPr>
        </p:nvSpPr>
        <p:spPr>
          <a:xfrm>
            <a:off x="381000" y="1908639"/>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7" name="Text Placeholder 6"/>
          <p:cNvSpPr>
            <a:spLocks noGrp="1"/>
          </p:cNvSpPr>
          <p:nvPr>
            <p:ph type="body" sz="quarter" idx="16" hasCustomPrompt="1"/>
          </p:nvPr>
        </p:nvSpPr>
        <p:spPr>
          <a:xfrm>
            <a:off x="813762" y="1908639"/>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8" name="Text Placeholder 6"/>
          <p:cNvSpPr>
            <a:spLocks noGrp="1"/>
          </p:cNvSpPr>
          <p:nvPr>
            <p:ph type="body" sz="quarter" idx="17" hasCustomPrompt="1"/>
          </p:nvPr>
        </p:nvSpPr>
        <p:spPr>
          <a:xfrm>
            <a:off x="381000" y="2295144"/>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9" name="Text Placeholder 6"/>
          <p:cNvSpPr>
            <a:spLocks noGrp="1"/>
          </p:cNvSpPr>
          <p:nvPr>
            <p:ph type="body" sz="quarter" idx="18" hasCustomPrompt="1"/>
          </p:nvPr>
        </p:nvSpPr>
        <p:spPr>
          <a:xfrm>
            <a:off x="813762" y="2295144"/>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0" name="Text Placeholder 6"/>
          <p:cNvSpPr>
            <a:spLocks noGrp="1"/>
          </p:cNvSpPr>
          <p:nvPr>
            <p:ph type="body" sz="quarter" idx="19" hasCustomPrompt="1"/>
          </p:nvPr>
        </p:nvSpPr>
        <p:spPr>
          <a:xfrm>
            <a:off x="381000" y="2679192"/>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1" name="Text Placeholder 6"/>
          <p:cNvSpPr>
            <a:spLocks noGrp="1"/>
          </p:cNvSpPr>
          <p:nvPr>
            <p:ph type="body" sz="quarter" idx="20" hasCustomPrompt="1"/>
          </p:nvPr>
        </p:nvSpPr>
        <p:spPr>
          <a:xfrm>
            <a:off x="813762" y="2679192"/>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2" name="Text Placeholder 6"/>
          <p:cNvSpPr>
            <a:spLocks noGrp="1"/>
          </p:cNvSpPr>
          <p:nvPr>
            <p:ph type="body" sz="quarter" idx="21" hasCustomPrompt="1"/>
          </p:nvPr>
        </p:nvSpPr>
        <p:spPr>
          <a:xfrm>
            <a:off x="381000" y="3063240"/>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3" name="Text Placeholder 6"/>
          <p:cNvSpPr>
            <a:spLocks noGrp="1"/>
          </p:cNvSpPr>
          <p:nvPr>
            <p:ph type="body" sz="quarter" idx="22" hasCustomPrompt="1"/>
          </p:nvPr>
        </p:nvSpPr>
        <p:spPr>
          <a:xfrm>
            <a:off x="813762" y="3063240"/>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4" name="Text Placeholder 6"/>
          <p:cNvSpPr>
            <a:spLocks noGrp="1"/>
          </p:cNvSpPr>
          <p:nvPr>
            <p:ph type="body" sz="quarter" idx="23" hasCustomPrompt="1"/>
          </p:nvPr>
        </p:nvSpPr>
        <p:spPr>
          <a:xfrm>
            <a:off x="381000" y="3447288"/>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5" name="Text Placeholder 6"/>
          <p:cNvSpPr>
            <a:spLocks noGrp="1"/>
          </p:cNvSpPr>
          <p:nvPr>
            <p:ph type="body" sz="quarter" idx="24" hasCustomPrompt="1"/>
          </p:nvPr>
        </p:nvSpPr>
        <p:spPr>
          <a:xfrm>
            <a:off x="813762" y="3447288"/>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6" name="Text Placeholder 6"/>
          <p:cNvSpPr>
            <a:spLocks noGrp="1"/>
          </p:cNvSpPr>
          <p:nvPr>
            <p:ph type="body" sz="quarter" idx="25" hasCustomPrompt="1"/>
          </p:nvPr>
        </p:nvSpPr>
        <p:spPr>
          <a:xfrm>
            <a:off x="381000" y="3831336"/>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7" name="Text Placeholder 6"/>
          <p:cNvSpPr>
            <a:spLocks noGrp="1"/>
          </p:cNvSpPr>
          <p:nvPr>
            <p:ph type="body" sz="quarter" idx="26" hasCustomPrompt="1"/>
          </p:nvPr>
        </p:nvSpPr>
        <p:spPr>
          <a:xfrm>
            <a:off x="813762" y="3831336"/>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8" name="Text Placeholder 6"/>
          <p:cNvSpPr>
            <a:spLocks noGrp="1"/>
          </p:cNvSpPr>
          <p:nvPr>
            <p:ph type="body" sz="quarter" idx="27" hasCustomPrompt="1"/>
          </p:nvPr>
        </p:nvSpPr>
        <p:spPr>
          <a:xfrm>
            <a:off x="381000" y="4215384"/>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9" name="Text Placeholder 6"/>
          <p:cNvSpPr>
            <a:spLocks noGrp="1"/>
          </p:cNvSpPr>
          <p:nvPr>
            <p:ph type="body" sz="quarter" idx="28" hasCustomPrompt="1"/>
          </p:nvPr>
        </p:nvSpPr>
        <p:spPr>
          <a:xfrm>
            <a:off x="813762" y="4215384"/>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0" name="Text Placeholder 6"/>
          <p:cNvSpPr>
            <a:spLocks noGrp="1"/>
          </p:cNvSpPr>
          <p:nvPr>
            <p:ph type="body" sz="quarter" idx="29" hasCustomPrompt="1"/>
          </p:nvPr>
        </p:nvSpPr>
        <p:spPr>
          <a:xfrm>
            <a:off x="381000" y="4599432"/>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1" name="Text Placeholder 6"/>
          <p:cNvSpPr>
            <a:spLocks noGrp="1"/>
          </p:cNvSpPr>
          <p:nvPr>
            <p:ph type="body" sz="quarter" idx="30" hasCustomPrompt="1"/>
          </p:nvPr>
        </p:nvSpPr>
        <p:spPr>
          <a:xfrm>
            <a:off x="813762" y="4599432"/>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2" name="Text Placeholder 6"/>
          <p:cNvSpPr>
            <a:spLocks noGrp="1"/>
          </p:cNvSpPr>
          <p:nvPr>
            <p:ph type="body" sz="quarter" idx="31" hasCustomPrompt="1"/>
          </p:nvPr>
        </p:nvSpPr>
        <p:spPr>
          <a:xfrm>
            <a:off x="381000" y="4983480"/>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3" name="Text Placeholder 6"/>
          <p:cNvSpPr>
            <a:spLocks noGrp="1"/>
          </p:cNvSpPr>
          <p:nvPr>
            <p:ph type="body" sz="quarter" idx="32" hasCustomPrompt="1"/>
          </p:nvPr>
        </p:nvSpPr>
        <p:spPr>
          <a:xfrm>
            <a:off x="813762" y="4983480"/>
            <a:ext cx="7620000"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pic>
        <p:nvPicPr>
          <p:cNvPr id="34" name="slu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454818" y="6567477"/>
            <a:ext cx="786384" cy="102428"/>
          </a:xfrm>
          <a:prstGeom prst="rect">
            <a:avLst/>
          </a:prstGeom>
        </p:spPr>
      </p:pic>
    </p:spTree>
    <p:extLst>
      <p:ext uri="{BB962C8B-B14F-4D97-AF65-F5344CB8AC3E}">
        <p14:creationId xmlns:p14="http://schemas.microsoft.com/office/powerpoint/2010/main" val="3126261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Divider Blue">
    <p:bg>
      <p:bgPr>
        <a:solidFill>
          <a:schemeClr val="bg2"/>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1" y="2838091"/>
            <a:ext cx="6969368" cy="1352909"/>
          </a:xfrm>
        </p:spPr>
        <p:txBody>
          <a:bodyPr anchor="t">
            <a:normAutofit/>
          </a:bodyPr>
          <a:lstStyle>
            <a:lvl1pPr marL="0" indent="0">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bwMode="black"/>
        <p:txBody>
          <a:bodyPr/>
          <a:lstStyle/>
          <a:p>
            <a:endParaRPr/>
          </a:p>
        </p:txBody>
      </p:sp>
      <p:sp>
        <p:nvSpPr>
          <p:cNvPr id="5" name="Footer Placeholder 4"/>
          <p:cNvSpPr>
            <a:spLocks noGrp="1"/>
          </p:cNvSpPr>
          <p:nvPr>
            <p:ph type="ftr" sz="quarter" idx="11"/>
          </p:nvPr>
        </p:nvSpPr>
        <p:spPr bwMode="black"/>
        <p:txBody>
          <a:bodyPr/>
          <a:lstStyle/>
          <a:p>
            <a:r>
              <a:rPr lang="en-US" dirty="0"/>
              <a:t>Copyright © 2013 CFA Institute</a:t>
            </a:r>
            <a:endParaRPr dirty="0"/>
          </a:p>
        </p:txBody>
      </p:sp>
      <p:sp>
        <p:nvSpPr>
          <p:cNvPr id="6" name="Slide Number Placeholder 5"/>
          <p:cNvSpPr>
            <a:spLocks noGrp="1"/>
          </p:cNvSpPr>
          <p:nvPr>
            <p:ph type="sldNum" sz="quarter" idx="12"/>
          </p:nvPr>
        </p:nvSpPr>
        <p:spPr bwMode="black"/>
        <p:txBody>
          <a:bodyPr/>
          <a:lstStyle/>
          <a:p>
            <a:fld id="{4E4A4924-7CC3-4BF6-9C5C-A8E770D15754}" type="slidenum">
              <a:rPr/>
              <a:pPr/>
              <a:t>‹#›</a:t>
            </a:fld>
            <a:endParaRPr/>
          </a:p>
        </p:txBody>
      </p:sp>
      <p:sp>
        <p:nvSpPr>
          <p:cNvPr id="2" name="Title 1"/>
          <p:cNvSpPr>
            <a:spLocks noGrp="1"/>
          </p:cNvSpPr>
          <p:nvPr>
            <p:ph type="title"/>
          </p:nvPr>
        </p:nvSpPr>
        <p:spPr>
          <a:xfrm>
            <a:off x="381000" y="914400"/>
            <a:ext cx="6969369" cy="1524000"/>
          </a:xfrm>
        </p:spPr>
        <p:txBody>
          <a:bodyPr anchor="b">
            <a:normAutofit/>
          </a:bodyPr>
          <a:lstStyle>
            <a:lvl1pPr algn="l">
              <a:defRPr sz="2800" b="1" cap="all" baseline="0">
                <a:solidFill>
                  <a:schemeClr val="bg1"/>
                </a:solidFill>
              </a:defRPr>
            </a:lvl1pPr>
          </a:lstStyle>
          <a:p>
            <a:r>
              <a:rPr lang="en-US"/>
              <a:t>Click to edit Master title style</a:t>
            </a:r>
            <a:endParaRPr/>
          </a:p>
        </p:txBody>
      </p:sp>
      <p:pic>
        <p:nvPicPr>
          <p:cNvPr id="9" name="slu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454818" y="6567477"/>
            <a:ext cx="786384" cy="102428"/>
          </a:xfrm>
          <a:prstGeom prst="rect">
            <a:avLst/>
          </a:prstGeom>
        </p:spPr>
      </p:pic>
    </p:spTree>
    <p:extLst>
      <p:ext uri="{BB962C8B-B14F-4D97-AF65-F5344CB8AC3E}">
        <p14:creationId xmlns:p14="http://schemas.microsoft.com/office/powerpoint/2010/main" val="3776520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381000" y="1447800"/>
            <a:ext cx="4191000" cy="4724399"/>
          </a:xfrm>
        </p:spPr>
        <p:txBody>
          <a:bodyPr rIns="182880">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572000" y="1447800"/>
            <a:ext cx="4191000" cy="4724400"/>
          </a:xfrm>
        </p:spPr>
        <p:txBody>
          <a:bodyPr rIns="182880">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Copyright © 2013 CFA Institute</a:t>
            </a:r>
            <a:endParaRPr dirty="0"/>
          </a:p>
        </p:txBody>
      </p:sp>
      <p:sp>
        <p:nvSpPr>
          <p:cNvPr id="7" name="Slide Number Placeholder 6"/>
          <p:cNvSpPr>
            <a:spLocks noGrp="1"/>
          </p:cNvSpPr>
          <p:nvPr>
            <p:ph type="sldNum" sz="quarter" idx="12"/>
          </p:nvPr>
        </p:nvSpPr>
        <p:spPr/>
        <p:txBody>
          <a:bodyPr/>
          <a:lstStyle/>
          <a:p>
            <a:fld id="{4E4A4924-7CC3-4BF6-9C5C-A8E770D15754}" type="slidenum">
              <a:rPr/>
              <a:pPr/>
              <a:t>‹#›</a:t>
            </a:fld>
            <a:endParaRPr/>
          </a:p>
        </p:txBody>
      </p:sp>
    </p:spTree>
    <p:extLst>
      <p:ext uri="{BB962C8B-B14F-4D97-AF65-F5344CB8AC3E}">
        <p14:creationId xmlns:p14="http://schemas.microsoft.com/office/powerpoint/2010/main" val="205323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dirty="0"/>
              <a:t>Copyright © 2013 CFA Institute</a:t>
            </a:r>
            <a:endParaRPr dirty="0"/>
          </a:p>
        </p:txBody>
      </p:sp>
      <p:sp>
        <p:nvSpPr>
          <p:cNvPr id="5" name="Slide Number Placeholder 4"/>
          <p:cNvSpPr>
            <a:spLocks noGrp="1"/>
          </p:cNvSpPr>
          <p:nvPr>
            <p:ph type="sldNum" sz="quarter" idx="12"/>
          </p:nvPr>
        </p:nvSpPr>
        <p:spPr/>
        <p:txBody>
          <a:bodyPr/>
          <a:lstStyle/>
          <a:p>
            <a:fld id="{4E4A4924-7CC3-4BF6-9C5C-A8E770D15754}" type="slidenum">
              <a:rPr/>
              <a:pPr/>
              <a:t>‹#›</a:t>
            </a:fld>
            <a:endParaRPr/>
          </a:p>
        </p:txBody>
      </p:sp>
    </p:spTree>
    <p:extLst>
      <p:ext uri="{BB962C8B-B14F-4D97-AF65-F5344CB8AC3E}">
        <p14:creationId xmlns:p14="http://schemas.microsoft.com/office/powerpoint/2010/main" val="1513972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dirty="0"/>
              <a:t>Copyright © 2013 CFA Institute</a:t>
            </a:r>
            <a:endParaRPr dirty="0"/>
          </a:p>
        </p:txBody>
      </p:sp>
      <p:sp>
        <p:nvSpPr>
          <p:cNvPr id="4" name="Slide Number Placeholder 3"/>
          <p:cNvSpPr>
            <a:spLocks noGrp="1"/>
          </p:cNvSpPr>
          <p:nvPr>
            <p:ph type="sldNum" sz="quarter" idx="12"/>
          </p:nvPr>
        </p:nvSpPr>
        <p:spPr/>
        <p:txBody>
          <a:bodyPr/>
          <a:lstStyle/>
          <a:p>
            <a:fld id="{4E4A4924-7CC3-4BF6-9C5C-A8E770D15754}" type="slidenum">
              <a:rPr/>
              <a:pPr/>
              <a:t>‹#›</a:t>
            </a:fld>
            <a:endParaRPr/>
          </a:p>
        </p:txBody>
      </p:sp>
    </p:spTree>
    <p:extLst>
      <p:ext uri="{BB962C8B-B14F-4D97-AF65-F5344CB8AC3E}">
        <p14:creationId xmlns:p14="http://schemas.microsoft.com/office/powerpoint/2010/main" val="2845067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Video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dirty="0"/>
              <a:t>Copyright © 2013 CFA Institute</a:t>
            </a:r>
            <a:endParaRPr dirty="0"/>
          </a:p>
        </p:txBody>
      </p:sp>
      <p:sp>
        <p:nvSpPr>
          <p:cNvPr id="5" name="Slide Number Placeholder 4"/>
          <p:cNvSpPr>
            <a:spLocks noGrp="1"/>
          </p:cNvSpPr>
          <p:nvPr>
            <p:ph type="sldNum" sz="quarter" idx="12"/>
          </p:nvPr>
        </p:nvSpPr>
        <p:spPr/>
        <p:txBody>
          <a:bodyPr/>
          <a:lstStyle/>
          <a:p>
            <a:fld id="{4E4A4924-7CC3-4BF6-9C5C-A8E770D15754}" type="slidenum">
              <a:rPr/>
              <a:pPr/>
              <a:t>‹#›</a:t>
            </a:fld>
            <a:endParaRPr/>
          </a:p>
        </p:txBody>
      </p:sp>
      <p:sp>
        <p:nvSpPr>
          <p:cNvPr id="9" name="Media Placeholder 8"/>
          <p:cNvSpPr>
            <a:spLocks noGrp="1"/>
          </p:cNvSpPr>
          <p:nvPr>
            <p:ph type="media" sz="quarter" idx="13" hasCustomPrompt="1"/>
          </p:nvPr>
        </p:nvSpPr>
        <p:spPr>
          <a:xfrm>
            <a:off x="379476" y="155448"/>
            <a:ext cx="8385048" cy="4645152"/>
          </a:xfrm>
          <a:solidFill>
            <a:schemeClr val="bg1">
              <a:lumMod val="95000"/>
            </a:schemeClr>
          </a:solidFill>
        </p:spPr>
        <p:txBody>
          <a:bodyPr lIns="91440" tIns="457200" anchor="t" anchorCtr="0"/>
          <a:lstStyle>
            <a:lvl1pPr marL="9144" indent="0" algn="ctr">
              <a:buNone/>
              <a:defRPr baseline="0"/>
            </a:lvl1pPr>
          </a:lstStyle>
          <a:p>
            <a:r>
              <a:t>Click icon to insert video</a:t>
            </a:r>
          </a:p>
        </p:txBody>
      </p:sp>
      <p:sp>
        <p:nvSpPr>
          <p:cNvPr id="11" name="Text Placeholder 10"/>
          <p:cNvSpPr>
            <a:spLocks noGrp="1"/>
          </p:cNvSpPr>
          <p:nvPr>
            <p:ph type="body" sz="quarter" idx="14"/>
          </p:nvPr>
        </p:nvSpPr>
        <p:spPr>
          <a:xfrm>
            <a:off x="379476" y="5029200"/>
            <a:ext cx="8385048" cy="1219200"/>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Tree>
    <p:extLst>
      <p:ext uri="{BB962C8B-B14F-4D97-AF65-F5344CB8AC3E}">
        <p14:creationId xmlns:p14="http://schemas.microsoft.com/office/powerpoint/2010/main" val="3619402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Text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75904" cy="1143000"/>
          </a:xfrm>
        </p:spPr>
        <p:txBody>
          <a:bodyPr anchor="b">
            <a:normAutofit/>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4572000" y="1447800"/>
            <a:ext cx="4191000" cy="4724400"/>
          </a:xfrm>
          <a:solidFill>
            <a:schemeClr val="bg1">
              <a:lumMod val="95000"/>
            </a:schemeClr>
          </a:solidFill>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81000" y="1447800"/>
            <a:ext cx="4191000" cy="4724399"/>
          </a:xfrm>
        </p:spPr>
        <p:txBody>
          <a:bodyPr rIns="182880">
            <a:normAutofit/>
          </a:bodyPr>
          <a:lstStyle>
            <a:lvl1pPr marL="182880" indent="-173736">
              <a:buFont typeface="Arial" pitchFamily="34" charset="0"/>
              <a:buChar char="•"/>
              <a:defRPr sz="1800"/>
            </a:lvl1pPr>
            <a:lvl2pPr marL="384048" indent="-171450">
              <a:buFont typeface="Arial" pitchFamily="34" charset="0"/>
              <a:buChar char="-"/>
              <a:defRPr sz="1800"/>
            </a:lvl2pPr>
            <a:lvl3pPr marL="585216" indent="-171450">
              <a:buFont typeface="Arial" pitchFamily="34" charset="0"/>
              <a:buChar char="-"/>
              <a:defRPr sz="1800"/>
            </a:lvl3pPr>
            <a:lvl4pPr marL="786384" indent="-171450">
              <a:buFont typeface="Arial" pitchFamily="34" charset="0"/>
              <a:buChar char="-"/>
              <a:defRPr sz="1800"/>
            </a:lvl4pPr>
            <a:lvl5pPr marL="987552" indent="-171450">
              <a:buFont typeface="Arial" pitchFamily="34" charset="0"/>
              <a:buChar char="-"/>
              <a:defRPr sz="1800"/>
            </a:lvl5pPr>
            <a:lvl6pPr marL="1188720" indent="-171450">
              <a:buFont typeface="Arial" pitchFamily="34" charset="0"/>
              <a:buChar char="-"/>
              <a:defRPr sz="1800"/>
            </a:lvl6pPr>
            <a:lvl7pPr marL="1389888" indent="-171450">
              <a:buFont typeface="Arial" pitchFamily="34" charset="0"/>
              <a:buChar char="-"/>
              <a:defRPr sz="1800"/>
            </a:lvl7pPr>
            <a:lvl8pPr marL="1591056" indent="-171450">
              <a:buFont typeface="Arial" pitchFamily="34" charset="0"/>
              <a:buChar char="-"/>
              <a:defRPr sz="1800"/>
            </a:lvl8pPr>
            <a:lvl9pPr marL="1792224" indent="-171450">
              <a:buFont typeface="Arial" pitchFamily="34" charset="0"/>
              <a:buChar cha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Copyright © 2013 CFA Institute</a:t>
            </a:r>
            <a:endParaRPr dirty="0"/>
          </a:p>
        </p:txBody>
      </p:sp>
      <p:sp>
        <p:nvSpPr>
          <p:cNvPr id="7" name="Slide Number Placeholder 6"/>
          <p:cNvSpPr>
            <a:spLocks noGrp="1"/>
          </p:cNvSpPr>
          <p:nvPr>
            <p:ph type="sldNum" sz="quarter" idx="12"/>
          </p:nvPr>
        </p:nvSpPr>
        <p:spPr/>
        <p:txBody>
          <a:bodyPr/>
          <a:lstStyle/>
          <a:p>
            <a:fld id="{4E4A4924-7CC3-4BF6-9C5C-A8E770D15754}" type="slidenum">
              <a:rPr/>
              <a:pPr/>
              <a:t>‹#›</a:t>
            </a:fld>
            <a:endParaRPr/>
          </a:p>
        </p:txBody>
      </p:sp>
      <p:sp>
        <p:nvSpPr>
          <p:cNvPr id="10" name="Rounded Rectangle 9"/>
          <p:cNvSpPr/>
          <p:nvPr/>
        </p:nvSpPr>
        <p:spPr>
          <a:xfrm>
            <a:off x="9372600" y="114300"/>
            <a:ext cx="1219200" cy="3086100"/>
          </a:xfrm>
          <a:prstGeom prst="roundRect">
            <a:avLst>
              <a:gd name="adj" fmla="val 888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sz="1400"/>
              <a:t>Click the icon</a:t>
            </a:r>
            <a:r>
              <a:rPr sz="1400" baseline="0"/>
              <a:t> to add an image. The photo will be cropped to fit the placeholder.</a:t>
            </a:r>
            <a:endParaRPr sz="1400"/>
          </a:p>
        </p:txBody>
      </p:sp>
    </p:spTree>
    <p:extLst>
      <p:ext uri="{BB962C8B-B14F-4D97-AF65-F5344CB8AC3E}">
        <p14:creationId xmlns:p14="http://schemas.microsoft.com/office/powerpoint/2010/main" val="914240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Copyright © 2013 CFA Institute</a:t>
            </a:r>
            <a:endParaRPr dirty="0"/>
          </a:p>
        </p:txBody>
      </p:sp>
      <p:sp>
        <p:nvSpPr>
          <p:cNvPr id="6" name="Slide Number Placeholder 5"/>
          <p:cNvSpPr>
            <a:spLocks noGrp="1"/>
          </p:cNvSpPr>
          <p:nvPr>
            <p:ph type="sldNum" sz="quarter" idx="12"/>
          </p:nvPr>
        </p:nvSpPr>
        <p:spPr/>
        <p:txBody>
          <a:bodyPr/>
          <a:lstStyle/>
          <a:p>
            <a:fld id="{4E4A4924-7CC3-4BF6-9C5C-A8E770D15754}" type="slidenum">
              <a:rPr/>
              <a:pPr/>
              <a:t>‹#›</a:t>
            </a:fld>
            <a:endParaRPr/>
          </a:p>
        </p:txBody>
      </p:sp>
    </p:spTree>
    <p:extLst>
      <p:ext uri="{BB962C8B-B14F-4D97-AF65-F5344CB8AC3E}">
        <p14:creationId xmlns:p14="http://schemas.microsoft.com/office/powerpoint/2010/main" val="3892914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133600" cy="57912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81000" y="381000"/>
            <a:ext cx="60960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Copyright © 2013 CFA Institute</a:t>
            </a:r>
            <a:endParaRPr dirty="0"/>
          </a:p>
        </p:txBody>
      </p:sp>
      <p:sp>
        <p:nvSpPr>
          <p:cNvPr id="6" name="Slide Number Placeholder 5"/>
          <p:cNvSpPr>
            <a:spLocks noGrp="1"/>
          </p:cNvSpPr>
          <p:nvPr>
            <p:ph type="sldNum" sz="quarter" idx="12"/>
          </p:nvPr>
        </p:nvSpPr>
        <p:spPr/>
        <p:txBody>
          <a:bodyPr/>
          <a:lstStyle/>
          <a:p>
            <a:fld id="{4E4A4924-7CC3-4BF6-9C5C-A8E770D15754}" type="slidenum">
              <a:rPr/>
              <a:pPr/>
              <a:t>‹#›</a:t>
            </a:fld>
            <a:endParaRPr/>
          </a:p>
        </p:txBody>
      </p:sp>
    </p:spTree>
    <p:extLst>
      <p:ext uri="{BB962C8B-B14F-4D97-AF65-F5344CB8AC3E}">
        <p14:creationId xmlns:p14="http://schemas.microsoft.com/office/powerpoint/2010/main" val="342379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ectur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50843" cy="1143000"/>
          </a:xfrm>
          <a:prstGeom prst="rect">
            <a:avLst/>
          </a:prstGeom>
          <a:ln>
            <a:noFill/>
          </a:ln>
        </p:spPr>
        <p:txBody>
          <a:bodyPr/>
          <a:lstStyle>
            <a:lvl1pPr algn="l">
              <a:defRPr sz="3200">
                <a:solidFill>
                  <a:schemeClr val="accent1">
                    <a:lumMod val="75000"/>
                  </a:schemeClr>
                </a:solidFill>
              </a:defRPr>
            </a:lvl1pPr>
          </a:lstStyle>
          <a:p>
            <a:r>
              <a:rPr lang="en-US" dirty="0"/>
              <a:t>Click to edit Master title style</a:t>
            </a:r>
          </a:p>
        </p:txBody>
      </p:sp>
      <p:sp>
        <p:nvSpPr>
          <p:cNvPr id="8"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13" name="Rectangle 12"/>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4" name="Rectangle 13"/>
          <p:cNvSpPr/>
          <p:nvPr/>
        </p:nvSpPr>
        <p:spPr>
          <a:xfrm>
            <a:off x="8108043" y="0"/>
            <a:ext cx="732512" cy="6439497"/>
          </a:xfrm>
          <a:prstGeom prst="rect">
            <a:avLst/>
          </a:prstGeom>
          <a:solidFill>
            <a:srgbClr val="62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6" name="Content Placeholder 2"/>
          <p:cNvSpPr>
            <a:spLocks noGrp="1"/>
          </p:cNvSpPr>
          <p:nvPr>
            <p:ph idx="1"/>
          </p:nvPr>
        </p:nvSpPr>
        <p:spPr>
          <a:xfrm>
            <a:off x="556772" y="1600200"/>
            <a:ext cx="7551271" cy="4525963"/>
          </a:xfrm>
          <a:prstGeom prst="rect">
            <a:avLst/>
          </a:prstGeom>
        </p:spPr>
        <p:txBody>
          <a:bodyPr/>
          <a:lstStyle>
            <a:lvl1pPr marL="0" indent="0">
              <a:buNone/>
              <a:defRPr sz="1800"/>
            </a:lvl1pPr>
            <a:lvl2pPr marL="457200" indent="0">
              <a:buFont typeface="Arial"/>
              <a:buNone/>
              <a:defRPr sz="1800"/>
            </a:lvl2pPr>
            <a:lvl3pPr marL="914400" indent="0">
              <a:buFont typeface="Arial"/>
              <a:buNone/>
              <a:defRPr sz="1800"/>
            </a:lvl3pPr>
            <a:lvl4pPr marL="1371600" indent="0">
              <a:buFont typeface="Arial"/>
              <a:buNone/>
              <a:defRPr sz="1800"/>
            </a:lvl4pPr>
            <a:lvl5pPr marL="1828800" indent="0">
              <a:buFont typeface="Arial"/>
              <a:buNone/>
              <a:defRPr sz="1800"/>
            </a:lvl5pPr>
            <a:lvl6pPr marL="2286000" indent="0">
              <a:buNone/>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a:spLocks noGrp="1"/>
          </p:cNvSpPr>
          <p:nvPr>
            <p:ph type="ftr" sz="quarter" idx="3"/>
          </p:nvPr>
        </p:nvSpPr>
        <p:spPr>
          <a:xfrm>
            <a:off x="141941" y="6492875"/>
            <a:ext cx="8810212"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2020822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Lecture with Do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057153" cy="1143000"/>
          </a:xfrm>
          <a:prstGeom prst="rect">
            <a:avLst/>
          </a:prstGeom>
          <a:ln>
            <a:noFill/>
          </a:ln>
        </p:spPr>
        <p:txBody>
          <a:bodyPr/>
          <a:lstStyle>
            <a:lvl1pPr algn="l">
              <a:defRPr sz="2400">
                <a:solidFill>
                  <a:schemeClr val="accent1">
                    <a:lumMod val="75000"/>
                  </a:schemeClr>
                </a:solidFill>
              </a:defRPr>
            </a:lvl1pPr>
          </a:lstStyle>
          <a:p>
            <a:r>
              <a:rPr lang="en-US" dirty="0"/>
              <a:t>Click to edit Master title style</a:t>
            </a:r>
          </a:p>
        </p:txBody>
      </p:sp>
      <p:sp>
        <p:nvSpPr>
          <p:cNvPr id="8"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grpSp>
        <p:nvGrpSpPr>
          <p:cNvPr id="7" name="Group 6"/>
          <p:cNvGrpSpPr/>
          <p:nvPr/>
        </p:nvGrpSpPr>
        <p:grpSpPr>
          <a:xfrm>
            <a:off x="268940" y="0"/>
            <a:ext cx="8571615" cy="6439497"/>
            <a:chOff x="268940" y="0"/>
            <a:chExt cx="8571615" cy="6439497"/>
          </a:xfrm>
        </p:grpSpPr>
        <p:sp>
          <p:nvSpPr>
            <p:cNvPr id="13" name="Rectangle 12"/>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4" name="Rectangle 13"/>
            <p:cNvSpPr/>
            <p:nvPr/>
          </p:nvSpPr>
          <p:spPr>
            <a:xfrm>
              <a:off x="8108043" y="0"/>
              <a:ext cx="732512" cy="6439497"/>
            </a:xfrm>
            <a:prstGeom prst="rect">
              <a:avLst/>
            </a:prstGeom>
            <a:solidFill>
              <a:srgbClr val="62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5" name="Oval 14"/>
            <p:cNvSpPr/>
            <p:nvPr/>
          </p:nvSpPr>
          <p:spPr>
            <a:xfrm>
              <a:off x="6273471" y="410485"/>
              <a:ext cx="2206620" cy="2206620"/>
            </a:xfrm>
            <a:prstGeom prst="ellipse">
              <a:avLst/>
            </a:prstGeom>
            <a:solidFill>
              <a:srgbClr val="FAD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grpSp>
      <p:sp>
        <p:nvSpPr>
          <p:cNvPr id="16" name="Content Placeholder 2"/>
          <p:cNvSpPr>
            <a:spLocks noGrp="1"/>
          </p:cNvSpPr>
          <p:nvPr>
            <p:ph idx="1"/>
          </p:nvPr>
        </p:nvSpPr>
        <p:spPr>
          <a:xfrm>
            <a:off x="556772" y="1600200"/>
            <a:ext cx="7551271" cy="4525963"/>
          </a:xfrm>
          <a:prstGeom prst="rect">
            <a:avLst/>
          </a:prstGeom>
        </p:spPr>
        <p:txBody>
          <a:bodyPr/>
          <a:lstStyle>
            <a:lvl1pPr marL="0" indent="0">
              <a:buNone/>
              <a:defRPr sz="1800"/>
            </a:lvl1pPr>
            <a:lvl2pPr marL="457200" indent="0">
              <a:buFont typeface="Arial"/>
              <a:buNone/>
              <a:defRPr sz="1800"/>
            </a:lvl2pPr>
            <a:lvl3pPr marL="914400" indent="0">
              <a:buFont typeface="Arial"/>
              <a:buNone/>
              <a:defRPr sz="1800"/>
            </a:lvl3pPr>
            <a:lvl4pPr marL="1371600" indent="0">
              <a:buFont typeface="Arial"/>
              <a:buNone/>
              <a:defRPr sz="1800"/>
            </a:lvl4pPr>
            <a:lvl5pPr marL="1828800" indent="0">
              <a:buFont typeface="Arial"/>
              <a:buNone/>
              <a:defRPr sz="1800"/>
            </a:lvl5pPr>
            <a:lvl6pPr marL="2286000" indent="0">
              <a:buNone/>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a:spLocks noGrp="1"/>
          </p:cNvSpPr>
          <p:nvPr>
            <p:ph type="ftr" sz="quarter" idx="3"/>
          </p:nvPr>
        </p:nvSpPr>
        <p:spPr>
          <a:xfrm>
            <a:off x="141941" y="6356350"/>
            <a:ext cx="8810212" cy="365125"/>
          </a:xfrm>
          <a:prstGeom prst="rect">
            <a:avLst/>
          </a:prstGeom>
        </p:spPr>
        <p:txBody>
          <a:bodyPr/>
          <a:lstStyle>
            <a:lvl1pPr algn="ctr">
              <a:defRPr sz="800"/>
            </a:lvl1pPr>
          </a:lstStyle>
          <a:p>
            <a:r>
              <a:rPr lang="en-US" sz="800" dirty="0"/>
              <a:t>Copyright ©2020 McGraw-Hill Education. All rights reserved. No reproduction or distribution without the prior written consent of McGraw-Hill Education. </a:t>
            </a:r>
          </a:p>
        </p:txBody>
      </p:sp>
      <p:sp>
        <p:nvSpPr>
          <p:cNvPr id="4" name="Text Placeholder 3"/>
          <p:cNvSpPr>
            <a:spLocks noGrp="1"/>
          </p:cNvSpPr>
          <p:nvPr>
            <p:ph type="body" sz="quarter" idx="11"/>
          </p:nvPr>
        </p:nvSpPr>
        <p:spPr>
          <a:xfrm>
            <a:off x="6515100" y="850900"/>
            <a:ext cx="1592263" cy="1390650"/>
          </a:xfrm>
          <a:prstGeom prst="rect">
            <a:avLst/>
          </a:prstGeom>
        </p:spPr>
        <p:txBody>
          <a:bodyPr vert="horz"/>
          <a:lstStyle>
            <a:lvl1pPr marL="0" indent="0" algn="ctr">
              <a:buNone/>
              <a:defRPr sz="1800">
                <a:solidFill>
                  <a:srgbClr val="622233"/>
                </a:solidFill>
              </a:defRPr>
            </a:lvl1pPr>
          </a:lstStyle>
          <a:p>
            <a:pPr lvl="0"/>
            <a:r>
              <a:rPr lang="en-US" dirty="0"/>
              <a:t>Click to edit</a:t>
            </a:r>
          </a:p>
        </p:txBody>
      </p:sp>
    </p:spTree>
    <p:extLst>
      <p:ext uri="{BB962C8B-B14F-4D97-AF65-F5344CB8AC3E}">
        <p14:creationId xmlns:p14="http://schemas.microsoft.com/office/powerpoint/2010/main" val="54476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sp>
        <p:nvSpPr>
          <p:cNvPr id="36" name="Body Level One…"/>
          <p:cNvSpPr txBox="1">
            <a:spLocks noGrp="1"/>
          </p:cNvSpPr>
          <p:nvPr>
            <p:ph type="body" idx="1"/>
          </p:nvPr>
        </p:nvSpPr>
        <p:spPr>
          <a:xfrm>
            <a:off x="297873" y="387927"/>
            <a:ext cx="8478982" cy="5698837"/>
          </a:xfrm>
          <a:prstGeom prst="rect">
            <a:avLst/>
          </a:prstGeom>
        </p:spPr>
        <p:txBody>
          <a:bodyPr/>
          <a:lstStyle>
            <a:lvl1pPr>
              <a:defRPr sz="2000"/>
            </a:lvl1pPr>
            <a:lvl2pPr marL="698085" indent="-355194">
              <a:defRPr sz="2000"/>
            </a:lvl2pPr>
            <a:lvl3pPr marL="828654" indent="-142871">
              <a:defRPr sz="2000"/>
            </a:lvl3pPr>
            <a:lvl4pPr marL="1171545" indent="-142871">
              <a:defRPr sz="2000"/>
            </a:lvl4pPr>
            <a:lvl5pPr marL="1514437" indent="-142871">
              <a:defRPr sz="2000"/>
            </a:lvl5p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80091178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87109"/>
            <a:ext cx="7772400" cy="1554480"/>
          </a:xfrm>
        </p:spPr>
        <p:txBody>
          <a:bodyPr anchor="ctr">
            <a:normAutofit/>
          </a:bodyPr>
          <a:lstStyle>
            <a:lvl1pPr algn="l">
              <a:defRPr sz="4400" b="1"/>
            </a:lvl1pPr>
          </a:lstStyle>
          <a:p>
            <a:r>
              <a:rPr lang="en-US" dirty="0"/>
              <a:t>Click to edit Master title style</a:t>
            </a:r>
          </a:p>
        </p:txBody>
      </p:sp>
      <p:sp>
        <p:nvSpPr>
          <p:cNvPr id="12" name="Rectangle 3">
            <a:extLst>
              <a:ext uri="{FF2B5EF4-FFF2-40B4-BE49-F238E27FC236}">
                <a16:creationId xmlns:a16="http://schemas.microsoft.com/office/drawing/2014/main" id="{00CBC7F0-E7A9-48E2-B0ED-A52C6EE4AA0F}"/>
              </a:ext>
            </a:extLst>
          </p:cNvPr>
          <p:cNvSpPr/>
          <p:nvPr userDrawn="1"/>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
        <p:nvSpPr>
          <p:cNvPr id="3" name="Subtitle 3"/>
          <p:cNvSpPr>
            <a:spLocks noGrp="1"/>
          </p:cNvSpPr>
          <p:nvPr>
            <p:ph type="subTitle" idx="1"/>
          </p:nvPr>
        </p:nvSpPr>
        <p:spPr>
          <a:xfrm>
            <a:off x="719256" y="2263894"/>
            <a:ext cx="6858000" cy="813843"/>
          </a:xfrm>
        </p:spPr>
        <p:txBody>
          <a:bodyPr>
            <a:normAutofit/>
          </a:bodyPr>
          <a:lstStyle>
            <a:lvl1pPr marL="0" indent="0" algn="l">
              <a:buNone/>
              <a:defRPr sz="3200">
                <a:solidFill>
                  <a:srgbClr val="64646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Text Placeholder 4">
            <a:extLst>
              <a:ext uri="{FF2B5EF4-FFF2-40B4-BE49-F238E27FC236}">
                <a16:creationId xmlns:a16="http://schemas.microsoft.com/office/drawing/2014/main" id="{10216921-D987-460B-8BFE-84AE4465AFAF}"/>
              </a:ext>
            </a:extLst>
          </p:cNvPr>
          <p:cNvSpPr>
            <a:spLocks noGrp="1"/>
          </p:cNvSpPr>
          <p:nvPr>
            <p:ph type="body" sz="quarter" idx="13"/>
          </p:nvPr>
        </p:nvSpPr>
        <p:spPr>
          <a:xfrm>
            <a:off x="719138" y="4179153"/>
            <a:ext cx="6618287" cy="1828800"/>
          </a:xfrm>
        </p:spPr>
        <p:txBody>
          <a:bodyPr/>
          <a:lstStyle>
            <a:lvl1pPr marL="0" indent="0">
              <a:buNone/>
              <a:defRPr b="1">
                <a:solidFill>
                  <a:srgbClr val="002060"/>
                </a:solidFill>
              </a:defRPr>
            </a:lvl1pPr>
          </a:lstStyle>
          <a:p>
            <a:pPr lvl="0"/>
            <a:r>
              <a:rPr lang="en-US" dirty="0"/>
              <a:t>Edit Master text styles</a:t>
            </a:r>
          </a:p>
        </p:txBody>
      </p:sp>
      <p:sp>
        <p:nvSpPr>
          <p:cNvPr id="11" name="Text Placeholder 5">
            <a:extLst>
              <a:ext uri="{FF2B5EF4-FFF2-40B4-BE49-F238E27FC236}">
                <a16:creationId xmlns:a16="http://schemas.microsoft.com/office/drawing/2014/main" id="{53EBFA2F-0212-4F0B-8913-23CFD3B2BCBD}"/>
              </a:ext>
            </a:extLst>
          </p:cNvPr>
          <p:cNvSpPr>
            <a:spLocks noGrp="1"/>
          </p:cNvSpPr>
          <p:nvPr>
            <p:ph type="body" sz="quarter" idx="14"/>
          </p:nvPr>
        </p:nvSpPr>
        <p:spPr>
          <a:xfrm>
            <a:off x="342900" y="6283779"/>
            <a:ext cx="8458200" cy="502920"/>
          </a:xfrm>
        </p:spPr>
        <p:txBody>
          <a:bodyPr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1100" i="1" dirty="0">
              <a:latin typeface="Arial" panose="020B0604020202020204" pitchFamily="34" charset="0"/>
              <a:cs typeface="Arial" panose="020B0604020202020204" pitchFamily="34" charset="0"/>
            </a:endParaRPr>
          </a:p>
        </p:txBody>
      </p:sp>
      <p:sp>
        <p:nvSpPr>
          <p:cNvPr id="13" name="Slide Number Placeholder 5">
            <a:extLst>
              <a:ext uri="{FF2B5EF4-FFF2-40B4-BE49-F238E27FC236}">
                <a16:creationId xmlns:a16="http://schemas.microsoft.com/office/drawing/2014/main" id="{5076514C-B246-48EA-A456-5187B03F66FD}"/>
              </a:ext>
            </a:extLst>
          </p:cNvPr>
          <p:cNvSpPr>
            <a:spLocks noGrp="1"/>
          </p:cNvSpPr>
          <p:nvPr>
            <p:ph type="sldNum" sz="quarter" idx="4"/>
          </p:nvPr>
        </p:nvSpPr>
        <p:spPr>
          <a:xfrm>
            <a:off x="6878865" y="639989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IN" dirty="0"/>
              <a:t>3-</a:t>
            </a:r>
            <a:fld id="{EA2AA6B4-85BE-4F94-8943-E615592FD67D}" type="slidenum">
              <a:rPr lang="en-IN" smtClean="0"/>
              <a:pPr/>
              <a:t>‹#›</a:t>
            </a:fld>
            <a:endParaRPr lang="en-IN" dirty="0"/>
          </a:p>
        </p:txBody>
      </p:sp>
    </p:spTree>
    <p:extLst>
      <p:ext uri="{BB962C8B-B14F-4D97-AF65-F5344CB8AC3E}">
        <p14:creationId xmlns:p14="http://schemas.microsoft.com/office/powerpoint/2010/main" val="33609561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64820"/>
            <a:ext cx="8229600" cy="1097280"/>
          </a:xfrm>
        </p:spPr>
        <p:txBody>
          <a:bodyPr/>
          <a:lstStyle>
            <a:lvl1pPr algn="ctr">
              <a:defRPr/>
            </a:lvl1pPr>
          </a:lstStyle>
          <a:p>
            <a:r>
              <a:rPr lang="en-US"/>
              <a:t>Click to edit Master title style</a:t>
            </a:r>
            <a:endParaRPr lang="en-US" dirty="0"/>
          </a:p>
        </p:txBody>
      </p:sp>
      <p:sp>
        <p:nvSpPr>
          <p:cNvPr id="3" name="Content Placeholder 2"/>
          <p:cNvSpPr>
            <a:spLocks noGrp="1"/>
          </p:cNvSpPr>
          <p:nvPr>
            <p:ph idx="1"/>
          </p:nvPr>
        </p:nvSpPr>
        <p:spPr>
          <a:xfrm>
            <a:off x="94590" y="6283715"/>
            <a:ext cx="6400800" cy="228600"/>
          </a:xfrm>
          <a:prstGeom prst="roundRect">
            <a:avLst/>
          </a:prstGeom>
          <a:solidFill>
            <a:srgbClr val="FFFFCC"/>
          </a:solidFill>
          <a:ln>
            <a:solidFill>
              <a:srgbClr val="385D8A"/>
            </a:solidFill>
          </a:ln>
        </p:spPr>
        <p:txBody>
          <a:bodyPr anchor="ctr">
            <a:noAutofit/>
          </a:bodyPr>
          <a:lstStyle>
            <a:lvl1pPr marL="0" indent="0">
              <a:buNone/>
              <a:defRPr sz="1100">
                <a:latin typeface="Arial" panose="020B0604020202020204" pitchFamily="34" charset="0"/>
                <a:cs typeface="Arial" panose="020B0604020202020204" pitchFamily="34" charset="0"/>
              </a:defRPr>
            </a:lvl1pPr>
          </a:lstStyle>
          <a:p>
            <a:pPr lvl="0"/>
            <a:r>
              <a:rPr lang="en-US" dirty="0"/>
              <a:t>Edit Master text styles</a:t>
            </a:r>
          </a:p>
        </p:txBody>
      </p:sp>
      <p:sp>
        <p:nvSpPr>
          <p:cNvPr id="7" name="Content Placeholder 4">
            <a:extLst>
              <a:ext uri="{FF2B5EF4-FFF2-40B4-BE49-F238E27FC236}">
                <a16:creationId xmlns:a16="http://schemas.microsoft.com/office/drawing/2014/main" id="{5ECC0792-B157-4B27-9892-85462B7C4466}"/>
              </a:ext>
            </a:extLst>
          </p:cNvPr>
          <p:cNvSpPr>
            <a:spLocks noGrp="1"/>
          </p:cNvSpPr>
          <p:nvPr>
            <p:ph idx="13"/>
          </p:nvPr>
        </p:nvSpPr>
        <p:spPr>
          <a:xfrm>
            <a:off x="457200" y="1854082"/>
            <a:ext cx="8229600" cy="914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a:extLst>
              <a:ext uri="{FF2B5EF4-FFF2-40B4-BE49-F238E27FC236}">
                <a16:creationId xmlns:a16="http://schemas.microsoft.com/office/drawing/2014/main" id="{1AC98968-E04F-4831-B7C9-458C14388AAB}"/>
              </a:ext>
            </a:extLst>
          </p:cNvPr>
          <p:cNvSpPr>
            <a:spLocks noGrp="1"/>
          </p:cNvSpPr>
          <p:nvPr>
            <p:ph idx="14"/>
          </p:nvPr>
        </p:nvSpPr>
        <p:spPr>
          <a:xfrm>
            <a:off x="457200" y="3162619"/>
            <a:ext cx="8229600" cy="914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4">
            <a:extLst>
              <a:ext uri="{FF2B5EF4-FFF2-40B4-BE49-F238E27FC236}">
                <a16:creationId xmlns:a16="http://schemas.microsoft.com/office/drawing/2014/main" id="{6FFE69BC-60A4-478A-B3CF-FC9116F5842C}"/>
              </a:ext>
            </a:extLst>
          </p:cNvPr>
          <p:cNvSpPr>
            <a:spLocks noGrp="1"/>
          </p:cNvSpPr>
          <p:nvPr>
            <p:ph idx="15"/>
          </p:nvPr>
        </p:nvSpPr>
        <p:spPr>
          <a:xfrm>
            <a:off x="457200" y="4471155"/>
            <a:ext cx="8229600" cy="914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Appendix Link">
            <a:extLst>
              <a:ext uri="{FF2B5EF4-FFF2-40B4-BE49-F238E27FC236}">
                <a16:creationId xmlns:a16="http://schemas.microsoft.com/office/drawing/2014/main" id="{75F1B542-2B21-4B85-9F28-02E9FF54DF89}"/>
              </a:ext>
            </a:extLst>
          </p:cNvPr>
          <p:cNvSpPr>
            <a:spLocks noGrp="1"/>
          </p:cNvSpPr>
          <p:nvPr>
            <p:ph type="body" sz="quarter" idx="40" hasCustomPrompt="1"/>
          </p:nvPr>
        </p:nvSpPr>
        <p:spPr>
          <a:xfrm>
            <a:off x="3200400" y="6626787"/>
            <a:ext cx="2743200" cy="192024"/>
          </a:xfrm>
        </p:spPr>
        <p:txBody>
          <a:bodyPr anchor="ctr">
            <a:noAutofit/>
          </a:bodyPr>
          <a:lstStyle>
            <a:lvl1pPr marL="0" indent="0" algn="ctr">
              <a:buNone/>
              <a:defRPr sz="1200"/>
            </a:lvl1pPr>
          </a:lstStyle>
          <a:p>
            <a:pPr lvl="0"/>
            <a:r>
              <a:rPr lang="en-US" dirty="0"/>
              <a:t>Add text alternative link, if needed.</a:t>
            </a:r>
          </a:p>
        </p:txBody>
      </p:sp>
      <p:sp>
        <p:nvSpPr>
          <p:cNvPr id="6" name="Slide Number Placeholder 6"/>
          <p:cNvSpPr>
            <a:spLocks noGrp="1"/>
          </p:cNvSpPr>
          <p:nvPr>
            <p:ph type="sldNum" sz="quarter" idx="12"/>
          </p:nvPr>
        </p:nvSpPr>
        <p:spPr/>
        <p:txBody>
          <a:bodyPr/>
          <a:lstStyle/>
          <a:p>
            <a:r>
              <a:rPr lang="en-IN" dirty="0"/>
              <a:t>3-</a:t>
            </a:r>
            <a:fld id="{EA2AA6B4-85BE-4F94-8943-E615592FD67D}" type="slidenum">
              <a:rPr lang="en-IN" smtClean="0"/>
              <a:pPr/>
              <a:t>‹#›</a:t>
            </a:fld>
            <a:endParaRPr lang="en-IN" dirty="0"/>
          </a:p>
        </p:txBody>
      </p:sp>
    </p:spTree>
    <p:extLst>
      <p:ext uri="{BB962C8B-B14F-4D97-AF65-F5344CB8AC3E}">
        <p14:creationId xmlns:p14="http://schemas.microsoft.com/office/powerpoint/2010/main" val="25887985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64820"/>
            <a:ext cx="8229600" cy="1097280"/>
          </a:xfrm>
        </p:spPr>
        <p:txBody>
          <a:bodyPr/>
          <a:lstStyle>
            <a:lvl1pPr algn="ctr">
              <a:defRPr/>
            </a:lvl1pPr>
          </a:lstStyle>
          <a:p>
            <a:r>
              <a:rPr lang="en-US"/>
              <a:t>Click to edit Master title style</a:t>
            </a:r>
            <a:endParaRPr lang="en-US" dirty="0"/>
          </a:p>
        </p:txBody>
      </p:sp>
      <p:sp>
        <p:nvSpPr>
          <p:cNvPr id="3" name="Content Placeholder 2"/>
          <p:cNvSpPr>
            <a:spLocks noGrp="1"/>
          </p:cNvSpPr>
          <p:nvPr>
            <p:ph idx="1"/>
          </p:nvPr>
        </p:nvSpPr>
        <p:spPr>
          <a:xfrm>
            <a:off x="94590" y="6283715"/>
            <a:ext cx="6400800" cy="228600"/>
          </a:xfrm>
          <a:prstGeom prst="roundRect">
            <a:avLst/>
          </a:prstGeom>
          <a:solidFill>
            <a:srgbClr val="FFFFCC"/>
          </a:solidFill>
          <a:ln>
            <a:solidFill>
              <a:srgbClr val="385D8A"/>
            </a:solidFill>
          </a:ln>
        </p:spPr>
        <p:txBody>
          <a:bodyPr anchor="ctr">
            <a:noAutofit/>
          </a:bodyPr>
          <a:lstStyle>
            <a:lvl1pPr marL="0" indent="0">
              <a:buNone/>
              <a:defRPr sz="1100">
                <a:latin typeface="Arial" panose="020B0604020202020204" pitchFamily="34" charset="0"/>
                <a:cs typeface="Arial" panose="020B0604020202020204" pitchFamily="34" charset="0"/>
              </a:defRPr>
            </a:lvl1pPr>
          </a:lstStyle>
          <a:p>
            <a:pPr lvl="0"/>
            <a:r>
              <a:rPr lang="en-US" dirty="0"/>
              <a:t>Edit Master text styles</a:t>
            </a:r>
          </a:p>
        </p:txBody>
      </p:sp>
      <p:sp>
        <p:nvSpPr>
          <p:cNvPr id="7" name="Content Placeholder 4">
            <a:extLst>
              <a:ext uri="{FF2B5EF4-FFF2-40B4-BE49-F238E27FC236}">
                <a16:creationId xmlns:a16="http://schemas.microsoft.com/office/drawing/2014/main" id="{5ECC0792-B157-4B27-9892-85462B7C4466}"/>
              </a:ext>
            </a:extLst>
          </p:cNvPr>
          <p:cNvSpPr>
            <a:spLocks noGrp="1"/>
          </p:cNvSpPr>
          <p:nvPr>
            <p:ph idx="13"/>
          </p:nvPr>
        </p:nvSpPr>
        <p:spPr>
          <a:xfrm>
            <a:off x="457200" y="1854083"/>
            <a:ext cx="8229600" cy="548640"/>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a:extLst>
              <a:ext uri="{FF2B5EF4-FFF2-40B4-BE49-F238E27FC236}">
                <a16:creationId xmlns:a16="http://schemas.microsoft.com/office/drawing/2014/main" id="{1AC98968-E04F-4831-B7C9-458C14388AAB}"/>
              </a:ext>
            </a:extLst>
          </p:cNvPr>
          <p:cNvSpPr>
            <a:spLocks noGrp="1"/>
          </p:cNvSpPr>
          <p:nvPr>
            <p:ph idx="14"/>
          </p:nvPr>
        </p:nvSpPr>
        <p:spPr>
          <a:xfrm>
            <a:off x="457200" y="2542636"/>
            <a:ext cx="8229600" cy="548640"/>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4">
            <a:extLst>
              <a:ext uri="{FF2B5EF4-FFF2-40B4-BE49-F238E27FC236}">
                <a16:creationId xmlns:a16="http://schemas.microsoft.com/office/drawing/2014/main" id="{6FFE69BC-60A4-478A-B3CF-FC9116F5842C}"/>
              </a:ext>
            </a:extLst>
          </p:cNvPr>
          <p:cNvSpPr>
            <a:spLocks noGrp="1"/>
          </p:cNvSpPr>
          <p:nvPr>
            <p:ph idx="15"/>
          </p:nvPr>
        </p:nvSpPr>
        <p:spPr>
          <a:xfrm>
            <a:off x="457200" y="3231189"/>
            <a:ext cx="8229600" cy="548640"/>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a:extLst>
              <a:ext uri="{FF2B5EF4-FFF2-40B4-BE49-F238E27FC236}">
                <a16:creationId xmlns:a16="http://schemas.microsoft.com/office/drawing/2014/main" id="{27EC1D59-23CE-43B3-94C8-4183D8E0CCA5}"/>
              </a:ext>
            </a:extLst>
          </p:cNvPr>
          <p:cNvSpPr>
            <a:spLocks noGrp="1"/>
          </p:cNvSpPr>
          <p:nvPr>
            <p:ph idx="16"/>
          </p:nvPr>
        </p:nvSpPr>
        <p:spPr>
          <a:xfrm>
            <a:off x="457200" y="3919742"/>
            <a:ext cx="8229600" cy="548640"/>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5">
            <a:extLst>
              <a:ext uri="{FF2B5EF4-FFF2-40B4-BE49-F238E27FC236}">
                <a16:creationId xmlns:a16="http://schemas.microsoft.com/office/drawing/2014/main" id="{CA28BFAE-6304-40E3-A668-3524128D75FD}"/>
              </a:ext>
            </a:extLst>
          </p:cNvPr>
          <p:cNvSpPr>
            <a:spLocks noGrp="1"/>
          </p:cNvSpPr>
          <p:nvPr>
            <p:ph idx="17"/>
          </p:nvPr>
        </p:nvSpPr>
        <p:spPr>
          <a:xfrm>
            <a:off x="457200" y="4608295"/>
            <a:ext cx="8229600" cy="548640"/>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5">
            <a:extLst>
              <a:ext uri="{FF2B5EF4-FFF2-40B4-BE49-F238E27FC236}">
                <a16:creationId xmlns:a16="http://schemas.microsoft.com/office/drawing/2014/main" id="{5DC4F1F7-0BE8-4B97-95E4-6B236DE0F670}"/>
              </a:ext>
            </a:extLst>
          </p:cNvPr>
          <p:cNvSpPr>
            <a:spLocks noGrp="1"/>
          </p:cNvSpPr>
          <p:nvPr>
            <p:ph idx="18"/>
          </p:nvPr>
        </p:nvSpPr>
        <p:spPr>
          <a:xfrm>
            <a:off x="457200" y="5296846"/>
            <a:ext cx="8229600" cy="548640"/>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Appendix Link">
            <a:extLst>
              <a:ext uri="{FF2B5EF4-FFF2-40B4-BE49-F238E27FC236}">
                <a16:creationId xmlns:a16="http://schemas.microsoft.com/office/drawing/2014/main" id="{2713E5DD-B19B-46A8-BEDF-1220E9179F10}"/>
              </a:ext>
            </a:extLst>
          </p:cNvPr>
          <p:cNvSpPr>
            <a:spLocks noGrp="1"/>
          </p:cNvSpPr>
          <p:nvPr>
            <p:ph type="body" sz="quarter" idx="40" hasCustomPrompt="1"/>
          </p:nvPr>
        </p:nvSpPr>
        <p:spPr>
          <a:xfrm>
            <a:off x="3200400" y="6626787"/>
            <a:ext cx="2743200" cy="192024"/>
          </a:xfrm>
        </p:spPr>
        <p:txBody>
          <a:bodyPr anchor="ctr">
            <a:noAutofit/>
          </a:bodyPr>
          <a:lstStyle>
            <a:lvl1pPr marL="0" indent="0" algn="ctr">
              <a:buNone/>
              <a:defRPr sz="1200"/>
            </a:lvl1pPr>
          </a:lstStyle>
          <a:p>
            <a:pPr lvl="0"/>
            <a:r>
              <a:rPr lang="en-US" dirty="0"/>
              <a:t>Add text alternative link, if needed.</a:t>
            </a:r>
          </a:p>
        </p:txBody>
      </p:sp>
      <p:sp>
        <p:nvSpPr>
          <p:cNvPr id="6" name="Slide Number Placeholder 6"/>
          <p:cNvSpPr>
            <a:spLocks noGrp="1"/>
          </p:cNvSpPr>
          <p:nvPr>
            <p:ph type="sldNum" sz="quarter" idx="12"/>
          </p:nvPr>
        </p:nvSpPr>
        <p:spPr/>
        <p:txBody>
          <a:bodyPr/>
          <a:lstStyle/>
          <a:p>
            <a:r>
              <a:rPr lang="en-IN" dirty="0"/>
              <a:t>3-</a:t>
            </a:r>
            <a:fld id="{EA2AA6B4-85BE-4F94-8943-E615592FD67D}" type="slidenum">
              <a:rPr lang="en-IN" smtClean="0"/>
              <a:pPr/>
              <a:t>‹#›</a:t>
            </a:fld>
            <a:endParaRPr lang="en-IN" dirty="0"/>
          </a:p>
        </p:txBody>
      </p:sp>
    </p:spTree>
    <p:extLst>
      <p:ext uri="{BB962C8B-B14F-4D97-AF65-F5344CB8AC3E}">
        <p14:creationId xmlns:p14="http://schemas.microsoft.com/office/powerpoint/2010/main" val="39039845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1" name="Rectangle 10"/>
          <p:cNvSpPr/>
          <p:nvPr/>
        </p:nvSpPr>
        <p:spPr>
          <a:xfrm>
            <a:off x="544551" y="5440681"/>
            <a:ext cx="5358384" cy="283464"/>
          </a:xfrm>
          <a:prstGeom prst="rect">
            <a:avLst/>
          </a:prstGeom>
          <a:solidFill>
            <a:srgbClr val="78BE2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81000" y="152400"/>
            <a:ext cx="6705600" cy="1576039"/>
          </a:xfrm>
        </p:spPr>
        <p:txBody>
          <a:bodyPr/>
          <a:lstStyle>
            <a:lvl1pPr>
              <a:defRPr>
                <a:solidFill>
                  <a:schemeClr val="tx1"/>
                </a:solidFill>
              </a:defRPr>
            </a:lvl1pPr>
          </a:lstStyle>
          <a:p>
            <a:r>
              <a:t>Click to edit Master title style</a:t>
            </a:r>
          </a:p>
        </p:txBody>
      </p:sp>
      <p:sp>
        <p:nvSpPr>
          <p:cNvPr id="3" name="Subtitle 2"/>
          <p:cNvSpPr>
            <a:spLocks noGrp="1"/>
          </p:cNvSpPr>
          <p:nvPr>
            <p:ph type="subTitle" idx="1" hasCustomPrompt="1"/>
          </p:nvPr>
        </p:nvSpPr>
        <p:spPr>
          <a:xfrm>
            <a:off x="381000" y="1784196"/>
            <a:ext cx="6705600" cy="1492404"/>
          </a:xfrm>
        </p:spPr>
        <p:txBody>
          <a:bodyPr/>
          <a:lstStyle>
            <a:lvl1pPr marL="0" indent="0" algn="l">
              <a:spcBef>
                <a:spcPts val="0"/>
              </a:spcBef>
              <a:buNone/>
              <a:defRPr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Presenter’s name,</a:t>
            </a:r>
            <a:br>
              <a:rPr/>
            </a:br>
            <a:r>
              <a:t>Presenter’s title, </a:t>
            </a:r>
            <a:br>
              <a:rPr/>
            </a:br>
            <a:r>
              <a:t>dd Month yyyy</a:t>
            </a:r>
          </a:p>
        </p:txBody>
      </p:sp>
      <p:sp>
        <p:nvSpPr>
          <p:cNvPr id="8" name="Rectangle 7"/>
          <p:cNvSpPr/>
          <p:nvPr/>
        </p:nvSpPr>
        <p:spPr>
          <a:xfrm>
            <a:off x="0" y="4595768"/>
            <a:ext cx="9144000" cy="283464"/>
          </a:xfrm>
          <a:prstGeom prst="rect">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981200" y="4879232"/>
            <a:ext cx="5358384" cy="283464"/>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0" y="5162696"/>
            <a:ext cx="9144000" cy="28346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0" y="5724145"/>
            <a:ext cx="9144000" cy="283464"/>
          </a:xfrm>
          <a:prstGeom prst="rect">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210666" y="6007609"/>
            <a:ext cx="4933334" cy="283464"/>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0" y="6291073"/>
            <a:ext cx="9144000" cy="283464"/>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p:nvSpPr>
        <p:spPr>
          <a:xfrm>
            <a:off x="3048000" y="6574536"/>
            <a:ext cx="5358384" cy="283464"/>
          </a:xfrm>
          <a:prstGeom prst="rect">
            <a:avLst/>
          </a:prstGeom>
          <a:solidFill>
            <a:srgbClr val="003DA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logo"/>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558028" y="3512462"/>
            <a:ext cx="3090672" cy="666211"/>
          </a:xfrm>
          <a:prstGeom prst="rect">
            <a:avLst/>
          </a:prstGeom>
        </p:spPr>
      </p:pic>
    </p:spTree>
    <p:extLst>
      <p:ext uri="{BB962C8B-B14F-4D97-AF65-F5344CB8AC3E}">
        <p14:creationId xmlns:p14="http://schemas.microsoft.com/office/powerpoint/2010/main" val="84929411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Title Slide Pix1">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14712"/>
            <a:ext cx="9144000" cy="3443288"/>
          </a:xfrm>
          <a:prstGeom prst="rect">
            <a:avLst/>
          </a:prstGeom>
        </p:spPr>
      </p:pic>
      <p:sp>
        <p:nvSpPr>
          <p:cNvPr id="2" name="Title 1"/>
          <p:cNvSpPr>
            <a:spLocks noGrp="1"/>
          </p:cNvSpPr>
          <p:nvPr>
            <p:ph type="ctrTitle"/>
          </p:nvPr>
        </p:nvSpPr>
        <p:spPr>
          <a:xfrm>
            <a:off x="381000" y="152400"/>
            <a:ext cx="6705600" cy="1576039"/>
          </a:xfrm>
        </p:spPr>
        <p:txBody>
          <a:bodyPr/>
          <a:lstStyle/>
          <a:p>
            <a:r>
              <a:t>Click to edit Master title style</a:t>
            </a:r>
          </a:p>
        </p:txBody>
      </p:sp>
      <p:sp>
        <p:nvSpPr>
          <p:cNvPr id="3" name="Subtitle 2"/>
          <p:cNvSpPr>
            <a:spLocks noGrp="1"/>
          </p:cNvSpPr>
          <p:nvPr>
            <p:ph type="subTitle" idx="1" hasCustomPrompt="1"/>
          </p:nvPr>
        </p:nvSpPr>
        <p:spPr>
          <a:xfrm>
            <a:off x="381000" y="1784195"/>
            <a:ext cx="4724400" cy="1417320"/>
          </a:xfrm>
        </p:spPr>
        <p:txBody>
          <a:bodyPr/>
          <a:lstStyle>
            <a:lvl1pPr marL="0" indent="0" algn="l">
              <a:spcBef>
                <a:spcPts val="0"/>
              </a:spcBef>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Presenter’s name,</a:t>
            </a:r>
            <a:br>
              <a:rPr/>
            </a:br>
            <a:r>
              <a:t>Presenter’s title,</a:t>
            </a:r>
            <a:br>
              <a:rPr/>
            </a:br>
            <a:r>
              <a:t>dd Month yyyy</a:t>
            </a:r>
          </a:p>
        </p:txBody>
      </p:sp>
      <p:pic>
        <p:nvPicPr>
          <p:cNvPr id="18" name="logo"/>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562600" y="2314416"/>
            <a:ext cx="3086100" cy="665798"/>
          </a:xfrm>
          <a:prstGeom prst="rect">
            <a:avLst/>
          </a:prstGeom>
        </p:spPr>
      </p:pic>
    </p:spTree>
    <p:extLst>
      <p:ext uri="{BB962C8B-B14F-4D97-AF65-F5344CB8AC3E}">
        <p14:creationId xmlns:p14="http://schemas.microsoft.com/office/powerpoint/2010/main" val="6456599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ix2">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52400"/>
            <a:ext cx="6705600" cy="1576039"/>
          </a:xfrm>
        </p:spPr>
        <p:txBody>
          <a:bodyPr/>
          <a:lstStyle/>
          <a:p>
            <a:r>
              <a:t>Click to edit Master title style</a:t>
            </a:r>
          </a:p>
        </p:txBody>
      </p:sp>
      <p:sp>
        <p:nvSpPr>
          <p:cNvPr id="3" name="Subtitle 2"/>
          <p:cNvSpPr>
            <a:spLocks noGrp="1"/>
          </p:cNvSpPr>
          <p:nvPr>
            <p:ph type="subTitle" idx="1" hasCustomPrompt="1"/>
          </p:nvPr>
        </p:nvSpPr>
        <p:spPr>
          <a:xfrm>
            <a:off x="381000" y="1784195"/>
            <a:ext cx="4724400" cy="1417320"/>
          </a:xfrm>
        </p:spPr>
        <p:txBody>
          <a:bodyPr/>
          <a:lstStyle>
            <a:lvl1pPr marL="0" indent="0" algn="l">
              <a:spcBef>
                <a:spcPts val="0"/>
              </a:spcBef>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Presenter’s name,</a:t>
            </a:r>
            <a:br>
              <a:rPr/>
            </a:br>
            <a:r>
              <a:t>Presenter’s title,</a:t>
            </a:r>
            <a:br>
              <a:rPr/>
            </a:br>
            <a:r>
              <a:t>dd Month yyyy</a:t>
            </a:r>
          </a:p>
        </p:txBody>
      </p:sp>
      <p:pic>
        <p:nvPicPr>
          <p:cNvPr id="18" name="logo"/>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562600" y="2314416"/>
            <a:ext cx="3086100" cy="66579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14712"/>
            <a:ext cx="9144000" cy="3443288"/>
          </a:xfrm>
          <a:prstGeom prst="rect">
            <a:avLst/>
          </a:prstGeom>
        </p:spPr>
      </p:pic>
    </p:spTree>
    <p:extLst>
      <p:ext uri="{BB962C8B-B14F-4D97-AF65-F5344CB8AC3E}">
        <p14:creationId xmlns:p14="http://schemas.microsoft.com/office/powerpoint/2010/main" val="17969082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Slide Pix3">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52400"/>
            <a:ext cx="6705600" cy="1576039"/>
          </a:xfrm>
        </p:spPr>
        <p:txBody>
          <a:bodyPr/>
          <a:lstStyle/>
          <a:p>
            <a:r>
              <a:t>Click to edit Master title style</a:t>
            </a:r>
          </a:p>
        </p:txBody>
      </p:sp>
      <p:sp>
        <p:nvSpPr>
          <p:cNvPr id="3" name="Subtitle 2"/>
          <p:cNvSpPr>
            <a:spLocks noGrp="1"/>
          </p:cNvSpPr>
          <p:nvPr>
            <p:ph type="subTitle" idx="1" hasCustomPrompt="1"/>
          </p:nvPr>
        </p:nvSpPr>
        <p:spPr>
          <a:xfrm>
            <a:off x="381000" y="1784195"/>
            <a:ext cx="4724400" cy="1417320"/>
          </a:xfrm>
        </p:spPr>
        <p:txBody>
          <a:bodyPr/>
          <a:lstStyle>
            <a:lvl1pPr marL="0" indent="0" algn="l">
              <a:spcBef>
                <a:spcPts val="0"/>
              </a:spcBef>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Presenter’s name,</a:t>
            </a:r>
            <a:br>
              <a:rPr/>
            </a:br>
            <a:r>
              <a:t>Presenter’s title,</a:t>
            </a:r>
            <a:br>
              <a:rPr/>
            </a:br>
            <a:r>
              <a:t>dd Month yyyy</a:t>
            </a:r>
          </a:p>
        </p:txBody>
      </p:sp>
      <p:pic>
        <p:nvPicPr>
          <p:cNvPr id="18" name="logo"/>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562600" y="2314416"/>
            <a:ext cx="3086100" cy="66579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14712"/>
            <a:ext cx="9144000" cy="3443288"/>
          </a:xfrm>
          <a:prstGeom prst="rect">
            <a:avLst/>
          </a:prstGeom>
        </p:spPr>
      </p:pic>
    </p:spTree>
    <p:extLst>
      <p:ext uri="{BB962C8B-B14F-4D97-AF65-F5344CB8AC3E}">
        <p14:creationId xmlns:p14="http://schemas.microsoft.com/office/powerpoint/2010/main" val="7052356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with 3 Pix (v1)">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52400"/>
            <a:ext cx="6705600" cy="1576039"/>
          </a:xfrm>
        </p:spPr>
        <p:txBody>
          <a:bodyPr/>
          <a:lstStyle/>
          <a:p>
            <a:r>
              <a:t>Click to edit Master title style</a:t>
            </a:r>
          </a:p>
        </p:txBody>
      </p:sp>
      <p:sp>
        <p:nvSpPr>
          <p:cNvPr id="3" name="Subtitle 2"/>
          <p:cNvSpPr>
            <a:spLocks noGrp="1"/>
          </p:cNvSpPr>
          <p:nvPr>
            <p:ph type="subTitle" idx="1" hasCustomPrompt="1"/>
          </p:nvPr>
        </p:nvSpPr>
        <p:spPr>
          <a:xfrm>
            <a:off x="381000" y="1784195"/>
            <a:ext cx="4724400" cy="1416205"/>
          </a:xfrm>
        </p:spPr>
        <p:txBody>
          <a:bodyPr/>
          <a:lstStyle>
            <a:lvl1pPr marL="0" indent="0" algn="l">
              <a:spcBef>
                <a:spcPts val="0"/>
              </a:spcBef>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Presenter’s name,</a:t>
            </a:r>
            <a:br>
              <a:rPr/>
            </a:br>
            <a:r>
              <a:t>Presenter’s title,</a:t>
            </a:r>
            <a:br>
              <a:rPr/>
            </a:br>
            <a:r>
              <a:t>dd Month yyyy</a:t>
            </a:r>
          </a:p>
        </p:txBody>
      </p:sp>
      <p:pic>
        <p:nvPicPr>
          <p:cNvPr id="18" name="logo"/>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562600" y="2314416"/>
            <a:ext cx="3086100" cy="665798"/>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29000"/>
            <a:ext cx="9144000" cy="11430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715000"/>
            <a:ext cx="7736682" cy="114300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58200" y="4572000"/>
            <a:ext cx="6765129" cy="1143000"/>
          </a:xfrm>
          <a:prstGeom prst="rect">
            <a:avLst/>
          </a:prstGeom>
        </p:spPr>
      </p:pic>
    </p:spTree>
    <p:extLst>
      <p:ext uri="{BB962C8B-B14F-4D97-AF65-F5344CB8AC3E}">
        <p14:creationId xmlns:p14="http://schemas.microsoft.com/office/powerpoint/2010/main" val="42187270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with 3 Pix (v2)">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52400"/>
            <a:ext cx="6705600" cy="1576039"/>
          </a:xfrm>
        </p:spPr>
        <p:txBody>
          <a:bodyPr/>
          <a:lstStyle/>
          <a:p>
            <a:r>
              <a:t>Click to edit Master title style</a:t>
            </a:r>
          </a:p>
        </p:txBody>
      </p:sp>
      <p:sp>
        <p:nvSpPr>
          <p:cNvPr id="3" name="Subtitle 2"/>
          <p:cNvSpPr>
            <a:spLocks noGrp="1"/>
          </p:cNvSpPr>
          <p:nvPr>
            <p:ph type="subTitle" idx="1" hasCustomPrompt="1"/>
          </p:nvPr>
        </p:nvSpPr>
        <p:spPr>
          <a:xfrm>
            <a:off x="381000" y="1784195"/>
            <a:ext cx="4724400" cy="1416205"/>
          </a:xfrm>
        </p:spPr>
        <p:txBody>
          <a:bodyPr/>
          <a:lstStyle>
            <a:lvl1pPr marL="0" indent="0" algn="l">
              <a:spcBef>
                <a:spcPts val="0"/>
              </a:spcBef>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Presenter’s name,</a:t>
            </a:r>
            <a:br>
              <a:rPr/>
            </a:br>
            <a:r>
              <a:t>Presenter’s title,</a:t>
            </a:r>
            <a:br>
              <a:rPr/>
            </a:br>
            <a:r>
              <a:t>dd Month yyyy</a:t>
            </a:r>
          </a:p>
        </p:txBody>
      </p:sp>
      <p:pic>
        <p:nvPicPr>
          <p:cNvPr id="18" name="logo"/>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562600" y="2314416"/>
            <a:ext cx="3086100" cy="66579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5064" y="4572000"/>
            <a:ext cx="6765130" cy="11430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29000"/>
            <a:ext cx="9144000" cy="114300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715000"/>
            <a:ext cx="7736682" cy="1143000"/>
          </a:xfrm>
          <a:prstGeom prst="rect">
            <a:avLst/>
          </a:prstGeom>
        </p:spPr>
      </p:pic>
    </p:spTree>
    <p:extLst>
      <p:ext uri="{BB962C8B-B14F-4D97-AF65-F5344CB8AC3E}">
        <p14:creationId xmlns:p14="http://schemas.microsoft.com/office/powerpoint/2010/main" val="31783966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with 3 Pix (v3)">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52400"/>
            <a:ext cx="6705600" cy="1576039"/>
          </a:xfrm>
        </p:spPr>
        <p:txBody>
          <a:bodyPr/>
          <a:lstStyle/>
          <a:p>
            <a:r>
              <a:t>Click to edit Master title style</a:t>
            </a:r>
          </a:p>
        </p:txBody>
      </p:sp>
      <p:sp>
        <p:nvSpPr>
          <p:cNvPr id="3" name="Subtitle 2"/>
          <p:cNvSpPr>
            <a:spLocks noGrp="1"/>
          </p:cNvSpPr>
          <p:nvPr>
            <p:ph type="subTitle" idx="1" hasCustomPrompt="1"/>
          </p:nvPr>
        </p:nvSpPr>
        <p:spPr>
          <a:xfrm>
            <a:off x="381000" y="1784195"/>
            <a:ext cx="4724400" cy="1416205"/>
          </a:xfrm>
        </p:spPr>
        <p:txBody>
          <a:bodyPr/>
          <a:lstStyle>
            <a:lvl1pPr marL="0" indent="0" algn="l">
              <a:spcBef>
                <a:spcPts val="0"/>
              </a:spcBef>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Presenter’s name,</a:t>
            </a:r>
            <a:br>
              <a:rPr/>
            </a:br>
            <a:r>
              <a:t>Presenter’s title,</a:t>
            </a:r>
            <a:br>
              <a:rPr/>
            </a:br>
            <a:r>
              <a:t>dd Month yyyy</a:t>
            </a:r>
          </a:p>
        </p:txBody>
      </p:sp>
      <p:pic>
        <p:nvPicPr>
          <p:cNvPr id="18" name="logo"/>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562600" y="2314416"/>
            <a:ext cx="3086100" cy="665798"/>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5064" y="4572000"/>
            <a:ext cx="6765130" cy="11430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29000"/>
            <a:ext cx="9144000" cy="114300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715000"/>
            <a:ext cx="7736682" cy="1143000"/>
          </a:xfrm>
          <a:prstGeom prst="rect">
            <a:avLst/>
          </a:prstGeom>
        </p:spPr>
      </p:pic>
    </p:spTree>
    <p:extLst>
      <p:ext uri="{BB962C8B-B14F-4D97-AF65-F5344CB8AC3E}">
        <p14:creationId xmlns:p14="http://schemas.microsoft.com/office/powerpoint/2010/main" val="23524931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Divider Green">
    <p:bg>
      <p:bgPr>
        <a:solidFill>
          <a:schemeClr val="accent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1" y="2838091"/>
            <a:ext cx="6969368" cy="1352909"/>
          </a:xfrm>
        </p:spPr>
        <p:txBody>
          <a:bodyPr anchor="t">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endParaRP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Copyright © 2013 CFA Institute</a:t>
            </a:r>
            <a:endParaRPr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E4A4924-7CC3-4BF6-9C5C-A8E770D15754}" type="slidenum">
              <a:rPr/>
              <a:pPr/>
              <a:t>‹#›</a:t>
            </a:fld>
            <a:endParaRPr/>
          </a:p>
        </p:txBody>
      </p:sp>
      <p:sp>
        <p:nvSpPr>
          <p:cNvPr id="2" name="Title 1"/>
          <p:cNvSpPr>
            <a:spLocks noGrp="1"/>
          </p:cNvSpPr>
          <p:nvPr>
            <p:ph type="title"/>
          </p:nvPr>
        </p:nvSpPr>
        <p:spPr>
          <a:xfrm>
            <a:off x="381000" y="914400"/>
            <a:ext cx="6969369" cy="1524000"/>
          </a:xfrm>
        </p:spPr>
        <p:txBody>
          <a:bodyPr anchor="b">
            <a:normAutofit/>
          </a:bodyPr>
          <a:lstStyle>
            <a:lvl1pPr algn="l">
              <a:defRPr sz="2800" b="1" cap="all" baseline="0">
                <a:solidFill>
                  <a:schemeClr val="tx1"/>
                </a:solidFill>
              </a:defRPr>
            </a:lvl1pPr>
          </a:lstStyle>
          <a:p>
            <a:r>
              <a:t>Click to edit Master title style</a:t>
            </a:r>
          </a:p>
        </p:txBody>
      </p:sp>
      <p:pic>
        <p:nvPicPr>
          <p:cNvPr id="9" name="slu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454818" y="6567477"/>
            <a:ext cx="786384" cy="102428"/>
          </a:xfrm>
          <a:prstGeom prst="rect">
            <a:avLst/>
          </a:prstGeom>
        </p:spPr>
      </p:pic>
    </p:spTree>
    <p:extLst>
      <p:ext uri="{BB962C8B-B14F-4D97-AF65-F5344CB8AC3E}">
        <p14:creationId xmlns:p14="http://schemas.microsoft.com/office/powerpoint/2010/main" val="1988801044"/>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Divider Gray">
    <p:bg>
      <p:bgRef idx="1001">
        <a:schemeClr val="bg2"/>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1" y="2838091"/>
            <a:ext cx="6969368" cy="1352909"/>
          </a:xfrm>
        </p:spPr>
        <p:txBody>
          <a:bodyPr anchor="t">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endParaRP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Copyright © 2013 CFA Institute</a:t>
            </a:r>
            <a:endParaRPr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E4A4924-7CC3-4BF6-9C5C-A8E770D15754}" type="slidenum">
              <a:rPr/>
              <a:pPr/>
              <a:t>‹#›</a:t>
            </a:fld>
            <a:endParaRPr/>
          </a:p>
        </p:txBody>
      </p:sp>
      <p:sp>
        <p:nvSpPr>
          <p:cNvPr id="2" name="Title 1"/>
          <p:cNvSpPr>
            <a:spLocks noGrp="1"/>
          </p:cNvSpPr>
          <p:nvPr>
            <p:ph type="title"/>
          </p:nvPr>
        </p:nvSpPr>
        <p:spPr>
          <a:xfrm>
            <a:off x="381000" y="914400"/>
            <a:ext cx="6969369" cy="1524000"/>
          </a:xfrm>
        </p:spPr>
        <p:txBody>
          <a:bodyPr anchor="b">
            <a:normAutofit/>
          </a:bodyPr>
          <a:lstStyle>
            <a:lvl1pPr algn="l">
              <a:defRPr sz="2800" b="1" cap="all" baseline="0">
                <a:solidFill>
                  <a:schemeClr val="tx1"/>
                </a:solidFill>
              </a:defRPr>
            </a:lvl1pPr>
          </a:lstStyle>
          <a:p>
            <a:r>
              <a:t>Click to edit Master title style</a:t>
            </a:r>
          </a:p>
        </p:txBody>
      </p:sp>
      <p:pic>
        <p:nvPicPr>
          <p:cNvPr id="9" name="slu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454818" y="6567477"/>
            <a:ext cx="786384" cy="102428"/>
          </a:xfrm>
          <a:prstGeom prst="rect">
            <a:avLst/>
          </a:prstGeom>
        </p:spPr>
      </p:pic>
    </p:spTree>
    <p:extLst>
      <p:ext uri="{BB962C8B-B14F-4D97-AF65-F5344CB8AC3E}">
        <p14:creationId xmlns:p14="http://schemas.microsoft.com/office/powerpoint/2010/main" val="166173264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secHead" preserve="1">
  <p:cSld name="Divider Stripes">
    <p:spTree>
      <p:nvGrpSpPr>
        <p:cNvPr id="1" name=""/>
        <p:cNvGrpSpPr/>
        <p:nvPr/>
      </p:nvGrpSpPr>
      <p:grpSpPr>
        <a:xfrm>
          <a:off x="0" y="0"/>
          <a:ext cx="0" cy="0"/>
          <a:chOff x="0" y="0"/>
          <a:chExt cx="0" cy="0"/>
        </a:xfrm>
      </p:grpSpPr>
      <p:sp>
        <p:nvSpPr>
          <p:cNvPr id="9" name="Rectangle 8"/>
          <p:cNvSpPr/>
          <p:nvPr/>
        </p:nvSpPr>
        <p:spPr>
          <a:xfrm>
            <a:off x="0" y="848985"/>
            <a:ext cx="9144000" cy="1709928"/>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0" y="2558913"/>
            <a:ext cx="9144000" cy="1709928"/>
          </a:xfrm>
          <a:prstGeom prst="rect">
            <a:avLst/>
          </a:prstGeom>
          <a:solidFill>
            <a:srgbClr val="78BE2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 y="4268841"/>
            <a:ext cx="7350369" cy="1709928"/>
          </a:xfrm>
          <a:prstGeom prst="rect">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0" y="5978770"/>
            <a:ext cx="9144000" cy="879230"/>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5181600" y="0"/>
            <a:ext cx="3962400" cy="848985"/>
          </a:xfrm>
          <a:prstGeom prst="rect">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Text Placeholder 2"/>
          <p:cNvSpPr>
            <a:spLocks noGrp="1"/>
          </p:cNvSpPr>
          <p:nvPr>
            <p:ph type="body" idx="1"/>
          </p:nvPr>
        </p:nvSpPr>
        <p:spPr>
          <a:xfrm>
            <a:off x="381001" y="2838091"/>
            <a:ext cx="6969368" cy="1352909"/>
          </a:xfrm>
        </p:spPr>
        <p:txBody>
          <a:bodyPr anchor="t">
            <a:normAutofit/>
          </a:bodyPr>
          <a:lstStyle>
            <a:lvl1pPr marL="0" indent="0">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bwMode="white"/>
        <p:txBody>
          <a:bodyPr/>
          <a:lstStyle/>
          <a:p>
            <a:endParaRPr/>
          </a:p>
        </p:txBody>
      </p:sp>
      <p:sp>
        <p:nvSpPr>
          <p:cNvPr id="5" name="Footer Placeholder 4"/>
          <p:cNvSpPr>
            <a:spLocks noGrp="1"/>
          </p:cNvSpPr>
          <p:nvPr>
            <p:ph type="ftr" sz="quarter" idx="11"/>
          </p:nvPr>
        </p:nvSpPr>
        <p:spPr bwMode="white"/>
        <p:txBody>
          <a:bodyPr/>
          <a:lstStyle/>
          <a:p>
            <a:r>
              <a:rPr lang="en-US" dirty="0"/>
              <a:t>Copyright © 2013 CFA Institute</a:t>
            </a:r>
            <a:endParaRPr dirty="0"/>
          </a:p>
        </p:txBody>
      </p:sp>
      <p:sp>
        <p:nvSpPr>
          <p:cNvPr id="6" name="Slide Number Placeholder 5"/>
          <p:cNvSpPr>
            <a:spLocks noGrp="1"/>
          </p:cNvSpPr>
          <p:nvPr>
            <p:ph type="sldNum" sz="quarter" idx="12"/>
          </p:nvPr>
        </p:nvSpPr>
        <p:spPr bwMode="white"/>
        <p:txBody>
          <a:bodyPr/>
          <a:lstStyle/>
          <a:p>
            <a:fld id="{4E4A4924-7CC3-4BF6-9C5C-A8E770D15754}" type="slidenum">
              <a:rPr/>
              <a:pPr/>
              <a:t>‹#›</a:t>
            </a:fld>
            <a:endParaRPr/>
          </a:p>
        </p:txBody>
      </p:sp>
      <p:sp>
        <p:nvSpPr>
          <p:cNvPr id="2" name="Title 1"/>
          <p:cNvSpPr>
            <a:spLocks noGrp="1"/>
          </p:cNvSpPr>
          <p:nvPr>
            <p:ph type="title"/>
          </p:nvPr>
        </p:nvSpPr>
        <p:spPr>
          <a:xfrm>
            <a:off x="381000" y="914400"/>
            <a:ext cx="6969369" cy="1524000"/>
          </a:xfrm>
        </p:spPr>
        <p:txBody>
          <a:bodyPr anchor="b">
            <a:normAutofit/>
          </a:bodyPr>
          <a:lstStyle>
            <a:lvl1pPr algn="l">
              <a:defRPr sz="2800" b="1" cap="all" baseline="0">
                <a:solidFill>
                  <a:schemeClr val="bg1"/>
                </a:solidFill>
              </a:defRPr>
            </a:lvl1pPr>
          </a:lstStyle>
          <a:p>
            <a:r>
              <a:t>Click to edit Master title style</a:t>
            </a:r>
          </a:p>
        </p:txBody>
      </p:sp>
      <p:pic>
        <p:nvPicPr>
          <p:cNvPr id="14" name="slu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818" y="6567477"/>
            <a:ext cx="786384" cy="102428"/>
          </a:xfrm>
          <a:prstGeom prst="rect">
            <a:avLst/>
          </a:prstGeom>
        </p:spPr>
      </p:pic>
    </p:spTree>
    <p:extLst>
      <p:ext uri="{BB962C8B-B14F-4D97-AF65-F5344CB8AC3E}">
        <p14:creationId xmlns:p14="http://schemas.microsoft.com/office/powerpoint/2010/main" val="2804079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OC Gree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152400"/>
            <a:ext cx="8375904" cy="1143000"/>
          </a:xfrm>
        </p:spPr>
        <p:txBody>
          <a:bodyPr/>
          <a:lstStyle>
            <a:lvl1pPr>
              <a:defRPr>
                <a:solidFill>
                  <a:schemeClr val="tx1"/>
                </a:solidFill>
              </a:defRPr>
            </a:lvl1pPr>
          </a:lstStyle>
          <a:p>
            <a:r>
              <a:t>Click to add title: Table of Contents, Agenda, etc</a:t>
            </a:r>
          </a:p>
        </p:txBody>
      </p:sp>
      <p:sp>
        <p:nvSpPr>
          <p:cNvPr id="3" name="Date Placeholder 2"/>
          <p:cNvSpPr>
            <a:spLocks noGrp="1"/>
          </p:cNvSpPr>
          <p:nvPr>
            <p:ph type="dt" sz="half" idx="10"/>
          </p:nvPr>
        </p:nvSpPr>
        <p:spPr/>
        <p:txBody>
          <a:bodyPr/>
          <a:lstStyle>
            <a:lvl1pPr>
              <a:defRPr>
                <a:solidFill>
                  <a:schemeClr val="tx1"/>
                </a:solidFill>
              </a:defRPr>
            </a:lvl1pPr>
          </a:lstStyle>
          <a:p>
            <a:endParaRPr/>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dirty="0"/>
              <a:t>Copyright © 2013 CFA Institute</a:t>
            </a:r>
            <a:endParaRPr dirty="0"/>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4E4A4924-7CC3-4BF6-9C5C-A8E770D15754}" type="slidenum">
              <a:rPr/>
              <a:pPr/>
              <a:t>‹#›</a:t>
            </a:fld>
            <a:endParaRPr/>
          </a:p>
        </p:txBody>
      </p:sp>
      <p:sp>
        <p:nvSpPr>
          <p:cNvPr id="7" name="Text Placeholder 6"/>
          <p:cNvSpPr>
            <a:spLocks noGrp="1"/>
          </p:cNvSpPr>
          <p:nvPr>
            <p:ph type="body" sz="quarter" idx="13" hasCustomPrompt="1"/>
          </p:nvPr>
        </p:nvSpPr>
        <p:spPr>
          <a:xfrm>
            <a:off x="381000" y="152280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8" name="Text Placeholder 6"/>
          <p:cNvSpPr>
            <a:spLocks noGrp="1"/>
          </p:cNvSpPr>
          <p:nvPr>
            <p:ph type="body" sz="quarter" idx="14" hasCustomPrompt="1"/>
          </p:nvPr>
        </p:nvSpPr>
        <p:spPr>
          <a:xfrm>
            <a:off x="813762" y="1522809"/>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6" name="Text Placeholder 6"/>
          <p:cNvSpPr>
            <a:spLocks noGrp="1"/>
          </p:cNvSpPr>
          <p:nvPr>
            <p:ph type="body" sz="quarter" idx="15" hasCustomPrompt="1"/>
          </p:nvPr>
        </p:nvSpPr>
        <p:spPr>
          <a:xfrm>
            <a:off x="381000" y="190863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7" name="Text Placeholder 6"/>
          <p:cNvSpPr>
            <a:spLocks noGrp="1"/>
          </p:cNvSpPr>
          <p:nvPr>
            <p:ph type="body" sz="quarter" idx="16" hasCustomPrompt="1"/>
          </p:nvPr>
        </p:nvSpPr>
        <p:spPr>
          <a:xfrm>
            <a:off x="813762" y="1908639"/>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8" name="Text Placeholder 6"/>
          <p:cNvSpPr>
            <a:spLocks noGrp="1"/>
          </p:cNvSpPr>
          <p:nvPr>
            <p:ph type="body" sz="quarter" idx="17" hasCustomPrompt="1"/>
          </p:nvPr>
        </p:nvSpPr>
        <p:spPr>
          <a:xfrm>
            <a:off x="381000" y="229514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9" name="Text Placeholder 6"/>
          <p:cNvSpPr>
            <a:spLocks noGrp="1"/>
          </p:cNvSpPr>
          <p:nvPr>
            <p:ph type="body" sz="quarter" idx="18" hasCustomPrompt="1"/>
          </p:nvPr>
        </p:nvSpPr>
        <p:spPr>
          <a:xfrm>
            <a:off x="813762" y="2295144"/>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0" name="Text Placeholder 6"/>
          <p:cNvSpPr>
            <a:spLocks noGrp="1"/>
          </p:cNvSpPr>
          <p:nvPr>
            <p:ph type="body" sz="quarter" idx="19" hasCustomPrompt="1"/>
          </p:nvPr>
        </p:nvSpPr>
        <p:spPr>
          <a:xfrm>
            <a:off x="381000" y="267919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1" name="Text Placeholder 6"/>
          <p:cNvSpPr>
            <a:spLocks noGrp="1"/>
          </p:cNvSpPr>
          <p:nvPr>
            <p:ph type="body" sz="quarter" idx="20" hasCustomPrompt="1"/>
          </p:nvPr>
        </p:nvSpPr>
        <p:spPr>
          <a:xfrm>
            <a:off x="813762" y="2679192"/>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2" name="Text Placeholder 6"/>
          <p:cNvSpPr>
            <a:spLocks noGrp="1"/>
          </p:cNvSpPr>
          <p:nvPr>
            <p:ph type="body" sz="quarter" idx="21" hasCustomPrompt="1"/>
          </p:nvPr>
        </p:nvSpPr>
        <p:spPr>
          <a:xfrm>
            <a:off x="381000" y="306324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3" name="Text Placeholder 6"/>
          <p:cNvSpPr>
            <a:spLocks noGrp="1"/>
          </p:cNvSpPr>
          <p:nvPr>
            <p:ph type="body" sz="quarter" idx="22" hasCustomPrompt="1"/>
          </p:nvPr>
        </p:nvSpPr>
        <p:spPr>
          <a:xfrm>
            <a:off x="813762" y="3063240"/>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4" name="Text Placeholder 6"/>
          <p:cNvSpPr>
            <a:spLocks noGrp="1"/>
          </p:cNvSpPr>
          <p:nvPr>
            <p:ph type="body" sz="quarter" idx="23" hasCustomPrompt="1"/>
          </p:nvPr>
        </p:nvSpPr>
        <p:spPr>
          <a:xfrm>
            <a:off x="381000" y="3447288"/>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5" name="Text Placeholder 6"/>
          <p:cNvSpPr>
            <a:spLocks noGrp="1"/>
          </p:cNvSpPr>
          <p:nvPr>
            <p:ph type="body" sz="quarter" idx="24" hasCustomPrompt="1"/>
          </p:nvPr>
        </p:nvSpPr>
        <p:spPr>
          <a:xfrm>
            <a:off x="813762" y="3447288"/>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6" name="Text Placeholder 6"/>
          <p:cNvSpPr>
            <a:spLocks noGrp="1"/>
          </p:cNvSpPr>
          <p:nvPr>
            <p:ph type="body" sz="quarter" idx="25" hasCustomPrompt="1"/>
          </p:nvPr>
        </p:nvSpPr>
        <p:spPr>
          <a:xfrm>
            <a:off x="381000" y="3831336"/>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7" name="Text Placeholder 6"/>
          <p:cNvSpPr>
            <a:spLocks noGrp="1"/>
          </p:cNvSpPr>
          <p:nvPr>
            <p:ph type="body" sz="quarter" idx="26" hasCustomPrompt="1"/>
          </p:nvPr>
        </p:nvSpPr>
        <p:spPr>
          <a:xfrm>
            <a:off x="813762" y="3831336"/>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8" name="Text Placeholder 6"/>
          <p:cNvSpPr>
            <a:spLocks noGrp="1"/>
          </p:cNvSpPr>
          <p:nvPr>
            <p:ph type="body" sz="quarter" idx="27" hasCustomPrompt="1"/>
          </p:nvPr>
        </p:nvSpPr>
        <p:spPr>
          <a:xfrm>
            <a:off x="381000" y="421538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9" name="Text Placeholder 6"/>
          <p:cNvSpPr>
            <a:spLocks noGrp="1"/>
          </p:cNvSpPr>
          <p:nvPr>
            <p:ph type="body" sz="quarter" idx="28" hasCustomPrompt="1"/>
          </p:nvPr>
        </p:nvSpPr>
        <p:spPr>
          <a:xfrm>
            <a:off x="813762" y="4215384"/>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0" name="Text Placeholder 6"/>
          <p:cNvSpPr>
            <a:spLocks noGrp="1"/>
          </p:cNvSpPr>
          <p:nvPr>
            <p:ph type="body" sz="quarter" idx="29" hasCustomPrompt="1"/>
          </p:nvPr>
        </p:nvSpPr>
        <p:spPr>
          <a:xfrm>
            <a:off x="381000" y="459943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1" name="Text Placeholder 6"/>
          <p:cNvSpPr>
            <a:spLocks noGrp="1"/>
          </p:cNvSpPr>
          <p:nvPr>
            <p:ph type="body" sz="quarter" idx="30" hasCustomPrompt="1"/>
          </p:nvPr>
        </p:nvSpPr>
        <p:spPr>
          <a:xfrm>
            <a:off x="813762" y="4599432"/>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2" name="Text Placeholder 6"/>
          <p:cNvSpPr>
            <a:spLocks noGrp="1"/>
          </p:cNvSpPr>
          <p:nvPr>
            <p:ph type="body" sz="quarter" idx="31" hasCustomPrompt="1"/>
          </p:nvPr>
        </p:nvSpPr>
        <p:spPr>
          <a:xfrm>
            <a:off x="381000" y="498348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3" name="Text Placeholder 6"/>
          <p:cNvSpPr>
            <a:spLocks noGrp="1"/>
          </p:cNvSpPr>
          <p:nvPr>
            <p:ph type="body" sz="quarter" idx="32" hasCustomPrompt="1"/>
          </p:nvPr>
        </p:nvSpPr>
        <p:spPr>
          <a:xfrm>
            <a:off x="813762" y="4983480"/>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pic>
        <p:nvPicPr>
          <p:cNvPr id="34" name="slu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454818" y="6567477"/>
            <a:ext cx="786384" cy="102428"/>
          </a:xfrm>
          <a:prstGeom prst="rect">
            <a:avLst/>
          </a:prstGeom>
        </p:spPr>
      </p:pic>
    </p:spTree>
    <p:extLst>
      <p:ext uri="{BB962C8B-B14F-4D97-AF65-F5344CB8AC3E}">
        <p14:creationId xmlns:p14="http://schemas.microsoft.com/office/powerpoint/2010/main" val="1917410866"/>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OC Gray">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152400"/>
            <a:ext cx="8375904" cy="1143000"/>
          </a:xfrm>
        </p:spPr>
        <p:txBody>
          <a:bodyPr/>
          <a:lstStyle>
            <a:lvl1pPr>
              <a:defRPr>
                <a:solidFill>
                  <a:schemeClr val="tx1"/>
                </a:solidFill>
              </a:defRPr>
            </a:lvl1pPr>
          </a:lstStyle>
          <a:p>
            <a:r>
              <a:t>Click to add title: Table of Contents, Agenda, etc</a:t>
            </a:r>
          </a:p>
        </p:txBody>
      </p:sp>
      <p:sp>
        <p:nvSpPr>
          <p:cNvPr id="3" name="Date Placeholder 2"/>
          <p:cNvSpPr>
            <a:spLocks noGrp="1"/>
          </p:cNvSpPr>
          <p:nvPr>
            <p:ph type="dt" sz="half" idx="10"/>
          </p:nvPr>
        </p:nvSpPr>
        <p:spPr/>
        <p:txBody>
          <a:bodyPr/>
          <a:lstStyle>
            <a:lvl1pPr>
              <a:defRPr>
                <a:solidFill>
                  <a:schemeClr val="tx1"/>
                </a:solidFill>
              </a:defRPr>
            </a:lvl1pPr>
          </a:lstStyle>
          <a:p>
            <a:endParaRPr/>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dirty="0"/>
              <a:t>Copyright © 2013 CFA Institute</a:t>
            </a:r>
            <a:endParaRPr dirty="0"/>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4E4A4924-7CC3-4BF6-9C5C-A8E770D15754}" type="slidenum">
              <a:rPr/>
              <a:pPr/>
              <a:t>‹#›</a:t>
            </a:fld>
            <a:endParaRPr/>
          </a:p>
        </p:txBody>
      </p:sp>
      <p:sp>
        <p:nvSpPr>
          <p:cNvPr id="7" name="Text Placeholder 6"/>
          <p:cNvSpPr>
            <a:spLocks noGrp="1"/>
          </p:cNvSpPr>
          <p:nvPr>
            <p:ph type="body" sz="quarter" idx="13" hasCustomPrompt="1"/>
          </p:nvPr>
        </p:nvSpPr>
        <p:spPr>
          <a:xfrm>
            <a:off x="381000" y="152280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8" name="Text Placeholder 6"/>
          <p:cNvSpPr>
            <a:spLocks noGrp="1"/>
          </p:cNvSpPr>
          <p:nvPr>
            <p:ph type="body" sz="quarter" idx="14" hasCustomPrompt="1"/>
          </p:nvPr>
        </p:nvSpPr>
        <p:spPr>
          <a:xfrm>
            <a:off x="813762" y="1522809"/>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6" name="Text Placeholder 6"/>
          <p:cNvSpPr>
            <a:spLocks noGrp="1"/>
          </p:cNvSpPr>
          <p:nvPr>
            <p:ph type="body" sz="quarter" idx="15" hasCustomPrompt="1"/>
          </p:nvPr>
        </p:nvSpPr>
        <p:spPr>
          <a:xfrm>
            <a:off x="381000" y="190863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7" name="Text Placeholder 6"/>
          <p:cNvSpPr>
            <a:spLocks noGrp="1"/>
          </p:cNvSpPr>
          <p:nvPr>
            <p:ph type="body" sz="quarter" idx="16" hasCustomPrompt="1"/>
          </p:nvPr>
        </p:nvSpPr>
        <p:spPr>
          <a:xfrm>
            <a:off x="813762" y="1908639"/>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8" name="Text Placeholder 6"/>
          <p:cNvSpPr>
            <a:spLocks noGrp="1"/>
          </p:cNvSpPr>
          <p:nvPr>
            <p:ph type="body" sz="quarter" idx="17" hasCustomPrompt="1"/>
          </p:nvPr>
        </p:nvSpPr>
        <p:spPr>
          <a:xfrm>
            <a:off x="381000" y="229514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9" name="Text Placeholder 6"/>
          <p:cNvSpPr>
            <a:spLocks noGrp="1"/>
          </p:cNvSpPr>
          <p:nvPr>
            <p:ph type="body" sz="quarter" idx="18" hasCustomPrompt="1"/>
          </p:nvPr>
        </p:nvSpPr>
        <p:spPr>
          <a:xfrm>
            <a:off x="813762" y="2295144"/>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0" name="Text Placeholder 6"/>
          <p:cNvSpPr>
            <a:spLocks noGrp="1"/>
          </p:cNvSpPr>
          <p:nvPr>
            <p:ph type="body" sz="quarter" idx="19" hasCustomPrompt="1"/>
          </p:nvPr>
        </p:nvSpPr>
        <p:spPr>
          <a:xfrm>
            <a:off x="381000" y="267919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1" name="Text Placeholder 6"/>
          <p:cNvSpPr>
            <a:spLocks noGrp="1"/>
          </p:cNvSpPr>
          <p:nvPr>
            <p:ph type="body" sz="quarter" idx="20" hasCustomPrompt="1"/>
          </p:nvPr>
        </p:nvSpPr>
        <p:spPr>
          <a:xfrm>
            <a:off x="813762" y="2679192"/>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2" name="Text Placeholder 6"/>
          <p:cNvSpPr>
            <a:spLocks noGrp="1"/>
          </p:cNvSpPr>
          <p:nvPr>
            <p:ph type="body" sz="quarter" idx="21" hasCustomPrompt="1"/>
          </p:nvPr>
        </p:nvSpPr>
        <p:spPr>
          <a:xfrm>
            <a:off x="381000" y="306324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3" name="Text Placeholder 6"/>
          <p:cNvSpPr>
            <a:spLocks noGrp="1"/>
          </p:cNvSpPr>
          <p:nvPr>
            <p:ph type="body" sz="quarter" idx="22" hasCustomPrompt="1"/>
          </p:nvPr>
        </p:nvSpPr>
        <p:spPr>
          <a:xfrm>
            <a:off x="813762" y="3063240"/>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4" name="Text Placeholder 6"/>
          <p:cNvSpPr>
            <a:spLocks noGrp="1"/>
          </p:cNvSpPr>
          <p:nvPr>
            <p:ph type="body" sz="quarter" idx="23" hasCustomPrompt="1"/>
          </p:nvPr>
        </p:nvSpPr>
        <p:spPr>
          <a:xfrm>
            <a:off x="381000" y="3447288"/>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5" name="Text Placeholder 6"/>
          <p:cNvSpPr>
            <a:spLocks noGrp="1"/>
          </p:cNvSpPr>
          <p:nvPr>
            <p:ph type="body" sz="quarter" idx="24" hasCustomPrompt="1"/>
          </p:nvPr>
        </p:nvSpPr>
        <p:spPr>
          <a:xfrm>
            <a:off x="813762" y="3447288"/>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6" name="Text Placeholder 6"/>
          <p:cNvSpPr>
            <a:spLocks noGrp="1"/>
          </p:cNvSpPr>
          <p:nvPr>
            <p:ph type="body" sz="quarter" idx="25" hasCustomPrompt="1"/>
          </p:nvPr>
        </p:nvSpPr>
        <p:spPr>
          <a:xfrm>
            <a:off x="381000" y="3831336"/>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7" name="Text Placeholder 6"/>
          <p:cNvSpPr>
            <a:spLocks noGrp="1"/>
          </p:cNvSpPr>
          <p:nvPr>
            <p:ph type="body" sz="quarter" idx="26" hasCustomPrompt="1"/>
          </p:nvPr>
        </p:nvSpPr>
        <p:spPr>
          <a:xfrm>
            <a:off x="813762" y="3831336"/>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8" name="Text Placeholder 6"/>
          <p:cNvSpPr>
            <a:spLocks noGrp="1"/>
          </p:cNvSpPr>
          <p:nvPr>
            <p:ph type="body" sz="quarter" idx="27" hasCustomPrompt="1"/>
          </p:nvPr>
        </p:nvSpPr>
        <p:spPr>
          <a:xfrm>
            <a:off x="381000" y="421538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9" name="Text Placeholder 6"/>
          <p:cNvSpPr>
            <a:spLocks noGrp="1"/>
          </p:cNvSpPr>
          <p:nvPr>
            <p:ph type="body" sz="quarter" idx="28" hasCustomPrompt="1"/>
          </p:nvPr>
        </p:nvSpPr>
        <p:spPr>
          <a:xfrm>
            <a:off x="813762" y="4215384"/>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0" name="Text Placeholder 6"/>
          <p:cNvSpPr>
            <a:spLocks noGrp="1"/>
          </p:cNvSpPr>
          <p:nvPr>
            <p:ph type="body" sz="quarter" idx="29" hasCustomPrompt="1"/>
          </p:nvPr>
        </p:nvSpPr>
        <p:spPr>
          <a:xfrm>
            <a:off x="381000" y="459943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1" name="Text Placeholder 6"/>
          <p:cNvSpPr>
            <a:spLocks noGrp="1"/>
          </p:cNvSpPr>
          <p:nvPr>
            <p:ph type="body" sz="quarter" idx="30" hasCustomPrompt="1"/>
          </p:nvPr>
        </p:nvSpPr>
        <p:spPr>
          <a:xfrm>
            <a:off x="813762" y="4599432"/>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2" name="Text Placeholder 6"/>
          <p:cNvSpPr>
            <a:spLocks noGrp="1"/>
          </p:cNvSpPr>
          <p:nvPr>
            <p:ph type="body" sz="quarter" idx="31" hasCustomPrompt="1"/>
          </p:nvPr>
        </p:nvSpPr>
        <p:spPr>
          <a:xfrm>
            <a:off x="381000" y="498348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3" name="Text Placeholder 6"/>
          <p:cNvSpPr>
            <a:spLocks noGrp="1"/>
          </p:cNvSpPr>
          <p:nvPr>
            <p:ph type="body" sz="quarter" idx="32" hasCustomPrompt="1"/>
          </p:nvPr>
        </p:nvSpPr>
        <p:spPr>
          <a:xfrm>
            <a:off x="813762" y="4983480"/>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pic>
        <p:nvPicPr>
          <p:cNvPr id="34" name="slu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454818" y="6567477"/>
            <a:ext cx="786384" cy="102428"/>
          </a:xfrm>
          <a:prstGeom prst="rect">
            <a:avLst/>
          </a:prstGeom>
        </p:spPr>
      </p:pic>
    </p:spTree>
    <p:extLst>
      <p:ext uri="{BB962C8B-B14F-4D97-AF65-F5344CB8AC3E}">
        <p14:creationId xmlns:p14="http://schemas.microsoft.com/office/powerpoint/2010/main" val="3961086053"/>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OC with Picture">
    <p:bg bwMode="auto">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 name="Picture 5"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sp>
        <p:nvSpPr>
          <p:cNvPr id="2" name="Title 1"/>
          <p:cNvSpPr>
            <a:spLocks noGrp="1"/>
          </p:cNvSpPr>
          <p:nvPr>
            <p:ph type="title" hasCustomPrompt="1"/>
          </p:nvPr>
        </p:nvSpPr>
        <p:spPr bwMode="white">
          <a:xfrm>
            <a:off x="381000" y="152400"/>
            <a:ext cx="8375904" cy="1143000"/>
          </a:xfrm>
        </p:spPr>
        <p:txBody>
          <a:bodyPr/>
          <a:lstStyle>
            <a:lvl1pPr>
              <a:defRPr>
                <a:solidFill>
                  <a:schemeClr val="tx1"/>
                </a:solidFill>
              </a:defRPr>
            </a:lvl1pPr>
          </a:lstStyle>
          <a:p>
            <a:r>
              <a:t>Click to add title: Table of Contents, Agenda, etc</a:t>
            </a:r>
          </a:p>
        </p:txBody>
      </p:sp>
      <p:sp>
        <p:nvSpPr>
          <p:cNvPr id="3" name="Date Placeholder 2"/>
          <p:cNvSpPr>
            <a:spLocks noGrp="1"/>
          </p:cNvSpPr>
          <p:nvPr>
            <p:ph type="dt" sz="half" idx="10"/>
          </p:nvPr>
        </p:nvSpPr>
        <p:spPr bwMode="white"/>
        <p:txBody>
          <a:bodyPr/>
          <a:lstStyle>
            <a:lvl1pPr>
              <a:defRPr>
                <a:solidFill>
                  <a:schemeClr val="tx1"/>
                </a:solidFill>
              </a:defRPr>
            </a:lvl1pPr>
          </a:lstStyle>
          <a:p>
            <a:endParaRPr/>
          </a:p>
        </p:txBody>
      </p:sp>
      <p:sp>
        <p:nvSpPr>
          <p:cNvPr id="4" name="Footer Placeholder 3"/>
          <p:cNvSpPr>
            <a:spLocks noGrp="1"/>
          </p:cNvSpPr>
          <p:nvPr>
            <p:ph type="ftr" sz="quarter" idx="11"/>
          </p:nvPr>
        </p:nvSpPr>
        <p:spPr bwMode="white"/>
        <p:txBody>
          <a:bodyPr/>
          <a:lstStyle>
            <a:lvl1pPr>
              <a:defRPr>
                <a:solidFill>
                  <a:schemeClr val="tx1"/>
                </a:solidFill>
              </a:defRPr>
            </a:lvl1pPr>
          </a:lstStyle>
          <a:p>
            <a:r>
              <a:rPr lang="en-US" dirty="0"/>
              <a:t>Copyright © 2013 CFA Institute</a:t>
            </a:r>
            <a:endParaRPr dirty="0"/>
          </a:p>
        </p:txBody>
      </p:sp>
      <p:sp>
        <p:nvSpPr>
          <p:cNvPr id="5" name="Slide Number Placeholder 4"/>
          <p:cNvSpPr>
            <a:spLocks noGrp="1"/>
          </p:cNvSpPr>
          <p:nvPr>
            <p:ph type="sldNum" sz="quarter" idx="12"/>
          </p:nvPr>
        </p:nvSpPr>
        <p:spPr bwMode="white"/>
        <p:txBody>
          <a:bodyPr/>
          <a:lstStyle>
            <a:lvl1pPr>
              <a:defRPr>
                <a:solidFill>
                  <a:schemeClr val="tx1"/>
                </a:solidFill>
              </a:defRPr>
            </a:lvl1pPr>
          </a:lstStyle>
          <a:p>
            <a:fld id="{4E4A4924-7CC3-4BF6-9C5C-A8E770D15754}" type="slidenum">
              <a:rPr/>
              <a:pPr/>
              <a:t>‹#›</a:t>
            </a:fld>
            <a:endParaRPr/>
          </a:p>
        </p:txBody>
      </p:sp>
      <p:sp>
        <p:nvSpPr>
          <p:cNvPr id="7" name="Text Placeholder 6"/>
          <p:cNvSpPr>
            <a:spLocks noGrp="1"/>
          </p:cNvSpPr>
          <p:nvPr>
            <p:ph type="body" sz="quarter" idx="13" hasCustomPrompt="1"/>
          </p:nvPr>
        </p:nvSpPr>
        <p:spPr bwMode="white">
          <a:xfrm>
            <a:off x="381000" y="152280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8" name="Text Placeholder 6"/>
          <p:cNvSpPr>
            <a:spLocks noGrp="1"/>
          </p:cNvSpPr>
          <p:nvPr>
            <p:ph type="body" sz="quarter" idx="14" hasCustomPrompt="1"/>
          </p:nvPr>
        </p:nvSpPr>
        <p:spPr bwMode="white">
          <a:xfrm>
            <a:off x="813762" y="1522809"/>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6" name="Text Placeholder 6"/>
          <p:cNvSpPr>
            <a:spLocks noGrp="1"/>
          </p:cNvSpPr>
          <p:nvPr>
            <p:ph type="body" sz="quarter" idx="15" hasCustomPrompt="1"/>
          </p:nvPr>
        </p:nvSpPr>
        <p:spPr bwMode="white">
          <a:xfrm>
            <a:off x="381000" y="190863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7" name="Text Placeholder 6"/>
          <p:cNvSpPr>
            <a:spLocks noGrp="1"/>
          </p:cNvSpPr>
          <p:nvPr>
            <p:ph type="body" sz="quarter" idx="16" hasCustomPrompt="1"/>
          </p:nvPr>
        </p:nvSpPr>
        <p:spPr bwMode="white">
          <a:xfrm>
            <a:off x="813762" y="1908639"/>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8" name="Text Placeholder 6"/>
          <p:cNvSpPr>
            <a:spLocks noGrp="1"/>
          </p:cNvSpPr>
          <p:nvPr>
            <p:ph type="body" sz="quarter" idx="17" hasCustomPrompt="1"/>
          </p:nvPr>
        </p:nvSpPr>
        <p:spPr bwMode="white">
          <a:xfrm>
            <a:off x="381000" y="229514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9" name="Text Placeholder 6"/>
          <p:cNvSpPr>
            <a:spLocks noGrp="1"/>
          </p:cNvSpPr>
          <p:nvPr>
            <p:ph type="body" sz="quarter" idx="18" hasCustomPrompt="1"/>
          </p:nvPr>
        </p:nvSpPr>
        <p:spPr bwMode="white">
          <a:xfrm>
            <a:off x="813762" y="2295144"/>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0" name="Text Placeholder 6"/>
          <p:cNvSpPr>
            <a:spLocks noGrp="1"/>
          </p:cNvSpPr>
          <p:nvPr>
            <p:ph type="body" sz="quarter" idx="19" hasCustomPrompt="1"/>
          </p:nvPr>
        </p:nvSpPr>
        <p:spPr bwMode="white">
          <a:xfrm>
            <a:off x="381000" y="267919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1" name="Text Placeholder 6"/>
          <p:cNvSpPr>
            <a:spLocks noGrp="1"/>
          </p:cNvSpPr>
          <p:nvPr>
            <p:ph type="body" sz="quarter" idx="20" hasCustomPrompt="1"/>
          </p:nvPr>
        </p:nvSpPr>
        <p:spPr bwMode="white">
          <a:xfrm>
            <a:off x="813762" y="2679192"/>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2" name="Text Placeholder 6"/>
          <p:cNvSpPr>
            <a:spLocks noGrp="1"/>
          </p:cNvSpPr>
          <p:nvPr>
            <p:ph type="body" sz="quarter" idx="21" hasCustomPrompt="1"/>
          </p:nvPr>
        </p:nvSpPr>
        <p:spPr bwMode="white">
          <a:xfrm>
            <a:off x="381000" y="306324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3" name="Text Placeholder 6"/>
          <p:cNvSpPr>
            <a:spLocks noGrp="1"/>
          </p:cNvSpPr>
          <p:nvPr>
            <p:ph type="body" sz="quarter" idx="22" hasCustomPrompt="1"/>
          </p:nvPr>
        </p:nvSpPr>
        <p:spPr bwMode="white">
          <a:xfrm>
            <a:off x="813762" y="3063240"/>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4" name="Text Placeholder 6"/>
          <p:cNvSpPr>
            <a:spLocks noGrp="1"/>
          </p:cNvSpPr>
          <p:nvPr>
            <p:ph type="body" sz="quarter" idx="23" hasCustomPrompt="1"/>
          </p:nvPr>
        </p:nvSpPr>
        <p:spPr bwMode="white">
          <a:xfrm>
            <a:off x="381000" y="3447288"/>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5" name="Text Placeholder 6"/>
          <p:cNvSpPr>
            <a:spLocks noGrp="1"/>
          </p:cNvSpPr>
          <p:nvPr>
            <p:ph type="body" sz="quarter" idx="24" hasCustomPrompt="1"/>
          </p:nvPr>
        </p:nvSpPr>
        <p:spPr bwMode="white">
          <a:xfrm>
            <a:off x="813762" y="3447288"/>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6" name="Text Placeholder 6"/>
          <p:cNvSpPr>
            <a:spLocks noGrp="1"/>
          </p:cNvSpPr>
          <p:nvPr>
            <p:ph type="body" sz="quarter" idx="25" hasCustomPrompt="1"/>
          </p:nvPr>
        </p:nvSpPr>
        <p:spPr bwMode="white">
          <a:xfrm>
            <a:off x="381000" y="3831336"/>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7" name="Text Placeholder 6"/>
          <p:cNvSpPr>
            <a:spLocks noGrp="1"/>
          </p:cNvSpPr>
          <p:nvPr>
            <p:ph type="body" sz="quarter" idx="26" hasCustomPrompt="1"/>
          </p:nvPr>
        </p:nvSpPr>
        <p:spPr bwMode="white">
          <a:xfrm>
            <a:off x="813762" y="3831336"/>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8" name="Text Placeholder 6"/>
          <p:cNvSpPr>
            <a:spLocks noGrp="1"/>
          </p:cNvSpPr>
          <p:nvPr>
            <p:ph type="body" sz="quarter" idx="27" hasCustomPrompt="1"/>
          </p:nvPr>
        </p:nvSpPr>
        <p:spPr bwMode="white">
          <a:xfrm>
            <a:off x="381000" y="421538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9" name="Text Placeholder 6"/>
          <p:cNvSpPr>
            <a:spLocks noGrp="1"/>
          </p:cNvSpPr>
          <p:nvPr>
            <p:ph type="body" sz="quarter" idx="28" hasCustomPrompt="1"/>
          </p:nvPr>
        </p:nvSpPr>
        <p:spPr bwMode="white">
          <a:xfrm>
            <a:off x="813762" y="4215384"/>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0" name="Text Placeholder 6"/>
          <p:cNvSpPr>
            <a:spLocks noGrp="1"/>
          </p:cNvSpPr>
          <p:nvPr>
            <p:ph type="body" sz="quarter" idx="29" hasCustomPrompt="1"/>
          </p:nvPr>
        </p:nvSpPr>
        <p:spPr bwMode="white">
          <a:xfrm>
            <a:off x="381000" y="459943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1" name="Text Placeholder 6"/>
          <p:cNvSpPr>
            <a:spLocks noGrp="1"/>
          </p:cNvSpPr>
          <p:nvPr>
            <p:ph type="body" sz="quarter" idx="30" hasCustomPrompt="1"/>
          </p:nvPr>
        </p:nvSpPr>
        <p:spPr bwMode="white">
          <a:xfrm>
            <a:off x="813762" y="4599432"/>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2" name="Text Placeholder 6"/>
          <p:cNvSpPr>
            <a:spLocks noGrp="1"/>
          </p:cNvSpPr>
          <p:nvPr>
            <p:ph type="body" sz="quarter" idx="31" hasCustomPrompt="1"/>
          </p:nvPr>
        </p:nvSpPr>
        <p:spPr bwMode="white">
          <a:xfrm>
            <a:off x="381000" y="498348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3" name="Text Placeholder 6"/>
          <p:cNvSpPr>
            <a:spLocks noGrp="1"/>
          </p:cNvSpPr>
          <p:nvPr>
            <p:ph type="body" sz="quarter" idx="32" hasCustomPrompt="1"/>
          </p:nvPr>
        </p:nvSpPr>
        <p:spPr bwMode="white">
          <a:xfrm>
            <a:off x="813762" y="4983480"/>
            <a:ext cx="7620000"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pic>
        <p:nvPicPr>
          <p:cNvPr id="35" name="slu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18" y="6567477"/>
            <a:ext cx="786384" cy="102428"/>
          </a:xfrm>
          <a:prstGeom prst="rect">
            <a:avLst/>
          </a:prstGeom>
        </p:spPr>
      </p:pic>
    </p:spTree>
    <p:extLst>
      <p:ext uri="{BB962C8B-B14F-4D97-AF65-F5344CB8AC3E}">
        <p14:creationId xmlns:p14="http://schemas.microsoft.com/office/powerpoint/2010/main" val="3978245118"/>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2-Column TOC Blu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bg1"/>
                </a:solidFill>
              </a:defRPr>
            </a:lvl1pPr>
          </a:lstStyle>
          <a:p>
            <a:r>
              <a:t>Click to add title: Table of Contents, Agenda, etc</a:t>
            </a:r>
          </a:p>
        </p:txBody>
      </p:sp>
      <p:sp>
        <p:nvSpPr>
          <p:cNvPr id="3" name="Content Placeholder 2"/>
          <p:cNvSpPr>
            <a:spLocks noGrp="1"/>
          </p:cNvSpPr>
          <p:nvPr>
            <p:ph idx="1" hasCustomPrompt="1"/>
          </p:nvPr>
        </p:nvSpPr>
        <p:spPr>
          <a:xfrm>
            <a:off x="381000" y="1447800"/>
            <a:ext cx="4191000" cy="4724399"/>
          </a:xfrm>
        </p:spPr>
        <p:txBody>
          <a:bodyPr/>
          <a:lstStyle>
            <a:lvl1pPr marL="0" indent="0">
              <a:buNone/>
              <a:tabLst>
                <a:tab pos="402336" algn="l"/>
              </a:tabLst>
              <a:defRPr baseline="0">
                <a:solidFill>
                  <a:schemeClr val="bg1"/>
                </a:solidFill>
              </a:defRPr>
            </a:lvl1pPr>
            <a:lvl2pPr marL="0" indent="0">
              <a:buNone/>
              <a:tabLst>
                <a:tab pos="402336" algn="l"/>
              </a:tabLst>
              <a:defRPr>
                <a:solidFill>
                  <a:schemeClr val="bg1"/>
                </a:solidFill>
              </a:defRPr>
            </a:lvl2pPr>
            <a:lvl3pPr marL="0" indent="0">
              <a:buNone/>
              <a:tabLst>
                <a:tab pos="402336" algn="l"/>
              </a:tabLst>
              <a:defRPr>
                <a:solidFill>
                  <a:schemeClr val="bg1"/>
                </a:solidFill>
              </a:defRPr>
            </a:lvl3pPr>
            <a:lvl4pPr marL="0" indent="0">
              <a:buNone/>
              <a:tabLst>
                <a:tab pos="402336" algn="l"/>
              </a:tabLst>
              <a:defRPr>
                <a:solidFill>
                  <a:schemeClr val="bg1"/>
                </a:solidFill>
              </a:defRPr>
            </a:lvl4pPr>
            <a:lvl5pPr marL="0" indent="0">
              <a:buNone/>
              <a:tabLst>
                <a:tab pos="402336" algn="l"/>
              </a:tabLst>
              <a:defRPr>
                <a:solidFill>
                  <a:schemeClr val="bg1"/>
                </a:solidFill>
              </a:defRPr>
            </a:lvl5pPr>
            <a:lvl6pPr marL="0" indent="0">
              <a:buNone/>
              <a:tabLst>
                <a:tab pos="402336" algn="l"/>
              </a:tabLst>
              <a:defRPr>
                <a:solidFill>
                  <a:schemeClr val="bg1"/>
                </a:solidFill>
              </a:defRPr>
            </a:lvl6pPr>
            <a:lvl7pPr marL="0" indent="0">
              <a:buNone/>
              <a:tabLst>
                <a:tab pos="402336" algn="l"/>
              </a:tabLst>
              <a:defRPr>
                <a:solidFill>
                  <a:schemeClr val="bg1"/>
                </a:solidFill>
              </a:defRPr>
            </a:lvl7pPr>
            <a:lvl8pPr marL="0" indent="0">
              <a:buNone/>
              <a:tabLst>
                <a:tab pos="402336" algn="l"/>
              </a:tabLst>
              <a:defRPr>
                <a:solidFill>
                  <a:schemeClr val="bg1"/>
                </a:solidFill>
              </a:defRPr>
            </a:lvl8pPr>
            <a:lvl9pPr marL="0" indent="0">
              <a:buNone/>
              <a:tabLst>
                <a:tab pos="402336" algn="l"/>
              </a:tabLst>
              <a:defRPr>
                <a:solidFill>
                  <a:schemeClr val="bg1"/>
                </a:solidFill>
              </a:defRPr>
            </a:lvl9pPr>
          </a:lstStyle>
          <a:p>
            <a:pPr lvl="0"/>
            <a:r>
              <a:t>Type number, then press TAB key and add agenda item; press Enter to add another item</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Copyright © 2013 CFA Institute</a:t>
            </a:r>
            <a:endParaRPr dirty="0"/>
          </a:p>
        </p:txBody>
      </p:sp>
      <p:sp>
        <p:nvSpPr>
          <p:cNvPr id="6" name="Slide Number Placeholder 5"/>
          <p:cNvSpPr>
            <a:spLocks noGrp="1"/>
          </p:cNvSpPr>
          <p:nvPr>
            <p:ph type="sldNum" sz="quarter" idx="12"/>
          </p:nvPr>
        </p:nvSpPr>
        <p:spPr/>
        <p:txBody>
          <a:bodyPr/>
          <a:lstStyle/>
          <a:p>
            <a:fld id="{4E4A4924-7CC3-4BF6-9C5C-A8E770D15754}" type="slidenum">
              <a:rPr/>
              <a:pPr/>
              <a:t>‹#›</a:t>
            </a:fld>
            <a:endParaRPr/>
          </a:p>
        </p:txBody>
      </p:sp>
      <p:sp>
        <p:nvSpPr>
          <p:cNvPr id="7" name="Content Placeholder 2"/>
          <p:cNvSpPr>
            <a:spLocks noGrp="1"/>
          </p:cNvSpPr>
          <p:nvPr>
            <p:ph idx="13" hasCustomPrompt="1"/>
          </p:nvPr>
        </p:nvSpPr>
        <p:spPr>
          <a:xfrm>
            <a:off x="4565904" y="1447800"/>
            <a:ext cx="4191000" cy="4724399"/>
          </a:xfrm>
        </p:spPr>
        <p:txBody>
          <a:bodyPr/>
          <a:lstStyle>
            <a:lvl1pPr marL="0" indent="0">
              <a:buNone/>
              <a:tabLst>
                <a:tab pos="402336" algn="l"/>
              </a:tabLst>
              <a:defRPr baseline="0">
                <a:solidFill>
                  <a:schemeClr val="bg1"/>
                </a:solidFill>
              </a:defRPr>
            </a:lvl1pPr>
            <a:lvl2pPr marL="0" indent="0">
              <a:buNone/>
              <a:tabLst>
                <a:tab pos="402336" algn="l"/>
              </a:tabLst>
              <a:defRPr>
                <a:solidFill>
                  <a:schemeClr val="bg1"/>
                </a:solidFill>
              </a:defRPr>
            </a:lvl2pPr>
            <a:lvl3pPr marL="0" indent="0">
              <a:buNone/>
              <a:tabLst>
                <a:tab pos="402336" algn="l"/>
              </a:tabLst>
              <a:defRPr>
                <a:solidFill>
                  <a:schemeClr val="bg1"/>
                </a:solidFill>
              </a:defRPr>
            </a:lvl3pPr>
            <a:lvl4pPr marL="0" indent="0">
              <a:buNone/>
              <a:tabLst>
                <a:tab pos="402336" algn="l"/>
              </a:tabLst>
              <a:defRPr>
                <a:solidFill>
                  <a:schemeClr val="bg1"/>
                </a:solidFill>
              </a:defRPr>
            </a:lvl4pPr>
            <a:lvl5pPr marL="0" indent="0">
              <a:buNone/>
              <a:tabLst>
                <a:tab pos="402336" algn="l"/>
              </a:tabLst>
              <a:defRPr>
                <a:solidFill>
                  <a:schemeClr val="bg1"/>
                </a:solidFill>
              </a:defRPr>
            </a:lvl5pPr>
            <a:lvl6pPr marL="0" indent="0">
              <a:buNone/>
              <a:tabLst>
                <a:tab pos="402336" algn="l"/>
              </a:tabLst>
              <a:defRPr>
                <a:solidFill>
                  <a:schemeClr val="bg1"/>
                </a:solidFill>
              </a:defRPr>
            </a:lvl6pPr>
            <a:lvl7pPr marL="0" indent="0">
              <a:buNone/>
              <a:tabLst>
                <a:tab pos="402336" algn="l"/>
              </a:tabLst>
              <a:defRPr>
                <a:solidFill>
                  <a:schemeClr val="bg1"/>
                </a:solidFill>
              </a:defRPr>
            </a:lvl7pPr>
            <a:lvl8pPr marL="0" indent="0">
              <a:buNone/>
              <a:tabLst>
                <a:tab pos="402336" algn="l"/>
              </a:tabLst>
              <a:defRPr>
                <a:solidFill>
                  <a:schemeClr val="bg1"/>
                </a:solidFill>
              </a:defRPr>
            </a:lvl8pPr>
            <a:lvl9pPr marL="0" indent="0">
              <a:buNone/>
              <a:tabLst>
                <a:tab pos="402336" algn="l"/>
              </a:tabLst>
              <a:defRPr>
                <a:solidFill>
                  <a:schemeClr val="bg1"/>
                </a:solidFill>
              </a:defRPr>
            </a:lvl9pPr>
          </a:lstStyle>
          <a:p>
            <a:pPr lvl="0"/>
            <a:r>
              <a:t>Type number, then press TAB key and add agenda item; press Enter to add another item</a:t>
            </a:r>
          </a:p>
        </p:txBody>
      </p:sp>
    </p:spTree>
    <p:extLst>
      <p:ext uri="{BB962C8B-B14F-4D97-AF65-F5344CB8AC3E}">
        <p14:creationId xmlns:p14="http://schemas.microsoft.com/office/powerpoint/2010/main" val="3120018826"/>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2-Column TOC Gree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1"/>
                </a:solidFill>
              </a:defRPr>
            </a:lvl1pPr>
          </a:lstStyle>
          <a:p>
            <a:r>
              <a:t>Click to add title: Table of Contents, Agenda, etc</a:t>
            </a:r>
          </a:p>
        </p:txBody>
      </p:sp>
      <p:sp>
        <p:nvSpPr>
          <p:cNvPr id="3" name="Content Placeholder 2"/>
          <p:cNvSpPr>
            <a:spLocks noGrp="1"/>
          </p:cNvSpPr>
          <p:nvPr>
            <p:ph idx="1" hasCustomPrompt="1"/>
          </p:nvPr>
        </p:nvSpPr>
        <p:spPr>
          <a:xfrm>
            <a:off x="381000" y="1447800"/>
            <a:ext cx="4191000" cy="4724399"/>
          </a:xfrm>
        </p:spPr>
        <p:txBody>
          <a:bodyPr/>
          <a:lstStyle>
            <a:lvl1pPr marL="0" indent="0">
              <a:buNone/>
              <a:tabLst>
                <a:tab pos="402336" algn="l"/>
              </a:tabLst>
              <a:defRPr baseline="0">
                <a:solidFill>
                  <a:schemeClr val="tx1"/>
                </a:solidFill>
              </a:defRPr>
            </a:lvl1pPr>
            <a:lvl2pPr marL="0" indent="0">
              <a:buNone/>
              <a:tabLst>
                <a:tab pos="402336" algn="l"/>
              </a:tabLst>
              <a:defRPr>
                <a:solidFill>
                  <a:schemeClr val="bg1"/>
                </a:solidFill>
              </a:defRPr>
            </a:lvl2pPr>
            <a:lvl3pPr marL="0" indent="0">
              <a:buNone/>
              <a:tabLst>
                <a:tab pos="402336" algn="l"/>
              </a:tabLst>
              <a:defRPr>
                <a:solidFill>
                  <a:schemeClr val="bg1"/>
                </a:solidFill>
              </a:defRPr>
            </a:lvl3pPr>
            <a:lvl4pPr marL="0" indent="0">
              <a:buNone/>
              <a:tabLst>
                <a:tab pos="402336" algn="l"/>
              </a:tabLst>
              <a:defRPr>
                <a:solidFill>
                  <a:schemeClr val="bg1"/>
                </a:solidFill>
              </a:defRPr>
            </a:lvl4pPr>
            <a:lvl5pPr marL="0" indent="0">
              <a:buNone/>
              <a:tabLst>
                <a:tab pos="402336" algn="l"/>
              </a:tabLst>
              <a:defRPr>
                <a:solidFill>
                  <a:schemeClr val="bg1"/>
                </a:solidFill>
              </a:defRPr>
            </a:lvl5pPr>
            <a:lvl6pPr marL="0" indent="0">
              <a:buNone/>
              <a:tabLst>
                <a:tab pos="402336" algn="l"/>
              </a:tabLst>
              <a:defRPr>
                <a:solidFill>
                  <a:schemeClr val="bg1"/>
                </a:solidFill>
              </a:defRPr>
            </a:lvl6pPr>
            <a:lvl7pPr marL="0" indent="0">
              <a:buNone/>
              <a:tabLst>
                <a:tab pos="402336" algn="l"/>
              </a:tabLst>
              <a:defRPr>
                <a:solidFill>
                  <a:schemeClr val="bg1"/>
                </a:solidFill>
              </a:defRPr>
            </a:lvl7pPr>
            <a:lvl8pPr marL="0" indent="0">
              <a:buNone/>
              <a:tabLst>
                <a:tab pos="402336" algn="l"/>
              </a:tabLst>
              <a:defRPr>
                <a:solidFill>
                  <a:schemeClr val="bg1"/>
                </a:solidFill>
              </a:defRPr>
            </a:lvl8pPr>
            <a:lvl9pPr marL="0" indent="0">
              <a:buNone/>
              <a:tabLst>
                <a:tab pos="402336" algn="l"/>
              </a:tabLst>
              <a:defRPr>
                <a:solidFill>
                  <a:schemeClr val="bg1"/>
                </a:solidFill>
              </a:defRPr>
            </a:lvl9pPr>
          </a:lstStyle>
          <a:p>
            <a:pPr lvl="0"/>
            <a:r>
              <a:t>Type number, then press TAB key and add agenda item; press Enter to add another item</a:t>
            </a:r>
          </a:p>
        </p:txBody>
      </p:sp>
      <p:sp>
        <p:nvSpPr>
          <p:cNvPr id="4" name="Date Placeholder 3"/>
          <p:cNvSpPr>
            <a:spLocks noGrp="1"/>
          </p:cNvSpPr>
          <p:nvPr>
            <p:ph type="dt" sz="half" idx="10"/>
          </p:nvPr>
        </p:nvSpPr>
        <p:spPr/>
        <p:txBody>
          <a:bodyPr/>
          <a:lstStyle>
            <a:lvl1pPr>
              <a:defRPr>
                <a:solidFill>
                  <a:schemeClr val="tx1"/>
                </a:solidFill>
              </a:defRPr>
            </a:lvl1pPr>
          </a:lstStyle>
          <a:p>
            <a:endParaRP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Copyright © 2013 CFA Institute</a:t>
            </a:r>
            <a:endParaRPr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E4A4924-7CC3-4BF6-9C5C-A8E770D15754}" type="slidenum">
              <a:rPr/>
              <a:pPr/>
              <a:t>‹#›</a:t>
            </a:fld>
            <a:endParaRPr/>
          </a:p>
        </p:txBody>
      </p:sp>
      <p:sp>
        <p:nvSpPr>
          <p:cNvPr id="7" name="Content Placeholder 2"/>
          <p:cNvSpPr>
            <a:spLocks noGrp="1"/>
          </p:cNvSpPr>
          <p:nvPr>
            <p:ph idx="13" hasCustomPrompt="1"/>
          </p:nvPr>
        </p:nvSpPr>
        <p:spPr>
          <a:xfrm>
            <a:off x="4565904" y="1447800"/>
            <a:ext cx="4191000" cy="4724399"/>
          </a:xfrm>
        </p:spPr>
        <p:txBody>
          <a:bodyPr/>
          <a:lstStyle>
            <a:lvl1pPr marL="0" indent="0">
              <a:buNone/>
              <a:tabLst>
                <a:tab pos="402336" algn="l"/>
              </a:tabLst>
              <a:defRPr baseline="0">
                <a:solidFill>
                  <a:schemeClr val="tx1"/>
                </a:solidFill>
              </a:defRPr>
            </a:lvl1pPr>
            <a:lvl2pPr marL="0" indent="0">
              <a:buNone/>
              <a:tabLst>
                <a:tab pos="402336" algn="l"/>
              </a:tabLst>
              <a:defRPr>
                <a:solidFill>
                  <a:schemeClr val="bg1"/>
                </a:solidFill>
              </a:defRPr>
            </a:lvl2pPr>
            <a:lvl3pPr marL="0" indent="0">
              <a:buNone/>
              <a:tabLst>
                <a:tab pos="402336" algn="l"/>
              </a:tabLst>
              <a:defRPr>
                <a:solidFill>
                  <a:schemeClr val="bg1"/>
                </a:solidFill>
              </a:defRPr>
            </a:lvl3pPr>
            <a:lvl4pPr marL="0" indent="0">
              <a:buNone/>
              <a:tabLst>
                <a:tab pos="402336" algn="l"/>
              </a:tabLst>
              <a:defRPr>
                <a:solidFill>
                  <a:schemeClr val="bg1"/>
                </a:solidFill>
              </a:defRPr>
            </a:lvl4pPr>
            <a:lvl5pPr marL="0" indent="0">
              <a:buNone/>
              <a:tabLst>
                <a:tab pos="402336" algn="l"/>
              </a:tabLst>
              <a:defRPr>
                <a:solidFill>
                  <a:schemeClr val="bg1"/>
                </a:solidFill>
              </a:defRPr>
            </a:lvl5pPr>
            <a:lvl6pPr marL="0" indent="0">
              <a:buNone/>
              <a:tabLst>
                <a:tab pos="402336" algn="l"/>
              </a:tabLst>
              <a:defRPr>
                <a:solidFill>
                  <a:schemeClr val="bg1"/>
                </a:solidFill>
              </a:defRPr>
            </a:lvl6pPr>
            <a:lvl7pPr marL="0" indent="0">
              <a:buNone/>
              <a:tabLst>
                <a:tab pos="402336" algn="l"/>
              </a:tabLst>
              <a:defRPr>
                <a:solidFill>
                  <a:schemeClr val="bg1"/>
                </a:solidFill>
              </a:defRPr>
            </a:lvl7pPr>
            <a:lvl8pPr marL="0" indent="0">
              <a:buNone/>
              <a:tabLst>
                <a:tab pos="402336" algn="l"/>
              </a:tabLst>
              <a:defRPr>
                <a:solidFill>
                  <a:schemeClr val="bg1"/>
                </a:solidFill>
              </a:defRPr>
            </a:lvl8pPr>
            <a:lvl9pPr marL="0" indent="0">
              <a:buNone/>
              <a:tabLst>
                <a:tab pos="402336" algn="l"/>
              </a:tabLst>
              <a:defRPr>
                <a:solidFill>
                  <a:schemeClr val="bg1"/>
                </a:solidFill>
              </a:defRPr>
            </a:lvl9pPr>
          </a:lstStyle>
          <a:p>
            <a:pPr lvl="0"/>
            <a:r>
              <a:t>Type number, then press TAB key and add agenda item; press Enter to add another item</a:t>
            </a:r>
          </a:p>
        </p:txBody>
      </p:sp>
    </p:spTree>
    <p:extLst>
      <p:ext uri="{BB962C8B-B14F-4D97-AF65-F5344CB8AC3E}">
        <p14:creationId xmlns:p14="http://schemas.microsoft.com/office/powerpoint/2010/main" val="353038001"/>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2-Column TOC Gray">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1"/>
                </a:solidFill>
              </a:defRPr>
            </a:lvl1pPr>
          </a:lstStyle>
          <a:p>
            <a:r>
              <a:t>Click to add title: Table of Contents, Agenda, etc</a:t>
            </a:r>
          </a:p>
        </p:txBody>
      </p:sp>
      <p:sp>
        <p:nvSpPr>
          <p:cNvPr id="3" name="Content Placeholder 2"/>
          <p:cNvSpPr>
            <a:spLocks noGrp="1"/>
          </p:cNvSpPr>
          <p:nvPr>
            <p:ph idx="1" hasCustomPrompt="1"/>
          </p:nvPr>
        </p:nvSpPr>
        <p:spPr>
          <a:xfrm>
            <a:off x="381000" y="1447800"/>
            <a:ext cx="4191000" cy="4724399"/>
          </a:xfrm>
        </p:spPr>
        <p:txBody>
          <a:bodyPr/>
          <a:lstStyle>
            <a:lvl1pPr marL="0" indent="0">
              <a:buNone/>
              <a:tabLst>
                <a:tab pos="402336" algn="l"/>
              </a:tabLst>
              <a:defRPr baseline="0">
                <a:solidFill>
                  <a:schemeClr val="tx1"/>
                </a:solidFill>
              </a:defRPr>
            </a:lvl1pPr>
            <a:lvl2pPr marL="0" indent="0">
              <a:buNone/>
              <a:tabLst>
                <a:tab pos="402336" algn="l"/>
              </a:tabLst>
              <a:defRPr>
                <a:solidFill>
                  <a:schemeClr val="bg1"/>
                </a:solidFill>
              </a:defRPr>
            </a:lvl2pPr>
            <a:lvl3pPr marL="0" indent="0">
              <a:buNone/>
              <a:tabLst>
                <a:tab pos="402336" algn="l"/>
              </a:tabLst>
              <a:defRPr>
                <a:solidFill>
                  <a:schemeClr val="bg1"/>
                </a:solidFill>
              </a:defRPr>
            </a:lvl3pPr>
            <a:lvl4pPr marL="0" indent="0">
              <a:buNone/>
              <a:tabLst>
                <a:tab pos="402336" algn="l"/>
              </a:tabLst>
              <a:defRPr>
                <a:solidFill>
                  <a:schemeClr val="bg1"/>
                </a:solidFill>
              </a:defRPr>
            </a:lvl4pPr>
            <a:lvl5pPr marL="0" indent="0">
              <a:buNone/>
              <a:tabLst>
                <a:tab pos="402336" algn="l"/>
              </a:tabLst>
              <a:defRPr>
                <a:solidFill>
                  <a:schemeClr val="bg1"/>
                </a:solidFill>
              </a:defRPr>
            </a:lvl5pPr>
            <a:lvl6pPr marL="0" indent="0">
              <a:buNone/>
              <a:tabLst>
                <a:tab pos="402336" algn="l"/>
              </a:tabLst>
              <a:defRPr>
                <a:solidFill>
                  <a:schemeClr val="bg1"/>
                </a:solidFill>
              </a:defRPr>
            </a:lvl6pPr>
            <a:lvl7pPr marL="0" indent="0">
              <a:buNone/>
              <a:tabLst>
                <a:tab pos="402336" algn="l"/>
              </a:tabLst>
              <a:defRPr>
                <a:solidFill>
                  <a:schemeClr val="bg1"/>
                </a:solidFill>
              </a:defRPr>
            </a:lvl7pPr>
            <a:lvl8pPr marL="0" indent="0">
              <a:buNone/>
              <a:tabLst>
                <a:tab pos="402336" algn="l"/>
              </a:tabLst>
              <a:defRPr>
                <a:solidFill>
                  <a:schemeClr val="bg1"/>
                </a:solidFill>
              </a:defRPr>
            </a:lvl8pPr>
            <a:lvl9pPr marL="0" indent="0">
              <a:buNone/>
              <a:tabLst>
                <a:tab pos="402336" algn="l"/>
              </a:tabLst>
              <a:defRPr>
                <a:solidFill>
                  <a:schemeClr val="bg1"/>
                </a:solidFill>
              </a:defRPr>
            </a:lvl9pPr>
          </a:lstStyle>
          <a:p>
            <a:pPr lvl="0"/>
            <a:r>
              <a:t>Type number, then press TAB key and add agenda item; press Enter to add another item</a:t>
            </a:r>
          </a:p>
        </p:txBody>
      </p:sp>
      <p:sp>
        <p:nvSpPr>
          <p:cNvPr id="4" name="Date Placeholder 3"/>
          <p:cNvSpPr>
            <a:spLocks noGrp="1"/>
          </p:cNvSpPr>
          <p:nvPr>
            <p:ph type="dt" sz="half" idx="10"/>
          </p:nvPr>
        </p:nvSpPr>
        <p:spPr/>
        <p:txBody>
          <a:bodyPr/>
          <a:lstStyle>
            <a:lvl1pPr>
              <a:defRPr>
                <a:solidFill>
                  <a:schemeClr val="tx1"/>
                </a:solidFill>
              </a:defRPr>
            </a:lvl1pPr>
          </a:lstStyle>
          <a:p>
            <a:endParaRP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Copyright © 2013 CFA Institute</a:t>
            </a:r>
            <a:endParaRPr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E4A4924-7CC3-4BF6-9C5C-A8E770D15754}" type="slidenum">
              <a:rPr/>
              <a:pPr/>
              <a:t>‹#›</a:t>
            </a:fld>
            <a:endParaRPr/>
          </a:p>
        </p:txBody>
      </p:sp>
      <p:sp>
        <p:nvSpPr>
          <p:cNvPr id="7" name="Content Placeholder 2"/>
          <p:cNvSpPr>
            <a:spLocks noGrp="1"/>
          </p:cNvSpPr>
          <p:nvPr>
            <p:ph idx="13" hasCustomPrompt="1"/>
          </p:nvPr>
        </p:nvSpPr>
        <p:spPr>
          <a:xfrm>
            <a:off x="4565904" y="1447800"/>
            <a:ext cx="4191000" cy="4724399"/>
          </a:xfrm>
        </p:spPr>
        <p:txBody>
          <a:bodyPr/>
          <a:lstStyle>
            <a:lvl1pPr marL="0" indent="0">
              <a:buNone/>
              <a:tabLst>
                <a:tab pos="402336" algn="l"/>
              </a:tabLst>
              <a:defRPr baseline="0">
                <a:solidFill>
                  <a:schemeClr val="tx1"/>
                </a:solidFill>
              </a:defRPr>
            </a:lvl1pPr>
            <a:lvl2pPr marL="0" indent="0">
              <a:buNone/>
              <a:tabLst>
                <a:tab pos="402336" algn="l"/>
              </a:tabLst>
              <a:defRPr>
                <a:solidFill>
                  <a:schemeClr val="bg1"/>
                </a:solidFill>
              </a:defRPr>
            </a:lvl2pPr>
            <a:lvl3pPr marL="0" indent="0">
              <a:buNone/>
              <a:tabLst>
                <a:tab pos="402336" algn="l"/>
              </a:tabLst>
              <a:defRPr>
                <a:solidFill>
                  <a:schemeClr val="bg1"/>
                </a:solidFill>
              </a:defRPr>
            </a:lvl3pPr>
            <a:lvl4pPr marL="0" indent="0">
              <a:buNone/>
              <a:tabLst>
                <a:tab pos="402336" algn="l"/>
              </a:tabLst>
              <a:defRPr>
                <a:solidFill>
                  <a:schemeClr val="bg1"/>
                </a:solidFill>
              </a:defRPr>
            </a:lvl4pPr>
            <a:lvl5pPr marL="0" indent="0">
              <a:buNone/>
              <a:tabLst>
                <a:tab pos="402336" algn="l"/>
              </a:tabLst>
              <a:defRPr>
                <a:solidFill>
                  <a:schemeClr val="bg1"/>
                </a:solidFill>
              </a:defRPr>
            </a:lvl5pPr>
            <a:lvl6pPr marL="0" indent="0">
              <a:buNone/>
              <a:tabLst>
                <a:tab pos="402336" algn="l"/>
              </a:tabLst>
              <a:defRPr>
                <a:solidFill>
                  <a:schemeClr val="bg1"/>
                </a:solidFill>
              </a:defRPr>
            </a:lvl6pPr>
            <a:lvl7pPr marL="0" indent="0">
              <a:buNone/>
              <a:tabLst>
                <a:tab pos="402336" algn="l"/>
              </a:tabLst>
              <a:defRPr>
                <a:solidFill>
                  <a:schemeClr val="bg1"/>
                </a:solidFill>
              </a:defRPr>
            </a:lvl7pPr>
            <a:lvl8pPr marL="0" indent="0">
              <a:buNone/>
              <a:tabLst>
                <a:tab pos="402336" algn="l"/>
              </a:tabLst>
              <a:defRPr>
                <a:solidFill>
                  <a:schemeClr val="bg1"/>
                </a:solidFill>
              </a:defRPr>
            </a:lvl8pPr>
            <a:lvl9pPr marL="0" indent="0">
              <a:buNone/>
              <a:tabLst>
                <a:tab pos="402336" algn="l"/>
              </a:tabLst>
              <a:defRPr>
                <a:solidFill>
                  <a:schemeClr val="bg1"/>
                </a:solidFill>
              </a:defRPr>
            </a:lvl9pPr>
          </a:lstStyle>
          <a:p>
            <a:pPr lvl="0"/>
            <a:r>
              <a:t>Type number, then press TAB key and add agenda item; press Enter to add another item</a:t>
            </a:r>
          </a:p>
        </p:txBody>
      </p:sp>
    </p:spTree>
    <p:extLst>
      <p:ext uri="{BB962C8B-B14F-4D97-AF65-F5344CB8AC3E}">
        <p14:creationId xmlns:p14="http://schemas.microsoft.com/office/powerpoint/2010/main" val="3058651205"/>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2-Column TOC Pix1">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brightnessContrast bright="-16000" contrast="22000"/>
                    </a14:imgEffect>
                  </a14:imgLayer>
                </a14:imgProps>
              </a:ext>
              <a:ext uri="{28A0092B-C50C-407E-A947-70E740481C1C}">
                <a14:useLocalDpi xmlns:a14="http://schemas.microsoft.com/office/drawing/2010/main" val="0"/>
              </a:ext>
            </a:extLst>
          </a:blip>
          <a:stretch>
            <a:fillRect/>
          </a:stretch>
        </p:blipFill>
        <p:spPr bwMode="auto">
          <a:xfrm>
            <a:off x="0" y="0"/>
            <a:ext cx="9144000" cy="6858000"/>
          </a:xfrm>
          <a:prstGeom prst="rect">
            <a:avLst/>
          </a:prstGeom>
        </p:spPr>
      </p:pic>
      <p:sp>
        <p:nvSpPr>
          <p:cNvPr id="2" name="Title 1"/>
          <p:cNvSpPr>
            <a:spLocks noGrp="1"/>
          </p:cNvSpPr>
          <p:nvPr>
            <p:ph type="title" hasCustomPrompt="1"/>
          </p:nvPr>
        </p:nvSpPr>
        <p:spPr bwMode="white">
          <a:xfrm>
            <a:off x="381000" y="152400"/>
            <a:ext cx="8375904" cy="1143000"/>
          </a:xfrm>
        </p:spPr>
        <p:txBody>
          <a:bodyPr/>
          <a:lstStyle>
            <a:lvl1pPr>
              <a:defRPr>
                <a:solidFill>
                  <a:schemeClr val="tx1"/>
                </a:solidFill>
              </a:defRPr>
            </a:lvl1pPr>
          </a:lstStyle>
          <a:p>
            <a:r>
              <a:t>Click to add title: Table of Contents, Agenda, etc</a:t>
            </a:r>
          </a:p>
        </p:txBody>
      </p:sp>
      <p:sp>
        <p:nvSpPr>
          <p:cNvPr id="3" name="Date Placeholder 2"/>
          <p:cNvSpPr>
            <a:spLocks noGrp="1"/>
          </p:cNvSpPr>
          <p:nvPr>
            <p:ph type="dt" sz="half" idx="10"/>
          </p:nvPr>
        </p:nvSpPr>
        <p:spPr bwMode="white"/>
        <p:txBody>
          <a:bodyPr/>
          <a:lstStyle>
            <a:lvl1pPr>
              <a:defRPr>
                <a:solidFill>
                  <a:schemeClr val="tx1"/>
                </a:solidFill>
              </a:defRPr>
            </a:lvl1pPr>
          </a:lstStyle>
          <a:p>
            <a:endParaRPr/>
          </a:p>
        </p:txBody>
      </p:sp>
      <p:sp>
        <p:nvSpPr>
          <p:cNvPr id="4" name="Footer Placeholder 3"/>
          <p:cNvSpPr>
            <a:spLocks noGrp="1"/>
          </p:cNvSpPr>
          <p:nvPr>
            <p:ph type="ftr" sz="quarter" idx="11"/>
          </p:nvPr>
        </p:nvSpPr>
        <p:spPr bwMode="white"/>
        <p:txBody>
          <a:bodyPr/>
          <a:lstStyle>
            <a:lvl1pPr>
              <a:defRPr>
                <a:solidFill>
                  <a:schemeClr val="tx1"/>
                </a:solidFill>
              </a:defRPr>
            </a:lvl1pPr>
          </a:lstStyle>
          <a:p>
            <a:r>
              <a:rPr lang="en-US" dirty="0"/>
              <a:t>Copyright © 2013 CFA Institute</a:t>
            </a:r>
            <a:endParaRPr dirty="0"/>
          </a:p>
        </p:txBody>
      </p:sp>
      <p:sp>
        <p:nvSpPr>
          <p:cNvPr id="5" name="Slide Number Placeholder 4"/>
          <p:cNvSpPr>
            <a:spLocks noGrp="1"/>
          </p:cNvSpPr>
          <p:nvPr>
            <p:ph type="sldNum" sz="quarter" idx="12"/>
          </p:nvPr>
        </p:nvSpPr>
        <p:spPr bwMode="white"/>
        <p:txBody>
          <a:bodyPr/>
          <a:lstStyle>
            <a:lvl1pPr>
              <a:defRPr>
                <a:solidFill>
                  <a:schemeClr val="tx1"/>
                </a:solidFill>
              </a:defRPr>
            </a:lvl1pPr>
          </a:lstStyle>
          <a:p>
            <a:fld id="{4E4A4924-7CC3-4BF6-9C5C-A8E770D15754}" type="slidenum">
              <a:rPr/>
              <a:pPr/>
              <a:t>‹#›</a:t>
            </a:fld>
            <a:endParaRPr/>
          </a:p>
        </p:txBody>
      </p:sp>
      <p:sp>
        <p:nvSpPr>
          <p:cNvPr id="7" name="Text Placeholder 6"/>
          <p:cNvSpPr>
            <a:spLocks noGrp="1"/>
          </p:cNvSpPr>
          <p:nvPr>
            <p:ph type="body" sz="quarter" idx="13" hasCustomPrompt="1"/>
          </p:nvPr>
        </p:nvSpPr>
        <p:spPr bwMode="white">
          <a:xfrm>
            <a:off x="381000" y="152280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8" name="Text Placeholder 6"/>
          <p:cNvSpPr>
            <a:spLocks noGrp="1"/>
          </p:cNvSpPr>
          <p:nvPr>
            <p:ph type="body" sz="quarter" idx="14" hasCustomPrompt="1"/>
          </p:nvPr>
        </p:nvSpPr>
        <p:spPr bwMode="white">
          <a:xfrm>
            <a:off x="813762" y="1522809"/>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6" name="Text Placeholder 6"/>
          <p:cNvSpPr>
            <a:spLocks noGrp="1"/>
          </p:cNvSpPr>
          <p:nvPr>
            <p:ph type="body" sz="quarter" idx="15" hasCustomPrompt="1"/>
          </p:nvPr>
        </p:nvSpPr>
        <p:spPr bwMode="white">
          <a:xfrm>
            <a:off x="381000" y="190863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7" name="Text Placeholder 6"/>
          <p:cNvSpPr>
            <a:spLocks noGrp="1"/>
          </p:cNvSpPr>
          <p:nvPr>
            <p:ph type="body" sz="quarter" idx="16" hasCustomPrompt="1"/>
          </p:nvPr>
        </p:nvSpPr>
        <p:spPr bwMode="white">
          <a:xfrm>
            <a:off x="813762" y="1908639"/>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8" name="Text Placeholder 6"/>
          <p:cNvSpPr>
            <a:spLocks noGrp="1"/>
          </p:cNvSpPr>
          <p:nvPr>
            <p:ph type="body" sz="quarter" idx="17" hasCustomPrompt="1"/>
          </p:nvPr>
        </p:nvSpPr>
        <p:spPr bwMode="white">
          <a:xfrm>
            <a:off x="381000" y="229514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9" name="Text Placeholder 6"/>
          <p:cNvSpPr>
            <a:spLocks noGrp="1"/>
          </p:cNvSpPr>
          <p:nvPr>
            <p:ph type="body" sz="quarter" idx="18" hasCustomPrompt="1"/>
          </p:nvPr>
        </p:nvSpPr>
        <p:spPr bwMode="white">
          <a:xfrm>
            <a:off x="813762" y="2295144"/>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0" name="Text Placeholder 6"/>
          <p:cNvSpPr>
            <a:spLocks noGrp="1"/>
          </p:cNvSpPr>
          <p:nvPr>
            <p:ph type="body" sz="quarter" idx="19" hasCustomPrompt="1"/>
          </p:nvPr>
        </p:nvSpPr>
        <p:spPr bwMode="white">
          <a:xfrm>
            <a:off x="381000" y="267919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1" name="Text Placeholder 6"/>
          <p:cNvSpPr>
            <a:spLocks noGrp="1"/>
          </p:cNvSpPr>
          <p:nvPr>
            <p:ph type="body" sz="quarter" idx="20" hasCustomPrompt="1"/>
          </p:nvPr>
        </p:nvSpPr>
        <p:spPr bwMode="white">
          <a:xfrm>
            <a:off x="813762" y="2679192"/>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2" name="Text Placeholder 6"/>
          <p:cNvSpPr>
            <a:spLocks noGrp="1"/>
          </p:cNvSpPr>
          <p:nvPr>
            <p:ph type="body" sz="quarter" idx="21" hasCustomPrompt="1"/>
          </p:nvPr>
        </p:nvSpPr>
        <p:spPr bwMode="white">
          <a:xfrm>
            <a:off x="381000" y="306324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3" name="Text Placeholder 6"/>
          <p:cNvSpPr>
            <a:spLocks noGrp="1"/>
          </p:cNvSpPr>
          <p:nvPr>
            <p:ph type="body" sz="quarter" idx="22" hasCustomPrompt="1"/>
          </p:nvPr>
        </p:nvSpPr>
        <p:spPr bwMode="white">
          <a:xfrm>
            <a:off x="813762" y="3063240"/>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8" name="Text Placeholder 6"/>
          <p:cNvSpPr>
            <a:spLocks noGrp="1"/>
          </p:cNvSpPr>
          <p:nvPr>
            <p:ph type="body" sz="quarter" idx="23" hasCustomPrompt="1"/>
          </p:nvPr>
        </p:nvSpPr>
        <p:spPr bwMode="white">
          <a:xfrm>
            <a:off x="4648200" y="152280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9" name="Text Placeholder 6"/>
          <p:cNvSpPr>
            <a:spLocks noGrp="1"/>
          </p:cNvSpPr>
          <p:nvPr>
            <p:ph type="body" sz="quarter" idx="24" hasCustomPrompt="1"/>
          </p:nvPr>
        </p:nvSpPr>
        <p:spPr bwMode="white">
          <a:xfrm>
            <a:off x="5080962" y="1522809"/>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0" name="Text Placeholder 6"/>
          <p:cNvSpPr>
            <a:spLocks noGrp="1"/>
          </p:cNvSpPr>
          <p:nvPr>
            <p:ph type="body" sz="quarter" idx="25" hasCustomPrompt="1"/>
          </p:nvPr>
        </p:nvSpPr>
        <p:spPr bwMode="white">
          <a:xfrm>
            <a:off x="4648200" y="190863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1" name="Text Placeholder 6"/>
          <p:cNvSpPr>
            <a:spLocks noGrp="1"/>
          </p:cNvSpPr>
          <p:nvPr>
            <p:ph type="body" sz="quarter" idx="26" hasCustomPrompt="1"/>
          </p:nvPr>
        </p:nvSpPr>
        <p:spPr bwMode="white">
          <a:xfrm>
            <a:off x="5080962" y="1908639"/>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2" name="Text Placeholder 6"/>
          <p:cNvSpPr>
            <a:spLocks noGrp="1"/>
          </p:cNvSpPr>
          <p:nvPr>
            <p:ph type="body" sz="quarter" idx="27" hasCustomPrompt="1"/>
          </p:nvPr>
        </p:nvSpPr>
        <p:spPr bwMode="white">
          <a:xfrm>
            <a:off x="4648200" y="229514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3" name="Text Placeholder 6"/>
          <p:cNvSpPr>
            <a:spLocks noGrp="1"/>
          </p:cNvSpPr>
          <p:nvPr>
            <p:ph type="body" sz="quarter" idx="28" hasCustomPrompt="1"/>
          </p:nvPr>
        </p:nvSpPr>
        <p:spPr bwMode="white">
          <a:xfrm>
            <a:off x="5080962" y="2295144"/>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4" name="Text Placeholder 6"/>
          <p:cNvSpPr>
            <a:spLocks noGrp="1"/>
          </p:cNvSpPr>
          <p:nvPr>
            <p:ph type="body" sz="quarter" idx="29" hasCustomPrompt="1"/>
          </p:nvPr>
        </p:nvSpPr>
        <p:spPr bwMode="white">
          <a:xfrm>
            <a:off x="4648200" y="267919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5" name="Text Placeholder 6"/>
          <p:cNvSpPr>
            <a:spLocks noGrp="1"/>
          </p:cNvSpPr>
          <p:nvPr>
            <p:ph type="body" sz="quarter" idx="30" hasCustomPrompt="1"/>
          </p:nvPr>
        </p:nvSpPr>
        <p:spPr bwMode="white">
          <a:xfrm>
            <a:off x="5080962" y="2679192"/>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6" name="Text Placeholder 6"/>
          <p:cNvSpPr>
            <a:spLocks noGrp="1"/>
          </p:cNvSpPr>
          <p:nvPr>
            <p:ph type="body" sz="quarter" idx="31" hasCustomPrompt="1"/>
          </p:nvPr>
        </p:nvSpPr>
        <p:spPr bwMode="white">
          <a:xfrm>
            <a:off x="4648200" y="306324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7" name="Text Placeholder 6"/>
          <p:cNvSpPr>
            <a:spLocks noGrp="1"/>
          </p:cNvSpPr>
          <p:nvPr>
            <p:ph type="body" sz="quarter" idx="32" hasCustomPrompt="1"/>
          </p:nvPr>
        </p:nvSpPr>
        <p:spPr bwMode="white">
          <a:xfrm>
            <a:off x="5080962" y="3063240"/>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pic>
        <p:nvPicPr>
          <p:cNvPr id="29" name="slu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4818" y="6567477"/>
            <a:ext cx="786384" cy="102428"/>
          </a:xfrm>
          <a:prstGeom prst="rect">
            <a:avLst/>
          </a:prstGeom>
        </p:spPr>
      </p:pic>
    </p:spTree>
    <p:extLst>
      <p:ext uri="{BB962C8B-B14F-4D97-AF65-F5344CB8AC3E}">
        <p14:creationId xmlns:p14="http://schemas.microsoft.com/office/powerpoint/2010/main" val="239080431"/>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2-Column TOC Pix2">
    <p:bg>
      <p:bgRef idx="1001">
        <a:schemeClr val="bg1"/>
      </p:bgRef>
    </p:bg>
    <p:spTree>
      <p:nvGrpSpPr>
        <p:cNvPr id="1" name=""/>
        <p:cNvGrpSpPr/>
        <p:nvPr/>
      </p:nvGrpSpPr>
      <p:grpSpPr>
        <a:xfrm>
          <a:off x="0" y="0"/>
          <a:ext cx="0" cy="0"/>
          <a:chOff x="0" y="0"/>
          <a:chExt cx="0" cy="0"/>
        </a:xfrm>
      </p:grpSpPr>
      <p:pic>
        <p:nvPicPr>
          <p:cNvPr id="28" name="Picture 27"/>
          <p:cNvPicPr>
            <a:picLocks noChangeAspect="1"/>
          </p:cNvPicPr>
          <p:nvPr/>
        </p:nvPicPr>
        <p:blipFill>
          <a:blip r:embed="rId2">
            <a:extLst>
              <a:ext uri="{BEBA8EAE-BF5A-486C-A8C5-ECC9F3942E4B}">
                <a14:imgProps xmlns:a14="http://schemas.microsoft.com/office/drawing/2010/main">
                  <a14:imgLayer r:embed="rId3">
                    <a14:imgEffect>
                      <a14:brightnessContrast bright="-24000" contrast="38000"/>
                    </a14:imgEffect>
                  </a14:imgLayer>
                </a14:imgProps>
              </a:ext>
              <a:ext uri="{28A0092B-C50C-407E-A947-70E740481C1C}">
                <a14:useLocalDpi xmlns:a14="http://schemas.microsoft.com/office/drawing/2010/main" val="0"/>
              </a:ext>
            </a:extLst>
          </a:blip>
          <a:stretch>
            <a:fillRect/>
          </a:stretch>
        </p:blipFill>
        <p:spPr bwMode="auto">
          <a:xfrm>
            <a:off x="0" y="0"/>
            <a:ext cx="9144000" cy="6858000"/>
          </a:xfrm>
          <a:prstGeom prst="rect">
            <a:avLst/>
          </a:prstGeom>
        </p:spPr>
      </p:pic>
      <p:sp>
        <p:nvSpPr>
          <p:cNvPr id="2" name="Title 1"/>
          <p:cNvSpPr>
            <a:spLocks noGrp="1"/>
          </p:cNvSpPr>
          <p:nvPr>
            <p:ph type="title" hasCustomPrompt="1"/>
          </p:nvPr>
        </p:nvSpPr>
        <p:spPr bwMode="white">
          <a:xfrm>
            <a:off x="381000" y="152400"/>
            <a:ext cx="8375904" cy="1143000"/>
          </a:xfrm>
        </p:spPr>
        <p:txBody>
          <a:bodyPr/>
          <a:lstStyle>
            <a:lvl1pPr>
              <a:defRPr>
                <a:solidFill>
                  <a:schemeClr val="bg1"/>
                </a:solidFill>
              </a:defRPr>
            </a:lvl1pPr>
          </a:lstStyle>
          <a:p>
            <a:r>
              <a:t>Click to add title: Table of Contents, Agenda, etc</a:t>
            </a:r>
          </a:p>
        </p:txBody>
      </p:sp>
      <p:sp>
        <p:nvSpPr>
          <p:cNvPr id="3" name="Date Placeholder 2"/>
          <p:cNvSpPr>
            <a:spLocks noGrp="1"/>
          </p:cNvSpPr>
          <p:nvPr>
            <p:ph type="dt" sz="half" idx="10"/>
          </p:nvPr>
        </p:nvSpPr>
        <p:spPr bwMode="white"/>
        <p:txBody>
          <a:bodyPr/>
          <a:lstStyle>
            <a:lvl1pPr>
              <a:defRPr>
                <a:solidFill>
                  <a:schemeClr val="bg1"/>
                </a:solidFill>
              </a:defRPr>
            </a:lvl1pPr>
          </a:lstStyle>
          <a:p>
            <a:endParaRPr/>
          </a:p>
        </p:txBody>
      </p:sp>
      <p:sp>
        <p:nvSpPr>
          <p:cNvPr id="4" name="Footer Placeholder 3"/>
          <p:cNvSpPr>
            <a:spLocks noGrp="1"/>
          </p:cNvSpPr>
          <p:nvPr>
            <p:ph type="ftr" sz="quarter" idx="11"/>
          </p:nvPr>
        </p:nvSpPr>
        <p:spPr bwMode="white"/>
        <p:txBody>
          <a:bodyPr/>
          <a:lstStyle>
            <a:lvl1pPr>
              <a:defRPr>
                <a:solidFill>
                  <a:schemeClr val="bg1"/>
                </a:solidFill>
              </a:defRPr>
            </a:lvl1pPr>
          </a:lstStyle>
          <a:p>
            <a:r>
              <a:rPr lang="en-US" dirty="0"/>
              <a:t>Copyright © 2013 CFA Institute</a:t>
            </a:r>
            <a:endParaRPr dirty="0"/>
          </a:p>
        </p:txBody>
      </p:sp>
      <p:sp>
        <p:nvSpPr>
          <p:cNvPr id="5" name="Slide Number Placeholder 4"/>
          <p:cNvSpPr>
            <a:spLocks noGrp="1"/>
          </p:cNvSpPr>
          <p:nvPr>
            <p:ph type="sldNum" sz="quarter" idx="12"/>
          </p:nvPr>
        </p:nvSpPr>
        <p:spPr bwMode="white"/>
        <p:txBody>
          <a:bodyPr/>
          <a:lstStyle>
            <a:lvl1pPr>
              <a:defRPr>
                <a:solidFill>
                  <a:schemeClr val="bg1"/>
                </a:solidFill>
              </a:defRPr>
            </a:lvl1pPr>
          </a:lstStyle>
          <a:p>
            <a:fld id="{4E4A4924-7CC3-4BF6-9C5C-A8E770D15754}" type="slidenum">
              <a:rPr/>
              <a:pPr/>
              <a:t>‹#›</a:t>
            </a:fld>
            <a:endParaRPr/>
          </a:p>
        </p:txBody>
      </p:sp>
      <p:sp>
        <p:nvSpPr>
          <p:cNvPr id="7" name="Text Placeholder 6"/>
          <p:cNvSpPr>
            <a:spLocks noGrp="1"/>
          </p:cNvSpPr>
          <p:nvPr>
            <p:ph type="body" sz="quarter" idx="13" hasCustomPrompt="1"/>
          </p:nvPr>
        </p:nvSpPr>
        <p:spPr bwMode="white">
          <a:xfrm>
            <a:off x="381000" y="1522809"/>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8" name="Text Placeholder 6"/>
          <p:cNvSpPr>
            <a:spLocks noGrp="1"/>
          </p:cNvSpPr>
          <p:nvPr>
            <p:ph type="body" sz="quarter" idx="14" hasCustomPrompt="1"/>
          </p:nvPr>
        </p:nvSpPr>
        <p:spPr bwMode="white">
          <a:xfrm>
            <a:off x="813762" y="1522809"/>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6" name="Text Placeholder 6"/>
          <p:cNvSpPr>
            <a:spLocks noGrp="1"/>
          </p:cNvSpPr>
          <p:nvPr>
            <p:ph type="body" sz="quarter" idx="15" hasCustomPrompt="1"/>
          </p:nvPr>
        </p:nvSpPr>
        <p:spPr bwMode="white">
          <a:xfrm>
            <a:off x="381000" y="1908639"/>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7" name="Text Placeholder 6"/>
          <p:cNvSpPr>
            <a:spLocks noGrp="1"/>
          </p:cNvSpPr>
          <p:nvPr>
            <p:ph type="body" sz="quarter" idx="16" hasCustomPrompt="1"/>
          </p:nvPr>
        </p:nvSpPr>
        <p:spPr bwMode="white">
          <a:xfrm>
            <a:off x="813762" y="1908639"/>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8" name="Text Placeholder 6"/>
          <p:cNvSpPr>
            <a:spLocks noGrp="1"/>
          </p:cNvSpPr>
          <p:nvPr>
            <p:ph type="body" sz="quarter" idx="17" hasCustomPrompt="1"/>
          </p:nvPr>
        </p:nvSpPr>
        <p:spPr bwMode="white">
          <a:xfrm>
            <a:off x="381000" y="2295144"/>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9" name="Text Placeholder 6"/>
          <p:cNvSpPr>
            <a:spLocks noGrp="1"/>
          </p:cNvSpPr>
          <p:nvPr>
            <p:ph type="body" sz="quarter" idx="18" hasCustomPrompt="1"/>
          </p:nvPr>
        </p:nvSpPr>
        <p:spPr bwMode="white">
          <a:xfrm>
            <a:off x="813762" y="2295144"/>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0" name="Text Placeholder 6"/>
          <p:cNvSpPr>
            <a:spLocks noGrp="1"/>
          </p:cNvSpPr>
          <p:nvPr>
            <p:ph type="body" sz="quarter" idx="19" hasCustomPrompt="1"/>
          </p:nvPr>
        </p:nvSpPr>
        <p:spPr bwMode="white">
          <a:xfrm>
            <a:off x="381000" y="2679192"/>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1" name="Text Placeholder 6"/>
          <p:cNvSpPr>
            <a:spLocks noGrp="1"/>
          </p:cNvSpPr>
          <p:nvPr>
            <p:ph type="body" sz="quarter" idx="20" hasCustomPrompt="1"/>
          </p:nvPr>
        </p:nvSpPr>
        <p:spPr bwMode="white">
          <a:xfrm>
            <a:off x="813762" y="2679192"/>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2" name="Text Placeholder 6"/>
          <p:cNvSpPr>
            <a:spLocks noGrp="1"/>
          </p:cNvSpPr>
          <p:nvPr>
            <p:ph type="body" sz="quarter" idx="21" hasCustomPrompt="1"/>
          </p:nvPr>
        </p:nvSpPr>
        <p:spPr bwMode="white">
          <a:xfrm>
            <a:off x="381000" y="3063240"/>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3" name="Text Placeholder 6"/>
          <p:cNvSpPr>
            <a:spLocks noGrp="1"/>
          </p:cNvSpPr>
          <p:nvPr>
            <p:ph type="body" sz="quarter" idx="22" hasCustomPrompt="1"/>
          </p:nvPr>
        </p:nvSpPr>
        <p:spPr bwMode="white">
          <a:xfrm>
            <a:off x="813762" y="3063240"/>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8" name="Text Placeholder 6"/>
          <p:cNvSpPr>
            <a:spLocks noGrp="1"/>
          </p:cNvSpPr>
          <p:nvPr>
            <p:ph type="body" sz="quarter" idx="23" hasCustomPrompt="1"/>
          </p:nvPr>
        </p:nvSpPr>
        <p:spPr bwMode="white">
          <a:xfrm>
            <a:off x="4648200" y="1522809"/>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9" name="Text Placeholder 6"/>
          <p:cNvSpPr>
            <a:spLocks noGrp="1"/>
          </p:cNvSpPr>
          <p:nvPr>
            <p:ph type="body" sz="quarter" idx="24" hasCustomPrompt="1"/>
          </p:nvPr>
        </p:nvSpPr>
        <p:spPr bwMode="white">
          <a:xfrm>
            <a:off x="5080962" y="1522809"/>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0" name="Text Placeholder 6"/>
          <p:cNvSpPr>
            <a:spLocks noGrp="1"/>
          </p:cNvSpPr>
          <p:nvPr>
            <p:ph type="body" sz="quarter" idx="25" hasCustomPrompt="1"/>
          </p:nvPr>
        </p:nvSpPr>
        <p:spPr bwMode="white">
          <a:xfrm>
            <a:off x="4648200" y="1908639"/>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1" name="Text Placeholder 6"/>
          <p:cNvSpPr>
            <a:spLocks noGrp="1"/>
          </p:cNvSpPr>
          <p:nvPr>
            <p:ph type="body" sz="quarter" idx="26" hasCustomPrompt="1"/>
          </p:nvPr>
        </p:nvSpPr>
        <p:spPr bwMode="white">
          <a:xfrm>
            <a:off x="5080962" y="1908639"/>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2" name="Text Placeholder 6"/>
          <p:cNvSpPr>
            <a:spLocks noGrp="1"/>
          </p:cNvSpPr>
          <p:nvPr>
            <p:ph type="body" sz="quarter" idx="27" hasCustomPrompt="1"/>
          </p:nvPr>
        </p:nvSpPr>
        <p:spPr bwMode="white">
          <a:xfrm>
            <a:off x="4648200" y="2295144"/>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3" name="Text Placeholder 6"/>
          <p:cNvSpPr>
            <a:spLocks noGrp="1"/>
          </p:cNvSpPr>
          <p:nvPr>
            <p:ph type="body" sz="quarter" idx="28" hasCustomPrompt="1"/>
          </p:nvPr>
        </p:nvSpPr>
        <p:spPr bwMode="white">
          <a:xfrm>
            <a:off x="5080962" y="2295144"/>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4" name="Text Placeholder 6"/>
          <p:cNvSpPr>
            <a:spLocks noGrp="1"/>
          </p:cNvSpPr>
          <p:nvPr>
            <p:ph type="body" sz="quarter" idx="29" hasCustomPrompt="1"/>
          </p:nvPr>
        </p:nvSpPr>
        <p:spPr bwMode="white">
          <a:xfrm>
            <a:off x="4648200" y="2679192"/>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5" name="Text Placeholder 6"/>
          <p:cNvSpPr>
            <a:spLocks noGrp="1"/>
          </p:cNvSpPr>
          <p:nvPr>
            <p:ph type="body" sz="quarter" idx="30" hasCustomPrompt="1"/>
          </p:nvPr>
        </p:nvSpPr>
        <p:spPr bwMode="white">
          <a:xfrm>
            <a:off x="5080962" y="2679192"/>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6" name="Text Placeholder 6"/>
          <p:cNvSpPr>
            <a:spLocks noGrp="1"/>
          </p:cNvSpPr>
          <p:nvPr>
            <p:ph type="body" sz="quarter" idx="31" hasCustomPrompt="1"/>
          </p:nvPr>
        </p:nvSpPr>
        <p:spPr bwMode="white">
          <a:xfrm>
            <a:off x="4648200" y="3063240"/>
            <a:ext cx="438912" cy="274320"/>
          </a:xfrm>
        </p:spPr>
        <p:txBody>
          <a:bodyPr tIns="0" bIns="0" anchor="ctr">
            <a:noAutofit/>
          </a:bodyPr>
          <a:lstStyle>
            <a:lvl1pPr marL="0" indent="0" algn="r">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7" name="Text Placeholder 6"/>
          <p:cNvSpPr>
            <a:spLocks noGrp="1"/>
          </p:cNvSpPr>
          <p:nvPr>
            <p:ph type="body" sz="quarter" idx="32" hasCustomPrompt="1"/>
          </p:nvPr>
        </p:nvSpPr>
        <p:spPr bwMode="white">
          <a:xfrm>
            <a:off x="5080962" y="3063240"/>
            <a:ext cx="3682038" cy="274320"/>
          </a:xfrm>
        </p:spPr>
        <p:txBody>
          <a:bodyPr tIns="0" bIns="0" anchor="ctr">
            <a:noAutofit/>
          </a:bodyPr>
          <a:lstStyle>
            <a:lvl1pPr marL="0" indent="0">
              <a:spcBef>
                <a:spcPts val="0"/>
              </a:spcBef>
              <a:buNone/>
              <a:defRPr>
                <a:solidFill>
                  <a:schemeClr val="bg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pic>
        <p:nvPicPr>
          <p:cNvPr id="30" name="slu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4818" y="6567477"/>
            <a:ext cx="786384" cy="102428"/>
          </a:xfrm>
          <a:prstGeom prst="rect">
            <a:avLst/>
          </a:prstGeom>
        </p:spPr>
      </p:pic>
    </p:spTree>
    <p:extLst>
      <p:ext uri="{BB962C8B-B14F-4D97-AF65-F5344CB8AC3E}">
        <p14:creationId xmlns:p14="http://schemas.microsoft.com/office/powerpoint/2010/main" val="4047174768"/>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2-Column TOC Pix3">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p:spPr>
      </p:pic>
      <p:sp>
        <p:nvSpPr>
          <p:cNvPr id="2" name="Title 1"/>
          <p:cNvSpPr>
            <a:spLocks noGrp="1"/>
          </p:cNvSpPr>
          <p:nvPr>
            <p:ph type="title" hasCustomPrompt="1"/>
          </p:nvPr>
        </p:nvSpPr>
        <p:spPr bwMode="white">
          <a:xfrm>
            <a:off x="381000" y="152400"/>
            <a:ext cx="8375904" cy="1143000"/>
          </a:xfrm>
        </p:spPr>
        <p:txBody>
          <a:bodyPr/>
          <a:lstStyle>
            <a:lvl1pPr>
              <a:defRPr>
                <a:solidFill>
                  <a:schemeClr val="tx1"/>
                </a:solidFill>
              </a:defRPr>
            </a:lvl1pPr>
          </a:lstStyle>
          <a:p>
            <a:r>
              <a:t>Click to add title: Table of Contents, Agenda, etc</a:t>
            </a:r>
          </a:p>
        </p:txBody>
      </p:sp>
      <p:sp>
        <p:nvSpPr>
          <p:cNvPr id="3" name="Date Placeholder 2"/>
          <p:cNvSpPr>
            <a:spLocks noGrp="1"/>
          </p:cNvSpPr>
          <p:nvPr>
            <p:ph type="dt" sz="half" idx="10"/>
          </p:nvPr>
        </p:nvSpPr>
        <p:spPr bwMode="white"/>
        <p:txBody>
          <a:bodyPr/>
          <a:lstStyle>
            <a:lvl1pPr>
              <a:defRPr>
                <a:solidFill>
                  <a:schemeClr val="tx1"/>
                </a:solidFill>
              </a:defRPr>
            </a:lvl1pPr>
          </a:lstStyle>
          <a:p>
            <a:endParaRPr/>
          </a:p>
        </p:txBody>
      </p:sp>
      <p:sp>
        <p:nvSpPr>
          <p:cNvPr id="4" name="Footer Placeholder 3"/>
          <p:cNvSpPr>
            <a:spLocks noGrp="1"/>
          </p:cNvSpPr>
          <p:nvPr>
            <p:ph type="ftr" sz="quarter" idx="11"/>
          </p:nvPr>
        </p:nvSpPr>
        <p:spPr bwMode="white"/>
        <p:txBody>
          <a:bodyPr/>
          <a:lstStyle>
            <a:lvl1pPr>
              <a:defRPr>
                <a:solidFill>
                  <a:schemeClr val="tx1"/>
                </a:solidFill>
              </a:defRPr>
            </a:lvl1pPr>
          </a:lstStyle>
          <a:p>
            <a:r>
              <a:rPr lang="en-US" dirty="0"/>
              <a:t>Copyright © 2013 CFA Institute</a:t>
            </a:r>
            <a:endParaRPr dirty="0"/>
          </a:p>
        </p:txBody>
      </p:sp>
      <p:sp>
        <p:nvSpPr>
          <p:cNvPr id="5" name="Slide Number Placeholder 4"/>
          <p:cNvSpPr>
            <a:spLocks noGrp="1"/>
          </p:cNvSpPr>
          <p:nvPr>
            <p:ph type="sldNum" sz="quarter" idx="12"/>
          </p:nvPr>
        </p:nvSpPr>
        <p:spPr bwMode="white"/>
        <p:txBody>
          <a:bodyPr/>
          <a:lstStyle>
            <a:lvl1pPr>
              <a:defRPr>
                <a:solidFill>
                  <a:schemeClr val="tx1"/>
                </a:solidFill>
              </a:defRPr>
            </a:lvl1pPr>
          </a:lstStyle>
          <a:p>
            <a:fld id="{4E4A4924-7CC3-4BF6-9C5C-A8E770D15754}" type="slidenum">
              <a:rPr/>
              <a:pPr/>
              <a:t>‹#›</a:t>
            </a:fld>
            <a:endParaRPr/>
          </a:p>
        </p:txBody>
      </p:sp>
      <p:sp>
        <p:nvSpPr>
          <p:cNvPr id="7" name="Text Placeholder 6"/>
          <p:cNvSpPr>
            <a:spLocks noGrp="1"/>
          </p:cNvSpPr>
          <p:nvPr>
            <p:ph type="body" sz="quarter" idx="13" hasCustomPrompt="1"/>
          </p:nvPr>
        </p:nvSpPr>
        <p:spPr bwMode="white">
          <a:xfrm>
            <a:off x="381000" y="152280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8" name="Text Placeholder 6"/>
          <p:cNvSpPr>
            <a:spLocks noGrp="1"/>
          </p:cNvSpPr>
          <p:nvPr>
            <p:ph type="body" sz="quarter" idx="14" hasCustomPrompt="1"/>
          </p:nvPr>
        </p:nvSpPr>
        <p:spPr bwMode="white">
          <a:xfrm>
            <a:off x="813762" y="1522809"/>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6" name="Text Placeholder 6"/>
          <p:cNvSpPr>
            <a:spLocks noGrp="1"/>
          </p:cNvSpPr>
          <p:nvPr>
            <p:ph type="body" sz="quarter" idx="15" hasCustomPrompt="1"/>
          </p:nvPr>
        </p:nvSpPr>
        <p:spPr bwMode="white">
          <a:xfrm>
            <a:off x="381000" y="190863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7" name="Text Placeholder 6"/>
          <p:cNvSpPr>
            <a:spLocks noGrp="1"/>
          </p:cNvSpPr>
          <p:nvPr>
            <p:ph type="body" sz="quarter" idx="16" hasCustomPrompt="1"/>
          </p:nvPr>
        </p:nvSpPr>
        <p:spPr bwMode="white">
          <a:xfrm>
            <a:off x="813762" y="1908639"/>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18" name="Text Placeholder 6"/>
          <p:cNvSpPr>
            <a:spLocks noGrp="1"/>
          </p:cNvSpPr>
          <p:nvPr>
            <p:ph type="body" sz="quarter" idx="17" hasCustomPrompt="1"/>
          </p:nvPr>
        </p:nvSpPr>
        <p:spPr bwMode="white">
          <a:xfrm>
            <a:off x="381000" y="229514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19" name="Text Placeholder 6"/>
          <p:cNvSpPr>
            <a:spLocks noGrp="1"/>
          </p:cNvSpPr>
          <p:nvPr>
            <p:ph type="body" sz="quarter" idx="18" hasCustomPrompt="1"/>
          </p:nvPr>
        </p:nvSpPr>
        <p:spPr bwMode="white">
          <a:xfrm>
            <a:off x="813762" y="2295144"/>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0" name="Text Placeholder 6"/>
          <p:cNvSpPr>
            <a:spLocks noGrp="1"/>
          </p:cNvSpPr>
          <p:nvPr>
            <p:ph type="body" sz="quarter" idx="19" hasCustomPrompt="1"/>
          </p:nvPr>
        </p:nvSpPr>
        <p:spPr bwMode="white">
          <a:xfrm>
            <a:off x="381000" y="267919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1" name="Text Placeholder 6"/>
          <p:cNvSpPr>
            <a:spLocks noGrp="1"/>
          </p:cNvSpPr>
          <p:nvPr>
            <p:ph type="body" sz="quarter" idx="20" hasCustomPrompt="1"/>
          </p:nvPr>
        </p:nvSpPr>
        <p:spPr bwMode="white">
          <a:xfrm>
            <a:off x="813762" y="2679192"/>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2" name="Text Placeholder 6"/>
          <p:cNvSpPr>
            <a:spLocks noGrp="1"/>
          </p:cNvSpPr>
          <p:nvPr>
            <p:ph type="body" sz="quarter" idx="21" hasCustomPrompt="1"/>
          </p:nvPr>
        </p:nvSpPr>
        <p:spPr bwMode="white">
          <a:xfrm>
            <a:off x="381000" y="306324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23" name="Text Placeholder 6"/>
          <p:cNvSpPr>
            <a:spLocks noGrp="1"/>
          </p:cNvSpPr>
          <p:nvPr>
            <p:ph type="body" sz="quarter" idx="22" hasCustomPrompt="1"/>
          </p:nvPr>
        </p:nvSpPr>
        <p:spPr bwMode="white">
          <a:xfrm>
            <a:off x="813762" y="3063240"/>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29" name="Text Placeholder 6"/>
          <p:cNvSpPr>
            <a:spLocks noGrp="1"/>
          </p:cNvSpPr>
          <p:nvPr>
            <p:ph type="body" sz="quarter" idx="33" hasCustomPrompt="1"/>
          </p:nvPr>
        </p:nvSpPr>
        <p:spPr bwMode="white">
          <a:xfrm>
            <a:off x="381000" y="3447288"/>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0" name="Text Placeholder 6"/>
          <p:cNvSpPr>
            <a:spLocks noGrp="1"/>
          </p:cNvSpPr>
          <p:nvPr>
            <p:ph type="body" sz="quarter" idx="34" hasCustomPrompt="1"/>
          </p:nvPr>
        </p:nvSpPr>
        <p:spPr bwMode="white">
          <a:xfrm>
            <a:off x="813762" y="3447288"/>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8" name="Text Placeholder 6"/>
          <p:cNvSpPr>
            <a:spLocks noGrp="1"/>
          </p:cNvSpPr>
          <p:nvPr>
            <p:ph type="body" sz="quarter" idx="23" hasCustomPrompt="1"/>
          </p:nvPr>
        </p:nvSpPr>
        <p:spPr bwMode="white">
          <a:xfrm>
            <a:off x="4648200" y="152280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9" name="Text Placeholder 6"/>
          <p:cNvSpPr>
            <a:spLocks noGrp="1"/>
          </p:cNvSpPr>
          <p:nvPr>
            <p:ph type="body" sz="quarter" idx="24" hasCustomPrompt="1"/>
          </p:nvPr>
        </p:nvSpPr>
        <p:spPr bwMode="white">
          <a:xfrm>
            <a:off x="5080962" y="1522809"/>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0" name="Text Placeholder 6"/>
          <p:cNvSpPr>
            <a:spLocks noGrp="1"/>
          </p:cNvSpPr>
          <p:nvPr>
            <p:ph type="body" sz="quarter" idx="25" hasCustomPrompt="1"/>
          </p:nvPr>
        </p:nvSpPr>
        <p:spPr bwMode="white">
          <a:xfrm>
            <a:off x="4648200" y="1908639"/>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1" name="Text Placeholder 6"/>
          <p:cNvSpPr>
            <a:spLocks noGrp="1"/>
          </p:cNvSpPr>
          <p:nvPr>
            <p:ph type="body" sz="quarter" idx="26" hasCustomPrompt="1"/>
          </p:nvPr>
        </p:nvSpPr>
        <p:spPr bwMode="white">
          <a:xfrm>
            <a:off x="5080962" y="1908639"/>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2" name="Text Placeholder 6"/>
          <p:cNvSpPr>
            <a:spLocks noGrp="1"/>
          </p:cNvSpPr>
          <p:nvPr>
            <p:ph type="body" sz="quarter" idx="27" hasCustomPrompt="1"/>
          </p:nvPr>
        </p:nvSpPr>
        <p:spPr bwMode="white">
          <a:xfrm>
            <a:off x="4648200" y="2295144"/>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3" name="Text Placeholder 6"/>
          <p:cNvSpPr>
            <a:spLocks noGrp="1"/>
          </p:cNvSpPr>
          <p:nvPr>
            <p:ph type="body" sz="quarter" idx="28" hasCustomPrompt="1"/>
          </p:nvPr>
        </p:nvSpPr>
        <p:spPr bwMode="white">
          <a:xfrm>
            <a:off x="5080962" y="2295144"/>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4" name="Text Placeholder 6"/>
          <p:cNvSpPr>
            <a:spLocks noGrp="1"/>
          </p:cNvSpPr>
          <p:nvPr>
            <p:ph type="body" sz="quarter" idx="29" hasCustomPrompt="1"/>
          </p:nvPr>
        </p:nvSpPr>
        <p:spPr bwMode="white">
          <a:xfrm>
            <a:off x="4648200" y="2679192"/>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5" name="Text Placeholder 6"/>
          <p:cNvSpPr>
            <a:spLocks noGrp="1"/>
          </p:cNvSpPr>
          <p:nvPr>
            <p:ph type="body" sz="quarter" idx="30" hasCustomPrompt="1"/>
          </p:nvPr>
        </p:nvSpPr>
        <p:spPr bwMode="white">
          <a:xfrm>
            <a:off x="5080962" y="2679192"/>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46" name="Text Placeholder 6"/>
          <p:cNvSpPr>
            <a:spLocks noGrp="1"/>
          </p:cNvSpPr>
          <p:nvPr>
            <p:ph type="body" sz="quarter" idx="31" hasCustomPrompt="1"/>
          </p:nvPr>
        </p:nvSpPr>
        <p:spPr bwMode="white">
          <a:xfrm>
            <a:off x="4648200" y="3063240"/>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47" name="Text Placeholder 6"/>
          <p:cNvSpPr>
            <a:spLocks noGrp="1"/>
          </p:cNvSpPr>
          <p:nvPr>
            <p:ph type="body" sz="quarter" idx="32" hasCustomPrompt="1"/>
          </p:nvPr>
        </p:nvSpPr>
        <p:spPr bwMode="white">
          <a:xfrm>
            <a:off x="5080962" y="3063240"/>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sp>
        <p:nvSpPr>
          <p:cNvPr id="31" name="Text Placeholder 6"/>
          <p:cNvSpPr>
            <a:spLocks noGrp="1"/>
          </p:cNvSpPr>
          <p:nvPr>
            <p:ph type="body" sz="quarter" idx="35" hasCustomPrompt="1"/>
          </p:nvPr>
        </p:nvSpPr>
        <p:spPr bwMode="white">
          <a:xfrm>
            <a:off x="4648200" y="3447288"/>
            <a:ext cx="438912" cy="274320"/>
          </a:xfrm>
        </p:spPr>
        <p:txBody>
          <a:bodyPr tIns="0" bIns="0" anchor="ctr">
            <a:noAutofit/>
          </a:bodyPr>
          <a:lstStyle>
            <a:lvl1pPr marL="0" indent="0" algn="r">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a:t>
            </a:r>
          </a:p>
        </p:txBody>
      </p:sp>
      <p:sp>
        <p:nvSpPr>
          <p:cNvPr id="32" name="Text Placeholder 6"/>
          <p:cNvSpPr>
            <a:spLocks noGrp="1"/>
          </p:cNvSpPr>
          <p:nvPr>
            <p:ph type="body" sz="quarter" idx="36" hasCustomPrompt="1"/>
          </p:nvPr>
        </p:nvSpPr>
        <p:spPr bwMode="white">
          <a:xfrm>
            <a:off x="5080962" y="3447288"/>
            <a:ext cx="3682038" cy="274320"/>
          </a:xfrm>
        </p:spPr>
        <p:txBody>
          <a:bodyPr tIns="0" bIns="0" anchor="ctr">
            <a:noAutofit/>
          </a:bodyPr>
          <a:lstStyle>
            <a:lvl1pPr marL="0" indent="0">
              <a:spcBef>
                <a:spcPts val="0"/>
              </a:spcBef>
              <a:buNone/>
              <a:defRPr>
                <a:solidFill>
                  <a:schemeClr val="tx1"/>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t>TOC item</a:t>
            </a:r>
          </a:p>
        </p:txBody>
      </p:sp>
      <p:pic>
        <p:nvPicPr>
          <p:cNvPr id="34" name="slu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18" y="6567477"/>
            <a:ext cx="786384" cy="102428"/>
          </a:xfrm>
          <a:prstGeom prst="rect">
            <a:avLst/>
          </a:prstGeom>
        </p:spPr>
      </p:pic>
    </p:spTree>
    <p:extLst>
      <p:ext uri="{BB962C8B-B14F-4D97-AF65-F5344CB8AC3E}">
        <p14:creationId xmlns:p14="http://schemas.microsoft.com/office/powerpoint/2010/main" val="3271635717"/>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p:cNvSpPr/>
          <p:nvPr/>
        </p:nvSpPr>
        <p:spPr>
          <a:xfrm>
            <a:off x="2407447" y="0"/>
            <a:ext cx="6537236" cy="4168588"/>
          </a:xfrm>
          <a:prstGeom prst="rect">
            <a:avLst/>
          </a:prstGeom>
          <a:gradFill flip="none" rotWithShape="1">
            <a:gsLst>
              <a:gs pos="0">
                <a:schemeClr val="accent1"/>
              </a:gs>
              <a:gs pos="100000">
                <a:srgbClr val="FFFFFF"/>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1" name="Rectangle 10"/>
          <p:cNvSpPr/>
          <p:nvPr/>
        </p:nvSpPr>
        <p:spPr>
          <a:xfrm rot="16200000">
            <a:off x="5875248" y="905922"/>
            <a:ext cx="490245" cy="6059504"/>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grpSp>
        <p:nvGrpSpPr>
          <p:cNvPr id="16" name="Group 15"/>
          <p:cNvGrpSpPr/>
          <p:nvPr userDrawn="1"/>
        </p:nvGrpSpPr>
        <p:grpSpPr>
          <a:xfrm>
            <a:off x="295443" y="13447"/>
            <a:ext cx="8766885" cy="5073487"/>
            <a:chOff x="295443" y="13447"/>
            <a:chExt cx="8766885" cy="5073487"/>
          </a:xfrm>
        </p:grpSpPr>
        <p:sp>
          <p:nvSpPr>
            <p:cNvPr id="9" name="Rectangle 8"/>
            <p:cNvSpPr/>
            <p:nvPr/>
          </p:nvSpPr>
          <p:spPr>
            <a:xfrm>
              <a:off x="295443" y="13447"/>
              <a:ext cx="18626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0" name="TextBox 9"/>
            <p:cNvSpPr txBox="1"/>
            <p:nvPr/>
          </p:nvSpPr>
          <p:spPr>
            <a:xfrm>
              <a:off x="2452277" y="3664895"/>
              <a:ext cx="774427" cy="584776"/>
            </a:xfrm>
            <a:prstGeom prst="rect">
              <a:avLst/>
            </a:prstGeom>
            <a:noFill/>
          </p:spPr>
          <p:txBody>
            <a:bodyPr wrap="square" rtlCol="0">
              <a:spAutoFit/>
            </a:bodyPr>
            <a:lstStyle/>
            <a:p>
              <a:pPr defTabSz="457200"/>
              <a:r>
                <a:rPr lang="en-US" sz="3200" dirty="0">
                  <a:solidFill>
                    <a:srgbClr val="4F81BD"/>
                  </a:solidFill>
                </a:rPr>
                <a:t>9e</a:t>
              </a:r>
            </a:p>
          </p:txBody>
        </p:sp>
        <p:sp>
          <p:nvSpPr>
            <p:cNvPr id="12" name="Title 1"/>
            <p:cNvSpPr txBox="1">
              <a:spLocks/>
            </p:cNvSpPr>
            <p:nvPr/>
          </p:nvSpPr>
          <p:spPr>
            <a:xfrm>
              <a:off x="2315985" y="2761960"/>
              <a:ext cx="6746343" cy="1048684"/>
            </a:xfrm>
            <a:prstGeom prst="rect">
              <a:avLst/>
            </a:prstGeom>
            <a:effectLst>
              <a:outerShdw blurRad="50800" dist="38100" dir="2700000" algn="tl" rotWithShape="0">
                <a:prstClr val="black">
                  <a:alpha val="40000"/>
                </a:prstClr>
              </a:outerShdw>
            </a:effectLst>
          </p:spPr>
          <p:txBody>
            <a:bodyPr vert="horz" lIns="91440" tIns="45720" rIns="91440" bIns="45720" rtlCol="0" anchor="b" anchorCtr="0">
              <a:noAutofit/>
            </a:bodyPr>
            <a:lstStyle>
              <a:lvl1pPr algn="l" defTabSz="914400" rtl="0" eaLnBrk="1" latinLnBrk="0" hangingPunct="1">
                <a:spcBef>
                  <a:spcPct val="0"/>
                </a:spcBef>
                <a:buNone/>
                <a:defRPr sz="4600" kern="1200" baseline="0">
                  <a:solidFill>
                    <a:schemeClr val="accent1"/>
                  </a:solidFill>
                  <a:latin typeface="+mj-lt"/>
                  <a:ea typeface="+mj-ea"/>
                  <a:cs typeface="+mj-cs"/>
                </a:defRPr>
              </a:lvl1pPr>
            </a:lstStyle>
            <a:p>
              <a:r>
                <a:rPr lang="en-US" sz="5900" b="1" dirty="0">
                  <a:solidFill>
                    <a:srgbClr val="4F81BD"/>
                  </a:solidFill>
                  <a:cs typeface="Calibri"/>
                </a:rPr>
                <a:t>Financial Accounting</a:t>
              </a:r>
            </a:p>
          </p:txBody>
        </p:sp>
        <p:sp>
          <p:nvSpPr>
            <p:cNvPr id="13" name="Subtitle 2"/>
            <p:cNvSpPr txBox="1">
              <a:spLocks/>
            </p:cNvSpPr>
            <p:nvPr/>
          </p:nvSpPr>
          <p:spPr>
            <a:xfrm>
              <a:off x="2452277" y="4465142"/>
              <a:ext cx="5559873" cy="621792"/>
            </a:xfrm>
            <a:prstGeom prst="rect">
              <a:avLst/>
            </a:prstGeo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buClr>
                  <a:srgbClr val="4F81BD"/>
                </a:buClr>
              </a:pPr>
              <a:r>
                <a:rPr lang="en-US" sz="3200" dirty="0">
                  <a:solidFill>
                    <a:srgbClr val="622233"/>
                  </a:solidFill>
                </a:rPr>
                <a:t>Libby • Libby • Hodge</a:t>
              </a:r>
            </a:p>
          </p:txBody>
        </p:sp>
        <p:sp>
          <p:nvSpPr>
            <p:cNvPr id="14" name="TextBox 13"/>
            <p:cNvSpPr txBox="1"/>
            <p:nvPr/>
          </p:nvSpPr>
          <p:spPr>
            <a:xfrm>
              <a:off x="2594091" y="448969"/>
              <a:ext cx="4886804" cy="584776"/>
            </a:xfrm>
            <a:prstGeom prst="rect">
              <a:avLst/>
            </a:prstGeom>
            <a:noFill/>
            <a:effectLst>
              <a:outerShdw blurRad="50800" dist="38100" dir="2700000" algn="tl" rotWithShape="0">
                <a:prstClr val="black">
                  <a:alpha val="40000"/>
                </a:prstClr>
              </a:outerShdw>
            </a:effectLst>
          </p:spPr>
          <p:txBody>
            <a:bodyPr wrap="square" rtlCol="0">
              <a:spAutoFit/>
            </a:bodyPr>
            <a:lstStyle/>
            <a:p>
              <a:pPr defTabSz="457200"/>
              <a:r>
                <a:rPr lang="en-US" sz="3200" dirty="0">
                  <a:solidFill>
                    <a:prstClr val="white"/>
                  </a:solidFill>
                </a:rPr>
                <a:t>chapter</a:t>
              </a:r>
            </a:p>
          </p:txBody>
        </p:sp>
      </p:grpSp>
      <p:sp>
        <p:nvSpPr>
          <p:cNvPr id="2" name="Title 1"/>
          <p:cNvSpPr>
            <a:spLocks noGrp="1"/>
          </p:cNvSpPr>
          <p:nvPr userDrawn="1">
            <p:ph type="ctrTitle"/>
          </p:nvPr>
        </p:nvSpPr>
        <p:spPr>
          <a:xfrm>
            <a:off x="4060677" y="159326"/>
            <a:ext cx="4562633" cy="767027"/>
          </a:xfrm>
          <a:prstGeom prst="rect">
            <a:avLst/>
          </a:prstGeom>
          <a:effectLst>
            <a:outerShdw blurRad="50800" dist="38100" dir="2700000" algn="tl" rotWithShape="0">
              <a:srgbClr val="000000">
                <a:alpha val="40000"/>
              </a:srgbClr>
            </a:outerShdw>
          </a:effectLst>
        </p:spPr>
        <p:txBody>
          <a:bodyPr/>
          <a:lstStyle>
            <a:lvl1pPr algn="l">
              <a:defRPr sz="6000">
                <a:solidFill>
                  <a:schemeClr val="bg1"/>
                </a:solidFill>
              </a:defRPr>
            </a:lvl1pPr>
          </a:lstStyle>
          <a:p>
            <a:r>
              <a:rPr lang="en-US" dirty="0"/>
              <a:t>Click to edit</a:t>
            </a:r>
          </a:p>
        </p:txBody>
      </p:sp>
      <p:sp>
        <p:nvSpPr>
          <p:cNvPr id="4" name="Date Placeholder 3"/>
          <p:cNvSpPr>
            <a:spLocks noGrp="1"/>
          </p:cNvSpPr>
          <p:nvPr userDrawn="1">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15" name="Footer Placeholder 4"/>
          <p:cNvSpPr>
            <a:spLocks noGrp="1"/>
          </p:cNvSpPr>
          <p:nvPr>
            <p:ph type="ftr" sz="quarter" idx="3"/>
          </p:nvPr>
        </p:nvSpPr>
        <p:spPr>
          <a:xfrm>
            <a:off x="141941" y="6492875"/>
            <a:ext cx="8810212"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31205465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grpSp>
        <p:nvGrpSpPr>
          <p:cNvPr id="7" name="Group 6"/>
          <p:cNvGrpSpPr/>
          <p:nvPr userDrawn="1"/>
        </p:nvGrpSpPr>
        <p:grpSpPr>
          <a:xfrm>
            <a:off x="268940" y="0"/>
            <a:ext cx="8531878" cy="6529291"/>
            <a:chOff x="268940" y="0"/>
            <a:chExt cx="8531878" cy="6529291"/>
          </a:xfrm>
        </p:grpSpPr>
        <p:sp>
          <p:nvSpPr>
            <p:cNvPr id="8" name="Round Single Corner Rectangle 7"/>
            <p:cNvSpPr/>
            <p:nvPr/>
          </p:nvSpPr>
          <p:spPr>
            <a:xfrm>
              <a:off x="451819" y="172017"/>
              <a:ext cx="8348999" cy="6357274"/>
            </a:xfrm>
            <a:prstGeom prst="round1Rect">
              <a:avLst>
                <a:gd name="adj" fmla="val 8797"/>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
          <p:nvSpPr>
            <p:cNvPr id="9" name="Rectangle 8"/>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grpSp>
      <p:sp>
        <p:nvSpPr>
          <p:cNvPr id="5" name="Date Placeholder 3"/>
          <p:cNvSpPr>
            <a:spLocks noGrp="1"/>
          </p:cNvSpPr>
          <p:nvPr>
            <p:ph type="dt" sz="half" idx="10"/>
          </p:nvPr>
        </p:nvSpPr>
        <p:spPr>
          <a:xfrm>
            <a:off x="457200" y="6469343"/>
            <a:ext cx="1014204" cy="365125"/>
          </a:xfrm>
          <a:prstGeom prst="rect">
            <a:avLst/>
          </a:prstGeom>
        </p:spPr>
        <p:txBody>
          <a:bodyPr/>
          <a:lstStyle/>
          <a:p>
            <a:pPr defTabSz="457200"/>
            <a:endParaRPr lang="en-US" dirty="0">
              <a:solidFill>
                <a:prstClr val="black"/>
              </a:solidFill>
            </a:endParaRPr>
          </a:p>
        </p:txBody>
      </p:sp>
      <p:sp>
        <p:nvSpPr>
          <p:cNvPr id="11" name="TextBox 10"/>
          <p:cNvSpPr txBox="1"/>
          <p:nvPr userDrawn="1"/>
        </p:nvSpPr>
        <p:spPr>
          <a:xfrm>
            <a:off x="1135529" y="990138"/>
            <a:ext cx="6600469" cy="369332"/>
          </a:xfrm>
          <a:prstGeom prst="rect">
            <a:avLst/>
          </a:prstGeom>
          <a:noFill/>
        </p:spPr>
        <p:txBody>
          <a:bodyPr wrap="square" rtlCol="0">
            <a:spAutoFit/>
          </a:bodyPr>
          <a:lstStyle/>
          <a:p>
            <a:pPr defTabSz="457200"/>
            <a:r>
              <a:rPr lang="en-US" dirty="0">
                <a:solidFill>
                  <a:srgbClr val="2B8075"/>
                </a:solidFill>
              </a:rPr>
              <a:t>After studying this chapter, you should be able to:</a:t>
            </a:r>
          </a:p>
        </p:txBody>
      </p:sp>
      <p:sp>
        <p:nvSpPr>
          <p:cNvPr id="12" name="Content Placeholder 2"/>
          <p:cNvSpPr>
            <a:spLocks noGrp="1"/>
          </p:cNvSpPr>
          <p:nvPr>
            <p:ph idx="1"/>
          </p:nvPr>
        </p:nvSpPr>
        <p:spPr>
          <a:xfrm>
            <a:off x="1135528" y="1600200"/>
            <a:ext cx="7551271" cy="4525963"/>
          </a:xfrm>
          <a:prstGeom prst="rect">
            <a:avLst/>
          </a:prstGeom>
        </p:spPr>
        <p:txBody>
          <a:bodyPr/>
          <a:lstStyle>
            <a:lvl1pPr marL="0" indent="0">
              <a:buNone/>
              <a:defRPr sz="1800"/>
            </a:lvl1pPr>
            <a:lvl2pPr marL="457200" indent="0">
              <a:buFont typeface="Arial"/>
              <a:buNone/>
              <a:defRPr sz="1800"/>
            </a:lvl2pPr>
            <a:lvl3pPr marL="914400" indent="0">
              <a:buFont typeface="Arial"/>
              <a:buNone/>
              <a:defRPr sz="1800"/>
            </a:lvl3pPr>
            <a:lvl4pPr marL="1371600" indent="0">
              <a:buFont typeface="Arial"/>
              <a:buNone/>
              <a:defRPr sz="1800"/>
            </a:lvl4pPr>
            <a:lvl5pPr marL="1828800" indent="0">
              <a:buFont typeface="Arial"/>
              <a:buNone/>
              <a:defRPr sz="1800"/>
            </a:lvl5pPr>
            <a:lvl6pPr marL="2286000" indent="0">
              <a:buNone/>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userDrawn="1"/>
        </p:nvSpPr>
        <p:spPr>
          <a:xfrm>
            <a:off x="573074" y="253308"/>
            <a:ext cx="6102453" cy="769441"/>
          </a:xfrm>
          <a:prstGeom prst="rect">
            <a:avLst/>
          </a:prstGeom>
          <a:noFill/>
        </p:spPr>
        <p:txBody>
          <a:bodyPr wrap="square" rtlCol="0">
            <a:spAutoFit/>
          </a:bodyPr>
          <a:lstStyle/>
          <a:p>
            <a:pPr defTabSz="457200"/>
            <a:r>
              <a:rPr lang="en-US" sz="4400" dirty="0">
                <a:solidFill>
                  <a:prstClr val="white"/>
                </a:solidFill>
              </a:rPr>
              <a:t>Learning Objectives</a:t>
            </a:r>
            <a:endParaRPr lang="en-US" sz="4400" dirty="0">
              <a:solidFill>
                <a:prstClr val="black"/>
              </a:solidFill>
            </a:endParaRPr>
          </a:p>
        </p:txBody>
      </p:sp>
      <p:sp>
        <p:nvSpPr>
          <p:cNvPr id="10" name="Footer Placeholder 4"/>
          <p:cNvSpPr>
            <a:spLocks noGrp="1"/>
          </p:cNvSpPr>
          <p:nvPr>
            <p:ph type="ftr" sz="quarter" idx="3"/>
          </p:nvPr>
        </p:nvSpPr>
        <p:spPr>
          <a:xfrm>
            <a:off x="141941" y="6529291"/>
            <a:ext cx="8810212"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25207036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cus Compan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4638"/>
            <a:ext cx="5115859" cy="1143000"/>
          </a:xfrm>
          <a:prstGeom prst="rect">
            <a:avLst/>
          </a:prstGeom>
          <a:ln>
            <a:noFill/>
          </a:ln>
        </p:spPr>
        <p:txBody>
          <a:bodyPr/>
          <a:lstStyle>
            <a:lvl1pPr algn="l">
              <a:defRPr sz="3200">
                <a:solidFill>
                  <a:schemeClr val="accent1">
                    <a:lumMod val="75000"/>
                  </a:schemeClr>
                </a:solidFill>
              </a:defRPr>
            </a:lvl1pPr>
          </a:lstStyle>
          <a:p>
            <a:r>
              <a:rPr lang="en-US" dirty="0"/>
              <a:t>Click To Edit Master Title Style</a:t>
            </a:r>
          </a:p>
        </p:txBody>
      </p:sp>
      <p:sp>
        <p:nvSpPr>
          <p:cNvPr id="8"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grpSp>
        <p:nvGrpSpPr>
          <p:cNvPr id="6" name="Group 5"/>
          <p:cNvGrpSpPr/>
          <p:nvPr userDrawn="1"/>
        </p:nvGrpSpPr>
        <p:grpSpPr>
          <a:xfrm>
            <a:off x="268940" y="0"/>
            <a:ext cx="8571615" cy="6439497"/>
            <a:chOff x="268940" y="0"/>
            <a:chExt cx="8571615" cy="6439497"/>
          </a:xfrm>
        </p:grpSpPr>
        <p:grpSp>
          <p:nvGrpSpPr>
            <p:cNvPr id="7" name="Group 6"/>
            <p:cNvGrpSpPr/>
            <p:nvPr/>
          </p:nvGrpSpPr>
          <p:grpSpPr>
            <a:xfrm>
              <a:off x="268940" y="0"/>
              <a:ext cx="8571615" cy="6439497"/>
              <a:chOff x="268940" y="0"/>
              <a:chExt cx="8571615" cy="6439497"/>
            </a:xfrm>
          </p:grpSpPr>
          <p:sp>
            <p:nvSpPr>
              <p:cNvPr id="13" name="Rectangle 12"/>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4" name="Rectangle 13"/>
              <p:cNvSpPr/>
              <p:nvPr/>
            </p:nvSpPr>
            <p:spPr>
              <a:xfrm>
                <a:off x="8108043" y="0"/>
                <a:ext cx="732512" cy="6439497"/>
              </a:xfrm>
              <a:prstGeom prst="rect">
                <a:avLst/>
              </a:prstGeom>
              <a:solidFill>
                <a:srgbClr val="62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5" name="Oval 14"/>
              <p:cNvSpPr/>
              <p:nvPr/>
            </p:nvSpPr>
            <p:spPr>
              <a:xfrm>
                <a:off x="6273471" y="410485"/>
                <a:ext cx="2206620" cy="2206620"/>
              </a:xfrm>
              <a:prstGeom prst="ellipse">
                <a:avLst/>
              </a:prstGeom>
              <a:solidFill>
                <a:srgbClr val="FAD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grpSp>
        <p:grpSp>
          <p:nvGrpSpPr>
            <p:cNvPr id="10" name="Group 9"/>
            <p:cNvGrpSpPr/>
            <p:nvPr/>
          </p:nvGrpSpPr>
          <p:grpSpPr>
            <a:xfrm>
              <a:off x="5272794" y="692694"/>
              <a:ext cx="1950036" cy="276999"/>
              <a:chOff x="5272794" y="3809821"/>
              <a:chExt cx="1950036" cy="276999"/>
            </a:xfrm>
          </p:grpSpPr>
          <p:sp>
            <p:nvSpPr>
              <p:cNvPr id="11" name="Rectangle 10"/>
              <p:cNvSpPr/>
              <p:nvPr/>
            </p:nvSpPr>
            <p:spPr>
              <a:xfrm>
                <a:off x="5272794" y="3848305"/>
                <a:ext cx="1950036" cy="205243"/>
              </a:xfrm>
              <a:prstGeom prst="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
            <p:nvSpPr>
              <p:cNvPr id="12" name="TextBox 11"/>
              <p:cNvSpPr txBox="1"/>
              <p:nvPr/>
            </p:nvSpPr>
            <p:spPr>
              <a:xfrm>
                <a:off x="5272794" y="3809821"/>
                <a:ext cx="1834574" cy="276999"/>
              </a:xfrm>
              <a:prstGeom prst="rect">
                <a:avLst/>
              </a:prstGeom>
              <a:noFill/>
            </p:spPr>
            <p:txBody>
              <a:bodyPr wrap="square" rtlCol="0">
                <a:spAutoFit/>
              </a:bodyPr>
              <a:lstStyle/>
              <a:p>
                <a:pPr defTabSz="457200"/>
                <a:endParaRPr lang="en-US" sz="1200" dirty="0">
                  <a:solidFill>
                    <a:prstClr val="white"/>
                  </a:solidFill>
                </a:endParaRPr>
              </a:p>
            </p:txBody>
          </p:sp>
        </p:grpSp>
      </p:grpSp>
      <p:sp>
        <p:nvSpPr>
          <p:cNvPr id="16" name="Content Placeholder 2"/>
          <p:cNvSpPr>
            <a:spLocks noGrp="1"/>
          </p:cNvSpPr>
          <p:nvPr>
            <p:ph idx="1"/>
          </p:nvPr>
        </p:nvSpPr>
        <p:spPr>
          <a:xfrm>
            <a:off x="556772" y="1600200"/>
            <a:ext cx="7551271" cy="4525963"/>
          </a:xfrm>
          <a:prstGeom prst="rect">
            <a:avLst/>
          </a:prstGeom>
        </p:spPr>
        <p:txBody>
          <a:bodyPr/>
          <a:lstStyle>
            <a:lvl1pPr marL="0" indent="0">
              <a:buNone/>
              <a:defRPr sz="1800"/>
            </a:lvl1pPr>
            <a:lvl2pPr marL="457200" indent="0">
              <a:buFont typeface="Arial"/>
              <a:buNone/>
              <a:defRPr sz="1800"/>
            </a:lvl2pPr>
            <a:lvl3pPr marL="914400" indent="0">
              <a:buFont typeface="Arial"/>
              <a:buNone/>
              <a:defRPr sz="1800"/>
            </a:lvl3pPr>
            <a:lvl4pPr marL="1371600" indent="0">
              <a:buFont typeface="Arial"/>
              <a:buNone/>
              <a:defRPr sz="1800"/>
            </a:lvl4pPr>
            <a:lvl5pPr marL="1828800" indent="0">
              <a:buFont typeface="Arial"/>
              <a:buNone/>
              <a:defRPr sz="1800"/>
            </a:lvl5pPr>
            <a:lvl6pPr marL="2286000" indent="0">
              <a:buNone/>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quarter" idx="12" hasCustomPrompt="1"/>
          </p:nvPr>
        </p:nvSpPr>
        <p:spPr>
          <a:xfrm>
            <a:off x="5272218" y="692694"/>
            <a:ext cx="1835150" cy="276999"/>
          </a:xfrm>
          <a:prstGeom prst="rect">
            <a:avLst/>
          </a:prstGeom>
        </p:spPr>
        <p:txBody>
          <a:bodyPr vert="horz"/>
          <a:lstStyle>
            <a:lvl1pPr marL="0" indent="0">
              <a:buNone/>
              <a:defRPr sz="1200">
                <a:solidFill>
                  <a:srgbClr val="FFFFFF"/>
                </a:solidFill>
              </a:defRPr>
            </a:lvl1pPr>
          </a:lstStyle>
          <a:p>
            <a:pPr lvl="0"/>
            <a:r>
              <a:rPr lang="en-US" dirty="0"/>
              <a:t>CLICK TO EDIT</a:t>
            </a:r>
          </a:p>
        </p:txBody>
      </p:sp>
      <p:sp>
        <p:nvSpPr>
          <p:cNvPr id="17" name="Footer Placeholder 4"/>
          <p:cNvSpPr>
            <a:spLocks noGrp="1"/>
          </p:cNvSpPr>
          <p:nvPr>
            <p:ph type="ftr" sz="quarter" idx="3"/>
          </p:nvPr>
        </p:nvSpPr>
        <p:spPr>
          <a:xfrm>
            <a:off x="141941" y="6553200"/>
            <a:ext cx="8810212"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173675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ecture with Do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057153" cy="1143000"/>
          </a:xfrm>
          <a:prstGeom prst="rect">
            <a:avLst/>
          </a:prstGeom>
          <a:ln>
            <a:noFill/>
          </a:ln>
        </p:spPr>
        <p:txBody>
          <a:bodyPr/>
          <a:lstStyle>
            <a:lvl1pPr algn="l">
              <a:defRPr sz="3200">
                <a:solidFill>
                  <a:schemeClr val="accent1">
                    <a:lumMod val="75000"/>
                  </a:schemeClr>
                </a:solidFill>
              </a:defRPr>
            </a:lvl1pPr>
          </a:lstStyle>
          <a:p>
            <a:r>
              <a:rPr lang="en-US" dirty="0"/>
              <a:t>Click to edit Master title style</a:t>
            </a:r>
          </a:p>
        </p:txBody>
      </p:sp>
      <p:sp>
        <p:nvSpPr>
          <p:cNvPr id="8"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grpSp>
        <p:nvGrpSpPr>
          <p:cNvPr id="7" name="Group 6"/>
          <p:cNvGrpSpPr/>
          <p:nvPr/>
        </p:nvGrpSpPr>
        <p:grpSpPr>
          <a:xfrm>
            <a:off x="268940" y="0"/>
            <a:ext cx="8571615" cy="6439497"/>
            <a:chOff x="268940" y="0"/>
            <a:chExt cx="8571615" cy="6439497"/>
          </a:xfrm>
        </p:grpSpPr>
        <p:sp>
          <p:nvSpPr>
            <p:cNvPr id="13" name="Rectangle 12"/>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4" name="Rectangle 13"/>
            <p:cNvSpPr/>
            <p:nvPr/>
          </p:nvSpPr>
          <p:spPr>
            <a:xfrm>
              <a:off x="8108043" y="0"/>
              <a:ext cx="732512" cy="6439497"/>
            </a:xfrm>
            <a:prstGeom prst="rect">
              <a:avLst/>
            </a:prstGeom>
            <a:solidFill>
              <a:srgbClr val="62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5" name="Oval 14"/>
            <p:cNvSpPr/>
            <p:nvPr/>
          </p:nvSpPr>
          <p:spPr>
            <a:xfrm>
              <a:off x="6273471" y="410485"/>
              <a:ext cx="2206620" cy="2206620"/>
            </a:xfrm>
            <a:prstGeom prst="ellipse">
              <a:avLst/>
            </a:prstGeom>
            <a:solidFill>
              <a:srgbClr val="FAD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grpSp>
      <p:sp>
        <p:nvSpPr>
          <p:cNvPr id="16" name="Content Placeholder 2"/>
          <p:cNvSpPr>
            <a:spLocks noGrp="1"/>
          </p:cNvSpPr>
          <p:nvPr>
            <p:ph idx="1"/>
          </p:nvPr>
        </p:nvSpPr>
        <p:spPr>
          <a:xfrm>
            <a:off x="556772" y="1600200"/>
            <a:ext cx="7551271" cy="4525963"/>
          </a:xfrm>
          <a:prstGeom prst="rect">
            <a:avLst/>
          </a:prstGeom>
        </p:spPr>
        <p:txBody>
          <a:bodyPr/>
          <a:lstStyle>
            <a:lvl1pPr marL="0" indent="0">
              <a:buNone/>
              <a:defRPr sz="1800"/>
            </a:lvl1pPr>
            <a:lvl2pPr marL="457200" indent="0">
              <a:buFont typeface="Arial"/>
              <a:buNone/>
              <a:defRPr sz="1800"/>
            </a:lvl2pPr>
            <a:lvl3pPr marL="914400" indent="0">
              <a:buFont typeface="Arial"/>
              <a:buNone/>
              <a:defRPr sz="1800"/>
            </a:lvl3pPr>
            <a:lvl4pPr marL="1371600" indent="0">
              <a:buFont typeface="Arial"/>
              <a:buNone/>
              <a:defRPr sz="1800"/>
            </a:lvl4pPr>
            <a:lvl5pPr marL="1828800" indent="0">
              <a:buFont typeface="Arial"/>
              <a:buNone/>
              <a:defRPr sz="1800"/>
            </a:lvl5pPr>
            <a:lvl6pPr marL="2286000" indent="0">
              <a:buNone/>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a:spLocks noGrp="1"/>
          </p:cNvSpPr>
          <p:nvPr>
            <p:ph type="ftr" sz="quarter" idx="3"/>
          </p:nvPr>
        </p:nvSpPr>
        <p:spPr>
          <a:xfrm>
            <a:off x="141941" y="6553200"/>
            <a:ext cx="8810212"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4" name="Text Placeholder 3"/>
          <p:cNvSpPr>
            <a:spLocks noGrp="1"/>
          </p:cNvSpPr>
          <p:nvPr>
            <p:ph type="body" sz="quarter" idx="11"/>
          </p:nvPr>
        </p:nvSpPr>
        <p:spPr>
          <a:xfrm>
            <a:off x="6515100" y="850900"/>
            <a:ext cx="1592263" cy="1390650"/>
          </a:xfrm>
          <a:prstGeom prst="rect">
            <a:avLst/>
          </a:prstGeom>
        </p:spPr>
        <p:txBody>
          <a:bodyPr vert="horz"/>
          <a:lstStyle>
            <a:lvl1pPr marL="0" indent="0" algn="ctr">
              <a:buNone/>
              <a:defRPr sz="1800">
                <a:solidFill>
                  <a:srgbClr val="622233"/>
                </a:solidFill>
              </a:defRPr>
            </a:lvl1pPr>
          </a:lstStyle>
          <a:p>
            <a:pPr lvl="0"/>
            <a:r>
              <a:rPr lang="en-US" dirty="0"/>
              <a:t>Click to edit</a:t>
            </a:r>
          </a:p>
        </p:txBody>
      </p:sp>
    </p:spTree>
    <p:extLst>
      <p:ext uri="{BB962C8B-B14F-4D97-AF65-F5344CB8AC3E}">
        <p14:creationId xmlns:p14="http://schemas.microsoft.com/office/powerpoint/2010/main" val="24030219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ectur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50843" cy="1143000"/>
          </a:xfrm>
          <a:prstGeom prst="rect">
            <a:avLst/>
          </a:prstGeom>
          <a:ln>
            <a:noFill/>
          </a:ln>
        </p:spPr>
        <p:txBody>
          <a:bodyPr/>
          <a:lstStyle>
            <a:lvl1pPr algn="l">
              <a:defRPr sz="3200">
                <a:solidFill>
                  <a:schemeClr val="accent1">
                    <a:lumMod val="75000"/>
                  </a:schemeClr>
                </a:solidFill>
              </a:defRPr>
            </a:lvl1pPr>
          </a:lstStyle>
          <a:p>
            <a:r>
              <a:rPr lang="en-US" dirty="0"/>
              <a:t>Click to edit Master title style</a:t>
            </a:r>
          </a:p>
        </p:txBody>
      </p:sp>
      <p:sp>
        <p:nvSpPr>
          <p:cNvPr id="8"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13" name="Rectangle 12"/>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4" name="Rectangle 13"/>
          <p:cNvSpPr/>
          <p:nvPr/>
        </p:nvSpPr>
        <p:spPr>
          <a:xfrm>
            <a:off x="8108043" y="0"/>
            <a:ext cx="732512" cy="6439497"/>
          </a:xfrm>
          <a:prstGeom prst="rect">
            <a:avLst/>
          </a:prstGeom>
          <a:solidFill>
            <a:srgbClr val="62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6" name="Content Placeholder 2"/>
          <p:cNvSpPr>
            <a:spLocks noGrp="1"/>
          </p:cNvSpPr>
          <p:nvPr>
            <p:ph idx="1"/>
          </p:nvPr>
        </p:nvSpPr>
        <p:spPr>
          <a:xfrm>
            <a:off x="556772" y="1600200"/>
            <a:ext cx="7551271" cy="4525963"/>
          </a:xfrm>
          <a:prstGeom prst="rect">
            <a:avLst/>
          </a:prstGeom>
        </p:spPr>
        <p:txBody>
          <a:bodyPr/>
          <a:lstStyle>
            <a:lvl1pPr marL="0" indent="0">
              <a:buNone/>
              <a:defRPr sz="1800"/>
            </a:lvl1pPr>
            <a:lvl2pPr marL="457200" indent="0">
              <a:buFont typeface="Arial"/>
              <a:buNone/>
              <a:defRPr sz="1800"/>
            </a:lvl2pPr>
            <a:lvl3pPr marL="914400" indent="0">
              <a:buFont typeface="Arial"/>
              <a:buNone/>
              <a:defRPr sz="1800"/>
            </a:lvl3pPr>
            <a:lvl4pPr marL="1371600" indent="0">
              <a:buFont typeface="Arial"/>
              <a:buNone/>
              <a:defRPr sz="1800"/>
            </a:lvl4pPr>
            <a:lvl5pPr marL="1828800" indent="0">
              <a:buFont typeface="Arial"/>
              <a:buNone/>
              <a:defRPr sz="1800"/>
            </a:lvl5pPr>
            <a:lvl6pPr marL="2286000" indent="0">
              <a:buNone/>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a:spLocks noGrp="1"/>
          </p:cNvSpPr>
          <p:nvPr>
            <p:ph type="ftr" sz="quarter" idx="3"/>
          </p:nvPr>
        </p:nvSpPr>
        <p:spPr>
          <a:xfrm>
            <a:off x="141941" y="6492875"/>
            <a:ext cx="8810212"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19470866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Exhibit">
    <p:spTree>
      <p:nvGrpSpPr>
        <p:cNvPr id="1" name=""/>
        <p:cNvGrpSpPr/>
        <p:nvPr/>
      </p:nvGrpSpPr>
      <p:grpSpPr>
        <a:xfrm>
          <a:off x="0" y="0"/>
          <a:ext cx="0" cy="0"/>
          <a:chOff x="0" y="0"/>
          <a:chExt cx="0" cy="0"/>
        </a:xfrm>
      </p:grpSpPr>
      <p:sp>
        <p:nvSpPr>
          <p:cNvPr id="7" name="Round Single Corner Rectangle 6"/>
          <p:cNvSpPr/>
          <p:nvPr userDrawn="1"/>
        </p:nvSpPr>
        <p:spPr>
          <a:xfrm>
            <a:off x="451819" y="172017"/>
            <a:ext cx="8477291" cy="956819"/>
          </a:xfrm>
          <a:prstGeom prst="round1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
        <p:nvSpPr>
          <p:cNvPr id="2" name="Title 1"/>
          <p:cNvSpPr>
            <a:spLocks noGrp="1"/>
          </p:cNvSpPr>
          <p:nvPr>
            <p:ph type="title"/>
          </p:nvPr>
        </p:nvSpPr>
        <p:spPr>
          <a:xfrm>
            <a:off x="505236" y="152400"/>
            <a:ext cx="8239954" cy="672957"/>
          </a:xfrm>
          <a:prstGeom prst="rect">
            <a:avLst/>
          </a:prstGeom>
        </p:spPr>
        <p:txBody>
          <a:bodyPr>
            <a:normAutofit/>
          </a:bodyPr>
          <a:lstStyle>
            <a:lvl1pPr algn="l">
              <a:defRPr sz="3200">
                <a:solidFill>
                  <a:srgbClr val="800000"/>
                </a:solidFill>
              </a:defRPr>
            </a:lvl1pPr>
          </a:lstStyle>
          <a:p>
            <a:r>
              <a:rPr lang="en-US" dirty="0"/>
              <a:t>Click to edit Master title style</a:t>
            </a:r>
          </a:p>
        </p:txBody>
      </p:sp>
      <p:sp>
        <p:nvSpPr>
          <p:cNvPr id="3" name="Content Placeholder 2"/>
          <p:cNvSpPr>
            <a:spLocks noGrp="1"/>
          </p:cNvSpPr>
          <p:nvPr>
            <p:ph idx="1"/>
          </p:nvPr>
        </p:nvSpPr>
        <p:spPr>
          <a:xfrm>
            <a:off x="506470" y="533400"/>
            <a:ext cx="8238720" cy="608167"/>
          </a:xfrm>
          <a:prstGeom prst="rect">
            <a:avLst/>
          </a:prstGeom>
        </p:spPr>
        <p:txBody>
          <a:bodyPr/>
          <a:lstStyle>
            <a:lvl1pPr marL="0" indent="0">
              <a:buFontTx/>
              <a:buNone/>
              <a:defRPr sz="2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8" name="Rectangle 7"/>
          <p:cNvSpPr/>
          <p:nvPr userDrawn="1"/>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0" name="Rectangle 9"/>
          <p:cNvSpPr/>
          <p:nvPr userDrawn="1"/>
        </p:nvSpPr>
        <p:spPr>
          <a:xfrm>
            <a:off x="585490" y="1302390"/>
            <a:ext cx="8343620" cy="5239456"/>
          </a:xfrm>
          <a:prstGeom prst="rect">
            <a:avLst/>
          </a:prstGeom>
          <a:solidFill>
            <a:srgbClr val="E0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
        <p:nvSpPr>
          <p:cNvPr id="12" name="Rectangle 11"/>
          <p:cNvSpPr/>
          <p:nvPr userDrawn="1"/>
        </p:nvSpPr>
        <p:spPr>
          <a:xfrm>
            <a:off x="8745190" y="1302390"/>
            <a:ext cx="183920" cy="523945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a:solidFill>
                <a:prstClr val="white"/>
              </a:solidFill>
            </a:endParaRPr>
          </a:p>
        </p:txBody>
      </p:sp>
      <p:sp>
        <p:nvSpPr>
          <p:cNvPr id="13" name="Date Placeholder 3"/>
          <p:cNvSpPr>
            <a:spLocks noGrp="1"/>
          </p:cNvSpPr>
          <p:nvPr>
            <p:ph type="dt" sz="half" idx="10"/>
          </p:nvPr>
        </p:nvSpPr>
        <p:spPr>
          <a:xfrm>
            <a:off x="457200" y="6469343"/>
            <a:ext cx="1014204" cy="365125"/>
          </a:xfrm>
          <a:prstGeom prst="rect">
            <a:avLst/>
          </a:prstGeom>
        </p:spPr>
        <p:txBody>
          <a:bodyPr/>
          <a:lstStyle/>
          <a:p>
            <a:pPr defTabSz="457200"/>
            <a:endParaRPr lang="en-US" dirty="0">
              <a:solidFill>
                <a:prstClr val="black"/>
              </a:solidFill>
            </a:endParaRPr>
          </a:p>
        </p:txBody>
      </p:sp>
      <p:sp>
        <p:nvSpPr>
          <p:cNvPr id="14" name="Footer Placeholder 4"/>
          <p:cNvSpPr>
            <a:spLocks noGrp="1"/>
          </p:cNvSpPr>
          <p:nvPr>
            <p:ph type="ftr" sz="quarter" idx="3"/>
          </p:nvPr>
        </p:nvSpPr>
        <p:spPr>
          <a:xfrm>
            <a:off x="141941" y="6514166"/>
            <a:ext cx="8810212"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2113347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6" name="Footer Placeholder 4"/>
          <p:cNvSpPr>
            <a:spLocks noGrp="1"/>
          </p:cNvSpPr>
          <p:nvPr>
            <p:ph type="ftr" sz="quarter" idx="3"/>
          </p:nvPr>
        </p:nvSpPr>
        <p:spPr>
          <a:xfrm>
            <a:off x="141941" y="6492875"/>
            <a:ext cx="8810212"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5902031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8" name="Footer Placeholder 4"/>
          <p:cNvSpPr>
            <a:spLocks noGrp="1"/>
          </p:cNvSpPr>
          <p:nvPr>
            <p:ph type="ftr" sz="quarter" idx="11"/>
          </p:nvPr>
        </p:nvSpPr>
        <p:spPr>
          <a:xfrm>
            <a:off x="1471404" y="6492875"/>
            <a:ext cx="6768456"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18122101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9" name="Footer Placeholder 4"/>
          <p:cNvSpPr>
            <a:spLocks noGrp="1"/>
          </p:cNvSpPr>
          <p:nvPr>
            <p:ph type="ftr" sz="quarter" idx="11"/>
          </p:nvPr>
        </p:nvSpPr>
        <p:spPr>
          <a:xfrm>
            <a:off x="1471404" y="6492875"/>
            <a:ext cx="6768456"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20094539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11" name="Footer Placeholder 4"/>
          <p:cNvSpPr>
            <a:spLocks noGrp="1"/>
          </p:cNvSpPr>
          <p:nvPr>
            <p:ph type="ftr" sz="quarter" idx="11"/>
          </p:nvPr>
        </p:nvSpPr>
        <p:spPr>
          <a:xfrm>
            <a:off x="1471404" y="6356350"/>
            <a:ext cx="6768456"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32356569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6"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7" name="Footer Placeholder 4"/>
          <p:cNvSpPr>
            <a:spLocks noGrp="1"/>
          </p:cNvSpPr>
          <p:nvPr>
            <p:ph type="ftr" sz="quarter" idx="11"/>
          </p:nvPr>
        </p:nvSpPr>
        <p:spPr>
          <a:xfrm>
            <a:off x="1471404" y="6492875"/>
            <a:ext cx="6768456"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38205587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9" name="Footer Placeholder 4"/>
          <p:cNvSpPr>
            <a:spLocks noGrp="1"/>
          </p:cNvSpPr>
          <p:nvPr>
            <p:ph type="ftr" sz="quarter" idx="11"/>
          </p:nvPr>
        </p:nvSpPr>
        <p:spPr>
          <a:xfrm>
            <a:off x="1471404" y="6492875"/>
            <a:ext cx="6768456"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26988122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9" name="Footer Placeholder 4"/>
          <p:cNvSpPr>
            <a:spLocks noGrp="1"/>
          </p:cNvSpPr>
          <p:nvPr>
            <p:ph type="ftr" sz="quarter" idx="11"/>
          </p:nvPr>
        </p:nvSpPr>
        <p:spPr>
          <a:xfrm>
            <a:off x="1471404" y="6492875"/>
            <a:ext cx="6768456"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4576729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8" name="Footer Placeholder 4"/>
          <p:cNvSpPr>
            <a:spLocks noGrp="1"/>
          </p:cNvSpPr>
          <p:nvPr>
            <p:ph type="ftr" sz="quarter" idx="11"/>
          </p:nvPr>
        </p:nvSpPr>
        <p:spPr>
          <a:xfrm>
            <a:off x="1471404" y="6492875"/>
            <a:ext cx="6768456"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11670563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457200" y="6356350"/>
            <a:ext cx="1014204" cy="365125"/>
          </a:xfrm>
          <a:prstGeom prst="rect">
            <a:avLst/>
          </a:prstGeom>
        </p:spPr>
        <p:txBody>
          <a:bodyPr/>
          <a:lstStyle/>
          <a:p>
            <a:pPr defTabSz="457200"/>
            <a:endParaRPr lang="en-US" dirty="0">
              <a:solidFill>
                <a:prstClr val="black"/>
              </a:solidFill>
            </a:endParaRPr>
          </a:p>
        </p:txBody>
      </p:sp>
      <p:sp>
        <p:nvSpPr>
          <p:cNvPr id="8" name="Footer Placeholder 4"/>
          <p:cNvSpPr>
            <a:spLocks noGrp="1"/>
          </p:cNvSpPr>
          <p:nvPr>
            <p:ph type="ftr" sz="quarter" idx="11"/>
          </p:nvPr>
        </p:nvSpPr>
        <p:spPr>
          <a:xfrm>
            <a:off x="1471404" y="6492875"/>
            <a:ext cx="6768456" cy="365125"/>
          </a:xfrm>
          <a:prstGeom prst="rect">
            <a:avLst/>
          </a:prstGeom>
        </p:spPr>
        <p:txBody>
          <a:bodyPr/>
          <a:lstStyle>
            <a:lvl1pPr algn="ctr">
              <a:defRPr sz="800"/>
            </a:lvl1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17274512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7772400" cy="2971799"/>
          </a:xfrm>
          <a:prstGeom prst="rect">
            <a:avLst/>
          </a:prstGeom>
        </p:spPr>
        <p:txBody>
          <a:bodyPr anchor="ctr">
            <a:noAutofit/>
          </a:bodyPr>
          <a:lstStyle>
            <a:lvl1pPr>
              <a:lnSpc>
                <a:spcPct val="100000"/>
              </a:lnSpc>
              <a:defRPr sz="4000" spc="-80"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457200" y="3276600"/>
            <a:ext cx="7772400" cy="868680"/>
          </a:xfrm>
          <a:prstGeom prst="rect">
            <a:avLst/>
          </a:prstGeom>
        </p:spPr>
        <p:txBody>
          <a:bodyPr/>
          <a:lstStyle>
            <a:lvl1pPr marL="0" indent="0" algn="l">
              <a:buNone/>
              <a:defRPr b="0" cap="all" spc="120" baseline="0">
                <a:solidFill>
                  <a:schemeClr val="accent5">
                    <a:lumMod val="50000"/>
                  </a:schemeClr>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3707477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7" descr="Subramanyam10e09jm_nm3">
            <a:extLst>
              <a:ext uri="{FF2B5EF4-FFF2-40B4-BE49-F238E27FC236}">
                <a16:creationId xmlns:a16="http://schemas.microsoft.com/office/drawing/2014/main" id="{0C46B21F-2F67-4BFA-ABB6-90FFFD1ADDC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4953000" cy="621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9">
            <a:extLst>
              <a:ext uri="{FF2B5EF4-FFF2-40B4-BE49-F238E27FC236}">
                <a16:creationId xmlns:a16="http://schemas.microsoft.com/office/drawing/2014/main" id="{CE3CB672-684D-4639-A6ED-4D31385BB06A}"/>
              </a:ext>
            </a:extLst>
          </p:cNvPr>
          <p:cNvSpPr>
            <a:spLocks noChangeArrowheads="1"/>
          </p:cNvSpPr>
          <p:nvPr userDrawn="1"/>
        </p:nvSpPr>
        <p:spPr bwMode="auto">
          <a:xfrm>
            <a:off x="5148263" y="6542088"/>
            <a:ext cx="3995737"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a:defRPr/>
            </a:pPr>
            <a:r>
              <a:rPr lang="en-US" altLang="en-US" sz="900" b="1" i="1">
                <a:latin typeface="Book Antiqua" pitchFamily="18" charset="0"/>
                <a:cs typeface="Times New Roman" pitchFamily="18" charset="0"/>
              </a:rPr>
              <a:t>Copyright </a:t>
            </a:r>
            <a:r>
              <a:rPr lang="en-US" altLang="en-US" sz="900" b="1" i="1">
                <a:latin typeface="Book Antiqua" pitchFamily="18" charset="0"/>
                <a:cs typeface="Times New Roman" pitchFamily="18" charset="0"/>
                <a:sym typeface="Symbol" pitchFamily="18" charset="2"/>
              </a:rPr>
              <a:t>©</a:t>
            </a:r>
            <a:r>
              <a:rPr lang="en-US" altLang="en-US" sz="900" b="1" i="1">
                <a:latin typeface="Book Antiqua" pitchFamily="18" charset="0"/>
                <a:cs typeface="Times New Roman" pitchFamily="18" charset="0"/>
              </a:rPr>
              <a:t> 2009 by The McGraw-Hill Companies, Inc. All rights reserved.</a:t>
            </a:r>
          </a:p>
        </p:txBody>
      </p:sp>
      <p:sp>
        <p:nvSpPr>
          <p:cNvPr id="6" name="Text Box 10">
            <a:extLst>
              <a:ext uri="{FF2B5EF4-FFF2-40B4-BE49-F238E27FC236}">
                <a16:creationId xmlns:a16="http://schemas.microsoft.com/office/drawing/2014/main" id="{79B0E1A5-0616-4EB6-958E-968CDA13209C}"/>
              </a:ext>
            </a:extLst>
          </p:cNvPr>
          <p:cNvSpPr txBox="1">
            <a:spLocks noChangeArrowheads="1"/>
          </p:cNvSpPr>
          <p:nvPr userDrawn="1"/>
        </p:nvSpPr>
        <p:spPr bwMode="auto">
          <a:xfrm>
            <a:off x="93663" y="6565900"/>
            <a:ext cx="1204912"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en-US" sz="900" b="1" i="1">
                <a:latin typeface="Book Antiqua" pitchFamily="18" charset="0"/>
              </a:rPr>
              <a:t>McGraw-Hill/Irwin</a:t>
            </a:r>
          </a:p>
        </p:txBody>
      </p:sp>
      <p:sp>
        <p:nvSpPr>
          <p:cNvPr id="4098" name="Rectangle 2"/>
          <p:cNvSpPr>
            <a:spLocks noGrp="1" noChangeArrowheads="1"/>
          </p:cNvSpPr>
          <p:nvPr>
            <p:ph type="ctrTitle"/>
          </p:nvPr>
        </p:nvSpPr>
        <p:spPr>
          <a:xfrm>
            <a:off x="4953000" y="1981200"/>
            <a:ext cx="3505200" cy="1752600"/>
          </a:xfrm>
          <a:extLst>
            <a:ext uri="{909E8E84-426E-40DD-AFC4-6F175D3DCCD1}">
              <a14:hiddenFill xmlns:a14="http://schemas.microsoft.com/office/drawing/2010/main">
                <a:solidFill>
                  <a:schemeClr val="accent1"/>
                </a:solidFill>
              </a14:hiddenFill>
            </a:ext>
          </a:extLst>
        </p:spPr>
        <p:txBody>
          <a:bodyPr/>
          <a:lstStyle>
            <a:lvl1pPr>
              <a:defRPr/>
            </a:lvl1pPr>
          </a:lstStyle>
          <a:p>
            <a:pPr lvl="0"/>
            <a:endParaRPr lang="en-GB" noProof="0"/>
          </a:p>
        </p:txBody>
      </p:sp>
      <p:sp>
        <p:nvSpPr>
          <p:cNvPr id="4099" name="Rectangle 3"/>
          <p:cNvSpPr>
            <a:spLocks noGrp="1" noChangeArrowheads="1"/>
          </p:cNvSpPr>
          <p:nvPr>
            <p:ph type="subTitle" idx="1"/>
          </p:nvPr>
        </p:nvSpPr>
        <p:spPr>
          <a:xfrm>
            <a:off x="4953000" y="3886200"/>
            <a:ext cx="3657600" cy="1752600"/>
          </a:xfrm>
        </p:spPr>
        <p:txBody>
          <a:bodyPr/>
          <a:lstStyle>
            <a:lvl1pPr marL="0" indent="0" algn="r">
              <a:buFontTx/>
              <a:buNone/>
              <a:defRPr sz="2400"/>
            </a:lvl1pPr>
          </a:lstStyle>
          <a:p>
            <a:pPr lvl="0"/>
            <a:endParaRPr lang="en-GB" noProof="0"/>
          </a:p>
        </p:txBody>
      </p:sp>
    </p:spTree>
    <p:extLst>
      <p:ext uri="{BB962C8B-B14F-4D97-AF65-F5344CB8AC3E}">
        <p14:creationId xmlns:p14="http://schemas.microsoft.com/office/powerpoint/2010/main" val="1239176175"/>
      </p:ext>
    </p:extLst>
  </p:cSld>
  <p:clrMapOvr>
    <a:masterClrMapping/>
  </p:clrMapOvr>
  <p:transition>
    <p:zoom dir="in"/>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E072F87-CA1D-479E-A6FF-DE7E6723280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9F1BC77-474B-4DE5-B5FA-F9CEC119505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5F712B1-DDC5-4D91-8FFE-0260CD77280C}"/>
              </a:ext>
            </a:extLst>
          </p:cNvPr>
          <p:cNvSpPr>
            <a:spLocks noGrp="1" noChangeArrowheads="1"/>
          </p:cNvSpPr>
          <p:nvPr>
            <p:ph type="sldNum" sz="quarter" idx="12"/>
          </p:nvPr>
        </p:nvSpPr>
        <p:spPr>
          <a:ln/>
        </p:spPr>
        <p:txBody>
          <a:bodyPr/>
          <a:lstStyle>
            <a:lvl1pPr>
              <a:defRPr/>
            </a:lvl1pPr>
          </a:lstStyle>
          <a:p>
            <a:fld id="{1A413E2A-E5B8-41F8-9969-E66E9BA10AD7}" type="slidenum">
              <a:rPr lang="en-US" altLang="en-US"/>
              <a:pPr/>
              <a:t>‹#›</a:t>
            </a:fld>
            <a:endParaRPr lang="en-US" altLang="en-US"/>
          </a:p>
        </p:txBody>
      </p:sp>
    </p:spTree>
    <p:extLst>
      <p:ext uri="{BB962C8B-B14F-4D97-AF65-F5344CB8AC3E}">
        <p14:creationId xmlns:p14="http://schemas.microsoft.com/office/powerpoint/2010/main" val="2197588138"/>
      </p:ext>
    </p:extLst>
  </p:cSld>
  <p:clrMapOvr>
    <a:masterClrMapping/>
  </p:clrMapOvr>
  <p:transition>
    <p:zoom dir="in"/>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BB3D57DE-0A3F-4434-AF03-BD29D7336E1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322A852-518D-4E8E-BC15-82D3CB1BEBF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9DFD85F-C9CC-4A5D-9103-CB3B8B945C16}"/>
              </a:ext>
            </a:extLst>
          </p:cNvPr>
          <p:cNvSpPr>
            <a:spLocks noGrp="1" noChangeArrowheads="1"/>
          </p:cNvSpPr>
          <p:nvPr>
            <p:ph type="sldNum" sz="quarter" idx="12"/>
          </p:nvPr>
        </p:nvSpPr>
        <p:spPr>
          <a:ln/>
        </p:spPr>
        <p:txBody>
          <a:bodyPr/>
          <a:lstStyle>
            <a:lvl1pPr>
              <a:defRPr/>
            </a:lvl1pPr>
          </a:lstStyle>
          <a:p>
            <a:fld id="{C7ADD3D6-49F1-4E50-88E9-18FC04DC9F9C}" type="slidenum">
              <a:rPr lang="en-US" altLang="en-US"/>
              <a:pPr/>
              <a:t>‹#›</a:t>
            </a:fld>
            <a:endParaRPr lang="en-US" altLang="en-US"/>
          </a:p>
        </p:txBody>
      </p:sp>
    </p:spTree>
    <p:extLst>
      <p:ext uri="{BB962C8B-B14F-4D97-AF65-F5344CB8AC3E}">
        <p14:creationId xmlns:p14="http://schemas.microsoft.com/office/powerpoint/2010/main" val="1574565106"/>
      </p:ext>
    </p:extLst>
  </p:cSld>
  <p:clrMapOvr>
    <a:masterClrMapping/>
  </p:clrMapOvr>
  <p:transition>
    <p:zoom dir="in"/>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24F1B95-E849-4A8C-9FF0-CBE0B0E549A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7668BDC-6D61-4833-A63E-55C0A93B919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92F87F6-2B08-4821-90DF-2C85A61955B1}"/>
              </a:ext>
            </a:extLst>
          </p:cNvPr>
          <p:cNvSpPr>
            <a:spLocks noGrp="1" noChangeArrowheads="1"/>
          </p:cNvSpPr>
          <p:nvPr>
            <p:ph type="sldNum" sz="quarter" idx="12"/>
          </p:nvPr>
        </p:nvSpPr>
        <p:spPr>
          <a:ln/>
        </p:spPr>
        <p:txBody>
          <a:bodyPr/>
          <a:lstStyle>
            <a:lvl1pPr>
              <a:defRPr/>
            </a:lvl1pPr>
          </a:lstStyle>
          <a:p>
            <a:fld id="{DCAB9762-4C5B-4551-ACC1-F22412ED239A}" type="slidenum">
              <a:rPr lang="en-US" altLang="en-US"/>
              <a:pPr/>
              <a:t>‹#›</a:t>
            </a:fld>
            <a:endParaRPr lang="en-US" altLang="en-US"/>
          </a:p>
        </p:txBody>
      </p:sp>
    </p:spTree>
    <p:extLst>
      <p:ext uri="{BB962C8B-B14F-4D97-AF65-F5344CB8AC3E}">
        <p14:creationId xmlns:p14="http://schemas.microsoft.com/office/powerpoint/2010/main" val="35312402"/>
      </p:ext>
    </p:extLst>
  </p:cSld>
  <p:clrMapOvr>
    <a:masterClrMapping/>
  </p:clrMapOvr>
  <p:transition>
    <p:zoom dir="in"/>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12C1021-93E8-47A9-B3A6-37E7DE23F72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CC3FC5B-82BF-4A89-9A36-E1274617C20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8C35FDC6-EC6B-4A28-B3B7-8E1C1760D609}"/>
              </a:ext>
            </a:extLst>
          </p:cNvPr>
          <p:cNvSpPr>
            <a:spLocks noGrp="1" noChangeArrowheads="1"/>
          </p:cNvSpPr>
          <p:nvPr>
            <p:ph type="sldNum" sz="quarter" idx="12"/>
          </p:nvPr>
        </p:nvSpPr>
        <p:spPr>
          <a:ln/>
        </p:spPr>
        <p:txBody>
          <a:bodyPr/>
          <a:lstStyle>
            <a:lvl1pPr>
              <a:defRPr/>
            </a:lvl1pPr>
          </a:lstStyle>
          <a:p>
            <a:fld id="{26427D3C-18B8-49BB-A972-BA20657AB9B2}" type="slidenum">
              <a:rPr lang="en-US" altLang="en-US"/>
              <a:pPr/>
              <a:t>‹#›</a:t>
            </a:fld>
            <a:endParaRPr lang="en-US" altLang="en-US"/>
          </a:p>
        </p:txBody>
      </p:sp>
    </p:spTree>
    <p:extLst>
      <p:ext uri="{BB962C8B-B14F-4D97-AF65-F5344CB8AC3E}">
        <p14:creationId xmlns:p14="http://schemas.microsoft.com/office/powerpoint/2010/main" val="2543368976"/>
      </p:ext>
    </p:extLst>
  </p:cSld>
  <p:clrMapOvr>
    <a:masterClrMapping/>
  </p:clrMapOvr>
  <p:transition>
    <p:zoom dir="in"/>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61979FB-421E-426A-9877-FADC286E27B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BE77B05D-3319-4AD6-8176-A6228E06DB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6EA6A40C-BD15-458E-9FE0-A79F4001BCB4}"/>
              </a:ext>
            </a:extLst>
          </p:cNvPr>
          <p:cNvSpPr>
            <a:spLocks noGrp="1" noChangeArrowheads="1"/>
          </p:cNvSpPr>
          <p:nvPr>
            <p:ph type="sldNum" sz="quarter" idx="12"/>
          </p:nvPr>
        </p:nvSpPr>
        <p:spPr>
          <a:ln/>
        </p:spPr>
        <p:txBody>
          <a:bodyPr/>
          <a:lstStyle>
            <a:lvl1pPr>
              <a:defRPr/>
            </a:lvl1pPr>
          </a:lstStyle>
          <a:p>
            <a:fld id="{2C21F45E-F607-446B-A430-ACC481958E98}" type="slidenum">
              <a:rPr lang="en-US" altLang="en-US"/>
              <a:pPr/>
              <a:t>‹#›</a:t>
            </a:fld>
            <a:endParaRPr lang="en-US" altLang="en-US"/>
          </a:p>
        </p:txBody>
      </p:sp>
    </p:spTree>
    <p:extLst>
      <p:ext uri="{BB962C8B-B14F-4D97-AF65-F5344CB8AC3E}">
        <p14:creationId xmlns:p14="http://schemas.microsoft.com/office/powerpoint/2010/main" val="872130853"/>
      </p:ext>
    </p:extLst>
  </p:cSld>
  <p:clrMapOvr>
    <a:masterClrMapping/>
  </p:clrMapOvr>
  <p:transition>
    <p:zoom dir="in"/>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5C088BD-A135-4C7C-B926-4C3D533B31C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F51BAA32-D557-4A2D-9AB2-394E6044242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F4068D37-0505-42FC-9D75-76D0E4B198E2}"/>
              </a:ext>
            </a:extLst>
          </p:cNvPr>
          <p:cNvSpPr>
            <a:spLocks noGrp="1" noChangeArrowheads="1"/>
          </p:cNvSpPr>
          <p:nvPr>
            <p:ph type="sldNum" sz="quarter" idx="12"/>
          </p:nvPr>
        </p:nvSpPr>
        <p:spPr>
          <a:ln/>
        </p:spPr>
        <p:txBody>
          <a:bodyPr/>
          <a:lstStyle>
            <a:lvl1pPr>
              <a:defRPr/>
            </a:lvl1pPr>
          </a:lstStyle>
          <a:p>
            <a:fld id="{A5D33728-8665-43E3-9677-11DBB44D7DF7}" type="slidenum">
              <a:rPr lang="en-US" altLang="en-US"/>
              <a:pPr/>
              <a:t>‹#›</a:t>
            </a:fld>
            <a:endParaRPr lang="en-US" altLang="en-US"/>
          </a:p>
        </p:txBody>
      </p:sp>
    </p:spTree>
    <p:extLst>
      <p:ext uri="{BB962C8B-B14F-4D97-AF65-F5344CB8AC3E}">
        <p14:creationId xmlns:p14="http://schemas.microsoft.com/office/powerpoint/2010/main" val="4148324475"/>
      </p:ext>
    </p:extLst>
  </p:cSld>
  <p:clrMapOvr>
    <a:masterClrMapping/>
  </p:clrMapOvr>
  <p:transition>
    <p:zoom dir="in"/>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EC82F80-1FD8-4C36-8DBA-10BB291B0C5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C20ECF8-FD97-4CEC-9669-79769B5D184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84E511F-FCB1-4AAD-8C1F-097F259DFED9}"/>
              </a:ext>
            </a:extLst>
          </p:cNvPr>
          <p:cNvSpPr>
            <a:spLocks noGrp="1" noChangeArrowheads="1"/>
          </p:cNvSpPr>
          <p:nvPr>
            <p:ph type="sldNum" sz="quarter" idx="12"/>
          </p:nvPr>
        </p:nvSpPr>
        <p:spPr>
          <a:ln/>
        </p:spPr>
        <p:txBody>
          <a:bodyPr/>
          <a:lstStyle>
            <a:lvl1pPr>
              <a:defRPr/>
            </a:lvl1pPr>
          </a:lstStyle>
          <a:p>
            <a:fld id="{5551D9D7-08AE-44D6-9432-2FB7DBE115A5}" type="slidenum">
              <a:rPr lang="en-US" altLang="en-US"/>
              <a:pPr/>
              <a:t>‹#›</a:t>
            </a:fld>
            <a:endParaRPr lang="en-US" altLang="en-US"/>
          </a:p>
        </p:txBody>
      </p:sp>
    </p:spTree>
    <p:extLst>
      <p:ext uri="{BB962C8B-B14F-4D97-AF65-F5344CB8AC3E}">
        <p14:creationId xmlns:p14="http://schemas.microsoft.com/office/powerpoint/2010/main" val="791861354"/>
      </p:ext>
    </p:extLst>
  </p:cSld>
  <p:clrMapOvr>
    <a:masterClrMapping/>
  </p:clrMapOvr>
  <p:transition>
    <p:zoom dir="in"/>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661EE09-7414-431B-A641-F6BDFBB9C23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6DB065A-AB2D-46B0-97AC-B87C9475626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C1CD80-48B7-4DD0-98F1-F470376247C1}"/>
              </a:ext>
            </a:extLst>
          </p:cNvPr>
          <p:cNvSpPr>
            <a:spLocks noGrp="1" noChangeArrowheads="1"/>
          </p:cNvSpPr>
          <p:nvPr>
            <p:ph type="sldNum" sz="quarter" idx="12"/>
          </p:nvPr>
        </p:nvSpPr>
        <p:spPr>
          <a:ln/>
        </p:spPr>
        <p:txBody>
          <a:bodyPr/>
          <a:lstStyle>
            <a:lvl1pPr>
              <a:defRPr/>
            </a:lvl1pPr>
          </a:lstStyle>
          <a:p>
            <a:fld id="{BCC4B610-26E4-4492-8763-A1A69FD336EE}" type="slidenum">
              <a:rPr lang="en-US" altLang="en-US"/>
              <a:pPr/>
              <a:t>‹#›</a:t>
            </a:fld>
            <a:endParaRPr lang="en-US" altLang="en-US"/>
          </a:p>
        </p:txBody>
      </p:sp>
    </p:spTree>
    <p:extLst>
      <p:ext uri="{BB962C8B-B14F-4D97-AF65-F5344CB8AC3E}">
        <p14:creationId xmlns:p14="http://schemas.microsoft.com/office/powerpoint/2010/main" val="14023184"/>
      </p:ext>
    </p:extLst>
  </p:cSld>
  <p:clrMapOvr>
    <a:masterClrMapping/>
  </p:clrMapOvr>
  <p:transition>
    <p:zoom dir="in"/>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706E898-534B-47C7-A6E5-AE9C5FF1AB9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0430A49-02A0-46E9-8E34-A01563A99BE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CF94D55-C42B-4ED7-8942-451D7945D579}"/>
              </a:ext>
            </a:extLst>
          </p:cNvPr>
          <p:cNvSpPr>
            <a:spLocks noGrp="1" noChangeArrowheads="1"/>
          </p:cNvSpPr>
          <p:nvPr>
            <p:ph type="sldNum" sz="quarter" idx="12"/>
          </p:nvPr>
        </p:nvSpPr>
        <p:spPr>
          <a:ln/>
        </p:spPr>
        <p:txBody>
          <a:bodyPr/>
          <a:lstStyle>
            <a:lvl1pPr>
              <a:defRPr/>
            </a:lvl1pPr>
          </a:lstStyle>
          <a:p>
            <a:fld id="{48F785F5-0890-4BE4-9841-B524C2D50782}" type="slidenum">
              <a:rPr lang="en-US" altLang="en-US"/>
              <a:pPr/>
              <a:t>‹#›</a:t>
            </a:fld>
            <a:endParaRPr lang="en-US" altLang="en-US"/>
          </a:p>
        </p:txBody>
      </p:sp>
    </p:spTree>
    <p:extLst>
      <p:ext uri="{BB962C8B-B14F-4D97-AF65-F5344CB8AC3E}">
        <p14:creationId xmlns:p14="http://schemas.microsoft.com/office/powerpoint/2010/main" val="2653316159"/>
      </p:ext>
    </p:extLst>
  </p:cSld>
  <p:clrMapOvr>
    <a:masterClrMapping/>
  </p:clrMapOvr>
  <p:transition>
    <p:zoom dir="in"/>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8213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04800"/>
            <a:ext cx="6019800" cy="58213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AD985A4-16AE-4392-A0BC-10FF836AC44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3EA43CB-5EF7-4598-975C-E4E77367140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C9EA880-CAC4-454A-9566-2B0D4610B581}"/>
              </a:ext>
            </a:extLst>
          </p:cNvPr>
          <p:cNvSpPr>
            <a:spLocks noGrp="1" noChangeArrowheads="1"/>
          </p:cNvSpPr>
          <p:nvPr>
            <p:ph type="sldNum" sz="quarter" idx="12"/>
          </p:nvPr>
        </p:nvSpPr>
        <p:spPr>
          <a:ln/>
        </p:spPr>
        <p:txBody>
          <a:bodyPr/>
          <a:lstStyle>
            <a:lvl1pPr>
              <a:defRPr/>
            </a:lvl1pPr>
          </a:lstStyle>
          <a:p>
            <a:fld id="{675F983F-E080-422C-9FBE-7E57B17CC585}" type="slidenum">
              <a:rPr lang="en-US" altLang="en-US"/>
              <a:pPr/>
              <a:t>‹#›</a:t>
            </a:fld>
            <a:endParaRPr lang="en-US" altLang="en-US"/>
          </a:p>
        </p:txBody>
      </p:sp>
    </p:spTree>
    <p:extLst>
      <p:ext uri="{BB962C8B-B14F-4D97-AF65-F5344CB8AC3E}">
        <p14:creationId xmlns:p14="http://schemas.microsoft.com/office/powerpoint/2010/main" val="2443075486"/>
      </p:ext>
    </p:extLst>
  </p:cSld>
  <p:clrMapOvr>
    <a:masterClrMapping/>
  </p:clrMapOvr>
  <p:transition>
    <p:zoom dir="in"/>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70F6F908-7C35-4102-B96E-72A25BF12E05}"/>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2A551666-F875-4334-AE95-7BDF008B618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A1DFFFB6-CE42-4062-B665-C4B885D27D23}"/>
              </a:ext>
            </a:extLst>
          </p:cNvPr>
          <p:cNvSpPr>
            <a:spLocks noGrp="1" noChangeArrowheads="1"/>
          </p:cNvSpPr>
          <p:nvPr>
            <p:ph type="sldNum" sz="quarter" idx="12"/>
          </p:nvPr>
        </p:nvSpPr>
        <p:spPr>
          <a:ln/>
        </p:spPr>
        <p:txBody>
          <a:bodyPr/>
          <a:lstStyle>
            <a:lvl1pPr>
              <a:defRPr/>
            </a:lvl1pPr>
          </a:lstStyle>
          <a:p>
            <a:fld id="{C6D45D95-5C00-4457-9A97-4D254EE96134}" type="slidenum">
              <a:rPr lang="en-US" altLang="en-US"/>
              <a:pPr/>
              <a:t>‹#›</a:t>
            </a:fld>
            <a:endParaRPr lang="en-US" altLang="en-US"/>
          </a:p>
        </p:txBody>
      </p:sp>
    </p:spTree>
    <p:extLst>
      <p:ext uri="{BB962C8B-B14F-4D97-AF65-F5344CB8AC3E}">
        <p14:creationId xmlns:p14="http://schemas.microsoft.com/office/powerpoint/2010/main" val="4220905242"/>
      </p:ext>
    </p:extLst>
  </p:cSld>
  <p:clrMapOvr>
    <a:masterClrMapping/>
  </p:clrMapOvr>
  <p:transition>
    <p:zoom dir="in"/>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a:p>
        </p:txBody>
      </p:sp>
      <p:sp>
        <p:nvSpPr>
          <p:cNvPr id="5" name="Rectangle 4">
            <a:extLst>
              <a:ext uri="{FF2B5EF4-FFF2-40B4-BE49-F238E27FC236}">
                <a16:creationId xmlns:a16="http://schemas.microsoft.com/office/drawing/2014/main" id="{2DD4B703-294C-4595-A35B-004A37250BA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08EAF29-69E4-4C4C-B973-F6AC98BE132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12621F9-674B-4EBD-977F-F5E56BD84F4C}"/>
              </a:ext>
            </a:extLst>
          </p:cNvPr>
          <p:cNvSpPr>
            <a:spLocks noGrp="1" noChangeArrowheads="1"/>
          </p:cNvSpPr>
          <p:nvPr>
            <p:ph type="sldNum" sz="quarter" idx="12"/>
          </p:nvPr>
        </p:nvSpPr>
        <p:spPr>
          <a:ln/>
        </p:spPr>
        <p:txBody>
          <a:bodyPr/>
          <a:lstStyle>
            <a:lvl1pPr>
              <a:defRPr/>
            </a:lvl1pPr>
          </a:lstStyle>
          <a:p>
            <a:fld id="{8E230222-1273-4851-B760-0286086DB5AC}" type="slidenum">
              <a:rPr lang="en-US" altLang="en-US"/>
              <a:pPr/>
              <a:t>‹#›</a:t>
            </a:fld>
            <a:endParaRPr lang="en-US" altLang="en-US"/>
          </a:p>
        </p:txBody>
      </p:sp>
    </p:spTree>
    <p:extLst>
      <p:ext uri="{BB962C8B-B14F-4D97-AF65-F5344CB8AC3E}">
        <p14:creationId xmlns:p14="http://schemas.microsoft.com/office/powerpoint/2010/main" val="2857527350"/>
      </p:ext>
    </p:extLst>
  </p:cSld>
  <p:clrMapOvr>
    <a:masterClrMapping/>
  </p:clrMapOvr>
  <p:transition>
    <p:zoom dir="in"/>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BDBDD5B-9C05-4EB7-A150-E2D9F96175C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D113B3D-9727-4C37-9FD7-688F5738C63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43C8CE6-2D77-4B8A-9C55-4F0DA8200255}"/>
              </a:ext>
            </a:extLst>
          </p:cNvPr>
          <p:cNvSpPr>
            <a:spLocks noGrp="1" noChangeArrowheads="1"/>
          </p:cNvSpPr>
          <p:nvPr>
            <p:ph type="sldNum" sz="quarter" idx="12"/>
          </p:nvPr>
        </p:nvSpPr>
        <p:spPr>
          <a:ln/>
        </p:spPr>
        <p:txBody>
          <a:bodyPr/>
          <a:lstStyle>
            <a:lvl1pPr>
              <a:defRPr/>
            </a:lvl1pPr>
          </a:lstStyle>
          <a:p>
            <a:fld id="{ADACC19F-AE37-4B69-B647-5486EF3FE89D}" type="slidenum">
              <a:rPr lang="en-US" altLang="en-US"/>
              <a:pPr/>
              <a:t>‹#›</a:t>
            </a:fld>
            <a:endParaRPr lang="en-US" altLang="en-US"/>
          </a:p>
        </p:txBody>
      </p:sp>
    </p:spTree>
    <p:extLst>
      <p:ext uri="{BB962C8B-B14F-4D97-AF65-F5344CB8AC3E}">
        <p14:creationId xmlns:p14="http://schemas.microsoft.com/office/powerpoint/2010/main" val="3241861343"/>
      </p:ext>
    </p:extLst>
  </p:cSld>
  <p:clrMapOvr>
    <a:masterClrMapping/>
  </p:clrMapOvr>
  <p:transition>
    <p:zoom dir="in"/>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image" Target="../media/image2.png"/><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theme" Target="../theme/theme3.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theme" Target="../theme/theme4.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gray">
          <a:xfrm>
            <a:off x="0" y="6400800"/>
            <a:ext cx="91440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381000" y="152400"/>
            <a:ext cx="8375904"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381000" y="1447800"/>
            <a:ext cx="8375904" cy="47243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bwMode="white">
          <a:xfrm>
            <a:off x="6649845" y="6434407"/>
            <a:ext cx="1351155" cy="365125"/>
          </a:xfrm>
          <a:prstGeom prst="rect">
            <a:avLst/>
          </a:prstGeom>
        </p:spPr>
        <p:txBody>
          <a:bodyPr vert="horz" lIns="91440" tIns="45720" rIns="91440" bIns="45720" rtlCol="0" anchor="ctr"/>
          <a:lstStyle>
            <a:lvl1pPr algn="l">
              <a:defRPr sz="1100">
                <a:solidFill>
                  <a:schemeClr val="bg1"/>
                </a:solidFill>
              </a:defRPr>
            </a:lvl1pPr>
          </a:lstStyle>
          <a:p>
            <a:endParaRPr/>
          </a:p>
        </p:txBody>
      </p:sp>
      <p:sp>
        <p:nvSpPr>
          <p:cNvPr id="5" name="Footer Placeholder 4"/>
          <p:cNvSpPr>
            <a:spLocks noGrp="1"/>
          </p:cNvSpPr>
          <p:nvPr>
            <p:ph type="ftr" sz="quarter" idx="3"/>
          </p:nvPr>
        </p:nvSpPr>
        <p:spPr bwMode="white">
          <a:xfrm>
            <a:off x="381000" y="6429716"/>
            <a:ext cx="2895600" cy="399367"/>
          </a:xfrm>
          <a:prstGeom prst="rect">
            <a:avLst/>
          </a:prstGeom>
        </p:spPr>
        <p:txBody>
          <a:bodyPr vert="horz" lIns="91440" tIns="45720" rIns="91440" bIns="45720" rtlCol="0" anchor="ctr"/>
          <a:lstStyle>
            <a:lvl1pPr algn="l">
              <a:defRPr sz="1100">
                <a:solidFill>
                  <a:schemeClr val="bg1"/>
                </a:solidFill>
              </a:defRPr>
            </a:lvl1pPr>
          </a:lstStyle>
          <a:p>
            <a:r>
              <a:rPr lang="en-US" dirty="0"/>
              <a:t>Copyright © 2013 CFA Institute</a:t>
            </a:r>
          </a:p>
        </p:txBody>
      </p:sp>
      <p:sp>
        <p:nvSpPr>
          <p:cNvPr id="6" name="Slide Number Placeholder 5"/>
          <p:cNvSpPr>
            <a:spLocks noGrp="1"/>
          </p:cNvSpPr>
          <p:nvPr>
            <p:ph type="sldNum" sz="quarter" idx="4"/>
          </p:nvPr>
        </p:nvSpPr>
        <p:spPr bwMode="white">
          <a:xfrm>
            <a:off x="8001000" y="6434407"/>
            <a:ext cx="783936" cy="365125"/>
          </a:xfrm>
          <a:prstGeom prst="rect">
            <a:avLst/>
          </a:prstGeom>
        </p:spPr>
        <p:txBody>
          <a:bodyPr vert="horz" lIns="91440" tIns="45720" rIns="91440" bIns="45720" rtlCol="0" anchor="ctr"/>
          <a:lstStyle>
            <a:lvl1pPr algn="r">
              <a:defRPr sz="1100">
                <a:solidFill>
                  <a:schemeClr val="bg1"/>
                </a:solidFill>
              </a:defRPr>
            </a:lvl1pPr>
          </a:lstStyle>
          <a:p>
            <a:fld id="{4E4A4924-7CC3-4BF6-9C5C-A8E770D15754}" type="slidenum">
              <a:rPr/>
              <a:pPr/>
              <a:t>‹#›</a:t>
            </a:fld>
            <a:endParaRPr/>
          </a:p>
        </p:txBody>
      </p:sp>
    </p:spTree>
    <p:extLst>
      <p:ext uri="{BB962C8B-B14F-4D97-AF65-F5344CB8AC3E}">
        <p14:creationId xmlns:p14="http://schemas.microsoft.com/office/powerpoint/2010/main" val="2083280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89" r:id="rId4"/>
    <p:sldLayoutId id="2147483651" r:id="rId5"/>
    <p:sldLayoutId id="2147483652" r:id="rId6"/>
    <p:sldLayoutId id="2147483654" r:id="rId7"/>
    <p:sldLayoutId id="2147483655" r:id="rId8"/>
    <p:sldLayoutId id="2147483693" r:id="rId9"/>
    <p:sldLayoutId id="2147483657" r:id="rId10"/>
    <p:sldLayoutId id="2147483658" r:id="rId11"/>
    <p:sldLayoutId id="2147483659" r:id="rId12"/>
    <p:sldLayoutId id="2147483702" r:id="rId13"/>
    <p:sldLayoutId id="2147483703" r:id="rId14"/>
    <p:sldLayoutId id="2147483736" r:id="rId15"/>
    <p:sldLayoutId id="2147483737" r:id="rId16"/>
    <p:sldLayoutId id="2147483738" r:id="rId17"/>
    <p:sldLayoutId id="2147483739" r:id="rId18"/>
  </p:sldLayoutIdLst>
  <p:hf hdr="0" dt="0"/>
  <p:txStyles>
    <p:titleStyle>
      <a:lvl1pPr algn="l" defTabSz="914400" rtl="0" eaLnBrk="1" latinLnBrk="0" hangingPunct="1">
        <a:spcBef>
          <a:spcPct val="0"/>
        </a:spcBef>
        <a:buNone/>
        <a:defRPr sz="2800" kern="1200" cap="all" baseline="0">
          <a:solidFill>
            <a:schemeClr val="tx2"/>
          </a:solidFill>
          <a:latin typeface="+mj-lt"/>
          <a:ea typeface="+mj-ea"/>
          <a:cs typeface="+mj-cs"/>
        </a:defRPr>
      </a:lvl1pPr>
    </p:titleStyle>
    <p:bodyStyle>
      <a:lvl1pPr marL="182880"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1pPr>
      <a:lvl2pPr marL="384048"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2pPr>
      <a:lvl3pPr marL="585216"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3pPr>
      <a:lvl4pPr marL="786384"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4pPr>
      <a:lvl5pPr marL="987552"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5pPr>
      <a:lvl6pPr marL="1188720"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6pPr>
      <a:lvl7pPr marL="1389888"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7pPr>
      <a:lvl8pPr marL="1591056"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8pPr>
      <a:lvl9pPr marL="1792224"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152400"/>
            <a:ext cx="8375904" cy="1143000"/>
          </a:xfrm>
          <a:prstGeom prst="rect">
            <a:avLst/>
          </a:prstGeom>
        </p:spPr>
        <p:txBody>
          <a:bodyPr vert="horz" lIns="91440" tIns="45720" rIns="91440" bIns="45720" rtlCol="0" anchor="b">
            <a:normAutofit/>
          </a:bodyPr>
          <a:lstStyle/>
          <a:p>
            <a:r>
              <a:t>Click to edit Master title style</a:t>
            </a:r>
          </a:p>
        </p:txBody>
      </p:sp>
      <p:sp>
        <p:nvSpPr>
          <p:cNvPr id="3" name="Text Placeholder 2"/>
          <p:cNvSpPr>
            <a:spLocks noGrp="1"/>
          </p:cNvSpPr>
          <p:nvPr>
            <p:ph type="body" idx="1"/>
          </p:nvPr>
        </p:nvSpPr>
        <p:spPr>
          <a:xfrm>
            <a:off x="381000" y="1447800"/>
            <a:ext cx="8375904" cy="4724399"/>
          </a:xfrm>
          <a:prstGeom prst="rect">
            <a:avLst/>
          </a:prstGeom>
        </p:spPr>
        <p:txBody>
          <a:bodyPr vert="horz" lIns="91440" tIns="45720" rIns="91440" bIns="45720" rtlCol="0">
            <a:normAutofit/>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2"/>
          </p:nvPr>
        </p:nvSpPr>
        <p:spPr>
          <a:xfrm>
            <a:off x="6649845" y="6434407"/>
            <a:ext cx="1351155" cy="365125"/>
          </a:xfrm>
          <a:prstGeom prst="rect">
            <a:avLst/>
          </a:prstGeom>
        </p:spPr>
        <p:txBody>
          <a:bodyPr vert="horz" lIns="91440" tIns="45720" rIns="91440" bIns="45720" rtlCol="0" anchor="ctr"/>
          <a:lstStyle>
            <a:lvl1pPr algn="l">
              <a:defRPr sz="1100">
                <a:solidFill>
                  <a:schemeClr val="bg1"/>
                </a:solidFill>
              </a:defRPr>
            </a:lvl1pPr>
          </a:lstStyle>
          <a:p>
            <a:endParaRPr/>
          </a:p>
        </p:txBody>
      </p:sp>
      <p:sp>
        <p:nvSpPr>
          <p:cNvPr id="5" name="Footer Placeholder 4"/>
          <p:cNvSpPr>
            <a:spLocks noGrp="1"/>
          </p:cNvSpPr>
          <p:nvPr>
            <p:ph type="ftr" sz="quarter" idx="3"/>
          </p:nvPr>
        </p:nvSpPr>
        <p:spPr>
          <a:xfrm>
            <a:off x="2471853" y="6435042"/>
            <a:ext cx="2895600" cy="365125"/>
          </a:xfrm>
          <a:prstGeom prst="rect">
            <a:avLst/>
          </a:prstGeom>
        </p:spPr>
        <p:txBody>
          <a:bodyPr vert="horz" lIns="91440" tIns="45720" rIns="91440" bIns="45720" rtlCol="0" anchor="ctr"/>
          <a:lstStyle>
            <a:lvl1pPr algn="l">
              <a:defRPr sz="1100">
                <a:solidFill>
                  <a:schemeClr val="bg1"/>
                </a:solidFill>
              </a:defRPr>
            </a:lvl1pPr>
          </a:lstStyle>
          <a:p>
            <a:r>
              <a:rPr lang="en-US" dirty="0"/>
              <a:t>Copyright © 2013 CFA Institute</a:t>
            </a:r>
            <a:endParaRPr dirty="0"/>
          </a:p>
        </p:txBody>
      </p:sp>
      <p:sp>
        <p:nvSpPr>
          <p:cNvPr id="6" name="Slide Number Placeholder 5"/>
          <p:cNvSpPr>
            <a:spLocks noGrp="1"/>
          </p:cNvSpPr>
          <p:nvPr>
            <p:ph type="sldNum" sz="quarter" idx="4"/>
          </p:nvPr>
        </p:nvSpPr>
        <p:spPr>
          <a:xfrm>
            <a:off x="8001000" y="6434407"/>
            <a:ext cx="783936" cy="365125"/>
          </a:xfrm>
          <a:prstGeom prst="rect">
            <a:avLst/>
          </a:prstGeom>
        </p:spPr>
        <p:txBody>
          <a:bodyPr vert="horz" lIns="91440" tIns="45720" rIns="91440" bIns="45720" rtlCol="0" anchor="ctr"/>
          <a:lstStyle>
            <a:lvl1pPr algn="r">
              <a:defRPr sz="1100">
                <a:solidFill>
                  <a:schemeClr val="bg1"/>
                </a:solidFill>
              </a:defRPr>
            </a:lvl1pPr>
          </a:lstStyle>
          <a:p>
            <a:fld id="{4E4A4924-7CC3-4BF6-9C5C-A8E770D15754}" type="slidenum">
              <a:rPr/>
              <a:pPr/>
              <a:t>‹#›</a:t>
            </a:fld>
            <a:endParaRPr/>
          </a:p>
        </p:txBody>
      </p:sp>
      <p:pic>
        <p:nvPicPr>
          <p:cNvPr id="9" name="slug"/>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bwMode="black">
          <a:xfrm>
            <a:off x="454818" y="6567477"/>
            <a:ext cx="786384" cy="102428"/>
          </a:xfrm>
          <a:prstGeom prst="rect">
            <a:avLst/>
          </a:prstGeom>
        </p:spPr>
      </p:pic>
    </p:spTree>
    <p:extLst>
      <p:ext uri="{BB962C8B-B14F-4D97-AF65-F5344CB8AC3E}">
        <p14:creationId xmlns:p14="http://schemas.microsoft.com/office/powerpoint/2010/main" val="992954990"/>
      </p:ext>
    </p:extLst>
  </p:cSld>
  <p:clrMap bg1="lt1" tx1="dk1" bg2="lt2" tx2="dk2" accent1="accent1" accent2="accent2" accent3="accent3" accent4="accent4" accent5="accent5" accent6="accent6" hlink="hlink" folHlink="folHlink"/>
  <p:sldLayoutIdLst>
    <p:sldLayoutId id="2147483662" r:id="rId1"/>
    <p:sldLayoutId id="2147483674" r:id="rId2"/>
    <p:sldLayoutId id="2147483694" r:id="rId3"/>
    <p:sldLayoutId id="2147483695" r:id="rId4"/>
    <p:sldLayoutId id="2147483675" r:id="rId5"/>
    <p:sldLayoutId id="2147483700" r:id="rId6"/>
    <p:sldLayoutId id="2147483701" r:id="rId7"/>
    <p:sldLayoutId id="2147483676" r:id="rId8"/>
    <p:sldLayoutId id="2147483678" r:id="rId9"/>
    <p:sldLayoutId id="2147483681" r:id="rId10"/>
    <p:sldLayoutId id="2147483690" r:id="rId11"/>
    <p:sldLayoutId id="2147483696" r:id="rId12"/>
    <p:sldLayoutId id="2147483699" r:id="rId13"/>
    <p:sldLayoutId id="2147483685" r:id="rId14"/>
    <p:sldLayoutId id="2147483684" r:id="rId15"/>
    <p:sldLayoutId id="2147483686" r:id="rId16"/>
    <p:sldLayoutId id="2147483692" r:id="rId17"/>
    <p:sldLayoutId id="2147483698" r:id="rId18"/>
    <p:sldLayoutId id="2147483697" r:id="rId19"/>
  </p:sldLayoutIdLst>
  <p:hf hdr="0" dt="0"/>
  <p:txStyles>
    <p:titleStyle>
      <a:lvl1pPr algn="l" defTabSz="914400" rtl="0" eaLnBrk="1" latinLnBrk="0" hangingPunct="1">
        <a:spcBef>
          <a:spcPct val="0"/>
        </a:spcBef>
        <a:buNone/>
        <a:defRPr sz="2800" kern="1200" cap="all" baseline="0">
          <a:solidFill>
            <a:schemeClr val="tx2"/>
          </a:solidFill>
          <a:latin typeface="+mj-lt"/>
          <a:ea typeface="+mj-ea"/>
          <a:cs typeface="+mj-cs"/>
        </a:defRPr>
      </a:lvl1pPr>
    </p:titleStyle>
    <p:bodyStyle>
      <a:lvl1pPr marL="182880"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1pPr>
      <a:lvl2pPr marL="384048"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2pPr>
      <a:lvl3pPr marL="585216"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3pPr>
      <a:lvl4pPr marL="786384"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4pPr>
      <a:lvl5pPr marL="987552"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5pPr>
      <a:lvl6pPr marL="1188720"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6pPr>
      <a:lvl7pPr marL="1389888"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7pPr>
      <a:lvl8pPr marL="1591056"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8pPr>
      <a:lvl9pPr marL="1792224" indent="-173736" algn="l" defTabSz="914400" rtl="0" eaLnBrk="1" latinLnBrk="0" hangingPunct="1">
        <a:spcBef>
          <a:spcPts val="800"/>
        </a:spcBef>
        <a:buClrTx/>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p:cNvSpPr txBox="1">
            <a:spLocks/>
          </p:cNvSpPr>
          <p:nvPr userDrawn="1"/>
        </p:nvSpPr>
        <p:spPr>
          <a:xfrm>
            <a:off x="8407400" y="6446146"/>
            <a:ext cx="534894" cy="365125"/>
          </a:xfrm>
          <a:prstGeom prst="rect">
            <a:avLst/>
          </a:prstGeom>
        </p:spPr>
        <p:txBody>
          <a:bodyPr vert="horz" lIns="91440" tIns="45720" rIns="91440" bIns="45720" rtlCol="0" anchor="ctr"/>
          <a:lstStyle>
            <a:defPPr>
              <a:defRPr lang="en-US"/>
            </a:defPPr>
            <a:lvl1pPr marL="0" algn="r" defTabSz="914400" rtl="0" eaLnBrk="1" latinLnBrk="0" hangingPunct="1">
              <a:defRPr sz="1100" b="1" kern="1200">
                <a:solidFill>
                  <a:schemeClr val="tx2">
                    <a:lumMod val="60000"/>
                    <a:lumOff val="4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rgbClr val="1F497D">
                    <a:lumMod val="60000"/>
                    <a:lumOff val="40000"/>
                  </a:srgbClr>
                </a:solidFill>
              </a:rPr>
              <a:t>13-</a:t>
            </a:r>
            <a:fld id="{FA84A37A-AFC2-4A01-80A1-FC20F2C0D5BB}" type="slidenum">
              <a:rPr lang="en-US" smtClean="0">
                <a:solidFill>
                  <a:srgbClr val="1F497D">
                    <a:lumMod val="60000"/>
                    <a:lumOff val="40000"/>
                  </a:srgbClr>
                </a:solidFill>
              </a:rPr>
              <a:pPr/>
              <a:t>‹#›</a:t>
            </a:fld>
            <a:endParaRPr lang="en-US" dirty="0">
              <a:solidFill>
                <a:srgbClr val="1F497D">
                  <a:lumMod val="60000"/>
                  <a:lumOff val="40000"/>
                </a:srgbClr>
              </a:solidFill>
            </a:endParaRPr>
          </a:p>
        </p:txBody>
      </p:sp>
      <p:sp>
        <p:nvSpPr>
          <p:cNvPr id="4" name="Footer Placeholder 4"/>
          <p:cNvSpPr>
            <a:spLocks noGrp="1"/>
          </p:cNvSpPr>
          <p:nvPr>
            <p:ph type="ftr" sz="quarter" idx="3"/>
          </p:nvPr>
        </p:nvSpPr>
        <p:spPr>
          <a:xfrm>
            <a:off x="141941" y="6356350"/>
            <a:ext cx="8265459" cy="365125"/>
          </a:xfrm>
          <a:prstGeom prst="rect">
            <a:avLst/>
          </a:prstGeom>
        </p:spPr>
        <p:txBody>
          <a:bodyPr/>
          <a:lstStyle>
            <a:lvl1pPr algn="ctr">
              <a:defRPr sz="800"/>
            </a:lvl1pPr>
          </a:lstStyle>
          <a:p>
            <a:pPr defTabSz="457200"/>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Tree>
    <p:extLst>
      <p:ext uri="{BB962C8B-B14F-4D97-AF65-F5344CB8AC3E}">
        <p14:creationId xmlns:p14="http://schemas.microsoft.com/office/powerpoint/2010/main" val="62265197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FDCF997-EEAF-4CA5-9908-0776BA577F55}"/>
              </a:ext>
            </a:extLst>
          </p:cNvPr>
          <p:cNvSpPr>
            <a:spLocks noGrp="1" noChangeArrowheads="1"/>
          </p:cNvSpPr>
          <p:nvPr>
            <p:ph type="title"/>
          </p:nvPr>
        </p:nvSpPr>
        <p:spPr bwMode="auto">
          <a:xfrm>
            <a:off x="457200" y="304800"/>
            <a:ext cx="8229600" cy="1143000"/>
          </a:xfrm>
          <a:prstGeom prst="rect">
            <a:avLst/>
          </a:prstGeom>
          <a:noFill/>
          <a:ln>
            <a:noFill/>
          </a:ln>
          <a:effectLst/>
          <a:extLst>
            <a:ext uri="{909E8E84-426E-40DD-AFC4-6F175D3DCCD1}">
              <a14:hiddenFill xmlns:a14="http://schemas.microsoft.com/office/drawing/2010/main">
                <a:solidFill>
                  <a:srgbClr val="80AAD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2093368-B6CE-44B0-90DE-9F75EFE94516}"/>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0"/>
            <a:r>
              <a:rPr lang="en-US" altLang="en-US"/>
              <a:t>Third level</a:t>
            </a:r>
          </a:p>
          <a:p>
            <a:pPr lvl="1"/>
            <a:r>
              <a:rPr lang="en-US" altLang="en-US"/>
              <a:t>Fourth level</a:t>
            </a:r>
          </a:p>
          <a:p>
            <a:pPr lvl="2"/>
            <a:r>
              <a:rPr lang="en-US" altLang="en-US"/>
              <a:t>Fifth level</a:t>
            </a:r>
          </a:p>
        </p:txBody>
      </p:sp>
      <p:sp>
        <p:nvSpPr>
          <p:cNvPr id="1028" name="Rectangle 4">
            <a:extLst>
              <a:ext uri="{FF2B5EF4-FFF2-40B4-BE49-F238E27FC236}">
                <a16:creationId xmlns:a16="http://schemas.microsoft.com/office/drawing/2014/main" id="{47875483-99A7-4371-AB5B-479A8D4114B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9FEBB136-B33A-46A7-8219-1BEA0917F95D}"/>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39F6D50D-50D0-4399-A0F6-CB7C7BB93353}"/>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A146B86-12CF-4E28-912A-71FDAF3E7545}" type="slidenum">
              <a:rPr lang="en-US" altLang="en-US"/>
              <a:pPr/>
              <a:t>‹#›</a:t>
            </a:fld>
            <a:endParaRPr lang="en-US" altLang="en-US"/>
          </a:p>
        </p:txBody>
      </p:sp>
      <p:sp>
        <p:nvSpPr>
          <p:cNvPr id="1031" name="AutoShape 9">
            <a:extLst>
              <a:ext uri="{FF2B5EF4-FFF2-40B4-BE49-F238E27FC236}">
                <a16:creationId xmlns:a16="http://schemas.microsoft.com/office/drawing/2014/main" id="{EE65BAC6-8E79-4444-B76A-D68AD16515BC}"/>
              </a:ext>
            </a:extLst>
          </p:cNvPr>
          <p:cNvSpPr>
            <a:spLocks noChangeArrowheads="1"/>
          </p:cNvSpPr>
          <p:nvPr userDrawn="1"/>
        </p:nvSpPr>
        <p:spPr bwMode="auto">
          <a:xfrm>
            <a:off x="152400" y="1371600"/>
            <a:ext cx="6553200" cy="228600"/>
          </a:xfrm>
          <a:prstGeom prst="roundRect">
            <a:avLst>
              <a:gd name="adj" fmla="val 16667"/>
            </a:avLst>
          </a:prstGeom>
          <a:solidFill>
            <a:srgbClr val="80AAD0">
              <a:alpha val="43921"/>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32" name="Rectangle 10">
            <a:extLst>
              <a:ext uri="{FF2B5EF4-FFF2-40B4-BE49-F238E27FC236}">
                <a16:creationId xmlns:a16="http://schemas.microsoft.com/office/drawing/2014/main" id="{A806841A-AA96-43B2-A734-2D121F6EA9B5}"/>
              </a:ext>
            </a:extLst>
          </p:cNvPr>
          <p:cNvSpPr>
            <a:spLocks noChangeArrowheads="1"/>
          </p:cNvSpPr>
          <p:nvPr userDrawn="1"/>
        </p:nvSpPr>
        <p:spPr bwMode="auto">
          <a:xfrm>
            <a:off x="0" y="0"/>
            <a:ext cx="3352800" cy="457200"/>
          </a:xfrm>
          <a:prstGeom prst="rect">
            <a:avLst/>
          </a:prstGeom>
          <a:solidFill>
            <a:srgbClr val="80AAD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33" name="AutoShape 11">
            <a:extLst>
              <a:ext uri="{FF2B5EF4-FFF2-40B4-BE49-F238E27FC236}">
                <a16:creationId xmlns:a16="http://schemas.microsoft.com/office/drawing/2014/main" id="{31677EFB-AB9E-4818-8885-778DF76FB28F}"/>
              </a:ext>
            </a:extLst>
          </p:cNvPr>
          <p:cNvSpPr>
            <a:spLocks noChangeArrowheads="1"/>
          </p:cNvSpPr>
          <p:nvPr userDrawn="1"/>
        </p:nvSpPr>
        <p:spPr bwMode="auto">
          <a:xfrm>
            <a:off x="0" y="0"/>
            <a:ext cx="457200" cy="6858000"/>
          </a:xfrm>
          <a:prstGeom prst="roundRect">
            <a:avLst>
              <a:gd name="adj" fmla="val 16667"/>
            </a:avLst>
          </a:prstGeom>
          <a:solidFill>
            <a:srgbClr val="80AAD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34" name="Text Box 12">
            <a:extLst>
              <a:ext uri="{FF2B5EF4-FFF2-40B4-BE49-F238E27FC236}">
                <a16:creationId xmlns:a16="http://schemas.microsoft.com/office/drawing/2014/main" id="{183B6061-A4D1-4756-948B-3BBB291E1562}"/>
              </a:ext>
            </a:extLst>
          </p:cNvPr>
          <p:cNvSpPr txBox="1">
            <a:spLocks noChangeArrowheads="1"/>
          </p:cNvSpPr>
          <p:nvPr userDrawn="1"/>
        </p:nvSpPr>
        <p:spPr bwMode="auto">
          <a:xfrm>
            <a:off x="8521700" y="0"/>
            <a:ext cx="6223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000"/>
              <a:t>10-</a:t>
            </a:r>
            <a:fld id="{3CBBF620-29B1-4376-AE81-9CEDE7EC99FC}" type="slidenum">
              <a:rPr lang="en-US" altLang="en-US" sz="1000"/>
              <a:pPr algn="r" eaLnBrk="1" hangingPunct="1"/>
              <a:t>‹#›</a:t>
            </a:fld>
            <a:endParaRPr lang="en-US" altLang="en-US" sz="3800">
              <a:latin typeface="Book Antiqua" panose="02040602050305030304" pitchFamily="18" charset="0"/>
            </a:endParaRPr>
          </a:p>
        </p:txBody>
      </p:sp>
    </p:spTree>
    <p:extLst>
      <p:ext uri="{BB962C8B-B14F-4D97-AF65-F5344CB8AC3E}">
        <p14:creationId xmlns:p14="http://schemas.microsoft.com/office/powerpoint/2010/main" val="72030131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Lst>
  <p:transition>
    <p:zoom dir="in"/>
  </p:transition>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charset="0"/>
          <a:cs typeface="Arial" charset="0"/>
        </a:defRPr>
      </a:lvl2pPr>
      <a:lvl3pPr algn="ctr" rtl="0" eaLnBrk="0" fontAlgn="base" hangingPunct="0">
        <a:spcBef>
          <a:spcPct val="0"/>
        </a:spcBef>
        <a:spcAft>
          <a:spcPct val="0"/>
        </a:spcAft>
        <a:defRPr sz="4400">
          <a:solidFill>
            <a:schemeClr val="tx1"/>
          </a:solidFill>
          <a:latin typeface="Arial" charset="0"/>
          <a:cs typeface="Arial" charset="0"/>
        </a:defRPr>
      </a:lvl3pPr>
      <a:lvl4pPr algn="ctr" rtl="0" eaLnBrk="0" fontAlgn="base" hangingPunct="0">
        <a:spcBef>
          <a:spcPct val="0"/>
        </a:spcBef>
        <a:spcAft>
          <a:spcPct val="0"/>
        </a:spcAft>
        <a:defRPr sz="4400">
          <a:solidFill>
            <a:schemeClr val="tx1"/>
          </a:solidFill>
          <a:latin typeface="Arial" charset="0"/>
          <a:cs typeface="Arial" charset="0"/>
        </a:defRPr>
      </a:lvl4pPr>
      <a:lvl5pPr algn="ctr" rtl="0" eaLnBrk="0" fontAlgn="base" hangingPunct="0">
        <a:spcBef>
          <a:spcPct val="0"/>
        </a:spcBef>
        <a:spcAft>
          <a:spcPct val="0"/>
        </a:spcAft>
        <a:defRPr sz="4400">
          <a:solidFill>
            <a:schemeClr val="tx1"/>
          </a:solidFill>
          <a:latin typeface="Arial" charset="0"/>
          <a:cs typeface="Arial" charset="0"/>
        </a:defRPr>
      </a:lvl5pPr>
      <a:lvl6pPr marL="457200" algn="ctr" rtl="0" fontAlgn="base">
        <a:spcBef>
          <a:spcPct val="0"/>
        </a:spcBef>
        <a:spcAft>
          <a:spcPct val="0"/>
        </a:spcAft>
        <a:defRPr sz="4400">
          <a:solidFill>
            <a:schemeClr val="tx1"/>
          </a:solidFill>
          <a:latin typeface="Arial" charset="0"/>
          <a:cs typeface="Arial" charset="0"/>
        </a:defRPr>
      </a:lvl6pPr>
      <a:lvl7pPr marL="914400" algn="ctr" rtl="0" fontAlgn="base">
        <a:spcBef>
          <a:spcPct val="0"/>
        </a:spcBef>
        <a:spcAft>
          <a:spcPct val="0"/>
        </a:spcAft>
        <a:defRPr sz="4400">
          <a:solidFill>
            <a:schemeClr val="tx1"/>
          </a:solidFill>
          <a:latin typeface="Arial" charset="0"/>
          <a:cs typeface="Arial" charset="0"/>
        </a:defRPr>
      </a:lvl7pPr>
      <a:lvl8pPr marL="1371600" algn="ctr" rtl="0" fontAlgn="base">
        <a:spcBef>
          <a:spcPct val="0"/>
        </a:spcBef>
        <a:spcAft>
          <a:spcPct val="0"/>
        </a:spcAft>
        <a:defRPr sz="4400">
          <a:solidFill>
            <a:schemeClr val="tx1"/>
          </a:solidFill>
          <a:latin typeface="Arial" charset="0"/>
          <a:cs typeface="Arial" charset="0"/>
        </a:defRPr>
      </a:lvl8pPr>
      <a:lvl9pPr marL="1828800" algn="ctr"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65.xml"/><Relationship Id="rId6" Type="http://schemas.openxmlformats.org/officeDocument/2006/relationships/image" Target="../media/image25.emf"/><Relationship Id="rId5" Type="http://schemas.openxmlformats.org/officeDocument/2006/relationships/oleObject" Target="../embeddings/oleObject2.bin"/><Relationship Id="rId4" Type="http://schemas.openxmlformats.org/officeDocument/2006/relationships/image" Target="../media/image24.wmf"/></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6.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28BF6-8967-42B8-AFFC-2AB03DD9EF43}"/>
              </a:ext>
            </a:extLst>
          </p:cNvPr>
          <p:cNvSpPr>
            <a:spLocks noGrp="1"/>
          </p:cNvSpPr>
          <p:nvPr>
            <p:ph type="ctrTitle"/>
          </p:nvPr>
        </p:nvSpPr>
        <p:spPr>
          <a:xfrm>
            <a:off x="685800" y="587109"/>
            <a:ext cx="7572829" cy="1554480"/>
          </a:xfrm>
        </p:spPr>
        <p:txBody>
          <a:bodyPr/>
          <a:lstStyle/>
          <a:p>
            <a:r>
              <a:rPr lang="en-US" altLang="en-US" dirty="0">
                <a:ea typeface="MS PGothic" pitchFamily="34" charset="-128"/>
              </a:rPr>
              <a:t>Analysis of Financial Statements</a:t>
            </a:r>
            <a:endParaRPr lang="en-IN" dirty="0"/>
          </a:p>
        </p:txBody>
      </p:sp>
      <p:sp>
        <p:nvSpPr>
          <p:cNvPr id="3" name="Subtitle 2">
            <a:extLst>
              <a:ext uri="{FF2B5EF4-FFF2-40B4-BE49-F238E27FC236}">
                <a16:creationId xmlns:a16="http://schemas.microsoft.com/office/drawing/2014/main" id="{6C5B7F3E-5D27-4F63-94AC-D264145D7F9F}"/>
              </a:ext>
            </a:extLst>
          </p:cNvPr>
          <p:cNvSpPr>
            <a:spLocks noGrp="1"/>
          </p:cNvSpPr>
          <p:nvPr>
            <p:ph type="subTitle" idx="1"/>
          </p:nvPr>
        </p:nvSpPr>
        <p:spPr/>
        <p:txBody>
          <a:bodyPr/>
          <a:lstStyle/>
          <a:p>
            <a:r>
              <a:rPr lang="en-US" altLang="en-US">
                <a:solidFill>
                  <a:srgbClr val="545454"/>
                </a:solidFill>
              </a:rPr>
              <a:t>Project – phase II</a:t>
            </a:r>
            <a:endParaRPr lang="en-US" altLang="en-US" dirty="0">
              <a:solidFill>
                <a:srgbClr val="545454"/>
              </a:solidFill>
            </a:endParaRPr>
          </a:p>
        </p:txBody>
      </p:sp>
      <p:sp>
        <p:nvSpPr>
          <p:cNvPr id="4" name="Text Placeholder 3">
            <a:extLst>
              <a:ext uri="{FF2B5EF4-FFF2-40B4-BE49-F238E27FC236}">
                <a16:creationId xmlns:a16="http://schemas.microsoft.com/office/drawing/2014/main" id="{BAC7DF7E-99FC-4B1F-A6BD-E6D4E544B605}"/>
              </a:ext>
            </a:extLst>
          </p:cNvPr>
          <p:cNvSpPr>
            <a:spLocks noGrp="1"/>
          </p:cNvSpPr>
          <p:nvPr>
            <p:ph type="body" sz="quarter" idx="13"/>
          </p:nvPr>
        </p:nvSpPr>
        <p:spPr/>
        <p:txBody>
          <a:bodyPr>
            <a:normAutofit/>
          </a:bodyPr>
          <a:lstStyle/>
          <a:p>
            <a:pPr>
              <a:defRPr/>
            </a:pPr>
            <a:r>
              <a:rPr lang="en-US" dirty="0">
                <a:latin typeface="Calibri" panose="020F0502020204030204" pitchFamily="34" charset="0"/>
                <a:ea typeface="ＭＳ Ｐゴシック" pitchFamily="34" charset="-128"/>
              </a:rPr>
              <a:t>Compiled by Dr Maha Ramadan</a:t>
            </a:r>
          </a:p>
        </p:txBody>
      </p:sp>
      <p:sp>
        <p:nvSpPr>
          <p:cNvPr id="5" name="Text Placeholder 4">
            <a:extLst>
              <a:ext uri="{FF2B5EF4-FFF2-40B4-BE49-F238E27FC236}">
                <a16:creationId xmlns:a16="http://schemas.microsoft.com/office/drawing/2014/main" id="{646D7084-ED74-464F-8A9B-2B6AEEA29649}"/>
              </a:ext>
            </a:extLst>
          </p:cNvPr>
          <p:cNvSpPr>
            <a:spLocks noGrp="1"/>
          </p:cNvSpPr>
          <p:nvPr>
            <p:ph type="body" sz="quarter" idx="14"/>
          </p:nvPr>
        </p:nvSpPr>
        <p:spPr>
          <a:xfrm>
            <a:off x="342900" y="6283779"/>
            <a:ext cx="8458200" cy="502920"/>
          </a:xfrm>
        </p:spPr>
        <p:txBody>
          <a:bodyPr/>
          <a:lstStyle/>
          <a:p>
            <a:r>
              <a:rPr lang="en-US" i="1" dirty="0"/>
              <a:t>Copyright ©2021 McGraw-Hill Education. All rights reserved. No reproduction or distribution without the prior written consent of McGraw-Hill Education.</a:t>
            </a:r>
          </a:p>
        </p:txBody>
      </p:sp>
      <p:sp>
        <p:nvSpPr>
          <p:cNvPr id="6" name="Slide Number Placeholder 5">
            <a:extLst>
              <a:ext uri="{FF2B5EF4-FFF2-40B4-BE49-F238E27FC236}">
                <a16:creationId xmlns:a16="http://schemas.microsoft.com/office/drawing/2014/main" id="{3C090E38-B4F3-4714-9980-B568009AE5A2}"/>
              </a:ext>
            </a:extLst>
          </p:cNvPr>
          <p:cNvSpPr>
            <a:spLocks noGrp="1"/>
          </p:cNvSpPr>
          <p:nvPr>
            <p:ph type="sldNum" sz="quarter" idx="4"/>
          </p:nvPr>
        </p:nvSpPr>
        <p:spPr/>
        <p:txBody>
          <a:bodyPr/>
          <a:lstStyle/>
          <a:p>
            <a:r>
              <a:rPr lang="en-IN"/>
              <a:t>3-</a:t>
            </a:r>
            <a:fld id="{EA2AA6B4-85BE-4F94-8943-E615592FD67D}" type="slidenum">
              <a:rPr lang="en-IN" smtClean="0"/>
              <a:pPr/>
              <a:t>1</a:t>
            </a:fld>
            <a:endParaRPr lang="en-IN" dirty="0"/>
          </a:p>
        </p:txBody>
      </p:sp>
    </p:spTree>
    <p:extLst>
      <p:ext uri="{BB962C8B-B14F-4D97-AF65-F5344CB8AC3E}">
        <p14:creationId xmlns:p14="http://schemas.microsoft.com/office/powerpoint/2010/main" val="4122053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60609-F768-434C-A5B5-EDE62AAD18B2}"/>
              </a:ext>
            </a:extLst>
          </p:cNvPr>
          <p:cNvSpPr>
            <a:spLocks noGrp="1"/>
          </p:cNvSpPr>
          <p:nvPr>
            <p:ph type="title"/>
          </p:nvPr>
        </p:nvSpPr>
        <p:spPr/>
        <p:txBody>
          <a:bodyPr>
            <a:noAutofit/>
          </a:bodyPr>
          <a:lstStyle/>
          <a:p>
            <a:r>
              <a:rPr lang="en-US" altLang="en-US" b="1" dirty="0"/>
              <a:t>Purpose of Analysis</a:t>
            </a:r>
            <a:endParaRPr lang="en-IN" dirty="0"/>
          </a:p>
        </p:txBody>
      </p:sp>
      <p:sp>
        <p:nvSpPr>
          <p:cNvPr id="3" name="Content Placeholder 2">
            <a:extLst>
              <a:ext uri="{FF2B5EF4-FFF2-40B4-BE49-F238E27FC236}">
                <a16:creationId xmlns:a16="http://schemas.microsoft.com/office/drawing/2014/main" id="{EC3C05E6-EE06-4BCF-8EAF-6A39ED5F3172}"/>
              </a:ext>
            </a:extLst>
          </p:cNvPr>
          <p:cNvSpPr>
            <a:spLocks noGrp="1"/>
          </p:cNvSpPr>
          <p:nvPr>
            <p:ph idx="1"/>
          </p:nvPr>
        </p:nvSpPr>
        <p:spPr>
          <a:xfrm>
            <a:off x="94590" y="6283715"/>
            <a:ext cx="6035040" cy="228600"/>
          </a:xfrm>
        </p:spPr>
        <p:txBody>
          <a:bodyPr/>
          <a:lstStyle/>
          <a:p>
            <a:r>
              <a:rPr lang="en-US" altLang="en-US" b="1" kern="0" dirty="0">
                <a:solidFill>
                  <a:prstClr val="black"/>
                </a:solidFill>
                <a:latin typeface="Arial Narrow" pitchFamily="34" charset="0"/>
              </a:rPr>
              <a:t>Learning Objective C1: </a:t>
            </a:r>
            <a:r>
              <a:rPr lang="en-US" dirty="0"/>
              <a:t>Define the building blocks of analysis and the standards for comparisons. </a:t>
            </a:r>
          </a:p>
        </p:txBody>
      </p:sp>
      <p:sp>
        <p:nvSpPr>
          <p:cNvPr id="10" name="Content Placeholder 3">
            <a:extLst>
              <a:ext uri="{FF2B5EF4-FFF2-40B4-BE49-F238E27FC236}">
                <a16:creationId xmlns:a16="http://schemas.microsoft.com/office/drawing/2014/main" id="{9B57C00F-BF12-4FCA-9EA4-74B71F3A3530}"/>
              </a:ext>
            </a:extLst>
          </p:cNvPr>
          <p:cNvSpPr>
            <a:spLocks noGrp="1"/>
          </p:cNvSpPr>
          <p:nvPr>
            <p:ph idx="13"/>
          </p:nvPr>
        </p:nvSpPr>
        <p:spPr>
          <a:xfrm>
            <a:off x="457200" y="1812889"/>
            <a:ext cx="8229600" cy="2733847"/>
          </a:xfrm>
          <a:solidFill>
            <a:srgbClr val="FAC090"/>
          </a:solidFill>
          <a:ln>
            <a:solidFill>
              <a:schemeClr val="tx1"/>
            </a:solidFill>
          </a:ln>
        </p:spPr>
        <p:txBody>
          <a:bodyPr>
            <a:noAutofit/>
          </a:bodyPr>
          <a:lstStyle/>
          <a:p>
            <a:pPr marL="0" indent="0">
              <a:spcBef>
                <a:spcPts val="0"/>
              </a:spcBef>
              <a:spcAft>
                <a:spcPts val="200"/>
              </a:spcAft>
              <a:buNone/>
              <a:defRPr/>
            </a:pPr>
            <a:r>
              <a:rPr lang="en-US" dirty="0">
                <a:solidFill>
                  <a:srgbClr val="632523"/>
                </a:solidFill>
                <a:latin typeface="+mj-lt"/>
                <a:ea typeface="ＭＳ Ｐゴシック" pitchFamily="-108" charset="-128"/>
              </a:rPr>
              <a:t>Common goal of financial statement analysis for both external and internal users is to evaluate company performance and financial condition and to assist in evaluating: </a:t>
            </a:r>
          </a:p>
          <a:p>
            <a:pPr marL="457200" indent="-457200">
              <a:lnSpc>
                <a:spcPts val="2800"/>
              </a:lnSpc>
              <a:spcBef>
                <a:spcPts val="0"/>
              </a:spcBef>
              <a:spcAft>
                <a:spcPts val="200"/>
              </a:spcAft>
              <a:buClr>
                <a:schemeClr val="tx1"/>
              </a:buClr>
              <a:buFont typeface="+mj-lt"/>
              <a:buAutoNum type="arabicPeriod"/>
              <a:defRPr/>
            </a:pPr>
            <a:r>
              <a:rPr lang="en-US" sz="2400" dirty="0">
                <a:solidFill>
                  <a:srgbClr val="632523"/>
                </a:solidFill>
                <a:latin typeface="+mj-lt"/>
                <a:ea typeface="ＭＳ Ｐゴシック" pitchFamily="-108" charset="-128"/>
              </a:rPr>
              <a:t>Past and current performance</a:t>
            </a:r>
          </a:p>
          <a:p>
            <a:pPr marL="457200" indent="-457200">
              <a:lnSpc>
                <a:spcPts val="2800"/>
              </a:lnSpc>
              <a:spcBef>
                <a:spcPts val="0"/>
              </a:spcBef>
              <a:spcAft>
                <a:spcPts val="200"/>
              </a:spcAft>
              <a:buClr>
                <a:schemeClr val="tx1"/>
              </a:buClr>
              <a:buFont typeface="+mj-lt"/>
              <a:buAutoNum type="arabicPeriod"/>
              <a:defRPr/>
            </a:pPr>
            <a:r>
              <a:rPr lang="en-US" sz="2400" dirty="0">
                <a:solidFill>
                  <a:srgbClr val="632523"/>
                </a:solidFill>
                <a:latin typeface="+mj-lt"/>
                <a:ea typeface="ＭＳ Ｐゴシック" pitchFamily="-108" charset="-128"/>
              </a:rPr>
              <a:t>Current financial position</a:t>
            </a:r>
          </a:p>
          <a:p>
            <a:pPr marL="457200" indent="-457200">
              <a:lnSpc>
                <a:spcPts val="2800"/>
              </a:lnSpc>
              <a:spcBef>
                <a:spcPts val="0"/>
              </a:spcBef>
              <a:spcAft>
                <a:spcPts val="200"/>
              </a:spcAft>
              <a:buClr>
                <a:schemeClr val="tx1"/>
              </a:buClr>
              <a:buFont typeface="+mj-lt"/>
              <a:buAutoNum type="arabicPeriod"/>
              <a:defRPr/>
            </a:pPr>
            <a:r>
              <a:rPr lang="en-US" sz="2400" dirty="0">
                <a:solidFill>
                  <a:srgbClr val="632523"/>
                </a:solidFill>
                <a:latin typeface="+mj-lt"/>
                <a:ea typeface="ＭＳ Ｐゴシック" pitchFamily="-108" charset="-128"/>
              </a:rPr>
              <a:t>Future performance and risk</a:t>
            </a:r>
          </a:p>
        </p:txBody>
      </p:sp>
      <p:sp>
        <p:nvSpPr>
          <p:cNvPr id="11" name="Content Placeholder 4">
            <a:extLst>
              <a:ext uri="{FF2B5EF4-FFF2-40B4-BE49-F238E27FC236}">
                <a16:creationId xmlns:a16="http://schemas.microsoft.com/office/drawing/2014/main" id="{E8DE7779-0B9B-45C2-A465-9249CE1AC453}"/>
              </a:ext>
            </a:extLst>
          </p:cNvPr>
          <p:cNvSpPr>
            <a:spLocks noGrp="1"/>
          </p:cNvSpPr>
          <p:nvPr>
            <p:ph idx="14"/>
          </p:nvPr>
        </p:nvSpPr>
        <p:spPr>
          <a:xfrm>
            <a:off x="1550020" y="4661210"/>
            <a:ext cx="2319454" cy="1471716"/>
          </a:xfrm>
          <a:ln>
            <a:solidFill>
              <a:schemeClr val="tx1"/>
            </a:solidFill>
          </a:ln>
        </p:spPr>
        <p:txBody>
          <a:bodyPr>
            <a:noAutofit/>
          </a:bodyPr>
          <a:lstStyle/>
          <a:p>
            <a:pPr marL="0" indent="0" algn="ctr">
              <a:lnSpc>
                <a:spcPct val="100000"/>
              </a:lnSpc>
              <a:spcBef>
                <a:spcPts val="0"/>
              </a:spcBef>
              <a:buNone/>
            </a:pPr>
            <a:r>
              <a:rPr lang="en-US" sz="2400" u="sng" dirty="0">
                <a:solidFill>
                  <a:schemeClr val="tx2">
                    <a:lumMod val="50000"/>
                  </a:schemeClr>
                </a:solidFill>
                <a:latin typeface="+mj-lt"/>
                <a:ea typeface="ＭＳ Ｐゴシック" pitchFamily="-108" charset="-128"/>
              </a:rPr>
              <a:t>Internal Users</a:t>
            </a:r>
            <a:br>
              <a:rPr lang="en-US" sz="2400" b="1" u="sng" dirty="0">
                <a:solidFill>
                  <a:schemeClr val="accent2">
                    <a:lumMod val="50000"/>
                  </a:schemeClr>
                </a:solidFill>
                <a:latin typeface="+mj-lt"/>
                <a:ea typeface="ＭＳ Ｐゴシック" pitchFamily="-108" charset="-128"/>
              </a:rPr>
            </a:br>
            <a:r>
              <a:rPr lang="en-US" sz="2400" dirty="0">
                <a:solidFill>
                  <a:schemeClr val="accent2">
                    <a:lumMod val="50000"/>
                  </a:schemeClr>
                </a:solidFill>
                <a:latin typeface="+mj-lt"/>
                <a:ea typeface="ＭＳ Ｐゴシック" pitchFamily="-108" charset="-128"/>
              </a:rPr>
              <a:t>Managers Officers </a:t>
            </a:r>
          </a:p>
          <a:p>
            <a:pPr marL="0" indent="0" algn="ctr">
              <a:lnSpc>
                <a:spcPct val="100000"/>
              </a:lnSpc>
              <a:spcBef>
                <a:spcPts val="0"/>
              </a:spcBef>
              <a:buNone/>
            </a:pPr>
            <a:r>
              <a:rPr lang="en-US" sz="2400" dirty="0">
                <a:solidFill>
                  <a:schemeClr val="accent2">
                    <a:lumMod val="50000"/>
                  </a:schemeClr>
                </a:solidFill>
                <a:latin typeface="+mj-lt"/>
                <a:ea typeface="ＭＳ Ｐゴシック" pitchFamily="-108" charset="-128"/>
              </a:rPr>
              <a:t>Internal Auditors</a:t>
            </a:r>
          </a:p>
        </p:txBody>
      </p:sp>
      <p:sp>
        <p:nvSpPr>
          <p:cNvPr id="13" name="Content Placeholder 5">
            <a:extLst>
              <a:ext uri="{FF2B5EF4-FFF2-40B4-BE49-F238E27FC236}">
                <a16:creationId xmlns:a16="http://schemas.microsoft.com/office/drawing/2014/main" id="{1C28B3C6-E283-4CF0-873A-A7937EAFCC95}"/>
              </a:ext>
            </a:extLst>
          </p:cNvPr>
          <p:cNvSpPr>
            <a:spLocks noGrp="1"/>
          </p:cNvSpPr>
          <p:nvPr>
            <p:ph idx="15"/>
          </p:nvPr>
        </p:nvSpPr>
        <p:spPr>
          <a:xfrm>
            <a:off x="4884236" y="4661209"/>
            <a:ext cx="2241395" cy="1508033"/>
          </a:xfrm>
          <a:ln>
            <a:solidFill>
              <a:schemeClr val="tx1"/>
            </a:solidFill>
          </a:ln>
        </p:spPr>
        <p:txBody>
          <a:bodyPr>
            <a:noAutofit/>
          </a:bodyPr>
          <a:lstStyle/>
          <a:p>
            <a:pPr marL="0" indent="0" algn="ctr">
              <a:buNone/>
            </a:pPr>
            <a:r>
              <a:rPr lang="en-US" sz="2400" u="sng" dirty="0">
                <a:solidFill>
                  <a:schemeClr val="tx2">
                    <a:lumMod val="50000"/>
                  </a:schemeClr>
                </a:solidFill>
                <a:latin typeface="+mj-lt"/>
                <a:ea typeface="ＭＳ Ｐゴシック" pitchFamily="-108" charset="-128"/>
              </a:rPr>
              <a:t>External Users</a:t>
            </a:r>
            <a:br>
              <a:rPr lang="en-US" sz="2400" u="sng" dirty="0">
                <a:latin typeface="+mj-lt"/>
                <a:ea typeface="ＭＳ Ｐゴシック" pitchFamily="-108" charset="-128"/>
              </a:rPr>
            </a:br>
            <a:r>
              <a:rPr lang="en-US" sz="2400" dirty="0">
                <a:solidFill>
                  <a:schemeClr val="accent2">
                    <a:lumMod val="50000"/>
                  </a:schemeClr>
                </a:solidFill>
                <a:latin typeface="+mj-lt"/>
                <a:ea typeface="ＭＳ Ｐゴシック" pitchFamily="-108" charset="-128"/>
              </a:rPr>
              <a:t>Shareholders Lenders Suppliers</a:t>
            </a:r>
            <a:endParaRPr lang="en-US" sz="2400" u="sng" dirty="0">
              <a:solidFill>
                <a:schemeClr val="accent2">
                  <a:lumMod val="50000"/>
                </a:schemeClr>
              </a:solidFill>
              <a:latin typeface="+mj-lt"/>
              <a:ea typeface="ＭＳ Ｐゴシック" pitchFamily="-108" charset="-128"/>
            </a:endParaRPr>
          </a:p>
        </p:txBody>
      </p:sp>
      <p:sp>
        <p:nvSpPr>
          <p:cNvPr id="12" name="Slide Number Placeholder 6">
            <a:extLst>
              <a:ext uri="{FF2B5EF4-FFF2-40B4-BE49-F238E27FC236}">
                <a16:creationId xmlns:a16="http://schemas.microsoft.com/office/drawing/2014/main" id="{D82497B2-02A8-4190-BAFA-675C4684DC8B}"/>
              </a:ext>
            </a:extLst>
          </p:cNvPr>
          <p:cNvSpPr>
            <a:spLocks noGrp="1"/>
          </p:cNvSpPr>
          <p:nvPr>
            <p:ph type="sldNum" sz="quarter" idx="12"/>
          </p:nvPr>
        </p:nvSpPr>
        <p:spPr/>
        <p:txBody>
          <a:bodyPr/>
          <a:lstStyle/>
          <a:p>
            <a:r>
              <a:rPr lang="en-IN" dirty="0"/>
              <a:t>17-</a:t>
            </a:r>
            <a:fld id="{EA2AA6B4-85BE-4F94-8943-E615592FD67D}" type="slidenum">
              <a:rPr lang="en-IN" smtClean="0"/>
              <a:pPr/>
              <a:t>2</a:t>
            </a:fld>
            <a:endParaRPr lang="en-IN" dirty="0"/>
          </a:p>
        </p:txBody>
      </p:sp>
    </p:spTree>
    <p:extLst>
      <p:ext uri="{BB962C8B-B14F-4D97-AF65-F5344CB8AC3E}">
        <p14:creationId xmlns:p14="http://schemas.microsoft.com/office/powerpoint/2010/main" val="2974124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60609-F768-434C-A5B5-EDE62AAD18B2}"/>
              </a:ext>
            </a:extLst>
          </p:cNvPr>
          <p:cNvSpPr>
            <a:spLocks noGrp="1"/>
          </p:cNvSpPr>
          <p:nvPr>
            <p:ph type="title"/>
          </p:nvPr>
        </p:nvSpPr>
        <p:spPr/>
        <p:txBody>
          <a:bodyPr>
            <a:noAutofit/>
          </a:bodyPr>
          <a:lstStyle/>
          <a:p>
            <a:r>
              <a:rPr lang="en-US" altLang="en-US" b="1" dirty="0"/>
              <a:t>Building Blocks of Analysis</a:t>
            </a:r>
            <a:endParaRPr lang="en-IN" dirty="0"/>
          </a:p>
        </p:txBody>
      </p:sp>
      <p:sp>
        <p:nvSpPr>
          <p:cNvPr id="3" name="Content Placeholder 2">
            <a:extLst>
              <a:ext uri="{FF2B5EF4-FFF2-40B4-BE49-F238E27FC236}">
                <a16:creationId xmlns:a16="http://schemas.microsoft.com/office/drawing/2014/main" id="{EC3C05E6-EE06-4BCF-8EAF-6A39ED5F3172}"/>
              </a:ext>
            </a:extLst>
          </p:cNvPr>
          <p:cNvSpPr>
            <a:spLocks noGrp="1"/>
          </p:cNvSpPr>
          <p:nvPr>
            <p:ph idx="1"/>
          </p:nvPr>
        </p:nvSpPr>
        <p:spPr>
          <a:xfrm>
            <a:off x="94590" y="6283715"/>
            <a:ext cx="6035040" cy="228600"/>
          </a:xfrm>
        </p:spPr>
        <p:txBody>
          <a:bodyPr/>
          <a:lstStyle/>
          <a:p>
            <a:r>
              <a:rPr lang="en-US" altLang="en-US" b="1" kern="0" dirty="0">
                <a:solidFill>
                  <a:prstClr val="black"/>
                </a:solidFill>
                <a:latin typeface="Arial Narrow" pitchFamily="34" charset="0"/>
              </a:rPr>
              <a:t>Learning Objective C1: </a:t>
            </a:r>
            <a:r>
              <a:rPr lang="en-US" dirty="0"/>
              <a:t>Define the building blocks of analysis and the standards for comparisons. </a:t>
            </a:r>
          </a:p>
        </p:txBody>
      </p:sp>
      <p:sp>
        <p:nvSpPr>
          <p:cNvPr id="14" name="Content Placeholder 3">
            <a:extLst>
              <a:ext uri="{FF2B5EF4-FFF2-40B4-BE49-F238E27FC236}">
                <a16:creationId xmlns:a16="http://schemas.microsoft.com/office/drawing/2014/main" id="{ABAAC0FC-5E73-4F6A-9DA5-2CC7DFDEC67A}"/>
              </a:ext>
            </a:extLst>
          </p:cNvPr>
          <p:cNvSpPr>
            <a:spLocks noGrp="1"/>
          </p:cNvSpPr>
          <p:nvPr>
            <p:ph idx="13"/>
          </p:nvPr>
        </p:nvSpPr>
        <p:spPr>
          <a:xfrm>
            <a:off x="1326995" y="1653929"/>
            <a:ext cx="2715768" cy="2212848"/>
          </a:xfrm>
          <a:prstGeom prst="cube">
            <a:avLst/>
          </a:prstGeom>
          <a:solidFill>
            <a:srgbClr val="C6D9F1"/>
          </a:solidFill>
          <a:ln>
            <a:solidFill>
              <a:schemeClr val="accent1">
                <a:lumMod val="75000"/>
              </a:schemeClr>
            </a:solidFill>
          </a:ln>
        </p:spPr>
        <p:txBody>
          <a:bodyPr anchor="ctr"/>
          <a:lstStyle/>
          <a:p>
            <a:pPr marL="0" indent="0" algn="ctr">
              <a:buNone/>
            </a:pPr>
            <a:r>
              <a:rPr lang="en-US" sz="2800" b="1" dirty="0">
                <a:latin typeface="+mj-lt"/>
                <a:cs typeface="Arial" pitchFamily="34" charset="0"/>
              </a:rPr>
              <a:t>Liquidity and efficiency</a:t>
            </a:r>
          </a:p>
        </p:txBody>
      </p:sp>
      <p:sp>
        <p:nvSpPr>
          <p:cNvPr id="15" name="Content Placeholder 4">
            <a:extLst>
              <a:ext uri="{FF2B5EF4-FFF2-40B4-BE49-F238E27FC236}">
                <a16:creationId xmlns:a16="http://schemas.microsoft.com/office/drawing/2014/main" id="{307DC9F1-7A3D-4CD4-B3EE-A0D607CAD5E3}"/>
              </a:ext>
            </a:extLst>
          </p:cNvPr>
          <p:cNvSpPr>
            <a:spLocks noGrp="1"/>
          </p:cNvSpPr>
          <p:nvPr>
            <p:ph idx="14"/>
          </p:nvPr>
        </p:nvSpPr>
        <p:spPr>
          <a:xfrm>
            <a:off x="5191797" y="1653929"/>
            <a:ext cx="2715768" cy="2212848"/>
          </a:xfrm>
          <a:prstGeom prst="cube">
            <a:avLst/>
          </a:prstGeom>
          <a:solidFill>
            <a:srgbClr val="DDD9C3"/>
          </a:solidFill>
          <a:ln>
            <a:solidFill>
              <a:schemeClr val="accent1">
                <a:lumMod val="75000"/>
              </a:schemeClr>
            </a:solidFill>
          </a:ln>
        </p:spPr>
        <p:txBody>
          <a:bodyPr anchor="ctr"/>
          <a:lstStyle/>
          <a:p>
            <a:pPr marL="0" indent="0" algn="ctr">
              <a:buNone/>
              <a:defRPr/>
            </a:pPr>
            <a:r>
              <a:rPr lang="en-US" sz="2800" b="1" dirty="0">
                <a:latin typeface="+mj-lt"/>
                <a:cs typeface="Arial" pitchFamily="34" charset="0"/>
              </a:rPr>
              <a:t>Solvency</a:t>
            </a:r>
          </a:p>
        </p:txBody>
      </p:sp>
      <p:sp>
        <p:nvSpPr>
          <p:cNvPr id="16" name="Content Placeholder 5">
            <a:extLst>
              <a:ext uri="{FF2B5EF4-FFF2-40B4-BE49-F238E27FC236}">
                <a16:creationId xmlns:a16="http://schemas.microsoft.com/office/drawing/2014/main" id="{73BE42E7-6C58-47AE-94FF-4AFD9FF9FAC8}"/>
              </a:ext>
            </a:extLst>
          </p:cNvPr>
          <p:cNvSpPr>
            <a:spLocks noGrp="1"/>
          </p:cNvSpPr>
          <p:nvPr>
            <p:ph idx="15"/>
          </p:nvPr>
        </p:nvSpPr>
        <p:spPr>
          <a:xfrm>
            <a:off x="1326995" y="3983437"/>
            <a:ext cx="2715768" cy="2212848"/>
          </a:xfrm>
          <a:prstGeom prst="cube">
            <a:avLst/>
          </a:prstGeom>
          <a:solidFill>
            <a:srgbClr val="F5E3E2"/>
          </a:solidFill>
          <a:ln>
            <a:solidFill>
              <a:schemeClr val="accent1">
                <a:lumMod val="75000"/>
              </a:schemeClr>
            </a:solidFill>
          </a:ln>
        </p:spPr>
        <p:txBody>
          <a:bodyPr anchor="ctr"/>
          <a:lstStyle/>
          <a:p>
            <a:pPr marL="0" indent="0" algn="ctr">
              <a:buNone/>
            </a:pPr>
            <a:r>
              <a:rPr lang="en-US" sz="2800" b="1" dirty="0">
                <a:latin typeface="+mj-lt"/>
                <a:cs typeface="Arial" pitchFamily="34" charset="0"/>
              </a:rPr>
              <a:t>Profitability</a:t>
            </a:r>
          </a:p>
        </p:txBody>
      </p:sp>
      <p:sp>
        <p:nvSpPr>
          <p:cNvPr id="17" name="Content Placeholder 6">
            <a:extLst>
              <a:ext uri="{FF2B5EF4-FFF2-40B4-BE49-F238E27FC236}">
                <a16:creationId xmlns:a16="http://schemas.microsoft.com/office/drawing/2014/main" id="{EBF5DB17-D4A8-454B-A9CB-C6727A5E1053}"/>
              </a:ext>
            </a:extLst>
          </p:cNvPr>
          <p:cNvSpPr>
            <a:spLocks noGrp="1"/>
          </p:cNvSpPr>
          <p:nvPr>
            <p:ph idx="16"/>
          </p:nvPr>
        </p:nvSpPr>
        <p:spPr>
          <a:xfrm>
            <a:off x="5191797" y="3983437"/>
            <a:ext cx="2715768" cy="2212848"/>
          </a:xfrm>
          <a:prstGeom prst="cube">
            <a:avLst/>
          </a:prstGeom>
          <a:solidFill>
            <a:srgbClr val="D7E4BD"/>
          </a:solidFill>
          <a:ln>
            <a:solidFill>
              <a:schemeClr val="accent1">
                <a:lumMod val="75000"/>
              </a:schemeClr>
            </a:solidFill>
          </a:ln>
        </p:spPr>
        <p:txBody>
          <a:bodyPr anchor="ctr"/>
          <a:lstStyle/>
          <a:p>
            <a:pPr marL="0" indent="0" algn="ctr">
              <a:buNone/>
            </a:pPr>
            <a:r>
              <a:rPr lang="en-US" sz="2800" b="1" dirty="0">
                <a:latin typeface="+mj-lt"/>
                <a:cs typeface="Arial" pitchFamily="34" charset="0"/>
              </a:rPr>
              <a:t>Market prospects</a:t>
            </a:r>
          </a:p>
        </p:txBody>
      </p:sp>
      <p:sp>
        <p:nvSpPr>
          <p:cNvPr id="12" name="Slide Number Placeholder 7">
            <a:extLst>
              <a:ext uri="{FF2B5EF4-FFF2-40B4-BE49-F238E27FC236}">
                <a16:creationId xmlns:a16="http://schemas.microsoft.com/office/drawing/2014/main" id="{D82497B2-02A8-4190-BAFA-675C4684DC8B}"/>
              </a:ext>
            </a:extLst>
          </p:cNvPr>
          <p:cNvSpPr>
            <a:spLocks noGrp="1"/>
          </p:cNvSpPr>
          <p:nvPr>
            <p:ph type="sldNum" sz="quarter" idx="12"/>
          </p:nvPr>
        </p:nvSpPr>
        <p:spPr/>
        <p:txBody>
          <a:bodyPr/>
          <a:lstStyle/>
          <a:p>
            <a:r>
              <a:rPr lang="en-IN" dirty="0"/>
              <a:t>17-</a:t>
            </a:r>
            <a:fld id="{EA2AA6B4-85BE-4F94-8943-E615592FD67D}" type="slidenum">
              <a:rPr lang="en-IN" smtClean="0"/>
              <a:pPr/>
              <a:t>3</a:t>
            </a:fld>
            <a:endParaRPr lang="en-IN" dirty="0"/>
          </a:p>
        </p:txBody>
      </p:sp>
    </p:spTree>
    <p:extLst>
      <p:ext uri="{BB962C8B-B14F-4D97-AF65-F5344CB8AC3E}">
        <p14:creationId xmlns:p14="http://schemas.microsoft.com/office/powerpoint/2010/main" val="2773539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60609-F768-434C-A5B5-EDE62AAD18B2}"/>
              </a:ext>
            </a:extLst>
          </p:cNvPr>
          <p:cNvSpPr>
            <a:spLocks noGrp="1"/>
          </p:cNvSpPr>
          <p:nvPr>
            <p:ph type="title"/>
          </p:nvPr>
        </p:nvSpPr>
        <p:spPr/>
        <p:txBody>
          <a:bodyPr>
            <a:noAutofit/>
          </a:bodyPr>
          <a:lstStyle/>
          <a:p>
            <a:r>
              <a:rPr lang="en-US" altLang="en-US" b="1" dirty="0"/>
              <a:t>Standards for Comparison</a:t>
            </a:r>
            <a:endParaRPr lang="en-IN" dirty="0"/>
          </a:p>
        </p:txBody>
      </p:sp>
      <p:sp>
        <p:nvSpPr>
          <p:cNvPr id="3" name="Content Placeholder 2">
            <a:extLst>
              <a:ext uri="{FF2B5EF4-FFF2-40B4-BE49-F238E27FC236}">
                <a16:creationId xmlns:a16="http://schemas.microsoft.com/office/drawing/2014/main" id="{EC3C05E6-EE06-4BCF-8EAF-6A39ED5F3172}"/>
              </a:ext>
            </a:extLst>
          </p:cNvPr>
          <p:cNvSpPr>
            <a:spLocks noGrp="1"/>
          </p:cNvSpPr>
          <p:nvPr>
            <p:ph idx="1"/>
          </p:nvPr>
        </p:nvSpPr>
        <p:spPr>
          <a:xfrm>
            <a:off x="94590" y="6283715"/>
            <a:ext cx="6035040" cy="228600"/>
          </a:xfrm>
        </p:spPr>
        <p:txBody>
          <a:bodyPr/>
          <a:lstStyle/>
          <a:p>
            <a:r>
              <a:rPr lang="en-US" altLang="en-US" b="1" kern="0" dirty="0">
                <a:solidFill>
                  <a:prstClr val="black"/>
                </a:solidFill>
                <a:latin typeface="Arial Narrow" pitchFamily="34" charset="0"/>
              </a:rPr>
              <a:t>Learning Objective C1: </a:t>
            </a:r>
            <a:r>
              <a:rPr lang="en-US" dirty="0"/>
              <a:t>Define the building blocks of analysis and the standards for comparisons. </a:t>
            </a:r>
          </a:p>
        </p:txBody>
      </p:sp>
      <p:sp>
        <p:nvSpPr>
          <p:cNvPr id="5" name="Content Placeholder 3">
            <a:extLst>
              <a:ext uri="{FF2B5EF4-FFF2-40B4-BE49-F238E27FC236}">
                <a16:creationId xmlns:a16="http://schemas.microsoft.com/office/drawing/2014/main" id="{68DC7BDF-00CB-41CE-8493-0332CDC0988A}"/>
              </a:ext>
            </a:extLst>
          </p:cNvPr>
          <p:cNvSpPr>
            <a:spLocks noGrp="1"/>
          </p:cNvSpPr>
          <p:nvPr>
            <p:ph idx="13"/>
          </p:nvPr>
        </p:nvSpPr>
        <p:spPr>
          <a:xfrm>
            <a:off x="457200" y="1854082"/>
            <a:ext cx="8229600" cy="1245957"/>
          </a:xfrm>
          <a:solidFill>
            <a:srgbClr val="F2DCDB"/>
          </a:solidFill>
          <a:ln>
            <a:solidFill>
              <a:schemeClr val="tx1"/>
            </a:solidFill>
          </a:ln>
        </p:spPr>
        <p:txBody>
          <a:bodyPr/>
          <a:lstStyle/>
          <a:p>
            <a:pPr marL="0" indent="0" algn="ctr">
              <a:buNone/>
            </a:pPr>
            <a:r>
              <a:rPr lang="en-US" b="1" dirty="0">
                <a:solidFill>
                  <a:schemeClr val="accent2">
                    <a:lumMod val="50000"/>
                  </a:schemeClr>
                </a:solidFill>
                <a:ea typeface="ＭＳ Ｐゴシック" pitchFamily="34" charset="-128"/>
              </a:rPr>
              <a:t>When we interpret our analysis, it is essential to compare the results we obtained to other standards or benchmarks. </a:t>
            </a:r>
            <a:endParaRPr lang="en-US" b="1" dirty="0">
              <a:solidFill>
                <a:schemeClr val="accent2">
                  <a:lumMod val="50000"/>
                </a:schemeClr>
              </a:solidFill>
            </a:endParaRPr>
          </a:p>
        </p:txBody>
      </p:sp>
      <p:sp>
        <p:nvSpPr>
          <p:cNvPr id="7" name="Content Placeholder 4">
            <a:extLst>
              <a:ext uri="{FF2B5EF4-FFF2-40B4-BE49-F238E27FC236}">
                <a16:creationId xmlns:a16="http://schemas.microsoft.com/office/drawing/2014/main" id="{E08376F4-72FD-4914-B419-9CBE37565D05}"/>
              </a:ext>
            </a:extLst>
          </p:cNvPr>
          <p:cNvSpPr>
            <a:spLocks noGrp="1"/>
          </p:cNvSpPr>
          <p:nvPr>
            <p:ph idx="14"/>
          </p:nvPr>
        </p:nvSpPr>
        <p:spPr>
          <a:xfrm>
            <a:off x="3161370" y="3292021"/>
            <a:ext cx="2821259" cy="2194380"/>
          </a:xfrm>
        </p:spPr>
        <p:txBody>
          <a:bodyPr/>
          <a:lstStyle/>
          <a:p>
            <a:pPr marL="347472" indent="-347472">
              <a:lnSpc>
                <a:spcPct val="100000"/>
              </a:lnSpc>
              <a:spcBef>
                <a:spcPts val="600"/>
              </a:spcBef>
              <a:buClr>
                <a:schemeClr val="tx1"/>
              </a:buClr>
              <a:buSzPct val="100000"/>
              <a:defRPr/>
            </a:pPr>
            <a:r>
              <a:rPr lang="en-US" dirty="0">
                <a:solidFill>
                  <a:srgbClr val="244583"/>
                </a:solidFill>
                <a:latin typeface="+mj-lt"/>
                <a:ea typeface="ＭＳ Ｐゴシック" pitchFamily="-65" charset="-128"/>
              </a:rPr>
              <a:t>Intracompany</a:t>
            </a:r>
          </a:p>
          <a:p>
            <a:pPr marL="347472" indent="-347472">
              <a:lnSpc>
                <a:spcPct val="100000"/>
              </a:lnSpc>
              <a:spcBef>
                <a:spcPts val="600"/>
              </a:spcBef>
              <a:buClr>
                <a:schemeClr val="tx1"/>
              </a:buClr>
              <a:buSzPct val="100000"/>
              <a:defRPr/>
            </a:pPr>
            <a:r>
              <a:rPr lang="en-US" dirty="0">
                <a:solidFill>
                  <a:srgbClr val="244583"/>
                </a:solidFill>
                <a:latin typeface="+mj-lt"/>
                <a:ea typeface="ＭＳ Ｐゴシック" pitchFamily="-65" charset="-128"/>
              </a:rPr>
              <a:t>Competitor</a:t>
            </a:r>
          </a:p>
          <a:p>
            <a:pPr marL="347472" indent="-347472">
              <a:lnSpc>
                <a:spcPct val="100000"/>
              </a:lnSpc>
              <a:spcBef>
                <a:spcPts val="600"/>
              </a:spcBef>
              <a:buClr>
                <a:schemeClr val="tx1"/>
              </a:buClr>
              <a:buSzPct val="100000"/>
              <a:defRPr/>
            </a:pPr>
            <a:r>
              <a:rPr lang="en-US" dirty="0">
                <a:solidFill>
                  <a:srgbClr val="244583"/>
                </a:solidFill>
                <a:latin typeface="+mj-lt"/>
                <a:ea typeface="ＭＳ Ｐゴシック" pitchFamily="-65" charset="-128"/>
              </a:rPr>
              <a:t>Industry</a:t>
            </a:r>
          </a:p>
          <a:p>
            <a:pPr marL="347472" indent="-347472">
              <a:lnSpc>
                <a:spcPct val="100000"/>
              </a:lnSpc>
              <a:spcBef>
                <a:spcPts val="600"/>
              </a:spcBef>
              <a:buClr>
                <a:schemeClr val="tx1"/>
              </a:buClr>
              <a:buSzPct val="100000"/>
              <a:defRPr/>
            </a:pPr>
            <a:r>
              <a:rPr lang="en-US" dirty="0">
                <a:solidFill>
                  <a:srgbClr val="244583"/>
                </a:solidFill>
                <a:latin typeface="+mj-lt"/>
                <a:ea typeface="ＭＳ Ｐゴシック" pitchFamily="-65" charset="-128"/>
              </a:rPr>
              <a:t>Guidelines</a:t>
            </a:r>
          </a:p>
        </p:txBody>
      </p:sp>
      <p:sp>
        <p:nvSpPr>
          <p:cNvPr id="12" name="Slide Number Placeholder 5">
            <a:extLst>
              <a:ext uri="{FF2B5EF4-FFF2-40B4-BE49-F238E27FC236}">
                <a16:creationId xmlns:a16="http://schemas.microsoft.com/office/drawing/2014/main" id="{D82497B2-02A8-4190-BAFA-675C4684DC8B}"/>
              </a:ext>
            </a:extLst>
          </p:cNvPr>
          <p:cNvSpPr>
            <a:spLocks noGrp="1"/>
          </p:cNvSpPr>
          <p:nvPr>
            <p:ph type="sldNum" sz="quarter" idx="12"/>
          </p:nvPr>
        </p:nvSpPr>
        <p:spPr/>
        <p:txBody>
          <a:bodyPr/>
          <a:lstStyle/>
          <a:p>
            <a:r>
              <a:rPr lang="en-IN" dirty="0"/>
              <a:t>17-</a:t>
            </a:r>
            <a:fld id="{EA2AA6B4-85BE-4F94-8943-E615592FD67D}" type="slidenum">
              <a:rPr lang="en-IN" smtClean="0"/>
              <a:pPr/>
              <a:t>4</a:t>
            </a:fld>
            <a:endParaRPr lang="en-IN" dirty="0"/>
          </a:p>
        </p:txBody>
      </p:sp>
    </p:spTree>
    <p:extLst>
      <p:ext uri="{BB962C8B-B14F-4D97-AF65-F5344CB8AC3E}">
        <p14:creationId xmlns:p14="http://schemas.microsoft.com/office/powerpoint/2010/main" val="968669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Financial Ratio Analysis</a:t>
            </a:r>
          </a:p>
        </p:txBody>
      </p:sp>
      <p:sp>
        <p:nvSpPr>
          <p:cNvPr id="3" name="Content Placeholder 2"/>
          <p:cNvSpPr>
            <a:spLocks noGrp="1"/>
          </p:cNvSpPr>
          <p:nvPr>
            <p:ph idx="1"/>
          </p:nvPr>
        </p:nvSpPr>
        <p:spPr/>
        <p:txBody>
          <a:bodyPr/>
          <a:lstStyle/>
          <a:p>
            <a:r>
              <a:rPr lang="en-US" b="1" dirty="0"/>
              <a:t>Financial ratio analysis </a:t>
            </a:r>
            <a:r>
              <a:rPr lang="en-US" dirty="0"/>
              <a:t>is the use of relationships among financial statement accounts to gauge the financial condition and performance of a company.</a:t>
            </a:r>
          </a:p>
          <a:p>
            <a:r>
              <a:rPr lang="en-US" dirty="0"/>
              <a:t>We can classify ratios based on the type of information the ratio provides:</a:t>
            </a:r>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dirty="0"/>
              <a:t>Copyright © 2013 CFA Institute</a:t>
            </a:r>
          </a:p>
        </p:txBody>
      </p:sp>
      <p:sp>
        <p:nvSpPr>
          <p:cNvPr id="5" name="Slide Number Placeholder 4"/>
          <p:cNvSpPr>
            <a:spLocks noGrp="1"/>
          </p:cNvSpPr>
          <p:nvPr>
            <p:ph type="sldNum" sz="quarter" idx="12"/>
          </p:nvPr>
        </p:nvSpPr>
        <p:spPr/>
        <p:txBody>
          <a:bodyPr/>
          <a:lstStyle/>
          <a:p>
            <a:fld id="{4E4A4924-7CC3-4BF6-9C5C-A8E770D15754}" type="slidenum">
              <a:rPr lang="en-US" smtClean="0"/>
              <a:pPr/>
              <a:t>5</a:t>
            </a:fld>
            <a:endParaRPr lang="en-US"/>
          </a:p>
        </p:txBody>
      </p:sp>
      <p:graphicFrame>
        <p:nvGraphicFramePr>
          <p:cNvPr id="6" name="Content Placeholder 5"/>
          <p:cNvGraphicFramePr>
            <a:graphicFrameLocks/>
          </p:cNvGraphicFramePr>
          <p:nvPr>
            <p:extLst>
              <p:ext uri="{D42A27DB-BD31-4B8C-83A1-F6EECF244321}">
                <p14:modId xmlns:p14="http://schemas.microsoft.com/office/powerpoint/2010/main" val="1343873176"/>
              </p:ext>
            </p:extLst>
          </p:nvPr>
        </p:nvGraphicFramePr>
        <p:xfrm>
          <a:off x="685800" y="2819400"/>
          <a:ext cx="8001000" cy="266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69415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a:xfrm>
            <a:off x="141941" y="6514166"/>
            <a:ext cx="8810212" cy="365125"/>
          </a:xfrm>
          <a:prstGeom prst="rect">
            <a:avLst/>
          </a:prstGeom>
        </p:spPr>
        <p:txBody>
          <a:bodyP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9" name="Rectangle 8"/>
          <p:cNvSpPr/>
          <p:nvPr/>
        </p:nvSpPr>
        <p:spPr>
          <a:xfrm>
            <a:off x="2893519" y="315957"/>
            <a:ext cx="5948113" cy="461665"/>
          </a:xfrm>
          <a:prstGeom prst="rect">
            <a:avLst/>
          </a:prstGeom>
        </p:spPr>
        <p:txBody>
          <a:bodyPr wrap="none">
            <a:spAutoFit/>
          </a:bodyPr>
          <a:lstStyle/>
          <a:p>
            <a:pPr lvl="0" defTabSz="457200"/>
            <a:r>
              <a:rPr lang="en-US" sz="2400" dirty="0">
                <a:solidFill>
                  <a:prstClr val="white"/>
                </a:solidFill>
              </a:rPr>
              <a:t>The Home Depot Financial Statements (1 of 2)</a:t>
            </a:r>
          </a:p>
        </p:txBody>
      </p:sp>
      <p:pic>
        <p:nvPicPr>
          <p:cNvPr id="4" name="Picture 3"/>
          <p:cNvPicPr>
            <a:picLocks noChangeAspect="1"/>
          </p:cNvPicPr>
          <p:nvPr/>
        </p:nvPicPr>
        <p:blipFill>
          <a:blip r:embed="rId3"/>
          <a:stretch>
            <a:fillRect/>
          </a:stretch>
        </p:blipFill>
        <p:spPr>
          <a:xfrm>
            <a:off x="1031518" y="1456477"/>
            <a:ext cx="7075006" cy="4018772"/>
          </a:xfrm>
          <a:prstGeom prst="rect">
            <a:avLst/>
          </a:prstGeom>
        </p:spPr>
      </p:pic>
    </p:spTree>
    <p:extLst>
      <p:ext uri="{BB962C8B-B14F-4D97-AF65-F5344CB8AC3E}">
        <p14:creationId xmlns:p14="http://schemas.microsoft.com/office/powerpoint/2010/main" val="2465491951"/>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a:xfrm>
            <a:off x="141941" y="6514166"/>
            <a:ext cx="8810212" cy="365125"/>
          </a:xfrm>
          <a:prstGeom prst="rect">
            <a:avLst/>
          </a:prstGeom>
        </p:spPr>
        <p:txBody>
          <a:bodyP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40" name="Rectangle 39"/>
          <p:cNvSpPr/>
          <p:nvPr/>
        </p:nvSpPr>
        <p:spPr>
          <a:xfrm>
            <a:off x="2893519" y="280510"/>
            <a:ext cx="5948113" cy="461665"/>
          </a:xfrm>
          <a:prstGeom prst="rect">
            <a:avLst/>
          </a:prstGeom>
        </p:spPr>
        <p:txBody>
          <a:bodyPr wrap="none">
            <a:spAutoFit/>
          </a:bodyPr>
          <a:lstStyle/>
          <a:p>
            <a:pPr lvl="0" defTabSz="457200"/>
            <a:r>
              <a:rPr lang="en-US" sz="2400" dirty="0">
                <a:solidFill>
                  <a:prstClr val="white"/>
                </a:solidFill>
              </a:rPr>
              <a:t>The Home Depot Financial Statements (2 of 2)</a:t>
            </a:r>
          </a:p>
        </p:txBody>
      </p:sp>
      <p:pic>
        <p:nvPicPr>
          <p:cNvPr id="3" name="Picture 2"/>
          <p:cNvPicPr>
            <a:picLocks noChangeAspect="1"/>
          </p:cNvPicPr>
          <p:nvPr/>
        </p:nvPicPr>
        <p:blipFill>
          <a:blip r:embed="rId3"/>
          <a:stretch>
            <a:fillRect/>
          </a:stretch>
        </p:blipFill>
        <p:spPr>
          <a:xfrm>
            <a:off x="1641753" y="953467"/>
            <a:ext cx="6126880" cy="5560700"/>
          </a:xfrm>
          <a:prstGeom prst="rect">
            <a:avLst/>
          </a:prstGeom>
        </p:spPr>
      </p:pic>
    </p:spTree>
    <p:extLst>
      <p:ext uri="{BB962C8B-B14F-4D97-AF65-F5344CB8AC3E}">
        <p14:creationId xmlns:p14="http://schemas.microsoft.com/office/powerpoint/2010/main" val="2052102556"/>
      </p:ext>
    </p:extLst>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8-11-12 at 2.31.51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1235269"/>
            <a:ext cx="6137151" cy="5146059"/>
          </a:xfrm>
          <a:prstGeom prst="rect">
            <a:avLst/>
          </a:prstGeom>
        </p:spPr>
      </p:pic>
      <p:sp>
        <p:nvSpPr>
          <p:cNvPr id="4" name="Footer Placeholder 3"/>
          <p:cNvSpPr>
            <a:spLocks noGrp="1"/>
          </p:cNvSpPr>
          <p:nvPr>
            <p:ph type="ftr" sz="quarter" idx="3"/>
          </p:nvPr>
        </p:nvSpPr>
        <p:spPr>
          <a:xfrm>
            <a:off x="141941" y="6514166"/>
            <a:ext cx="8810212" cy="365125"/>
          </a:xfrm>
          <a:prstGeom prst="rect">
            <a:avLst/>
          </a:prstGeom>
        </p:spPr>
        <p:txBody>
          <a:bodyP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9" name="Rectangle 8"/>
          <p:cNvSpPr/>
          <p:nvPr/>
        </p:nvSpPr>
        <p:spPr>
          <a:xfrm>
            <a:off x="585216" y="692648"/>
            <a:ext cx="4969566" cy="461665"/>
          </a:xfrm>
          <a:prstGeom prst="rect">
            <a:avLst/>
          </a:prstGeom>
        </p:spPr>
        <p:txBody>
          <a:bodyPr wrap="none">
            <a:spAutoFit/>
          </a:bodyPr>
          <a:lstStyle/>
          <a:p>
            <a:pPr lvl="0" defTabSz="457200">
              <a:spcBef>
                <a:spcPct val="20000"/>
              </a:spcBef>
            </a:pPr>
            <a:r>
              <a:rPr lang="en-US" sz="2400" dirty="0">
                <a:solidFill>
                  <a:prstClr val="white"/>
                </a:solidFill>
              </a:rPr>
              <a:t>The Home Depot Financial Statements</a:t>
            </a:r>
          </a:p>
        </p:txBody>
      </p:sp>
      <p:sp>
        <p:nvSpPr>
          <p:cNvPr id="30" name="Rectangle 29"/>
          <p:cNvSpPr/>
          <p:nvPr/>
        </p:nvSpPr>
        <p:spPr>
          <a:xfrm>
            <a:off x="990598" y="1446471"/>
            <a:ext cx="228602" cy="4878129"/>
          </a:xfrm>
          <a:prstGeom prst="rect">
            <a:avLst/>
          </a:prstGeom>
          <a:solidFill>
            <a:srgbClr val="2B8075">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03456373"/>
      </p:ext>
    </p:extLst>
  </p:cSld>
  <p:clrMapOvr>
    <a:masterClrMapping/>
  </p:clrMapOvr>
  <p:transition>
    <p:strips/>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F07A0A0-C392-4597-92B3-1FFFA4692B86}"/>
              </a:ext>
            </a:extLst>
          </p:cNvPr>
          <p:cNvSpPr>
            <a:spLocks noGrp="1" noChangeArrowheads="1"/>
          </p:cNvSpPr>
          <p:nvPr>
            <p:ph type="title"/>
          </p:nvPr>
        </p:nvSpPr>
        <p:spPr/>
        <p:txBody>
          <a:bodyPr/>
          <a:lstStyle/>
          <a:p>
            <a:pPr eaLnBrk="1" hangingPunct="1"/>
            <a:r>
              <a:rPr lang="en-US" altLang="en-US" b="1"/>
              <a:t>Liquidity and Working Capital  </a:t>
            </a:r>
            <a:endParaRPr lang="en-GB" altLang="en-US" b="1"/>
          </a:p>
        </p:txBody>
      </p:sp>
      <p:sp>
        <p:nvSpPr>
          <p:cNvPr id="17411" name="Rectangle 3">
            <a:extLst>
              <a:ext uri="{FF2B5EF4-FFF2-40B4-BE49-F238E27FC236}">
                <a16:creationId xmlns:a16="http://schemas.microsoft.com/office/drawing/2014/main" id="{BE5B9FD4-4CF5-419D-B69D-FE460C975FA4}"/>
              </a:ext>
            </a:extLst>
          </p:cNvPr>
          <p:cNvSpPr>
            <a:spLocks noGrp="1" noChangeArrowheads="1"/>
          </p:cNvSpPr>
          <p:nvPr>
            <p:ph type="body" sz="half" idx="1"/>
          </p:nvPr>
        </p:nvSpPr>
        <p:spPr/>
        <p:txBody>
          <a:bodyPr/>
          <a:lstStyle/>
          <a:p>
            <a:pPr algn="ctr">
              <a:spcBef>
                <a:spcPct val="0"/>
              </a:spcBef>
              <a:buFontTx/>
              <a:buNone/>
            </a:pPr>
            <a:endParaRPr lang="en-US" altLang="en-US" sz="2800" b="1">
              <a:solidFill>
                <a:srgbClr val="80AAD0"/>
              </a:solidFill>
            </a:endParaRPr>
          </a:p>
          <a:p>
            <a:pPr eaLnBrk="1" hangingPunct="1"/>
            <a:endParaRPr lang="en-GB" altLang="en-US" sz="2800">
              <a:solidFill>
                <a:srgbClr val="80AAD0"/>
              </a:solidFill>
            </a:endParaRPr>
          </a:p>
        </p:txBody>
      </p:sp>
      <p:sp>
        <p:nvSpPr>
          <p:cNvPr id="17412" name="Rectangle 4">
            <a:extLst>
              <a:ext uri="{FF2B5EF4-FFF2-40B4-BE49-F238E27FC236}">
                <a16:creationId xmlns:a16="http://schemas.microsoft.com/office/drawing/2014/main" id="{5CADE832-C883-4EE9-AE64-D5B07F86B507}"/>
              </a:ext>
            </a:extLst>
          </p:cNvPr>
          <p:cNvSpPr>
            <a:spLocks noChangeArrowheads="1"/>
          </p:cNvSpPr>
          <p:nvPr/>
        </p:nvSpPr>
        <p:spPr bwMode="auto">
          <a:xfrm>
            <a:off x="609600" y="2362200"/>
            <a:ext cx="8001000" cy="4365625"/>
          </a:xfrm>
          <a:prstGeom prst="rect">
            <a:avLst/>
          </a:prstGeom>
          <a:solidFill>
            <a:srgbClr val="B8CCE6"/>
          </a:solidFill>
          <a:ln w="38100" cmpd="dbl">
            <a:solidFill>
              <a:schemeClr val="bg2"/>
            </a:solidFill>
            <a:miter lim="800000"/>
            <a:headEnd/>
            <a:tailEnd/>
          </a:ln>
          <a:effectLst>
            <a:outerShdw dist="107763" dir="2700000" algn="ctr" rotWithShape="0">
              <a:schemeClr val="bg2"/>
            </a:outerShdw>
          </a:effectLst>
        </p:spPr>
        <p:txBody>
          <a:bodyPr lIns="90488" tIns="44450" rIns="90488" bIns="44450">
            <a:spAutoFit/>
          </a:bodyPr>
          <a:lstStyle>
            <a:lvl1pPr marL="463550" indent="-450850"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463550" marR="0" lvl="0" indent="-450850" algn="l" defTabSz="914400" rtl="0" eaLnBrk="0" fontAlgn="base" latinLnBrk="0" hangingPunct="0">
              <a:lnSpc>
                <a:spcPct val="100000"/>
              </a:lnSpc>
              <a:spcBef>
                <a:spcPct val="0"/>
              </a:spcBef>
              <a:spcAft>
                <a:spcPct val="0"/>
              </a:spcAft>
              <a:buClrTx/>
              <a:buSzTx/>
              <a:buFontTx/>
              <a:buNone/>
              <a:tabLst/>
              <a:defRPr/>
            </a:pPr>
            <a:r>
              <a:rPr kumimoji="0" lang="en-US" altLang="en-US" sz="2200" b="1" i="0" u="none" strike="noStrike" kern="1200" cap="none" spc="0" normalizeH="0" baseline="0" noProof="1">
                <a:ln>
                  <a:noFill/>
                </a:ln>
                <a:solidFill>
                  <a:srgbClr val="336699"/>
                </a:solidFill>
                <a:effectLst/>
                <a:uLnTx/>
                <a:uFillTx/>
                <a:latin typeface="Times New Roman" panose="02020603050405020304" pitchFamily="18" charset="0"/>
                <a:ea typeface="新細明體" panose="02020500000000000000" pitchFamily="18" charset="-120"/>
                <a:cs typeface="Arial" panose="020B0604020202020204" pitchFamily="34" charset="0"/>
              </a:rPr>
              <a:t>•</a:t>
            </a:r>
            <a:r>
              <a:rPr kumimoji="0" lang="en-US" altLang="en-US" sz="2200" b="1" i="0" u="none" strike="noStrike" kern="1200" cap="none" spc="0" normalizeH="0" baseline="0" noProof="1">
                <a:ln>
                  <a:noFill/>
                </a:ln>
                <a:solidFill>
                  <a:srgbClr val="336699"/>
                </a:solidFill>
                <a:effectLst/>
                <a:uLnTx/>
                <a:uFillTx/>
                <a:latin typeface="Arial" panose="020B0604020202020204" pitchFamily="34" charset="0"/>
                <a:ea typeface="新細明體" panose="02020500000000000000" pitchFamily="18" charset="-120"/>
                <a:cs typeface="Arial" panose="020B0604020202020204" pitchFamily="34" charset="0"/>
              </a:rPr>
              <a:t> 	</a:t>
            </a:r>
            <a:r>
              <a:rPr kumimoji="0" lang="en-GB" altLang="en-US" sz="2200" b="1" i="0" u="none" strike="noStrike" kern="1200" cap="none" spc="0" normalizeH="0" baseline="0" noProof="0">
                <a:ln>
                  <a:noFill/>
                </a:ln>
                <a:solidFill>
                  <a:srgbClr val="336699"/>
                </a:solidFill>
                <a:effectLst/>
                <a:uLnTx/>
                <a:uFillTx/>
                <a:latin typeface="Arial" panose="020B0604020202020204" pitchFamily="34" charset="0"/>
                <a:ea typeface="新細明體" panose="02020500000000000000" pitchFamily="18" charset="-120"/>
                <a:cs typeface="Arial" panose="020B0604020202020204" pitchFamily="34" charset="0"/>
              </a:rPr>
              <a:t>Liquidity - </a:t>
            </a:r>
            <a:r>
              <a:rPr kumimoji="0" lang="en-GB" altLang="en-US" sz="2200" b="0" i="0" u="none" strike="noStrike" kern="1200" cap="none" spc="0" normalizeH="0" baseline="0" noProof="0">
                <a:ln>
                  <a:noFill/>
                </a:ln>
                <a:solidFill>
                  <a:srgbClr val="336699"/>
                </a:solidFill>
                <a:effectLst/>
                <a:uLnTx/>
                <a:uFillTx/>
                <a:latin typeface="Arial" panose="020B0604020202020204" pitchFamily="34" charset="0"/>
                <a:ea typeface="新細明體" panose="02020500000000000000" pitchFamily="18" charset="-120"/>
                <a:cs typeface="Arial" panose="020B0604020202020204" pitchFamily="34" charset="0"/>
              </a:rPr>
              <a:t>A</a:t>
            </a:r>
            <a:r>
              <a:rPr kumimoji="0" lang="en-GB" altLang="en-US" sz="2200" b="0" i="0" u="none" strike="noStrike" kern="1200" cap="none" spc="0" normalizeH="0" baseline="0" noProof="0">
                <a:ln>
                  <a:noFill/>
                </a:ln>
                <a:solidFill>
                  <a:srgbClr val="336699"/>
                </a:solidFill>
                <a:effectLst/>
                <a:uLnTx/>
                <a:uFillTx/>
                <a:latin typeface="Arial" panose="020B0604020202020204" pitchFamily="34" charset="0"/>
                <a:ea typeface="+mn-ea"/>
                <a:cs typeface="Arial" panose="020B0604020202020204" pitchFamily="34" charset="0"/>
              </a:rPr>
              <a:t>bility to convert assets into cash or to obtain cash to meet short-term obligations.</a:t>
            </a:r>
          </a:p>
          <a:p>
            <a:pPr marL="463550" marR="0" lvl="0" indent="-450850" algn="l" defTabSz="914400" rtl="0" eaLnBrk="0" fontAlgn="base" latinLnBrk="0" hangingPunct="0">
              <a:lnSpc>
                <a:spcPct val="100000"/>
              </a:lnSpc>
              <a:spcBef>
                <a:spcPct val="0"/>
              </a:spcBef>
              <a:spcAft>
                <a:spcPct val="0"/>
              </a:spcAft>
              <a:buClrTx/>
              <a:buSzTx/>
              <a:buFontTx/>
              <a:buNone/>
              <a:tabLst/>
              <a:defRPr/>
            </a:pPr>
            <a:r>
              <a:rPr kumimoji="0" lang="en-GB" altLang="en-US" sz="2200" b="1" i="0" u="none" strike="noStrike" kern="1200" cap="none" spc="0" normalizeH="0" baseline="0" noProof="0">
                <a:ln>
                  <a:noFill/>
                </a:ln>
                <a:solidFill>
                  <a:srgbClr val="336699"/>
                </a:solidFill>
                <a:effectLst/>
                <a:uLnTx/>
                <a:uFillTx/>
                <a:latin typeface="Arial" panose="020B0604020202020204" pitchFamily="34" charset="0"/>
                <a:ea typeface="+mn-ea"/>
                <a:cs typeface="Arial" panose="020B0604020202020204" pitchFamily="34" charset="0"/>
              </a:rPr>
              <a:t>	</a:t>
            </a:r>
            <a:r>
              <a:rPr kumimoji="0" lang="en-GB" altLang="en-US" sz="2200" b="1" i="0" u="none" strike="noStrike" kern="1200" cap="none" spc="0" normalizeH="0" baseline="0" noProof="1">
                <a:ln>
                  <a:noFill/>
                </a:ln>
                <a:solidFill>
                  <a:srgbClr val="336699"/>
                </a:solidFill>
                <a:effectLst/>
                <a:uLnTx/>
                <a:uFillTx/>
                <a:latin typeface="Arial" panose="020B0604020202020204" pitchFamily="34" charset="0"/>
                <a:ea typeface="+mn-ea"/>
                <a:cs typeface="Arial" panose="020B0604020202020204" pitchFamily="34" charset="0"/>
              </a:rPr>
              <a:t>• </a:t>
            </a:r>
            <a:r>
              <a:rPr kumimoji="0" lang="en-GB" altLang="en-US" sz="2200" b="0" i="0" u="none" strike="noStrike" kern="1200" cap="none" spc="0" normalizeH="0" baseline="0" noProof="1">
                <a:ln>
                  <a:noFill/>
                </a:ln>
                <a:solidFill>
                  <a:srgbClr val="336699"/>
                </a:solidFill>
                <a:effectLst/>
                <a:uLnTx/>
                <a:uFillTx/>
                <a:latin typeface="Arial" panose="020B0604020202020204" pitchFamily="34" charset="0"/>
                <a:ea typeface="+mn-ea"/>
                <a:cs typeface="Arial" panose="020B0604020202020204" pitchFamily="34" charset="0"/>
              </a:rPr>
              <a:t>	</a:t>
            </a:r>
            <a:r>
              <a:rPr kumimoji="0" lang="en-GB" altLang="en-US" sz="2200" b="0" i="0" u="none" strike="noStrike" kern="1200" cap="none" spc="0" normalizeH="0" baseline="0" noProof="0">
                <a:ln>
                  <a:noFill/>
                </a:ln>
                <a:solidFill>
                  <a:srgbClr val="336699"/>
                </a:solidFill>
                <a:effectLst/>
                <a:uLnTx/>
                <a:uFillTx/>
                <a:latin typeface="Arial" panose="020B0604020202020204" pitchFamily="34" charset="0"/>
                <a:ea typeface="+mn-ea"/>
                <a:cs typeface="Arial" panose="020B0604020202020204" pitchFamily="34" charset="0"/>
              </a:rPr>
              <a:t>Short-term - Conventionally viewed as a period up to 	one year.</a:t>
            </a:r>
            <a:endParaRPr kumimoji="0" lang="en-GB" altLang="en-US" sz="2200" b="0" i="0" u="none" strike="noStrike" kern="1200" cap="none" spc="0" normalizeH="0" baseline="0" noProof="1">
              <a:ln>
                <a:noFill/>
              </a:ln>
              <a:solidFill>
                <a:srgbClr val="336699"/>
              </a:solidFill>
              <a:effectLst/>
              <a:uLnTx/>
              <a:uFillTx/>
              <a:latin typeface="Arial" panose="020B0604020202020204" pitchFamily="34" charset="0"/>
              <a:ea typeface="新細明體" panose="02020500000000000000" pitchFamily="18" charset="-120"/>
              <a:cs typeface="Arial" panose="020B0604020202020204" pitchFamily="34" charset="0"/>
            </a:endParaRPr>
          </a:p>
          <a:p>
            <a:pPr marL="463550" marR="0" lvl="0" indent="-450850" algn="l" defTabSz="914400" rtl="0" eaLnBrk="0" fontAlgn="base" latinLnBrk="0" hangingPunct="0">
              <a:lnSpc>
                <a:spcPct val="96000"/>
              </a:lnSpc>
              <a:spcBef>
                <a:spcPct val="0"/>
              </a:spcBef>
              <a:spcAft>
                <a:spcPct val="0"/>
              </a:spcAft>
              <a:buClrTx/>
              <a:buSzTx/>
              <a:buFontTx/>
              <a:buNone/>
              <a:tabLst/>
              <a:defRPr/>
            </a:pPr>
            <a:r>
              <a:rPr kumimoji="0" lang="en-GB" altLang="en-US" sz="2200" b="1" i="0" u="none" strike="noStrike" kern="1200" cap="none" spc="0" normalizeH="0" baseline="0" noProof="1">
                <a:ln>
                  <a:noFill/>
                </a:ln>
                <a:solidFill>
                  <a:srgbClr val="336699"/>
                </a:solidFill>
                <a:effectLst/>
                <a:uLnTx/>
                <a:uFillTx/>
                <a:latin typeface="Times New Roman" panose="02020603050405020304" pitchFamily="18" charset="0"/>
                <a:ea typeface="新細明體" panose="02020500000000000000" pitchFamily="18" charset="-120"/>
                <a:cs typeface="Arial" panose="020B0604020202020204" pitchFamily="34" charset="0"/>
              </a:rPr>
              <a:t>•</a:t>
            </a:r>
            <a:r>
              <a:rPr kumimoji="0" lang="en-GB" altLang="en-US" sz="2200" b="1" i="0" u="none" strike="noStrike" kern="1200" cap="none" spc="0" normalizeH="0" baseline="0" noProof="1">
                <a:ln>
                  <a:noFill/>
                </a:ln>
                <a:solidFill>
                  <a:srgbClr val="336699"/>
                </a:solidFill>
                <a:effectLst/>
                <a:uLnTx/>
                <a:uFillTx/>
                <a:latin typeface="Arial" panose="020B0604020202020204" pitchFamily="34" charset="0"/>
                <a:ea typeface="新細明體" panose="02020500000000000000" pitchFamily="18" charset="-120"/>
                <a:cs typeface="Arial" panose="020B0604020202020204" pitchFamily="34" charset="0"/>
              </a:rPr>
              <a:t> 	</a:t>
            </a:r>
            <a:r>
              <a:rPr kumimoji="0" lang="en-GB" altLang="en-US" sz="2200" b="1" i="0" u="none" strike="noStrike" kern="1200" cap="none" spc="0" normalizeH="0" baseline="0" noProof="0">
                <a:ln>
                  <a:noFill/>
                </a:ln>
                <a:solidFill>
                  <a:srgbClr val="336699"/>
                </a:solidFill>
                <a:effectLst/>
                <a:uLnTx/>
                <a:uFillTx/>
                <a:latin typeface="Arial" panose="020B0604020202020204" pitchFamily="34" charset="0"/>
                <a:ea typeface="+mn-ea"/>
                <a:cs typeface="Arial" panose="020B0604020202020204" pitchFamily="34" charset="0"/>
              </a:rPr>
              <a:t>Working Capital </a:t>
            </a:r>
            <a:r>
              <a:rPr kumimoji="0" lang="en-GB" altLang="en-US" sz="2200" b="0" i="0" u="none" strike="noStrike" kern="1200" cap="none" spc="0" normalizeH="0" baseline="0" noProof="0">
                <a:ln>
                  <a:noFill/>
                </a:ln>
                <a:solidFill>
                  <a:srgbClr val="336699"/>
                </a:solidFill>
                <a:effectLst/>
                <a:uLnTx/>
                <a:uFillTx/>
                <a:latin typeface="Arial" panose="020B0604020202020204" pitchFamily="34" charset="0"/>
                <a:ea typeface="+mn-ea"/>
                <a:cs typeface="Arial" panose="020B0604020202020204" pitchFamily="34" charset="0"/>
              </a:rPr>
              <a:t>- The excess of current assets over current liabilities.</a:t>
            </a:r>
          </a:p>
          <a:p>
            <a:pPr marL="463550" marR="0" lvl="0" indent="-450850" algn="l" defTabSz="914400" rtl="0" eaLnBrk="0" fontAlgn="base" latinLnBrk="0" hangingPunct="0">
              <a:lnSpc>
                <a:spcPct val="96000"/>
              </a:lnSpc>
              <a:spcBef>
                <a:spcPct val="0"/>
              </a:spcBef>
              <a:spcAft>
                <a:spcPct val="0"/>
              </a:spcAft>
              <a:buClrTx/>
              <a:buSzTx/>
              <a:buFontTx/>
              <a:buNone/>
              <a:tabLst/>
              <a:defRPr/>
            </a:pPr>
            <a:endParaRPr kumimoji="0" lang="en-GB" altLang="en-US" sz="2200" b="0" i="0" u="none" strike="noStrike" kern="1200" cap="none" spc="0" normalizeH="0" baseline="0" noProof="0">
              <a:ln>
                <a:noFill/>
              </a:ln>
              <a:solidFill>
                <a:srgbClr val="336699"/>
              </a:solidFill>
              <a:effectLst/>
              <a:uLnTx/>
              <a:uFillTx/>
              <a:latin typeface="Arial" panose="020B0604020202020204" pitchFamily="34" charset="0"/>
              <a:ea typeface="+mn-ea"/>
              <a:cs typeface="Arial" panose="020B0604020202020204" pitchFamily="34" charset="0"/>
            </a:endParaRPr>
          </a:p>
          <a:p>
            <a:pPr marL="463550" marR="0" lvl="0" indent="-450850" algn="l" defTabSz="914400" rtl="0" eaLnBrk="0" fontAlgn="base" latinLnBrk="0" hangingPunct="0">
              <a:lnSpc>
                <a:spcPct val="96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63550" marR="0" lvl="0" indent="-450850" algn="l" defTabSz="914400" rtl="0" eaLnBrk="0" fontAlgn="base" latinLnBrk="0" hangingPunct="0">
              <a:lnSpc>
                <a:spcPct val="96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63550" marR="0" lvl="0" indent="-450850" algn="l" defTabSz="914400" rtl="0" eaLnBrk="0" fontAlgn="base" latinLnBrk="0" hangingPunct="0">
              <a:lnSpc>
                <a:spcPct val="96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63550" marR="0" lvl="0" indent="-450850" algn="l" defTabSz="914400" rtl="0" eaLnBrk="0" fontAlgn="base" latinLnBrk="0" hangingPunct="0">
              <a:lnSpc>
                <a:spcPct val="96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63550" marR="0" lvl="0" indent="-450850" algn="l" defTabSz="914400" rtl="0" eaLnBrk="0" fontAlgn="base" latinLnBrk="0" hangingPunct="0">
              <a:lnSpc>
                <a:spcPct val="96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63550" marR="0" lvl="0" indent="-450850" algn="l" defTabSz="914400" rtl="0" eaLnBrk="0" fontAlgn="base" latinLnBrk="0" hangingPunct="0">
              <a:lnSpc>
                <a:spcPct val="96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63550" marR="0" lvl="0" indent="-450850" algn="l" defTabSz="914400" rtl="0" eaLnBrk="0" fontAlgn="base" latinLnBrk="0" hangingPunct="0">
              <a:lnSpc>
                <a:spcPct val="96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336699"/>
                </a:solidFill>
                <a:effectLst/>
                <a:uLnTx/>
                <a:uFillTx/>
                <a:latin typeface="Arial" panose="020B0604020202020204" pitchFamily="34" charset="0"/>
                <a:ea typeface="+mn-ea"/>
                <a:cs typeface="Arial" panose="020B0604020202020204" pitchFamily="34" charset="0"/>
              </a:rPr>
              <a:t> </a:t>
            </a:r>
            <a:endParaRPr kumimoji="0" lang="en-US" altLang="en-US" sz="2400" b="0" i="0" u="none" strike="noStrike" kern="1200" cap="none" spc="0" normalizeH="0" baseline="0" noProof="0">
              <a:ln>
                <a:noFill/>
              </a:ln>
              <a:solidFill>
                <a:srgbClr val="336699"/>
              </a:solidFill>
              <a:effectLst/>
              <a:uLnTx/>
              <a:uFillTx/>
              <a:latin typeface="Arial" panose="020B0604020202020204" pitchFamily="34" charset="0"/>
              <a:ea typeface="+mn-ea"/>
              <a:cs typeface="Arial" panose="020B0604020202020204" pitchFamily="34" charset="0"/>
            </a:endParaRPr>
          </a:p>
        </p:txBody>
      </p:sp>
      <p:sp>
        <p:nvSpPr>
          <p:cNvPr id="17413" name="Text Box 5">
            <a:extLst>
              <a:ext uri="{FF2B5EF4-FFF2-40B4-BE49-F238E27FC236}">
                <a16:creationId xmlns:a16="http://schemas.microsoft.com/office/drawing/2014/main" id="{08650869-1FF7-460A-A622-D601261607FA}"/>
              </a:ext>
            </a:extLst>
          </p:cNvPr>
          <p:cNvSpPr txBox="1">
            <a:spLocks noChangeArrowheads="1"/>
          </p:cNvSpPr>
          <p:nvPr/>
        </p:nvSpPr>
        <p:spPr bwMode="auto">
          <a:xfrm>
            <a:off x="3048000" y="1676400"/>
            <a:ext cx="2971800" cy="5286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3A619A"/>
                </a:solidFill>
                <a:effectLst/>
                <a:uLnTx/>
                <a:uFillTx/>
                <a:latin typeface="Arial" panose="020B0604020202020204" pitchFamily="34" charset="0"/>
                <a:ea typeface="新細明體" panose="02020500000000000000" pitchFamily="18" charset="-120"/>
                <a:cs typeface="Arial" panose="020B0604020202020204" pitchFamily="34" charset="0"/>
              </a:rPr>
              <a:t>Basics</a:t>
            </a:r>
          </a:p>
        </p:txBody>
      </p:sp>
      <p:graphicFrame>
        <p:nvGraphicFramePr>
          <p:cNvPr id="17414" name="Object 60">
            <a:extLst>
              <a:ext uri="{FF2B5EF4-FFF2-40B4-BE49-F238E27FC236}">
                <a16:creationId xmlns:a16="http://schemas.microsoft.com/office/drawing/2014/main" id="{D7CBA9E9-F6FC-402B-A250-3A730F8ADCB9}"/>
              </a:ext>
            </a:extLst>
          </p:cNvPr>
          <p:cNvGraphicFramePr>
            <a:graphicFrameLocks noGrp="1"/>
          </p:cNvGraphicFramePr>
          <p:nvPr>
            <p:ph sz="quarter" idx="3"/>
          </p:nvPr>
        </p:nvGraphicFramePr>
        <p:xfrm>
          <a:off x="7086600" y="4572000"/>
          <a:ext cx="1006475" cy="1471613"/>
        </p:xfrm>
        <a:graphic>
          <a:graphicData uri="http://schemas.openxmlformats.org/presentationml/2006/ole">
            <mc:AlternateContent xmlns:mc="http://schemas.openxmlformats.org/markup-compatibility/2006">
              <mc:Choice xmlns:v="urn:schemas-microsoft-com:vml" Requires="v">
                <p:oleObj name="Clip" r:id="rId3" imgW="3235960" imgH="6024245" progId="MS_ClipArt_Gallery.2">
                  <p:embed/>
                </p:oleObj>
              </mc:Choice>
              <mc:Fallback>
                <p:oleObj name="Clip" r:id="rId3" imgW="3235960" imgH="6024245" progId="MS_ClipArt_Gallery.2">
                  <p:embed/>
                  <p:pic>
                    <p:nvPicPr>
                      <p:cNvPr id="17414" name="Object 60">
                        <a:extLst>
                          <a:ext uri="{FF2B5EF4-FFF2-40B4-BE49-F238E27FC236}">
                            <a16:creationId xmlns:a16="http://schemas.microsoft.com/office/drawing/2014/main" id="{D7CBA9E9-F6FC-402B-A250-3A730F8ADCB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4572000"/>
                        <a:ext cx="1006475" cy="147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5" name="Object 56">
            <a:extLst>
              <a:ext uri="{FF2B5EF4-FFF2-40B4-BE49-F238E27FC236}">
                <a16:creationId xmlns:a16="http://schemas.microsoft.com/office/drawing/2014/main" id="{E6F1A284-5CBF-4701-8CF6-D057665406E3}"/>
              </a:ext>
            </a:extLst>
          </p:cNvPr>
          <p:cNvGraphicFramePr>
            <a:graphicFrameLocks noGrp="1" noChangeAspect="1"/>
          </p:cNvGraphicFramePr>
          <p:nvPr>
            <p:ph sz="quarter" idx="2"/>
          </p:nvPr>
        </p:nvGraphicFramePr>
        <p:xfrm>
          <a:off x="838200" y="4948238"/>
          <a:ext cx="5943600" cy="1365250"/>
        </p:xfrm>
        <a:graphic>
          <a:graphicData uri="http://schemas.openxmlformats.org/presentationml/2006/ole">
            <mc:AlternateContent xmlns:mc="http://schemas.openxmlformats.org/markup-compatibility/2006">
              <mc:Choice xmlns:v="urn:schemas-microsoft-com:vml" Requires="v">
                <p:oleObj name="Worksheet" r:id="rId5" imgW="4149966" imgH="953889" progId="Excel.Sheet.8">
                  <p:embed/>
                </p:oleObj>
              </mc:Choice>
              <mc:Fallback>
                <p:oleObj name="Worksheet" r:id="rId5" imgW="4149966" imgH="953889" progId="Excel.Sheet.8">
                  <p:embed/>
                  <p:pic>
                    <p:nvPicPr>
                      <p:cNvPr id="17415" name="Object 56">
                        <a:extLst>
                          <a:ext uri="{FF2B5EF4-FFF2-40B4-BE49-F238E27FC236}">
                            <a16:creationId xmlns:a16="http://schemas.microsoft.com/office/drawing/2014/main" id="{E6F1A284-5CBF-4701-8CF6-D057665406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948238"/>
                        <a:ext cx="5943600"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bg2">
                    <a:lumMod val="75000"/>
                  </a:schemeClr>
                </a:solidFill>
              </a:rPr>
              <a:t>First: Liquidity Analysis</a:t>
            </a:r>
          </a:p>
        </p:txBody>
      </p:sp>
      <p:sp>
        <p:nvSpPr>
          <p:cNvPr id="3" name="Content Placeholder 2"/>
          <p:cNvSpPr>
            <a:spLocks noGrp="1"/>
          </p:cNvSpPr>
          <p:nvPr>
            <p:ph idx="1"/>
          </p:nvPr>
        </p:nvSpPr>
        <p:spPr>
          <a:xfrm>
            <a:off x="381000" y="1447800"/>
            <a:ext cx="8375904" cy="5797624"/>
          </a:xfrm>
        </p:spPr>
        <p:txBody>
          <a:bodyPr/>
          <a:lstStyle/>
          <a:p>
            <a:pPr marL="9144" indent="0">
              <a:buNone/>
            </a:pPr>
            <a:r>
              <a:rPr lang="en-US" b="1" dirty="0"/>
              <a:t>Liquidity</a:t>
            </a:r>
            <a:r>
              <a:rPr lang="en-US" dirty="0"/>
              <a:t> is the ability to satisfy the company’s short-term obligations using assets that can be most readily converted into cash.</a:t>
            </a:r>
          </a:p>
          <a:p>
            <a:pPr marL="9144" indent="0">
              <a:buNone/>
            </a:pPr>
            <a:endParaRPr lang="en-US" dirty="0"/>
          </a:p>
        </p:txBody>
      </p:sp>
      <p:sp>
        <p:nvSpPr>
          <p:cNvPr id="4" name="Footer Placeholder 3"/>
          <p:cNvSpPr>
            <a:spLocks noGrp="1"/>
          </p:cNvSpPr>
          <p:nvPr>
            <p:ph type="ftr" sz="quarter" idx="11"/>
          </p:nvPr>
        </p:nvSpPr>
        <p:spPr/>
        <p:txBody>
          <a:bodyPr/>
          <a:lstStyle/>
          <a:p>
            <a:r>
              <a:rPr lang="en-US" dirty="0"/>
              <a:t>Copyright © 2013 CFA Institute</a:t>
            </a:r>
          </a:p>
        </p:txBody>
      </p:sp>
      <p:sp>
        <p:nvSpPr>
          <p:cNvPr id="5" name="Slide Number Placeholder 4"/>
          <p:cNvSpPr>
            <a:spLocks noGrp="1"/>
          </p:cNvSpPr>
          <p:nvPr>
            <p:ph type="sldNum" sz="quarter" idx="12"/>
          </p:nvPr>
        </p:nvSpPr>
        <p:spPr/>
        <p:txBody>
          <a:bodyPr/>
          <a:lstStyle/>
          <a:p>
            <a:fld id="{4E4A4924-7CC3-4BF6-9C5C-A8E770D15754}" type="slidenum">
              <a:rPr lang="en-US" smtClean="0"/>
              <a:pPr/>
              <a:t>10</a:t>
            </a:fld>
            <a:endParaRPr lang="en-US"/>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878222342"/>
                  </p:ext>
                </p:extLst>
              </p:nvPr>
            </p:nvGraphicFramePr>
            <p:xfrm>
              <a:off x="179512" y="2132856"/>
              <a:ext cx="8964488" cy="5645745"/>
            </p:xfrm>
            <a:graphic>
              <a:graphicData uri="http://schemas.openxmlformats.org/drawingml/2006/table">
                <a:tbl>
                  <a:tblPr bandRow="1">
                    <a:tableStyleId>{5C22544A-7EE6-4342-B048-85BDC9FD1C3A}</a:tableStyleId>
                  </a:tblPr>
                  <a:tblGrid>
                    <a:gridCol w="5325438">
                      <a:extLst>
                        <a:ext uri="{9D8B030D-6E8A-4147-A177-3AD203B41FA5}">
                          <a16:colId xmlns:a16="http://schemas.microsoft.com/office/drawing/2014/main" val="20000"/>
                        </a:ext>
                      </a:extLst>
                    </a:gridCol>
                    <a:gridCol w="266272">
                      <a:extLst>
                        <a:ext uri="{9D8B030D-6E8A-4147-A177-3AD203B41FA5}">
                          <a16:colId xmlns:a16="http://schemas.microsoft.com/office/drawing/2014/main" val="20001"/>
                        </a:ext>
                      </a:extLst>
                    </a:gridCol>
                    <a:gridCol w="3372778">
                      <a:extLst>
                        <a:ext uri="{9D8B030D-6E8A-4147-A177-3AD203B41FA5}">
                          <a16:colId xmlns:a16="http://schemas.microsoft.com/office/drawing/2014/main" val="20002"/>
                        </a:ext>
                      </a:extLst>
                    </a:gridCol>
                  </a:tblGrid>
                  <a:tr h="1691699">
                    <a:tc>
                      <a:txBody>
                        <a:bodyPr/>
                        <a:lstStyle/>
                        <a:p>
                          <a:pPr/>
                          <a14:m>
                            <m:oMathPara xmlns:m="http://schemas.openxmlformats.org/officeDocument/2006/math">
                              <m:oMathParaPr>
                                <m:jc m:val="left"/>
                              </m:oMathParaPr>
                              <m:oMath xmlns:m="http://schemas.openxmlformats.org/officeDocument/2006/math">
                                <m:r>
                                  <m:rPr>
                                    <m:nor/>
                                  </m:rPr>
                                  <a:rPr lang="en-US" sz="1600" b="1" i="0" smtClean="0">
                                    <a:solidFill>
                                      <a:srgbClr val="FF0000"/>
                                    </a:solidFill>
                                    <a:latin typeface="Times New Roman" pitchFamily="18" charset="0"/>
                                    <a:cs typeface="Times New Roman" pitchFamily="18" charset="0"/>
                                  </a:rPr>
                                  <m:t>   1−</m:t>
                                </m:r>
                                <m:r>
                                  <m:rPr>
                                    <m:nor/>
                                  </m:rPr>
                                  <a:rPr lang="en-US" sz="1600" b="1" i="0" smtClean="0">
                                    <a:solidFill>
                                      <a:srgbClr val="FF0000"/>
                                    </a:solidFill>
                                    <a:latin typeface="Times New Roman" pitchFamily="18" charset="0"/>
                                    <a:cs typeface="Times New Roman" pitchFamily="18" charset="0"/>
                                  </a:rPr>
                                  <m:t>Current</m:t>
                                </m:r>
                                <m:r>
                                  <m:rPr>
                                    <m:nor/>
                                  </m:rPr>
                                  <a:rPr lang="en-US" sz="1600" b="1" i="0" smtClean="0">
                                    <a:solidFill>
                                      <a:srgbClr val="FF0000"/>
                                    </a:solidFill>
                                    <a:latin typeface="Times New Roman" pitchFamily="18" charset="0"/>
                                    <a:cs typeface="Times New Roman" pitchFamily="18" charset="0"/>
                                  </a:rPr>
                                  <m:t> </m:t>
                                </m:r>
                                <m:r>
                                  <m:rPr>
                                    <m:nor/>
                                  </m:rPr>
                                  <a:rPr lang="en-US" sz="1600" b="1" i="0" smtClean="0">
                                    <a:solidFill>
                                      <a:srgbClr val="FF0000"/>
                                    </a:solidFill>
                                    <a:latin typeface="Times New Roman" pitchFamily="18" charset="0"/>
                                    <a:cs typeface="Times New Roman" pitchFamily="18" charset="0"/>
                                  </a:rPr>
                                  <m:t>or</m:t>
                                </m:r>
                                <m:r>
                                  <m:rPr>
                                    <m:nor/>
                                  </m:rPr>
                                  <a:rPr lang="en-US" sz="1600" b="1" i="0" smtClean="0">
                                    <a:solidFill>
                                      <a:srgbClr val="FF0000"/>
                                    </a:solidFill>
                                    <a:latin typeface="Times New Roman" pitchFamily="18" charset="0"/>
                                    <a:cs typeface="Times New Roman" pitchFamily="18" charset="0"/>
                                  </a:rPr>
                                  <m:t> </m:t>
                                </m:r>
                                <m:r>
                                  <m:rPr>
                                    <m:nor/>
                                  </m:rPr>
                                  <a:rPr lang="en-US" sz="1600" b="1" i="0" smtClean="0">
                                    <a:solidFill>
                                      <a:srgbClr val="FF0000"/>
                                    </a:solidFill>
                                    <a:latin typeface="Times New Roman" pitchFamily="18" charset="0"/>
                                    <a:cs typeface="Times New Roman" pitchFamily="18" charset="0"/>
                                  </a:rPr>
                                  <m:t>working</m:t>
                                </m:r>
                                <m:r>
                                  <m:rPr>
                                    <m:nor/>
                                  </m:rPr>
                                  <a:rPr lang="en-US" sz="1600" b="1" i="0" smtClean="0">
                                    <a:solidFill>
                                      <a:srgbClr val="FF0000"/>
                                    </a:solidFill>
                                    <a:latin typeface="Times New Roman" pitchFamily="18" charset="0"/>
                                    <a:cs typeface="Times New Roman" pitchFamily="18" charset="0"/>
                                  </a:rPr>
                                  <m:t> </m:t>
                                </m:r>
                                <m:r>
                                  <m:rPr>
                                    <m:nor/>
                                  </m:rPr>
                                  <a:rPr lang="en-US" sz="1600" b="1" i="0" smtClean="0">
                                    <a:solidFill>
                                      <a:srgbClr val="FF0000"/>
                                    </a:solidFill>
                                    <a:latin typeface="Times New Roman" pitchFamily="18" charset="0"/>
                                    <a:cs typeface="Times New Roman" pitchFamily="18" charset="0"/>
                                  </a:rPr>
                                  <m:t>capital</m:t>
                                </m:r>
                                <m:r>
                                  <m:rPr>
                                    <m:nor/>
                                  </m:rPr>
                                  <a:rPr lang="en-US" sz="1600" b="1" i="0" smtClean="0">
                                    <a:solidFill>
                                      <a:srgbClr val="FF0000"/>
                                    </a:solidFill>
                                    <a:latin typeface="Times New Roman" pitchFamily="18" charset="0"/>
                                    <a:cs typeface="Times New Roman" pitchFamily="18" charset="0"/>
                                  </a:rPr>
                                  <m:t>  </m:t>
                                </m:r>
                                <m:r>
                                  <m:rPr>
                                    <m:nor/>
                                  </m:rPr>
                                  <a:rPr lang="en-US" sz="1600" b="1" i="0" smtClean="0">
                                    <a:solidFill>
                                      <a:srgbClr val="FF0000"/>
                                    </a:solidFill>
                                    <a:latin typeface="Times New Roman" pitchFamily="18" charset="0"/>
                                    <a:cs typeface="Times New Roman" pitchFamily="18" charset="0"/>
                                  </a:rPr>
                                  <m:t>ratio</m:t>
                                </m:r>
                                <m:r>
                                  <m:rPr>
                                    <m:nor/>
                                  </m:rPr>
                                  <a:rPr lang="en-US" sz="1600" b="0" i="0" smtClean="0">
                                    <a:latin typeface="Times New Roman" pitchFamily="18" charset="0"/>
                                    <a:cs typeface="Times New Roman" pitchFamily="18" charset="0"/>
                                  </a:rPr>
                                  <m:t> = </m:t>
                                </m:r>
                                <m:f>
                                  <m:fPr>
                                    <m:ctrlPr>
                                      <a:rPr lang="en-US" sz="1600" b="0" i="1" smtClean="0">
                                        <a:latin typeface="Cambria Math" panose="02040503050406030204" pitchFamily="18" charset="0"/>
                                      </a:rPr>
                                    </m:ctrlPr>
                                  </m:fPr>
                                  <m:num>
                                    <m:r>
                                      <m:rPr>
                                        <m:nor/>
                                      </m:rPr>
                                      <a:rPr lang="en-US" sz="1600" b="0" i="0" smtClean="0">
                                        <a:latin typeface="Times New Roman" pitchFamily="18" charset="0"/>
                                        <a:cs typeface="Times New Roman" pitchFamily="18" charset="0"/>
                                      </a:rPr>
                                      <m:t>Current</m:t>
                                    </m:r>
                                    <m:r>
                                      <m:rPr>
                                        <m:nor/>
                                      </m:rPr>
                                      <a:rPr lang="en-US" sz="1600" b="0" i="0" smtClean="0">
                                        <a:latin typeface="Times New Roman" pitchFamily="18" charset="0"/>
                                        <a:cs typeface="Times New Roman" pitchFamily="18" charset="0"/>
                                      </a:rPr>
                                      <m:t> </m:t>
                                    </m:r>
                                    <m:r>
                                      <m:rPr>
                                        <m:nor/>
                                      </m:rPr>
                                      <a:rPr lang="en-US" sz="1600" b="0" i="0" smtClean="0">
                                        <a:latin typeface="Times New Roman" pitchFamily="18" charset="0"/>
                                        <a:cs typeface="Times New Roman" pitchFamily="18" charset="0"/>
                                      </a:rPr>
                                      <m:t>assets</m:t>
                                    </m:r>
                                  </m:num>
                                  <m:den>
                                    <m:r>
                                      <m:rPr>
                                        <m:nor/>
                                      </m:rPr>
                                      <a:rPr lang="en-US" sz="1600" b="0" i="0" smtClean="0">
                                        <a:latin typeface="Times New Roman" pitchFamily="18" charset="0"/>
                                        <a:cs typeface="Times New Roman" pitchFamily="18" charset="0"/>
                                      </a:rPr>
                                      <m:t>Current</m:t>
                                    </m:r>
                                    <m:r>
                                      <m:rPr>
                                        <m:nor/>
                                      </m:rPr>
                                      <a:rPr lang="en-US" sz="1600" b="0" i="0" smtClean="0">
                                        <a:latin typeface="Times New Roman" pitchFamily="18" charset="0"/>
                                        <a:cs typeface="Times New Roman" pitchFamily="18" charset="0"/>
                                      </a:rPr>
                                      <m:t> </m:t>
                                    </m:r>
                                    <m:r>
                                      <m:rPr>
                                        <m:nor/>
                                      </m:rPr>
                                      <a:rPr lang="en-US" sz="1600" b="0" i="0" smtClean="0">
                                        <a:latin typeface="Times New Roman" pitchFamily="18" charset="0"/>
                                        <a:cs typeface="Times New Roman" pitchFamily="18" charset="0"/>
                                      </a:rPr>
                                      <m:t>liabilities</m:t>
                                    </m:r>
                                  </m:den>
                                </m:f>
                              </m:oMath>
                            </m:oMathPara>
                          </a14:m>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US" sz="1600" b="1" dirty="0">
                              <a:solidFill>
                                <a:srgbClr val="FF0000"/>
                              </a:solidFill>
                              <a:latin typeface="Times New Roman" pitchFamily="18" charset="0"/>
                              <a:cs typeface="Times New Roman" pitchFamily="18" charset="0"/>
                            </a:rPr>
                            <a:t>    2-Working</a:t>
                          </a:r>
                          <a:r>
                            <a:rPr lang="en-US" sz="1600" b="1" baseline="0" dirty="0">
                              <a:solidFill>
                                <a:srgbClr val="FF0000"/>
                              </a:solidFill>
                              <a:latin typeface="Times New Roman" pitchFamily="18" charset="0"/>
                              <a:cs typeface="Times New Roman" pitchFamily="18" charset="0"/>
                            </a:rPr>
                            <a:t> Capital</a:t>
                          </a:r>
                          <a:r>
                            <a:rPr lang="en-US" sz="1600" baseline="0" dirty="0">
                              <a:latin typeface="Times New Roman" pitchFamily="18" charset="0"/>
                              <a:cs typeface="Times New Roman" pitchFamily="18" charset="0"/>
                            </a:rPr>
                            <a:t>= Current Assets – Current Liabilities</a:t>
                          </a:r>
                          <a:endParaRPr lang="en-US" sz="1600" dirty="0">
                            <a:latin typeface="Times New Roman" pitchFamily="18" charset="0"/>
                            <a:cs typeface="Times New Roman" pitchFamily="18" charset="0"/>
                          </a:endParaRPr>
                        </a:p>
                      </a:txBody>
                      <a:tcPr>
                        <a:solidFill>
                          <a:schemeClr val="bg1"/>
                        </a:solidFill>
                      </a:tcPr>
                    </a:tc>
                    <a:tc>
                      <a:txBody>
                        <a:bodyPr/>
                        <a:lstStyle/>
                        <a:p>
                          <a:endParaRPr lang="en-US" dirty="0">
                            <a:latin typeface="Times New Roman" pitchFamily="18" charset="0"/>
                            <a:cs typeface="Times New Roman" pitchFamily="18" charset="0"/>
                          </a:endParaRPr>
                        </a:p>
                      </a:txBody>
                      <a:tcPr>
                        <a:solidFill>
                          <a:schemeClr val="bg1"/>
                        </a:solidFill>
                      </a:tcPr>
                    </a:tc>
                    <a:tc>
                      <a:txBody>
                        <a:bodyPr/>
                        <a:lstStyle/>
                        <a:p>
                          <a:r>
                            <a:rPr lang="en-US" sz="1600" dirty="0">
                              <a:latin typeface="Times New Roman" pitchFamily="18" charset="0"/>
                              <a:cs typeface="Times New Roman" pitchFamily="18" charset="0"/>
                            </a:rPr>
                            <a:t>Ability to satisfy current liabilities using current assets.</a:t>
                          </a:r>
                        </a:p>
                        <a:p>
                          <a:r>
                            <a:rPr lang="en-US" sz="1600" dirty="0">
                              <a:latin typeface="Times New Roman" pitchFamily="18" charset="0"/>
                              <a:cs typeface="Times New Roman" pitchFamily="18" charset="0"/>
                            </a:rPr>
                            <a:t>Working Capital is a measure of financial health</a:t>
                          </a:r>
                          <a:r>
                            <a:rPr lang="en-US" sz="1600" baseline="0" dirty="0">
                              <a:latin typeface="Times New Roman" pitchFamily="18" charset="0"/>
                              <a:cs typeface="Times New Roman" pitchFamily="18" charset="0"/>
                            </a:rPr>
                            <a:t> of the firm in meeting its short term commitments</a:t>
                          </a:r>
                        </a:p>
                        <a:p>
                          <a:endParaRPr lang="en-US" sz="1600" dirty="0">
                            <a:latin typeface="Times New Roman" pitchFamily="18" charset="0"/>
                            <a:cs typeface="Times New Roman" pitchFamily="18" charset="0"/>
                          </a:endParaRPr>
                        </a:p>
                      </a:txBody>
                      <a:tcPr>
                        <a:solidFill>
                          <a:schemeClr val="bg1"/>
                        </a:solidFill>
                      </a:tcPr>
                    </a:tc>
                    <a:extLst>
                      <a:ext uri="{0D108BD9-81ED-4DB2-BD59-A6C34878D82A}">
                        <a16:rowId xmlns:a16="http://schemas.microsoft.com/office/drawing/2014/main" val="10000"/>
                      </a:ext>
                    </a:extLst>
                  </a:tr>
                  <a:tr h="1426334">
                    <a:tc>
                      <a:txBody>
                        <a:bodyPr/>
                        <a:lstStyle/>
                        <a:p>
                          <a14:m>
                            <m:oMath xmlns:m="http://schemas.openxmlformats.org/officeDocument/2006/math">
                              <m:r>
                                <m:rPr>
                                  <m:nor/>
                                </m:rPr>
                                <a:rPr lang="en-US" sz="1600" b="1" i="0" smtClean="0">
                                  <a:solidFill>
                                    <a:srgbClr val="FF0000"/>
                                  </a:solidFill>
                                  <a:latin typeface="Times New Roman" pitchFamily="18" charset="0"/>
                                  <a:cs typeface="Times New Roman" pitchFamily="18" charset="0"/>
                                </a:rPr>
                                <m:t>   3− </m:t>
                              </m:r>
                              <m:r>
                                <m:rPr>
                                  <m:nor/>
                                </m:rPr>
                                <a:rPr lang="en-US" sz="1600" b="1" i="0" smtClean="0">
                                  <a:solidFill>
                                    <a:srgbClr val="FF0000"/>
                                  </a:solidFill>
                                  <a:latin typeface="Times New Roman" pitchFamily="18" charset="0"/>
                                  <a:cs typeface="Times New Roman" pitchFamily="18" charset="0"/>
                                </a:rPr>
                                <m:t>Quick</m:t>
                              </m:r>
                              <m:r>
                                <m:rPr>
                                  <m:nor/>
                                </m:rPr>
                                <a:rPr lang="en-US" sz="1600" b="1" i="0" smtClean="0">
                                  <a:solidFill>
                                    <a:srgbClr val="FF0000"/>
                                  </a:solidFill>
                                  <a:latin typeface="Times New Roman" pitchFamily="18" charset="0"/>
                                  <a:cs typeface="Times New Roman" pitchFamily="18" charset="0"/>
                                </a:rPr>
                                <m:t> </m:t>
                              </m:r>
                              <m:r>
                                <m:rPr>
                                  <m:nor/>
                                </m:rPr>
                                <a:rPr lang="en-US" sz="1600" b="1" i="0" smtClean="0">
                                  <a:solidFill>
                                    <a:srgbClr val="FF0000"/>
                                  </a:solidFill>
                                  <a:latin typeface="Times New Roman" pitchFamily="18" charset="0"/>
                                  <a:cs typeface="Times New Roman" pitchFamily="18" charset="0"/>
                                </a:rPr>
                                <m:t>ratio</m:t>
                              </m:r>
                            </m:oMath>
                          </a14:m>
                          <a:r>
                            <a:rPr lang="en-US" sz="1600" b="1" i="0" dirty="0">
                              <a:solidFill>
                                <a:srgbClr val="FF0000"/>
                              </a:solidFill>
                              <a:latin typeface="Times New Roman" pitchFamily="18" charset="0"/>
                              <a:cs typeface="Times New Roman" pitchFamily="18" charset="0"/>
                            </a:rPr>
                            <a:t> (Acid Test</a:t>
                          </a:r>
                          <a:r>
                            <a:rPr lang="en-US" sz="1600" b="1" i="0" baseline="0" dirty="0">
                              <a:solidFill>
                                <a:srgbClr val="FF0000"/>
                              </a:solidFill>
                              <a:latin typeface="Times New Roman" pitchFamily="18" charset="0"/>
                              <a:cs typeface="Times New Roman" pitchFamily="18" charset="0"/>
                            </a:rPr>
                            <a:t> Ratio)</a:t>
                          </a:r>
                          <a:endParaRPr lang="en-US" sz="1600" b="1" i="0" dirty="0">
                            <a:solidFill>
                              <a:srgbClr val="FF0000"/>
                            </a:solidFill>
                            <a:latin typeface="Times New Roman" pitchFamily="18" charset="0"/>
                            <a:cs typeface="Times New Roman" pitchFamily="18" charset="0"/>
                          </a:endParaRPr>
                        </a:p>
                        <a:p>
                          <a:pPr/>
                          <a14:m>
                            <m:oMathPara xmlns:m="http://schemas.openxmlformats.org/officeDocument/2006/math">
                              <m:oMathParaPr>
                                <m:jc m:val="left"/>
                              </m:oMathParaPr>
                              <m:oMath xmlns:m="http://schemas.openxmlformats.org/officeDocument/2006/math">
                                <m:r>
                                  <m:rPr>
                                    <m:nor/>
                                  </m:rPr>
                                  <a:rPr lang="en-US" sz="1600" b="1" i="0" smtClean="0">
                                    <a:solidFill>
                                      <a:srgbClr val="FF0000"/>
                                    </a:solidFill>
                                    <a:latin typeface="Times New Roman" pitchFamily="18" charset="0"/>
                                    <a:cs typeface="Times New Roman" pitchFamily="18" charset="0"/>
                                  </a:rPr>
                                  <m:t>                        </m:t>
                                </m:r>
                                <m:r>
                                  <m:rPr>
                                    <m:nor/>
                                  </m:rPr>
                                  <a:rPr lang="en-US" sz="1600" b="0" i="0" smtClean="0">
                                    <a:latin typeface="Times New Roman" pitchFamily="18" charset="0"/>
                                    <a:cs typeface="Times New Roman" pitchFamily="18" charset="0"/>
                                  </a:rPr>
                                  <m:t>= </m:t>
                                </m:r>
                                <m:f>
                                  <m:fPr>
                                    <m:ctrlPr>
                                      <a:rPr lang="en-US" sz="1600" b="0" i="1" smtClean="0">
                                        <a:latin typeface="Cambria Math" panose="02040503050406030204" pitchFamily="18" charset="0"/>
                                      </a:rPr>
                                    </m:ctrlPr>
                                  </m:fPr>
                                  <m:num>
                                    <m:r>
                                      <m:rPr>
                                        <m:nor/>
                                      </m:rPr>
                                      <a:rPr lang="en-US" sz="1600" b="0" i="0" smtClean="0">
                                        <a:latin typeface="Times New Roman" pitchFamily="18" charset="0"/>
                                        <a:cs typeface="Times New Roman" pitchFamily="18" charset="0"/>
                                      </a:rPr>
                                      <m:t>C</m:t>
                                    </m:r>
                                    <m:r>
                                      <a:rPr lang="en-US" sz="1600" b="0" i="1" smtClean="0">
                                        <a:latin typeface="Cambria Math" panose="02040503050406030204" pitchFamily="18" charset="0"/>
                                        <a:cs typeface="Times New Roman" pitchFamily="18" charset="0"/>
                                      </a:rPr>
                                      <m:t>𝑎𝑠h</m:t>
                                    </m:r>
                                    <m:r>
                                      <a:rPr lang="en-US" sz="1600" b="0" i="1" smtClean="0">
                                        <a:latin typeface="Cambria Math" panose="02040503050406030204" pitchFamily="18" charset="0"/>
                                        <a:cs typeface="Times New Roman" pitchFamily="18" charset="0"/>
                                      </a:rPr>
                                      <m:t>+</m:t>
                                    </m:r>
                                    <m:r>
                                      <a:rPr lang="en-US" sz="1600" b="0" i="1" smtClean="0">
                                        <a:latin typeface="Cambria Math" panose="02040503050406030204" pitchFamily="18" charset="0"/>
                                        <a:cs typeface="Times New Roman" pitchFamily="18" charset="0"/>
                                      </a:rPr>
                                      <m:t>𝑁𝑒𝑡</m:t>
                                    </m:r>
                                    <m:r>
                                      <a:rPr lang="en-US" sz="1600" b="0" i="1" smtClean="0">
                                        <a:latin typeface="Cambria Math" panose="02040503050406030204" pitchFamily="18" charset="0"/>
                                        <a:cs typeface="Times New Roman" pitchFamily="18" charset="0"/>
                                      </a:rPr>
                                      <m:t> </m:t>
                                    </m:r>
                                    <m:r>
                                      <a:rPr lang="en-US" sz="1600" b="0" i="1" smtClean="0">
                                        <a:latin typeface="Cambria Math" panose="02040503050406030204" pitchFamily="18" charset="0"/>
                                        <a:cs typeface="Times New Roman" pitchFamily="18" charset="0"/>
                                      </a:rPr>
                                      <m:t>𝐴𝑐𝑐𝑜𝑢𝑛𝑡𝑠</m:t>
                                    </m:r>
                                    <m:r>
                                      <a:rPr lang="en-US" sz="1600" b="0" i="1" smtClean="0">
                                        <a:latin typeface="Cambria Math" panose="02040503050406030204" pitchFamily="18" charset="0"/>
                                        <a:cs typeface="Times New Roman" pitchFamily="18" charset="0"/>
                                      </a:rPr>
                                      <m:t> </m:t>
                                    </m:r>
                                    <m:r>
                                      <a:rPr lang="en-US" sz="1600" b="0" i="1" smtClean="0">
                                        <a:latin typeface="Cambria Math" panose="02040503050406030204" pitchFamily="18" charset="0"/>
                                        <a:cs typeface="Times New Roman" pitchFamily="18" charset="0"/>
                                      </a:rPr>
                                      <m:t>𝑅𝑒𝑐𝑒𝑖𝑣𝑎𝑏𝑙𝑒</m:t>
                                    </m:r>
                                    <m:r>
                                      <a:rPr lang="en-US" sz="1600" b="0" i="1" smtClean="0">
                                        <a:latin typeface="Cambria Math" panose="02040503050406030204" pitchFamily="18" charset="0"/>
                                        <a:cs typeface="Times New Roman" pitchFamily="18" charset="0"/>
                                      </a:rPr>
                                      <m:t>+</m:t>
                                    </m:r>
                                    <m:r>
                                      <a:rPr lang="en-US" sz="1600" b="0" i="1" smtClean="0">
                                        <a:latin typeface="Cambria Math" panose="02040503050406030204" pitchFamily="18" charset="0"/>
                                        <a:cs typeface="Times New Roman" pitchFamily="18" charset="0"/>
                                      </a:rPr>
                                      <m:t>𝑀𝑎𝑟𝑘𝑒𝑡𝑎𝑏𝑙𝑒</m:t>
                                    </m:r>
                                    <m:r>
                                      <a:rPr lang="en-US" sz="1600" b="0" i="1" smtClean="0">
                                        <a:latin typeface="Cambria Math" panose="02040503050406030204" pitchFamily="18" charset="0"/>
                                        <a:cs typeface="Times New Roman" pitchFamily="18" charset="0"/>
                                      </a:rPr>
                                      <m:t> </m:t>
                                    </m:r>
                                    <m:r>
                                      <a:rPr lang="en-US" sz="1600" b="0" i="1" smtClean="0">
                                        <a:latin typeface="Cambria Math" panose="02040503050406030204" pitchFamily="18" charset="0"/>
                                        <a:cs typeface="Times New Roman" pitchFamily="18" charset="0"/>
                                      </a:rPr>
                                      <m:t>𝑠𝑒𝑐</m:t>
                                    </m:r>
                                  </m:num>
                                  <m:den>
                                    <m:r>
                                      <m:rPr>
                                        <m:nor/>
                                      </m:rPr>
                                      <a:rPr lang="en-US" sz="1600" b="0" i="0" smtClean="0">
                                        <a:latin typeface="Times New Roman" pitchFamily="18" charset="0"/>
                                        <a:cs typeface="Times New Roman" pitchFamily="18" charset="0"/>
                                      </a:rPr>
                                      <m:t>Current</m:t>
                                    </m:r>
                                    <m:r>
                                      <m:rPr>
                                        <m:nor/>
                                      </m:rPr>
                                      <a:rPr lang="en-US" sz="1600" b="0" i="0" smtClean="0">
                                        <a:latin typeface="Times New Roman" pitchFamily="18" charset="0"/>
                                        <a:cs typeface="Times New Roman" pitchFamily="18" charset="0"/>
                                      </a:rPr>
                                      <m:t> </m:t>
                                    </m:r>
                                    <m:r>
                                      <m:rPr>
                                        <m:nor/>
                                      </m:rPr>
                                      <a:rPr lang="en-US" sz="1600" b="0" i="0" smtClean="0">
                                        <a:latin typeface="Times New Roman" pitchFamily="18" charset="0"/>
                                        <a:cs typeface="Times New Roman" pitchFamily="18" charset="0"/>
                                      </a:rPr>
                                      <m:t>liabilities</m:t>
                                    </m:r>
                                  </m:den>
                                </m:f>
                              </m:oMath>
                            </m:oMathPara>
                          </a14:m>
                          <a:endParaRPr lang="en-US" sz="1600" dirty="0">
                            <a:latin typeface="Times New Roman" pitchFamily="18" charset="0"/>
                            <a:cs typeface="Times New Roman" pitchFamily="18" charset="0"/>
                          </a:endParaRPr>
                        </a:p>
                      </a:txBody>
                      <a:tcPr>
                        <a:solidFill>
                          <a:schemeClr val="bg1"/>
                        </a:solidFill>
                      </a:tcPr>
                    </a:tc>
                    <a:tc>
                      <a:txBody>
                        <a:bodyPr/>
                        <a:lstStyle/>
                        <a:p>
                          <a:endParaRPr lang="en-US" dirty="0">
                            <a:latin typeface="Times New Roman" pitchFamily="18" charset="0"/>
                            <a:cs typeface="Times New Roman" pitchFamily="18" charset="0"/>
                          </a:endParaRPr>
                        </a:p>
                      </a:txBody>
                      <a:tcPr>
                        <a:solidFill>
                          <a:schemeClr val="bg1"/>
                        </a:solidFill>
                      </a:tcPr>
                    </a:tc>
                    <a:tc>
                      <a:txBody>
                        <a:bodyPr/>
                        <a:lstStyle/>
                        <a:p>
                          <a:r>
                            <a:rPr lang="en-US" sz="1600" dirty="0">
                              <a:latin typeface="Times New Roman" pitchFamily="18" charset="0"/>
                              <a:cs typeface="Times New Roman" pitchFamily="18" charset="0"/>
                            </a:rPr>
                            <a:t>Ability to satisfy current liabilities</a:t>
                          </a:r>
                          <a:r>
                            <a:rPr lang="en-US" sz="1600" baseline="0" dirty="0">
                              <a:latin typeface="Times New Roman" pitchFamily="18" charset="0"/>
                              <a:cs typeface="Times New Roman" pitchFamily="18" charset="0"/>
                            </a:rPr>
                            <a:t> using the most liquid current assets. (Current Assets include cash, short term investments and receivables)</a:t>
                          </a:r>
                        </a:p>
                        <a:p>
                          <a:r>
                            <a:rPr lang="en-US" sz="1600" baseline="0" dirty="0">
                              <a:latin typeface="Times New Roman" pitchFamily="18" charset="0"/>
                              <a:cs typeface="Times New Roman" pitchFamily="18" charset="0"/>
                            </a:rPr>
                            <a:t>More conservative than current ratio</a:t>
                          </a:r>
                          <a:endParaRPr lang="en-US" sz="1600" dirty="0">
                            <a:latin typeface="Times New Roman" pitchFamily="18" charset="0"/>
                            <a:cs typeface="Times New Roman" pitchFamily="18" charset="0"/>
                          </a:endParaRPr>
                        </a:p>
                      </a:txBody>
                      <a:tcPr>
                        <a:solidFill>
                          <a:schemeClr val="bg1"/>
                        </a:solidFill>
                      </a:tcPr>
                    </a:tc>
                    <a:extLst>
                      <a:ext uri="{0D108BD9-81ED-4DB2-BD59-A6C34878D82A}">
                        <a16:rowId xmlns:a16="http://schemas.microsoft.com/office/drawing/2014/main" val="10001"/>
                      </a:ext>
                    </a:extLst>
                  </a:tr>
                  <a:tr h="1263856">
                    <a:tc>
                      <a:txBody>
                        <a:bodyPr/>
                        <a:lstStyle/>
                        <a:p>
                          <a:pPr/>
                          <a14:m>
                            <m:oMathPara xmlns:m="http://schemas.openxmlformats.org/officeDocument/2006/math">
                              <m:oMathParaPr>
                                <m:jc m:val="left"/>
                              </m:oMathParaPr>
                              <m:oMath xmlns:m="http://schemas.openxmlformats.org/officeDocument/2006/math">
                                <m:r>
                                  <m:rPr>
                                    <m:nor/>
                                  </m:rPr>
                                  <a:rPr lang="en-US" sz="1600" b="1" i="0" smtClean="0">
                                    <a:solidFill>
                                      <a:srgbClr val="FF0000"/>
                                    </a:solidFill>
                                    <a:latin typeface="Times New Roman" pitchFamily="18" charset="0"/>
                                    <a:cs typeface="Times New Roman" pitchFamily="18" charset="0"/>
                                  </a:rPr>
                                  <m:t>   3− </m:t>
                                </m:r>
                                <m:r>
                                  <m:rPr>
                                    <m:nor/>
                                  </m:rPr>
                                  <a:rPr lang="en-US" sz="1600" b="1" i="0" smtClean="0">
                                    <a:solidFill>
                                      <a:srgbClr val="FF0000"/>
                                    </a:solidFill>
                                    <a:latin typeface="Times New Roman" pitchFamily="18" charset="0"/>
                                    <a:cs typeface="Times New Roman" pitchFamily="18" charset="0"/>
                                  </a:rPr>
                                  <m:t>Cash</m:t>
                                </m:r>
                                <m:r>
                                  <m:rPr>
                                    <m:nor/>
                                  </m:rPr>
                                  <a:rPr lang="en-US" sz="1600" b="1" i="0" smtClean="0">
                                    <a:solidFill>
                                      <a:srgbClr val="FF0000"/>
                                    </a:solidFill>
                                    <a:latin typeface="Times New Roman" pitchFamily="18" charset="0"/>
                                    <a:cs typeface="Times New Roman" pitchFamily="18" charset="0"/>
                                  </a:rPr>
                                  <m:t> </m:t>
                                </m:r>
                                <m:r>
                                  <m:rPr>
                                    <m:nor/>
                                  </m:rPr>
                                  <a:rPr lang="en-US" sz="1600" b="1" i="0" smtClean="0">
                                    <a:solidFill>
                                      <a:srgbClr val="FF0000"/>
                                    </a:solidFill>
                                    <a:latin typeface="Times New Roman" pitchFamily="18" charset="0"/>
                                    <a:cs typeface="Times New Roman" pitchFamily="18" charset="0"/>
                                  </a:rPr>
                                  <m:t>ratio</m:t>
                                </m:r>
                                <m:r>
                                  <m:rPr>
                                    <m:nor/>
                                  </m:rPr>
                                  <a:rPr lang="en-US" sz="1600" b="0" i="0" smtClean="0">
                                    <a:latin typeface="Times New Roman" pitchFamily="18" charset="0"/>
                                    <a:cs typeface="Times New Roman" pitchFamily="18" charset="0"/>
                                  </a:rPr>
                                  <m:t> = </m:t>
                                </m:r>
                                <m:f>
                                  <m:fPr>
                                    <m:ctrlPr>
                                      <a:rPr lang="en-US" sz="1600" b="0" i="1" smtClean="0">
                                        <a:latin typeface="Cambria Math" panose="02040503050406030204" pitchFamily="18" charset="0"/>
                                      </a:rPr>
                                    </m:ctrlPr>
                                  </m:fPr>
                                  <m:num>
                                    <m:r>
                                      <m:rPr>
                                        <m:nor/>
                                      </m:rPr>
                                      <a:rPr lang="en-US" sz="1600" b="0" i="0" smtClean="0">
                                        <a:latin typeface="Times New Roman" pitchFamily="18" charset="0"/>
                                        <a:cs typeface="Times New Roman" pitchFamily="18" charset="0"/>
                                      </a:rPr>
                                      <m:t>Cash</m:t>
                                    </m:r>
                                    <m:r>
                                      <m:rPr>
                                        <m:nor/>
                                      </m:rPr>
                                      <a:rPr lang="en-US" sz="1600" b="0" i="0" smtClean="0">
                                        <a:latin typeface="Times New Roman" pitchFamily="18" charset="0"/>
                                        <a:cs typeface="Times New Roman" pitchFamily="18" charset="0"/>
                                      </a:rPr>
                                      <m:t> + </m:t>
                                    </m:r>
                                    <m:m>
                                      <m:mPr>
                                        <m:mcs>
                                          <m:mc>
                                            <m:mcPr>
                                              <m:count m:val="1"/>
                                              <m:mcJc m:val="center"/>
                                            </m:mcPr>
                                          </m:mc>
                                        </m:mcs>
                                        <m:ctrlPr>
                                          <a:rPr lang="en-US" sz="1600" b="0" i="1" smtClean="0">
                                            <a:latin typeface="Cambria Math" panose="02040503050406030204" pitchFamily="18" charset="0"/>
                                          </a:rPr>
                                        </m:ctrlPr>
                                      </m:mPr>
                                      <m:mr>
                                        <m:e>
                                          <m:r>
                                            <m:rPr>
                                              <m:nor/>
                                              <m:brk m:alnAt="7"/>
                                            </m:rPr>
                                            <a:rPr lang="en-US" sz="1600" b="0" i="0" smtClean="0">
                                              <a:latin typeface="Times New Roman" pitchFamily="18" charset="0"/>
                                              <a:cs typeface="Times New Roman" pitchFamily="18" charset="0"/>
                                            </a:rPr>
                                            <m:t>S</m:t>
                                          </m:r>
                                          <m:r>
                                            <m:rPr>
                                              <m:nor/>
                                            </m:rPr>
                                            <a:rPr lang="en-US" sz="1600" b="0" i="0" smtClean="0">
                                              <a:latin typeface="Times New Roman" pitchFamily="18" charset="0"/>
                                              <a:cs typeface="Times New Roman" pitchFamily="18" charset="0"/>
                                            </a:rPr>
                                            <m:t>hort</m:t>
                                          </m:r>
                                          <m:r>
                                            <m:rPr>
                                              <m:nor/>
                                            </m:rPr>
                                            <a:rPr lang="en-US" sz="1600" b="0" i="0" smtClean="0">
                                              <a:latin typeface="Times New Roman" pitchFamily="18" charset="0"/>
                                              <a:cs typeface="Times New Roman" pitchFamily="18" charset="0"/>
                                            </a:rPr>
                                            <m:t>−</m:t>
                                          </m:r>
                                          <m:r>
                                            <m:rPr>
                                              <m:nor/>
                                            </m:rPr>
                                            <a:rPr lang="en-US" sz="1600" b="0" i="0" smtClean="0">
                                              <a:latin typeface="Times New Roman" pitchFamily="18" charset="0"/>
                                              <a:cs typeface="Times New Roman" pitchFamily="18" charset="0"/>
                                            </a:rPr>
                                            <m:t>term</m:t>
                                          </m:r>
                                        </m:e>
                                      </m:mr>
                                      <m:mr>
                                        <m:e>
                                          <m:r>
                                            <m:rPr>
                                              <m:nor/>
                                            </m:rPr>
                                            <a:rPr lang="en-US" sz="1600" b="0" i="0" smtClean="0">
                                              <a:latin typeface="Times New Roman" pitchFamily="18" charset="0"/>
                                              <a:cs typeface="Times New Roman" pitchFamily="18" charset="0"/>
                                            </a:rPr>
                                            <m:t>investments</m:t>
                                          </m:r>
                                        </m:e>
                                      </m:mr>
                                    </m:m>
                                  </m:num>
                                  <m:den>
                                    <m:r>
                                      <m:rPr>
                                        <m:nor/>
                                      </m:rPr>
                                      <a:rPr lang="en-US" sz="1600" b="0" i="0" smtClean="0">
                                        <a:latin typeface="Times New Roman" pitchFamily="18" charset="0"/>
                                        <a:cs typeface="Times New Roman" pitchFamily="18" charset="0"/>
                                      </a:rPr>
                                      <m:t>Current</m:t>
                                    </m:r>
                                    <m:r>
                                      <m:rPr>
                                        <m:nor/>
                                      </m:rPr>
                                      <a:rPr lang="en-US" sz="1600" b="0" i="0" smtClean="0">
                                        <a:latin typeface="Times New Roman" pitchFamily="18" charset="0"/>
                                        <a:cs typeface="Times New Roman" pitchFamily="18" charset="0"/>
                                      </a:rPr>
                                      <m:t> </m:t>
                                    </m:r>
                                    <m:r>
                                      <m:rPr>
                                        <m:nor/>
                                      </m:rPr>
                                      <a:rPr lang="en-US" sz="1600" b="0" i="0" smtClean="0">
                                        <a:latin typeface="Times New Roman" pitchFamily="18" charset="0"/>
                                        <a:cs typeface="Times New Roman" pitchFamily="18" charset="0"/>
                                      </a:rPr>
                                      <m:t>liabilities</m:t>
                                    </m:r>
                                  </m:den>
                                </m:f>
                              </m:oMath>
                            </m:oMathPara>
                          </a14:m>
                          <a:endParaRPr lang="en-US" sz="1600" dirty="0">
                            <a:latin typeface="Times New Roman" pitchFamily="18" charset="0"/>
                            <a:cs typeface="Times New Roman" pitchFamily="18" charset="0"/>
                          </a:endParaRPr>
                        </a:p>
                      </a:txBody>
                      <a:tcPr>
                        <a:solidFill>
                          <a:schemeClr val="bg1"/>
                        </a:solidFill>
                      </a:tcPr>
                    </a:tc>
                    <a:tc>
                      <a:txBody>
                        <a:bodyPr/>
                        <a:lstStyle/>
                        <a:p>
                          <a:endParaRPr lang="en-US" dirty="0">
                            <a:latin typeface="Times New Roman" pitchFamily="18" charset="0"/>
                            <a:cs typeface="Times New Roman" pitchFamily="18" charset="0"/>
                          </a:endParaRPr>
                        </a:p>
                      </a:txBody>
                      <a:tcPr>
                        <a:solidFill>
                          <a:schemeClr val="bg1"/>
                        </a:solidFill>
                      </a:tcPr>
                    </a:tc>
                    <a:tc>
                      <a:txBody>
                        <a:bodyPr/>
                        <a:lstStyle/>
                        <a:p>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Ability to satisfy current liabilities</a:t>
                          </a:r>
                          <a:r>
                            <a:rPr lang="en-US" sz="1600" baseline="0" dirty="0">
                              <a:latin typeface="Times New Roman" pitchFamily="18" charset="0"/>
                              <a:cs typeface="Times New Roman" pitchFamily="18" charset="0"/>
                            </a:rPr>
                            <a:t> using only cash and cash equivalents.</a:t>
                          </a:r>
                        </a:p>
                      </a:txBody>
                      <a:tcPr>
                        <a:solidFill>
                          <a:schemeClr val="bg1"/>
                        </a:solidFill>
                      </a:tcPr>
                    </a:tc>
                    <a:extLst>
                      <a:ext uri="{0D108BD9-81ED-4DB2-BD59-A6C34878D82A}">
                        <a16:rowId xmlns:a16="http://schemas.microsoft.com/office/drawing/2014/main" val="10002"/>
                      </a:ext>
                    </a:extLst>
                  </a:tr>
                  <a:tr h="1263856">
                    <a:tc>
                      <a:txBody>
                        <a:bodyPr/>
                        <a:lstStyle/>
                        <a:p>
                          <a:endParaRPr lang="en-US" sz="1400" dirty="0">
                            <a:latin typeface="Times New Roman" pitchFamily="18" charset="0"/>
                            <a:cs typeface="Times New Roman" pitchFamily="18" charset="0"/>
                          </a:endParaRPr>
                        </a:p>
                      </a:txBody>
                      <a:tcPr>
                        <a:solidFill>
                          <a:schemeClr val="bg1"/>
                        </a:solidFill>
                      </a:tcPr>
                    </a:tc>
                    <a:tc>
                      <a:txBody>
                        <a:bodyPr/>
                        <a:lstStyle/>
                        <a:p>
                          <a:endParaRPr lang="en-US" dirty="0">
                            <a:latin typeface="Times New Roman" pitchFamily="18" charset="0"/>
                            <a:cs typeface="Times New Roman" pitchFamily="18" charset="0"/>
                          </a:endParaRPr>
                        </a:p>
                      </a:txBody>
                      <a:tcPr>
                        <a:solidFill>
                          <a:schemeClr val="bg1"/>
                        </a:solidFill>
                      </a:tcPr>
                    </a:tc>
                    <a:tc>
                      <a:txBody>
                        <a:bodyPr/>
                        <a:lstStyle/>
                        <a:p>
                          <a:endParaRPr lang="en-US" sz="1600" dirty="0">
                            <a:latin typeface="Times New Roman" pitchFamily="18" charset="0"/>
                            <a:cs typeface="Times New Roman" pitchFamily="18" charset="0"/>
                          </a:endParaRPr>
                        </a:p>
                      </a:txBody>
                      <a:tcPr>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878222342"/>
                  </p:ext>
                </p:extLst>
              </p:nvPr>
            </p:nvGraphicFramePr>
            <p:xfrm>
              <a:off x="179512" y="2132856"/>
              <a:ext cx="8964488" cy="5645745"/>
            </p:xfrm>
            <a:graphic>
              <a:graphicData uri="http://schemas.openxmlformats.org/drawingml/2006/table">
                <a:tbl>
                  <a:tblPr bandRow="1">
                    <a:tableStyleId>{5C22544A-7EE6-4342-B048-85BDC9FD1C3A}</a:tableStyleId>
                  </a:tblPr>
                  <a:tblGrid>
                    <a:gridCol w="5325438">
                      <a:extLst>
                        <a:ext uri="{9D8B030D-6E8A-4147-A177-3AD203B41FA5}">
                          <a16:colId xmlns:a16="http://schemas.microsoft.com/office/drawing/2014/main" val="20000"/>
                        </a:ext>
                      </a:extLst>
                    </a:gridCol>
                    <a:gridCol w="266272">
                      <a:extLst>
                        <a:ext uri="{9D8B030D-6E8A-4147-A177-3AD203B41FA5}">
                          <a16:colId xmlns:a16="http://schemas.microsoft.com/office/drawing/2014/main" val="20001"/>
                        </a:ext>
                      </a:extLst>
                    </a:gridCol>
                    <a:gridCol w="3372778">
                      <a:extLst>
                        <a:ext uri="{9D8B030D-6E8A-4147-A177-3AD203B41FA5}">
                          <a16:colId xmlns:a16="http://schemas.microsoft.com/office/drawing/2014/main" val="20002"/>
                        </a:ext>
                      </a:extLst>
                    </a:gridCol>
                  </a:tblGrid>
                  <a:tr h="1691699">
                    <a:tc>
                      <a:txBody>
                        <a:bodyPr/>
                        <a:lstStyle/>
                        <a:p>
                          <a:endParaRPr lang="en-US"/>
                        </a:p>
                      </a:txBody>
                      <a:tcPr>
                        <a:blipFill>
                          <a:blip r:embed="rId3"/>
                          <a:stretch>
                            <a:fillRect l="-114" t="-719" r="-68650" b="-234532"/>
                          </a:stretch>
                        </a:blipFill>
                      </a:tcPr>
                    </a:tc>
                    <a:tc>
                      <a:txBody>
                        <a:bodyPr/>
                        <a:lstStyle/>
                        <a:p>
                          <a:endParaRPr lang="en-US" dirty="0">
                            <a:latin typeface="Times New Roman" pitchFamily="18" charset="0"/>
                            <a:cs typeface="Times New Roman" pitchFamily="18" charset="0"/>
                          </a:endParaRPr>
                        </a:p>
                      </a:txBody>
                      <a:tcPr>
                        <a:solidFill>
                          <a:schemeClr val="bg1"/>
                        </a:solidFill>
                      </a:tcPr>
                    </a:tc>
                    <a:tc>
                      <a:txBody>
                        <a:bodyPr/>
                        <a:lstStyle/>
                        <a:p>
                          <a:r>
                            <a:rPr lang="en-US" sz="1600" dirty="0">
                              <a:latin typeface="Times New Roman" pitchFamily="18" charset="0"/>
                              <a:cs typeface="Times New Roman" pitchFamily="18" charset="0"/>
                            </a:rPr>
                            <a:t>Ability to satisfy current liabilities using current assets.</a:t>
                          </a:r>
                        </a:p>
                        <a:p>
                          <a:r>
                            <a:rPr lang="en-US" sz="1600" dirty="0">
                              <a:latin typeface="Times New Roman" pitchFamily="18" charset="0"/>
                              <a:cs typeface="Times New Roman" pitchFamily="18" charset="0"/>
                            </a:rPr>
                            <a:t>Working Capital is a measure of financial health</a:t>
                          </a:r>
                          <a:r>
                            <a:rPr lang="en-US" sz="1600" baseline="0" dirty="0">
                              <a:latin typeface="Times New Roman" pitchFamily="18" charset="0"/>
                              <a:cs typeface="Times New Roman" pitchFamily="18" charset="0"/>
                            </a:rPr>
                            <a:t> of the firm in meeting its short term commitments</a:t>
                          </a:r>
                        </a:p>
                        <a:p>
                          <a:endParaRPr lang="en-US" sz="1600" dirty="0">
                            <a:latin typeface="Times New Roman" pitchFamily="18" charset="0"/>
                            <a:cs typeface="Times New Roman" pitchFamily="18" charset="0"/>
                          </a:endParaRPr>
                        </a:p>
                      </a:txBody>
                      <a:tcPr>
                        <a:solidFill>
                          <a:schemeClr val="bg1"/>
                        </a:solidFill>
                      </a:tcPr>
                    </a:tc>
                    <a:extLst>
                      <a:ext uri="{0D108BD9-81ED-4DB2-BD59-A6C34878D82A}">
                        <a16:rowId xmlns:a16="http://schemas.microsoft.com/office/drawing/2014/main" val="10000"/>
                      </a:ext>
                    </a:extLst>
                  </a:tr>
                  <a:tr h="1426334">
                    <a:tc>
                      <a:txBody>
                        <a:bodyPr/>
                        <a:lstStyle/>
                        <a:p>
                          <a:endParaRPr lang="en-US"/>
                        </a:p>
                      </a:txBody>
                      <a:tcPr>
                        <a:blipFill>
                          <a:blip r:embed="rId3"/>
                          <a:stretch>
                            <a:fillRect l="-114" t="-119149" r="-68650" b="-177447"/>
                          </a:stretch>
                        </a:blipFill>
                      </a:tcPr>
                    </a:tc>
                    <a:tc>
                      <a:txBody>
                        <a:bodyPr/>
                        <a:lstStyle/>
                        <a:p>
                          <a:endParaRPr lang="en-US" dirty="0">
                            <a:latin typeface="Times New Roman" pitchFamily="18" charset="0"/>
                            <a:cs typeface="Times New Roman" pitchFamily="18" charset="0"/>
                          </a:endParaRPr>
                        </a:p>
                      </a:txBody>
                      <a:tcPr>
                        <a:solidFill>
                          <a:schemeClr val="bg1"/>
                        </a:solidFill>
                      </a:tcPr>
                    </a:tc>
                    <a:tc>
                      <a:txBody>
                        <a:bodyPr/>
                        <a:lstStyle/>
                        <a:p>
                          <a:r>
                            <a:rPr lang="en-US" sz="1600" dirty="0">
                              <a:latin typeface="Times New Roman" pitchFamily="18" charset="0"/>
                              <a:cs typeface="Times New Roman" pitchFamily="18" charset="0"/>
                            </a:rPr>
                            <a:t>Ability to satisfy current liabilities</a:t>
                          </a:r>
                          <a:r>
                            <a:rPr lang="en-US" sz="1600" baseline="0" dirty="0">
                              <a:latin typeface="Times New Roman" pitchFamily="18" charset="0"/>
                              <a:cs typeface="Times New Roman" pitchFamily="18" charset="0"/>
                            </a:rPr>
                            <a:t> using the most liquid current assets. (Current Assets include cash, short term investments and receivables)</a:t>
                          </a:r>
                        </a:p>
                        <a:p>
                          <a:r>
                            <a:rPr lang="en-US" sz="1600" baseline="0" dirty="0">
                              <a:latin typeface="Times New Roman" pitchFamily="18" charset="0"/>
                              <a:cs typeface="Times New Roman" pitchFamily="18" charset="0"/>
                            </a:rPr>
                            <a:t>More conservative than current ratio</a:t>
                          </a:r>
                          <a:endParaRPr lang="en-US" sz="1600" dirty="0">
                            <a:latin typeface="Times New Roman" pitchFamily="18" charset="0"/>
                            <a:cs typeface="Times New Roman" pitchFamily="18" charset="0"/>
                          </a:endParaRPr>
                        </a:p>
                      </a:txBody>
                      <a:tcPr>
                        <a:solidFill>
                          <a:schemeClr val="bg1"/>
                        </a:solidFill>
                      </a:tcPr>
                    </a:tc>
                    <a:extLst>
                      <a:ext uri="{0D108BD9-81ED-4DB2-BD59-A6C34878D82A}">
                        <a16:rowId xmlns:a16="http://schemas.microsoft.com/office/drawing/2014/main" val="10001"/>
                      </a:ext>
                    </a:extLst>
                  </a:tr>
                  <a:tr h="1263856">
                    <a:tc>
                      <a:txBody>
                        <a:bodyPr/>
                        <a:lstStyle/>
                        <a:p>
                          <a:endParaRPr lang="en-US"/>
                        </a:p>
                      </a:txBody>
                      <a:tcPr>
                        <a:blipFill>
                          <a:blip r:embed="rId3"/>
                          <a:stretch>
                            <a:fillRect l="-114" t="-248792" r="-68650" b="-101449"/>
                          </a:stretch>
                        </a:blipFill>
                      </a:tcPr>
                    </a:tc>
                    <a:tc>
                      <a:txBody>
                        <a:bodyPr/>
                        <a:lstStyle/>
                        <a:p>
                          <a:endParaRPr lang="en-US" dirty="0">
                            <a:latin typeface="Times New Roman" pitchFamily="18" charset="0"/>
                            <a:cs typeface="Times New Roman" pitchFamily="18" charset="0"/>
                          </a:endParaRPr>
                        </a:p>
                      </a:txBody>
                      <a:tcPr>
                        <a:solidFill>
                          <a:schemeClr val="bg1"/>
                        </a:solidFill>
                      </a:tcPr>
                    </a:tc>
                    <a:tc>
                      <a:txBody>
                        <a:bodyPr/>
                        <a:lstStyle/>
                        <a:p>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Ability to satisfy current liabilities</a:t>
                          </a:r>
                          <a:r>
                            <a:rPr lang="en-US" sz="1600" baseline="0" dirty="0">
                              <a:latin typeface="Times New Roman" pitchFamily="18" charset="0"/>
                              <a:cs typeface="Times New Roman" pitchFamily="18" charset="0"/>
                            </a:rPr>
                            <a:t> using only cash and cash equivalents.</a:t>
                          </a:r>
                        </a:p>
                      </a:txBody>
                      <a:tcPr>
                        <a:solidFill>
                          <a:schemeClr val="bg1"/>
                        </a:solidFill>
                      </a:tcPr>
                    </a:tc>
                    <a:extLst>
                      <a:ext uri="{0D108BD9-81ED-4DB2-BD59-A6C34878D82A}">
                        <a16:rowId xmlns:a16="http://schemas.microsoft.com/office/drawing/2014/main" val="10002"/>
                      </a:ext>
                    </a:extLst>
                  </a:tr>
                  <a:tr h="1263856">
                    <a:tc>
                      <a:txBody>
                        <a:bodyPr/>
                        <a:lstStyle/>
                        <a:p>
                          <a:endParaRPr lang="en-US" sz="1400" dirty="0">
                            <a:latin typeface="Times New Roman" pitchFamily="18" charset="0"/>
                            <a:cs typeface="Times New Roman" pitchFamily="18" charset="0"/>
                          </a:endParaRPr>
                        </a:p>
                      </a:txBody>
                      <a:tcPr>
                        <a:solidFill>
                          <a:schemeClr val="bg1"/>
                        </a:solidFill>
                      </a:tcPr>
                    </a:tc>
                    <a:tc>
                      <a:txBody>
                        <a:bodyPr/>
                        <a:lstStyle/>
                        <a:p>
                          <a:endParaRPr lang="en-US" dirty="0">
                            <a:latin typeface="Times New Roman" pitchFamily="18" charset="0"/>
                            <a:cs typeface="Times New Roman" pitchFamily="18" charset="0"/>
                          </a:endParaRPr>
                        </a:p>
                      </a:txBody>
                      <a:tcPr>
                        <a:solidFill>
                          <a:schemeClr val="bg1"/>
                        </a:solidFill>
                      </a:tcPr>
                    </a:tc>
                    <a:tc>
                      <a:txBody>
                        <a:bodyPr/>
                        <a:lstStyle/>
                        <a:p>
                          <a:endParaRPr lang="en-US" sz="1600" dirty="0">
                            <a:latin typeface="Times New Roman" pitchFamily="18" charset="0"/>
                            <a:cs typeface="Times New Roman" pitchFamily="18" charset="0"/>
                          </a:endParaRPr>
                        </a:p>
                      </a:txBody>
                      <a:tcPr>
                        <a:solidFill>
                          <a:schemeClr val="bg1"/>
                        </a:solid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1511704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40"/>
          <p:cNvSpPr>
            <a:spLocks noGrp="1" noChangeArrowheads="1"/>
          </p:cNvSpPr>
          <p:nvPr>
            <p:ph type="title"/>
          </p:nvPr>
        </p:nvSpPr>
        <p:spPr>
          <a:xfrm>
            <a:off x="585216" y="210312"/>
            <a:ext cx="7650843" cy="462708"/>
          </a:xfrm>
        </p:spPr>
        <p:txBody>
          <a:bodyPr/>
          <a:lstStyle/>
          <a:p>
            <a:r>
              <a:rPr lang="en-US" sz="2400" dirty="0"/>
              <a:t>Current Ratio</a:t>
            </a:r>
          </a:p>
        </p:txBody>
      </p:sp>
      <p:grpSp>
        <p:nvGrpSpPr>
          <p:cNvPr id="29699" name="Group 1027"/>
          <p:cNvGrpSpPr>
            <a:grpSpLocks/>
          </p:cNvGrpSpPr>
          <p:nvPr/>
        </p:nvGrpSpPr>
        <p:grpSpPr bwMode="auto">
          <a:xfrm>
            <a:off x="1530256" y="1783156"/>
            <a:ext cx="4105276" cy="754063"/>
            <a:chOff x="973" y="1105"/>
            <a:chExt cx="2586" cy="475"/>
          </a:xfrm>
        </p:grpSpPr>
        <p:sp>
          <p:nvSpPr>
            <p:cNvPr id="29708" name="Rectangle 1028"/>
            <p:cNvSpPr>
              <a:spLocks noChangeArrowheads="1"/>
            </p:cNvSpPr>
            <p:nvPr/>
          </p:nvSpPr>
          <p:spPr bwMode="auto">
            <a:xfrm>
              <a:off x="973" y="1174"/>
              <a:ext cx="571"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Current</a:t>
              </a:r>
            </a:p>
            <a:p>
              <a:pPr algn="ctr"/>
              <a:r>
                <a:rPr lang="en-US" b="1" dirty="0">
                  <a:latin typeface="+mn-lt"/>
                </a:rPr>
                <a:t>Ratio</a:t>
              </a:r>
            </a:p>
          </p:txBody>
        </p:sp>
        <p:sp>
          <p:nvSpPr>
            <p:cNvPr id="29709" name="Rectangle 1029"/>
            <p:cNvSpPr>
              <a:spLocks noChangeArrowheads="1"/>
            </p:cNvSpPr>
            <p:nvPr/>
          </p:nvSpPr>
          <p:spPr bwMode="auto">
            <a:xfrm>
              <a:off x="2173" y="1105"/>
              <a:ext cx="1386"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Current Assets      </a:t>
              </a:r>
            </a:p>
            <a:p>
              <a:pPr>
                <a:lnSpc>
                  <a:spcPct val="120000"/>
                </a:lnSpc>
              </a:pPr>
              <a:r>
                <a:rPr lang="en-US" b="1" dirty="0">
                  <a:latin typeface="+mn-lt"/>
                </a:rPr>
                <a:t>   Current Liabilities</a:t>
              </a:r>
            </a:p>
          </p:txBody>
        </p:sp>
        <p:sp>
          <p:nvSpPr>
            <p:cNvPr id="29710" name="Rectangle 1030"/>
            <p:cNvSpPr>
              <a:spLocks noChangeArrowheads="1"/>
            </p:cNvSpPr>
            <p:nvPr/>
          </p:nvSpPr>
          <p:spPr bwMode="auto">
            <a:xfrm>
              <a:off x="1789" y="1246"/>
              <a:ext cx="188" cy="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a:t>
              </a:r>
            </a:p>
          </p:txBody>
        </p:sp>
        <p:sp>
          <p:nvSpPr>
            <p:cNvPr id="29711" name="Line 1031"/>
            <p:cNvSpPr>
              <a:spLocks noChangeShapeType="1"/>
            </p:cNvSpPr>
            <p:nvPr/>
          </p:nvSpPr>
          <p:spPr bwMode="auto">
            <a:xfrm>
              <a:off x="2221" y="1379"/>
              <a:ext cx="1295"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 name="Group 1032"/>
          <p:cNvGrpSpPr>
            <a:grpSpLocks/>
          </p:cNvGrpSpPr>
          <p:nvPr/>
        </p:nvGrpSpPr>
        <p:grpSpPr bwMode="auto">
          <a:xfrm>
            <a:off x="1334997" y="2873052"/>
            <a:ext cx="5757866" cy="754063"/>
            <a:chOff x="995" y="1831"/>
            <a:chExt cx="3627" cy="475"/>
          </a:xfrm>
        </p:grpSpPr>
        <p:sp>
          <p:nvSpPr>
            <p:cNvPr id="29702" name="Rectangle 1033"/>
            <p:cNvSpPr>
              <a:spLocks noChangeArrowheads="1"/>
            </p:cNvSpPr>
            <p:nvPr/>
          </p:nvSpPr>
          <p:spPr bwMode="auto">
            <a:xfrm>
              <a:off x="995" y="1873"/>
              <a:ext cx="814"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sp>
          <p:nvSpPr>
            <p:cNvPr id="29703" name="Rectangle 1034"/>
            <p:cNvSpPr>
              <a:spLocks noChangeArrowheads="1"/>
            </p:cNvSpPr>
            <p:nvPr/>
          </p:nvSpPr>
          <p:spPr bwMode="auto">
            <a:xfrm>
              <a:off x="2551" y="1831"/>
              <a:ext cx="880"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kern="0" dirty="0">
                  <a:latin typeface="+mn-lt"/>
                  <a:cs typeface="Arial"/>
                </a:rPr>
                <a:t> $18,933 </a:t>
              </a:r>
            </a:p>
            <a:p>
              <a:pPr algn="ctr">
                <a:lnSpc>
                  <a:spcPct val="120000"/>
                </a:lnSpc>
              </a:pPr>
              <a:r>
                <a:rPr lang="en-US" b="1" kern="0" dirty="0">
                  <a:latin typeface="+mn-lt"/>
                </a:rPr>
                <a:t>$16,194</a:t>
              </a:r>
            </a:p>
          </p:txBody>
        </p:sp>
        <p:sp>
          <p:nvSpPr>
            <p:cNvPr id="29704" name="Rectangle 1035"/>
            <p:cNvSpPr>
              <a:spLocks noChangeArrowheads="1"/>
            </p:cNvSpPr>
            <p:nvPr/>
          </p:nvSpPr>
          <p:spPr bwMode="auto">
            <a:xfrm>
              <a:off x="1952" y="1951"/>
              <a:ext cx="188" cy="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a:t>
              </a:r>
            </a:p>
          </p:txBody>
        </p:sp>
        <p:sp>
          <p:nvSpPr>
            <p:cNvPr id="29705" name="Rectangle 1036"/>
            <p:cNvSpPr>
              <a:spLocks noChangeArrowheads="1"/>
            </p:cNvSpPr>
            <p:nvPr/>
          </p:nvSpPr>
          <p:spPr bwMode="auto">
            <a:xfrm>
              <a:off x="3911" y="1943"/>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9706" name="Rectangle 1037"/>
            <p:cNvSpPr>
              <a:spLocks noChangeArrowheads="1"/>
            </p:cNvSpPr>
            <p:nvPr/>
          </p:nvSpPr>
          <p:spPr bwMode="auto">
            <a:xfrm>
              <a:off x="4247" y="1943"/>
              <a:ext cx="375"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1.17</a:t>
              </a:r>
            </a:p>
          </p:txBody>
        </p:sp>
        <p:sp>
          <p:nvSpPr>
            <p:cNvPr id="29707" name="Line 1038"/>
            <p:cNvSpPr>
              <a:spLocks noChangeShapeType="1"/>
            </p:cNvSpPr>
            <p:nvPr/>
          </p:nvSpPr>
          <p:spPr bwMode="auto">
            <a:xfrm>
              <a:off x="2375" y="2088"/>
              <a:ext cx="1289"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252943" name="Rectangle 1039"/>
          <p:cNvSpPr>
            <a:spLocks noChangeArrowheads="1"/>
          </p:cNvSpPr>
          <p:nvPr/>
        </p:nvSpPr>
        <p:spPr bwMode="auto">
          <a:xfrm>
            <a:off x="1300408" y="740155"/>
            <a:ext cx="5792449" cy="643766"/>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rgbClr val="000000"/>
            </a:outerShdw>
          </a:effectLst>
        </p:spPr>
        <p:txBody>
          <a:bodyPr wrap="square" lIns="90488" tIns="44450" rIns="90488" bIns="44450">
            <a:spAutoFit/>
          </a:bodyPr>
          <a:lstStyle/>
          <a:p>
            <a:pPr algn="ctr" eaLnBrk="0" hangingPunct="0">
              <a:defRPr/>
            </a:pPr>
            <a:r>
              <a:rPr lang="en-US" dirty="0">
                <a:solidFill>
                  <a:srgbClr val="000000"/>
                </a:solidFill>
                <a:cs typeface="Arial" charset="0"/>
              </a:rPr>
              <a:t>This ratio measures the ability of the company to pay current debts as they become due.</a:t>
            </a: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4" name="Rectangle 3"/>
          <p:cNvSpPr/>
          <p:nvPr/>
        </p:nvSpPr>
        <p:spPr>
          <a:xfrm>
            <a:off x="747132" y="4355055"/>
            <a:ext cx="7014117" cy="1477328"/>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solidFill>
                  <a:srgbClr val="211D1E"/>
                </a:solidFill>
              </a:rPr>
              <a:t>A ratio greater than 1 implies that a company’s current assets are sufficient to cover its current liabilities. If a company’s current ratio is less than 1, analysts will want to understand how the company intends to meet its short-term obligations. At the end of fiscal 2017, The Home Depot had $1.17 in current assets for each $1.00 in current liabilities.</a:t>
            </a:r>
            <a:endParaRPr lang="en-US" dirty="0"/>
          </a:p>
        </p:txBody>
      </p:sp>
    </p:spTree>
    <p:extLst>
      <p:ext uri="{BB962C8B-B14F-4D97-AF65-F5344CB8AC3E}">
        <p14:creationId xmlns:p14="http://schemas.microsoft.com/office/powerpoint/2010/main" val="32003117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18"/>
          <p:cNvSpPr>
            <a:spLocks noGrp="1" noChangeArrowheads="1"/>
          </p:cNvSpPr>
          <p:nvPr>
            <p:ph type="title"/>
          </p:nvPr>
        </p:nvSpPr>
        <p:spPr>
          <a:xfrm>
            <a:off x="585216" y="210312"/>
            <a:ext cx="7650843" cy="503672"/>
          </a:xfrm>
        </p:spPr>
        <p:txBody>
          <a:bodyPr/>
          <a:lstStyle/>
          <a:p>
            <a:r>
              <a:rPr lang="en-US" sz="2400" dirty="0"/>
              <a:t>Quick Ratio </a:t>
            </a:r>
          </a:p>
        </p:txBody>
      </p:sp>
      <p:grpSp>
        <p:nvGrpSpPr>
          <p:cNvPr id="5124" name="Group 3"/>
          <p:cNvGrpSpPr>
            <a:grpSpLocks/>
          </p:cNvGrpSpPr>
          <p:nvPr/>
        </p:nvGrpSpPr>
        <p:grpSpPr bwMode="auto">
          <a:xfrm>
            <a:off x="1354931" y="1944758"/>
            <a:ext cx="4451350" cy="754063"/>
            <a:chOff x="976" y="1122"/>
            <a:chExt cx="2804" cy="475"/>
          </a:xfrm>
        </p:grpSpPr>
        <p:sp>
          <p:nvSpPr>
            <p:cNvPr id="5134" name="Rectangle 4"/>
            <p:cNvSpPr>
              <a:spLocks noChangeArrowheads="1"/>
            </p:cNvSpPr>
            <p:nvPr/>
          </p:nvSpPr>
          <p:spPr bwMode="auto">
            <a:xfrm>
              <a:off x="2453" y="1122"/>
              <a:ext cx="1208"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Quick Assets     </a:t>
              </a:r>
            </a:p>
            <a:p>
              <a:pPr>
                <a:lnSpc>
                  <a:spcPct val="120000"/>
                </a:lnSpc>
              </a:pPr>
              <a:r>
                <a:rPr lang="en-US" b="1" dirty="0">
                  <a:latin typeface="+mn-lt"/>
                </a:rPr>
                <a:t> Current Liabilities</a:t>
              </a:r>
            </a:p>
          </p:txBody>
        </p:sp>
        <p:sp>
          <p:nvSpPr>
            <p:cNvPr id="5135" name="Rectangle 5"/>
            <p:cNvSpPr>
              <a:spLocks noChangeArrowheads="1"/>
            </p:cNvSpPr>
            <p:nvPr/>
          </p:nvSpPr>
          <p:spPr bwMode="auto">
            <a:xfrm>
              <a:off x="1930" y="1230"/>
              <a:ext cx="188" cy="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a:t>
              </a:r>
            </a:p>
          </p:txBody>
        </p:sp>
        <p:sp>
          <p:nvSpPr>
            <p:cNvPr id="5136" name="Rectangle 6"/>
            <p:cNvSpPr>
              <a:spLocks noChangeArrowheads="1"/>
            </p:cNvSpPr>
            <p:nvPr/>
          </p:nvSpPr>
          <p:spPr bwMode="auto">
            <a:xfrm>
              <a:off x="976" y="1174"/>
              <a:ext cx="997"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Quick</a:t>
              </a:r>
            </a:p>
            <a:p>
              <a:pPr algn="ctr"/>
              <a:r>
                <a:rPr lang="en-US" b="1" dirty="0">
                  <a:latin typeface="+mn-lt"/>
                </a:rPr>
                <a:t>Ratio</a:t>
              </a:r>
            </a:p>
          </p:txBody>
        </p:sp>
        <p:sp>
          <p:nvSpPr>
            <p:cNvPr id="5137" name="Line 7"/>
            <p:cNvSpPr>
              <a:spLocks noChangeShapeType="1"/>
            </p:cNvSpPr>
            <p:nvPr/>
          </p:nvSpPr>
          <p:spPr bwMode="auto">
            <a:xfrm>
              <a:off x="2311" y="1374"/>
              <a:ext cx="1469"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 name="Group 8"/>
          <p:cNvGrpSpPr>
            <a:grpSpLocks/>
          </p:cNvGrpSpPr>
          <p:nvPr/>
        </p:nvGrpSpPr>
        <p:grpSpPr bwMode="auto">
          <a:xfrm>
            <a:off x="1354931" y="2863369"/>
            <a:ext cx="5932488" cy="754063"/>
            <a:chOff x="958" y="1873"/>
            <a:chExt cx="3737" cy="475"/>
          </a:xfrm>
        </p:grpSpPr>
        <p:sp>
          <p:nvSpPr>
            <p:cNvPr id="5127" name="Rectangle 9"/>
            <p:cNvSpPr>
              <a:spLocks noChangeArrowheads="1"/>
            </p:cNvSpPr>
            <p:nvPr/>
          </p:nvSpPr>
          <p:spPr bwMode="auto">
            <a:xfrm>
              <a:off x="2337" y="1873"/>
              <a:ext cx="1644"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 ($3,595 + $1,952 + $0)     </a:t>
              </a:r>
            </a:p>
            <a:p>
              <a:pPr algn="ctr">
                <a:lnSpc>
                  <a:spcPct val="120000"/>
                </a:lnSpc>
              </a:pPr>
              <a:r>
                <a:rPr lang="en-US" b="1" dirty="0">
                  <a:latin typeface="+mn-lt"/>
                </a:rPr>
                <a:t>$16,194</a:t>
              </a:r>
            </a:p>
          </p:txBody>
        </p:sp>
        <p:grpSp>
          <p:nvGrpSpPr>
            <p:cNvPr id="5128" name="Group 10"/>
            <p:cNvGrpSpPr>
              <a:grpSpLocks/>
            </p:cNvGrpSpPr>
            <p:nvPr/>
          </p:nvGrpSpPr>
          <p:grpSpPr bwMode="auto">
            <a:xfrm>
              <a:off x="3982" y="1945"/>
              <a:ext cx="713" cy="266"/>
              <a:chOff x="3982" y="1945"/>
              <a:chExt cx="713" cy="266"/>
            </a:xfrm>
          </p:grpSpPr>
          <p:sp>
            <p:nvSpPr>
              <p:cNvPr id="5132" name="Rectangle 11"/>
              <p:cNvSpPr>
                <a:spLocks noChangeArrowheads="1"/>
              </p:cNvSpPr>
              <p:nvPr/>
            </p:nvSpPr>
            <p:spPr bwMode="auto">
              <a:xfrm>
                <a:off x="3982" y="1945"/>
                <a:ext cx="188" cy="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a:t>
                </a:r>
              </a:p>
            </p:txBody>
          </p:sp>
          <p:sp>
            <p:nvSpPr>
              <p:cNvPr id="5133" name="Rectangle 12"/>
              <p:cNvSpPr>
                <a:spLocks noChangeArrowheads="1"/>
              </p:cNvSpPr>
              <p:nvPr/>
            </p:nvSpPr>
            <p:spPr bwMode="auto">
              <a:xfrm>
                <a:off x="4320" y="1946"/>
                <a:ext cx="375"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0.34</a:t>
                </a:r>
              </a:p>
            </p:txBody>
          </p:sp>
        </p:grpSp>
        <p:sp>
          <p:nvSpPr>
            <p:cNvPr id="5129" name="Rectangle 13"/>
            <p:cNvSpPr>
              <a:spLocks noChangeArrowheads="1"/>
            </p:cNvSpPr>
            <p:nvPr/>
          </p:nvSpPr>
          <p:spPr bwMode="auto">
            <a:xfrm>
              <a:off x="1911" y="1978"/>
              <a:ext cx="188" cy="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a:t>
              </a:r>
            </a:p>
          </p:txBody>
        </p:sp>
        <p:sp>
          <p:nvSpPr>
            <p:cNvPr id="5130" name="Rectangle 14"/>
            <p:cNvSpPr>
              <a:spLocks noChangeArrowheads="1"/>
            </p:cNvSpPr>
            <p:nvPr/>
          </p:nvSpPr>
          <p:spPr bwMode="auto">
            <a:xfrm>
              <a:off x="958" y="1890"/>
              <a:ext cx="997"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 </a:t>
              </a:r>
            </a:p>
            <a:p>
              <a:pPr algn="ctr"/>
              <a:r>
                <a:rPr lang="en-US" b="1" dirty="0">
                  <a:latin typeface="+mn-lt"/>
                </a:rPr>
                <a:t>Depot 2017</a:t>
              </a:r>
            </a:p>
          </p:txBody>
        </p:sp>
        <p:sp>
          <p:nvSpPr>
            <p:cNvPr id="5131" name="Line 15"/>
            <p:cNvSpPr>
              <a:spLocks noChangeShapeType="1"/>
            </p:cNvSpPr>
            <p:nvPr/>
          </p:nvSpPr>
          <p:spPr bwMode="auto">
            <a:xfrm flipV="1">
              <a:off x="2416" y="2134"/>
              <a:ext cx="1493"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253968" name="Rectangle 16"/>
          <p:cNvSpPr>
            <a:spLocks noChangeArrowheads="1"/>
          </p:cNvSpPr>
          <p:nvPr/>
        </p:nvSpPr>
        <p:spPr bwMode="auto">
          <a:xfrm>
            <a:off x="1300490" y="954788"/>
            <a:ext cx="5715000" cy="643766"/>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rgbClr val="000000"/>
            </a:outerShdw>
          </a:effectLst>
        </p:spPr>
        <p:txBody>
          <a:bodyPr wrap="square" lIns="90488" tIns="44450" rIns="90488" bIns="44450">
            <a:spAutoFit/>
          </a:bodyPr>
          <a:lstStyle/>
          <a:p>
            <a:pPr algn="ctr" eaLnBrk="0" hangingPunct="0">
              <a:defRPr/>
            </a:pPr>
            <a:r>
              <a:rPr lang="en-US" dirty="0">
                <a:solidFill>
                  <a:srgbClr val="000000"/>
                </a:solidFill>
                <a:cs typeface="Arial" charset="0"/>
              </a:rPr>
              <a:t>This ratio </a:t>
            </a:r>
            <a:r>
              <a:rPr lang="en-US" dirty="0"/>
              <a:t>is a more stringent test of short-term liquidity than the current ratio. </a:t>
            </a:r>
          </a:p>
        </p:txBody>
      </p:sp>
      <p:graphicFrame>
        <p:nvGraphicFramePr>
          <p:cNvPr id="351232" name="Object 2"/>
          <p:cNvGraphicFramePr>
            <a:graphicFrameLocks noChangeAspect="1"/>
          </p:cNvGraphicFramePr>
          <p:nvPr/>
        </p:nvGraphicFramePr>
        <p:xfrm>
          <a:off x="1906588" y="3935413"/>
          <a:ext cx="3979862" cy="1095375"/>
        </p:xfrm>
        <a:graphic>
          <a:graphicData uri="http://schemas.openxmlformats.org/presentationml/2006/ole">
            <mc:AlternateContent xmlns:mc="http://schemas.openxmlformats.org/markup-compatibility/2006">
              <mc:Choice xmlns:v="urn:schemas-microsoft-com:vml" Requires="v">
                <p:oleObj name="Worksheet" r:id="rId3" imgW="2495647" imgH="695272" progId="Excel.Sheet.8">
                  <p:embed/>
                </p:oleObj>
              </mc:Choice>
              <mc:Fallback>
                <p:oleObj name="Worksheet" r:id="rId3" imgW="2495647" imgH="695272" progId="Excel.Sheet.8">
                  <p:embed/>
                  <p:pic>
                    <p:nvPicPr>
                      <p:cNvPr id="351232" name="Object 2"/>
                      <p:cNvPicPr>
                        <a:picLocks noChangeAspect="1" noChangeArrowheads="1"/>
                      </p:cNvPicPr>
                      <p:nvPr/>
                    </p:nvPicPr>
                    <p:blipFill>
                      <a:blip r:embed="rId4"/>
                      <a:srcRect/>
                      <a:stretch>
                        <a:fillRect/>
                      </a:stretch>
                    </p:blipFill>
                    <p:spPr bwMode="auto">
                      <a:xfrm>
                        <a:off x="1906588" y="3935413"/>
                        <a:ext cx="3979862" cy="109537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4" name="Rectangle 3"/>
          <p:cNvSpPr/>
          <p:nvPr/>
        </p:nvSpPr>
        <p:spPr>
          <a:xfrm>
            <a:off x="586188" y="5185236"/>
            <a:ext cx="7182046" cy="1200329"/>
          </a:xfrm>
          <a:prstGeom prst="rect">
            <a:avLst/>
          </a:prstGeom>
          <a:solidFill>
            <a:schemeClr val="accent1">
              <a:lumMod val="20000"/>
              <a:lumOff val="80000"/>
            </a:schemeClr>
          </a:solidFill>
          <a:ln>
            <a:solidFill>
              <a:schemeClr val="tx1"/>
            </a:solidFill>
          </a:ln>
        </p:spPr>
        <p:txBody>
          <a:bodyPr wrap="square">
            <a:spAutoFit/>
          </a:bodyPr>
          <a:lstStyle/>
          <a:p>
            <a:pPr algn="ctr" eaLnBrk="0" hangingPunct="0">
              <a:defRPr/>
            </a:pPr>
            <a:r>
              <a:rPr lang="en-US" dirty="0"/>
              <a:t>Quick assets are defined as cash and near-cash assets (net accounts receivable and marketable securities). Inventory and Prepaid expenses are omitted from quick assets. At the end of fiscal 2017, The Home Depot has 34 cents in cash and near-cash assets for every $1.00 in current liabilities.</a:t>
            </a:r>
            <a:endParaRPr lang="en-US" dirty="0">
              <a:solidFill>
                <a:srgbClr val="000000"/>
              </a:solidFill>
              <a:cs typeface="Arial" charset="0"/>
            </a:endParaRPr>
          </a:p>
        </p:txBody>
      </p:sp>
    </p:spTree>
    <p:extLst>
      <p:ext uri="{BB962C8B-B14F-4D97-AF65-F5344CB8AC3E}">
        <p14:creationId xmlns:p14="http://schemas.microsoft.com/office/powerpoint/2010/main" val="109461545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6" fill="hold" nodeType="afterEffect">
                                  <p:stCondLst>
                                    <p:cond delay="0"/>
                                  </p:stCondLst>
                                  <p:childTnLst>
                                    <p:set>
                                      <p:cBhvr>
                                        <p:cTn id="6" dur="1" fill="hold">
                                          <p:stCondLst>
                                            <p:cond delay="0"/>
                                          </p:stCondLst>
                                        </p:cTn>
                                        <p:tgtEl>
                                          <p:spTgt spid="351232"/>
                                        </p:tgtEl>
                                        <p:attrNameLst>
                                          <p:attrName>style.visibility</p:attrName>
                                        </p:attrNameLst>
                                      </p:cBhvr>
                                      <p:to>
                                        <p:strVal val="visible"/>
                                      </p:to>
                                    </p:set>
                                    <p:animEffect transition="in" filter="barn(inHorizontal)">
                                      <p:cBhvr>
                                        <p:cTn id="7" dur="1000"/>
                                        <p:tgtEl>
                                          <p:spTgt spid="351232"/>
                                        </p:tgtEl>
                                      </p:cBhvr>
                                    </p:animEffect>
                                  </p:childTnLst>
                                </p:cTn>
                              </p:par>
                              <p:par>
                                <p:cTn id="8" presetID="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1000" fill="hold"/>
                                        <p:tgtEl>
                                          <p:spTgt spid="3"/>
                                        </p:tgtEl>
                                        <p:attrNameLst>
                                          <p:attrName>ppt_x</p:attrName>
                                        </p:attrNameLst>
                                      </p:cBhvr>
                                      <p:tavLst>
                                        <p:tav tm="0">
                                          <p:val>
                                            <p:strVal val="0-#ppt_w/2"/>
                                          </p:val>
                                        </p:tav>
                                        <p:tav tm="100000">
                                          <p:val>
                                            <p:strVal val="#ppt_x"/>
                                          </p:val>
                                        </p:tav>
                                      </p:tavLst>
                                    </p:anim>
                                    <p:anim calcmode="lin" valueType="num">
                                      <p:cBhvr additive="base">
                                        <p:cTn id="11"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6"/>
          <p:cNvSpPr>
            <a:spLocks noGrp="1" noChangeArrowheads="1"/>
          </p:cNvSpPr>
          <p:nvPr>
            <p:ph type="title"/>
          </p:nvPr>
        </p:nvSpPr>
        <p:spPr>
          <a:xfrm>
            <a:off x="585216" y="210312"/>
            <a:ext cx="7650843" cy="530981"/>
          </a:xfrm>
        </p:spPr>
        <p:txBody>
          <a:bodyPr/>
          <a:lstStyle/>
          <a:p>
            <a:r>
              <a:rPr lang="en-US" sz="2400" dirty="0"/>
              <a:t>Cash Ratio</a:t>
            </a:r>
          </a:p>
        </p:txBody>
      </p:sp>
      <p:grpSp>
        <p:nvGrpSpPr>
          <p:cNvPr id="28675" name="Group 3"/>
          <p:cNvGrpSpPr>
            <a:grpSpLocks/>
          </p:cNvGrpSpPr>
          <p:nvPr/>
        </p:nvGrpSpPr>
        <p:grpSpPr bwMode="auto">
          <a:xfrm>
            <a:off x="1791039" y="2022093"/>
            <a:ext cx="4687888" cy="723900"/>
            <a:chOff x="1186" y="1091"/>
            <a:chExt cx="2953" cy="456"/>
          </a:xfrm>
        </p:grpSpPr>
        <p:sp>
          <p:nvSpPr>
            <p:cNvPr id="28685" name="Rectangle 4"/>
            <p:cNvSpPr>
              <a:spLocks noChangeArrowheads="1"/>
            </p:cNvSpPr>
            <p:nvPr/>
          </p:nvSpPr>
          <p:spPr bwMode="auto">
            <a:xfrm>
              <a:off x="1186" y="1105"/>
              <a:ext cx="431"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Cash</a:t>
              </a:r>
            </a:p>
            <a:p>
              <a:pPr algn="ctr"/>
              <a:r>
                <a:rPr lang="en-US" b="1" dirty="0">
                  <a:latin typeface="+mn-lt"/>
                </a:rPr>
                <a:t>Ratio</a:t>
              </a:r>
            </a:p>
          </p:txBody>
        </p:sp>
        <p:sp>
          <p:nvSpPr>
            <p:cNvPr id="28686" name="Rectangle 5"/>
            <p:cNvSpPr>
              <a:spLocks noChangeArrowheads="1"/>
            </p:cNvSpPr>
            <p:nvPr/>
          </p:nvSpPr>
          <p:spPr bwMode="auto">
            <a:xfrm>
              <a:off x="2271" y="1091"/>
              <a:ext cx="1868" cy="4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Cash &amp; Cash Equivalents</a:t>
              </a:r>
            </a:p>
            <a:p>
              <a:pPr algn="ctr">
                <a:lnSpc>
                  <a:spcPct val="120000"/>
                </a:lnSpc>
              </a:pPr>
              <a:r>
                <a:rPr lang="en-US" b="1" dirty="0">
                  <a:latin typeface="+mn-lt"/>
                </a:rPr>
                <a:t>Current Liabilities</a:t>
              </a:r>
            </a:p>
          </p:txBody>
        </p:sp>
        <p:sp>
          <p:nvSpPr>
            <p:cNvPr id="28687" name="Rectangle 6"/>
            <p:cNvSpPr>
              <a:spLocks noChangeArrowheads="1"/>
            </p:cNvSpPr>
            <p:nvPr/>
          </p:nvSpPr>
          <p:spPr bwMode="auto">
            <a:xfrm>
              <a:off x="1907" y="1196"/>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8688" name="Line 7"/>
            <p:cNvSpPr>
              <a:spLocks noChangeShapeType="1"/>
            </p:cNvSpPr>
            <p:nvPr/>
          </p:nvSpPr>
          <p:spPr bwMode="auto">
            <a:xfrm>
              <a:off x="2346" y="1336"/>
              <a:ext cx="1683"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 name="Group 8"/>
          <p:cNvGrpSpPr>
            <a:grpSpLocks/>
          </p:cNvGrpSpPr>
          <p:nvPr/>
        </p:nvGrpSpPr>
        <p:grpSpPr bwMode="auto">
          <a:xfrm>
            <a:off x="1496030" y="3149393"/>
            <a:ext cx="5170491" cy="763588"/>
            <a:chOff x="993" y="1921"/>
            <a:chExt cx="3257" cy="481"/>
          </a:xfrm>
        </p:grpSpPr>
        <p:sp>
          <p:nvSpPr>
            <p:cNvPr id="28679" name="Rectangle 9"/>
            <p:cNvSpPr>
              <a:spLocks noChangeArrowheads="1"/>
            </p:cNvSpPr>
            <p:nvPr/>
          </p:nvSpPr>
          <p:spPr bwMode="auto">
            <a:xfrm>
              <a:off x="3637" y="2026"/>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squar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8680" name="Rectangle 10"/>
            <p:cNvSpPr>
              <a:spLocks noChangeArrowheads="1"/>
            </p:cNvSpPr>
            <p:nvPr/>
          </p:nvSpPr>
          <p:spPr bwMode="auto">
            <a:xfrm>
              <a:off x="3875" y="2031"/>
              <a:ext cx="375"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0.22</a:t>
              </a:r>
            </a:p>
          </p:txBody>
        </p:sp>
        <p:sp>
          <p:nvSpPr>
            <p:cNvPr id="28681" name="Rectangle 11"/>
            <p:cNvSpPr>
              <a:spLocks noChangeArrowheads="1"/>
            </p:cNvSpPr>
            <p:nvPr/>
          </p:nvSpPr>
          <p:spPr bwMode="auto">
            <a:xfrm>
              <a:off x="993" y="1921"/>
              <a:ext cx="814"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sp>
          <p:nvSpPr>
            <p:cNvPr id="28682" name="Rectangle 12"/>
            <p:cNvSpPr>
              <a:spLocks noChangeArrowheads="1"/>
            </p:cNvSpPr>
            <p:nvPr/>
          </p:nvSpPr>
          <p:spPr bwMode="auto">
            <a:xfrm>
              <a:off x="2617" y="1927"/>
              <a:ext cx="595"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$3,595</a:t>
              </a:r>
            </a:p>
            <a:p>
              <a:pPr algn="ctr">
                <a:lnSpc>
                  <a:spcPct val="120000"/>
                </a:lnSpc>
              </a:pPr>
              <a:r>
                <a:rPr lang="en-US" b="1" dirty="0">
                  <a:latin typeface="+mn-lt"/>
                </a:rPr>
                <a:t>$16,194</a:t>
              </a:r>
            </a:p>
          </p:txBody>
        </p:sp>
        <p:sp>
          <p:nvSpPr>
            <p:cNvPr id="28683" name="Rectangle 13"/>
            <p:cNvSpPr>
              <a:spLocks noChangeArrowheads="1"/>
            </p:cNvSpPr>
            <p:nvPr/>
          </p:nvSpPr>
          <p:spPr bwMode="auto">
            <a:xfrm>
              <a:off x="1907" y="2049"/>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8684" name="Line 14"/>
            <p:cNvSpPr>
              <a:spLocks noChangeShapeType="1"/>
            </p:cNvSpPr>
            <p:nvPr/>
          </p:nvSpPr>
          <p:spPr bwMode="auto">
            <a:xfrm flipV="1">
              <a:off x="2341" y="2160"/>
              <a:ext cx="1114" cy="14"/>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251919" name="Rectangle 15"/>
          <p:cNvSpPr>
            <a:spLocks noChangeArrowheads="1"/>
          </p:cNvSpPr>
          <p:nvPr/>
        </p:nvSpPr>
        <p:spPr bwMode="auto">
          <a:xfrm>
            <a:off x="1320578" y="909998"/>
            <a:ext cx="5578475" cy="643766"/>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rgbClr val="000000"/>
            </a:outerShdw>
          </a:effectLst>
        </p:spPr>
        <p:txBody>
          <a:bodyPr lIns="90488" tIns="44450" rIns="90488" bIns="44450">
            <a:spAutoFit/>
          </a:bodyPr>
          <a:lstStyle/>
          <a:p>
            <a:pPr algn="ctr" eaLnBrk="0" hangingPunct="0">
              <a:defRPr/>
            </a:pPr>
            <a:r>
              <a:rPr lang="en-US" dirty="0">
                <a:solidFill>
                  <a:srgbClr val="000000"/>
                </a:solidFill>
                <a:cs typeface="Arial" charset="0"/>
              </a:rPr>
              <a:t>This ratio measures the</a:t>
            </a:r>
            <a:br>
              <a:rPr lang="en-US" dirty="0">
                <a:solidFill>
                  <a:srgbClr val="000000"/>
                </a:solidFill>
                <a:cs typeface="Arial" charset="0"/>
              </a:rPr>
            </a:br>
            <a:r>
              <a:rPr lang="en-US" dirty="0">
                <a:solidFill>
                  <a:srgbClr val="000000"/>
                </a:solidFill>
                <a:cs typeface="Arial" charset="0"/>
              </a:rPr>
              <a:t>adequacy of available cash.</a:t>
            </a: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17" name="Rectangle 16"/>
          <p:cNvSpPr/>
          <p:nvPr/>
        </p:nvSpPr>
        <p:spPr>
          <a:xfrm>
            <a:off x="751262" y="4384423"/>
            <a:ext cx="6717105" cy="646331"/>
          </a:xfrm>
          <a:prstGeom prst="rect">
            <a:avLst/>
          </a:prstGeom>
          <a:solidFill>
            <a:schemeClr val="accent1">
              <a:lumMod val="20000"/>
              <a:lumOff val="80000"/>
            </a:schemeClr>
          </a:solidFill>
          <a:ln>
            <a:solidFill>
              <a:schemeClr val="tx1"/>
            </a:solidFill>
          </a:ln>
        </p:spPr>
        <p:txBody>
          <a:bodyPr wrap="square">
            <a:spAutoFit/>
          </a:bodyPr>
          <a:lstStyle/>
          <a:p>
            <a:pPr algn="ctr" eaLnBrk="0" hangingPunct="0">
              <a:defRPr/>
            </a:pPr>
            <a:r>
              <a:rPr lang="en-US" dirty="0"/>
              <a:t>At the end of fiscal 2017, The Home Depot has 22 cents of cash for each $1.00 of current liabilities.</a:t>
            </a:r>
            <a:endParaRPr lang="en-US" dirty="0">
              <a:solidFill>
                <a:srgbClr val="000000"/>
              </a:solidFill>
              <a:cs typeface="Arial" charset="0"/>
            </a:endParaRPr>
          </a:p>
        </p:txBody>
      </p:sp>
    </p:spTree>
    <p:extLst>
      <p:ext uri="{BB962C8B-B14F-4D97-AF65-F5344CB8AC3E}">
        <p14:creationId xmlns:p14="http://schemas.microsoft.com/office/powerpoint/2010/main" val="142927559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39"/>
          <p:cNvSpPr>
            <a:spLocks noGrp="1" noChangeArrowheads="1"/>
          </p:cNvSpPr>
          <p:nvPr>
            <p:ph type="title"/>
          </p:nvPr>
        </p:nvSpPr>
        <p:spPr>
          <a:xfrm>
            <a:off x="585216" y="210312"/>
            <a:ext cx="7650843" cy="544635"/>
          </a:xfrm>
        </p:spPr>
        <p:txBody>
          <a:bodyPr>
            <a:normAutofit/>
          </a:bodyPr>
          <a:lstStyle/>
          <a:p>
            <a:r>
              <a:rPr lang="en-US" sz="2400" dirty="0"/>
              <a:t>Second: Operating Cycle (Activity) Ratios</a:t>
            </a: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5" name="Rectangle 4"/>
          <p:cNvSpPr/>
          <p:nvPr/>
        </p:nvSpPr>
        <p:spPr>
          <a:xfrm>
            <a:off x="585215" y="977144"/>
            <a:ext cx="7287545" cy="1477328"/>
          </a:xfrm>
          <a:prstGeom prst="rect">
            <a:avLst/>
          </a:prstGeom>
          <a:solidFill>
            <a:schemeClr val="accent3">
              <a:lumMod val="40000"/>
              <a:lumOff val="60000"/>
            </a:schemeClr>
          </a:solidFill>
          <a:ln>
            <a:solidFill>
              <a:schemeClr val="tx1"/>
            </a:solidFill>
          </a:ln>
        </p:spPr>
        <p:txBody>
          <a:bodyPr wrap="square">
            <a:spAutoFit/>
          </a:bodyPr>
          <a:lstStyle/>
          <a:p>
            <a:pPr algn="ctr"/>
            <a:r>
              <a:rPr lang="en-US" dirty="0"/>
              <a:t>The </a:t>
            </a:r>
            <a:r>
              <a:rPr lang="en-US" b="1" dirty="0"/>
              <a:t>operating cycle </a:t>
            </a:r>
            <a:r>
              <a:rPr lang="en-US" dirty="0"/>
              <a:t>is the time it takes for a company to pay cash to its suppliers, sell goods to its customers, and collect cash from its customers. Analysts are interested in the operating cycle because it helps them evaluate a company’s cash needs and is a good indicator of operating efficiency.</a:t>
            </a:r>
          </a:p>
        </p:txBody>
      </p:sp>
      <p:sp>
        <p:nvSpPr>
          <p:cNvPr id="6" name="Rectangle 5"/>
          <p:cNvSpPr/>
          <p:nvPr/>
        </p:nvSpPr>
        <p:spPr>
          <a:xfrm>
            <a:off x="585215" y="2450983"/>
            <a:ext cx="7287545" cy="1754326"/>
          </a:xfrm>
          <a:prstGeom prst="rect">
            <a:avLst/>
          </a:prstGeom>
        </p:spPr>
        <p:txBody>
          <a:bodyPr wrap="square">
            <a:spAutoFit/>
          </a:bodyPr>
          <a:lstStyle/>
          <a:p>
            <a:r>
              <a:rPr lang="en-US" dirty="0">
                <a:solidFill>
                  <a:srgbClr val="211D1E"/>
                </a:solidFill>
              </a:rPr>
              <a:t>The operating cycle for most companies involves three distinct phases: </a:t>
            </a:r>
          </a:p>
          <a:p>
            <a:pPr marL="342900" indent="-342900">
              <a:buAutoNum type="arabicParenR"/>
            </a:pPr>
            <a:r>
              <a:rPr lang="en-US" dirty="0">
                <a:solidFill>
                  <a:srgbClr val="211D1E"/>
                </a:solidFill>
              </a:rPr>
              <a:t>the acquisition of inventory</a:t>
            </a:r>
          </a:p>
          <a:p>
            <a:pPr marL="342900" indent="-342900">
              <a:buAutoNum type="arabicParenR"/>
            </a:pPr>
            <a:r>
              <a:rPr lang="en-US" dirty="0">
                <a:solidFill>
                  <a:srgbClr val="211D1E"/>
                </a:solidFill>
              </a:rPr>
              <a:t>the sale of the inventory</a:t>
            </a:r>
          </a:p>
          <a:p>
            <a:pPr marL="342900" indent="-342900">
              <a:buAutoNum type="arabicParenR"/>
            </a:pPr>
            <a:r>
              <a:rPr lang="en-US" dirty="0">
                <a:solidFill>
                  <a:srgbClr val="211D1E"/>
                </a:solidFill>
              </a:rPr>
              <a:t>the collection of cash from the customer. </a:t>
            </a:r>
          </a:p>
          <a:p>
            <a:endParaRPr lang="en-US" dirty="0"/>
          </a:p>
          <a:p>
            <a:r>
              <a:rPr lang="en-US" dirty="0"/>
              <a:t>Several ratios are helpful when evaluating a company’s operating cycle:</a:t>
            </a:r>
          </a:p>
        </p:txBody>
      </p:sp>
      <p:pic>
        <p:nvPicPr>
          <p:cNvPr id="7" name="Picture 6"/>
          <p:cNvPicPr>
            <a:picLocks noChangeAspect="1"/>
          </p:cNvPicPr>
          <p:nvPr/>
        </p:nvPicPr>
        <p:blipFill>
          <a:blip r:embed="rId3"/>
          <a:stretch>
            <a:fillRect/>
          </a:stretch>
        </p:blipFill>
        <p:spPr>
          <a:xfrm>
            <a:off x="652349" y="4401354"/>
            <a:ext cx="7153275" cy="1895475"/>
          </a:xfrm>
          <a:prstGeom prst="rect">
            <a:avLst/>
          </a:prstGeom>
        </p:spPr>
      </p:pic>
    </p:spTree>
    <p:extLst>
      <p:ext uri="{BB962C8B-B14F-4D97-AF65-F5344CB8AC3E}">
        <p14:creationId xmlns:p14="http://schemas.microsoft.com/office/powerpoint/2010/main" val="1159193053"/>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7768"/>
            <a:ext cx="8375904" cy="1143000"/>
          </a:xfrm>
        </p:spPr>
        <p:txBody>
          <a:bodyPr/>
          <a:lstStyle/>
          <a:p>
            <a:pPr algn="ctr"/>
            <a:endParaRPr lang="en-US" b="1" dirty="0">
              <a:solidFill>
                <a:srgbClr val="FF0000"/>
              </a:solidFill>
            </a:endParaRPr>
          </a:p>
        </p:txBody>
      </p:sp>
      <p:sp>
        <p:nvSpPr>
          <p:cNvPr id="4" name="Footer Placeholder 3"/>
          <p:cNvSpPr>
            <a:spLocks noGrp="1"/>
          </p:cNvSpPr>
          <p:nvPr>
            <p:ph type="ftr" sz="quarter" idx="11"/>
          </p:nvPr>
        </p:nvSpPr>
        <p:spPr/>
        <p:txBody>
          <a:bodyPr/>
          <a:lstStyle/>
          <a:p>
            <a:r>
              <a:rPr lang="en-US" dirty="0"/>
              <a:t>Copyright © 2013 CFA Institute</a:t>
            </a:r>
          </a:p>
        </p:txBody>
      </p:sp>
      <p:sp>
        <p:nvSpPr>
          <p:cNvPr id="5" name="Slide Number Placeholder 4"/>
          <p:cNvSpPr>
            <a:spLocks noGrp="1"/>
          </p:cNvSpPr>
          <p:nvPr>
            <p:ph type="sldNum" sz="quarter" idx="12"/>
          </p:nvPr>
        </p:nvSpPr>
        <p:spPr/>
        <p:txBody>
          <a:bodyPr/>
          <a:lstStyle/>
          <a:p>
            <a:fld id="{4E4A4924-7CC3-4BF6-9C5C-A8E770D15754}" type="slidenum">
              <a:rPr lang="en-US" smtClean="0"/>
              <a:pPr/>
              <a:t>15</a:t>
            </a:fld>
            <a:endParaRPr lang="en-US"/>
          </a:p>
        </p:txBody>
      </p:sp>
      <p:sp>
        <p:nvSpPr>
          <p:cNvPr id="62" name="Content Placeholder 61"/>
          <p:cNvSpPr>
            <a:spLocks noGrp="1"/>
          </p:cNvSpPr>
          <p:nvPr>
            <p:ph idx="1"/>
          </p:nvPr>
        </p:nvSpPr>
        <p:spPr>
          <a:xfrm>
            <a:off x="381000" y="310247"/>
            <a:ext cx="8375904" cy="6984776"/>
          </a:xfrm>
        </p:spPr>
        <p:txBody>
          <a:bodyPr>
            <a:normAutofit/>
          </a:bodyPr>
          <a:lstStyle/>
          <a:p>
            <a:pPr marL="9144" indent="0" algn="ctr">
              <a:buNone/>
            </a:pPr>
            <a:r>
              <a:rPr lang="en-US" sz="3200" b="1" dirty="0">
                <a:solidFill>
                  <a:srgbClr val="003DA5"/>
                </a:solidFill>
                <a:latin typeface="+mj-lt"/>
              </a:rPr>
              <a:t>Accounts Receivable Turnover Ratio</a:t>
            </a:r>
          </a:p>
        </p:txBody>
      </p:sp>
      <mc:AlternateContent xmlns:mc="http://schemas.openxmlformats.org/markup-compatibility/2006" xmlns:a14="http://schemas.microsoft.com/office/drawing/2010/main">
        <mc:Choice Requires="a14">
          <p:graphicFrame>
            <p:nvGraphicFramePr>
              <p:cNvPr id="63" name="Table 62"/>
              <p:cNvGraphicFramePr>
                <a:graphicFrameLocks noGrp="1"/>
              </p:cNvGraphicFramePr>
              <p:nvPr>
                <p:extLst>
                  <p:ext uri="{D42A27DB-BD31-4B8C-83A1-F6EECF244321}">
                    <p14:modId xmlns:p14="http://schemas.microsoft.com/office/powerpoint/2010/main" val="648605300"/>
                  </p:ext>
                </p:extLst>
              </p:nvPr>
            </p:nvGraphicFramePr>
            <p:xfrm>
              <a:off x="387424" y="1484784"/>
              <a:ext cx="8001000" cy="4918952"/>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759043">
                    <a:tc>
                      <a:txBody>
                        <a:bodyPr/>
                        <a:lstStyle/>
                        <a:p>
                          <a:pPr algn="l"/>
                          <a:endParaRPr lang="en-US" sz="1600" dirty="0">
                            <a:latin typeface="+mn-lt"/>
                          </a:endParaRPr>
                        </a:p>
                      </a:txBody>
                      <a:tcPr>
                        <a:solidFill>
                          <a:schemeClr val="bg1"/>
                        </a:solidFill>
                      </a:tcPr>
                    </a:tc>
                    <a:tc>
                      <a:txBody>
                        <a:bodyPr/>
                        <a:lstStyle/>
                        <a:p>
                          <a:pPr algn="l"/>
                          <a:endParaRPr lang="en-US" sz="1600" dirty="0">
                            <a:latin typeface="+mn-lt"/>
                          </a:endParaRPr>
                        </a:p>
                      </a:txBody>
                      <a:tcPr>
                        <a:solidFill>
                          <a:schemeClr val="bg1"/>
                        </a:solidFill>
                      </a:tcPr>
                    </a:tc>
                    <a:extLst>
                      <a:ext uri="{0D108BD9-81ED-4DB2-BD59-A6C34878D82A}">
                        <a16:rowId xmlns:a16="http://schemas.microsoft.com/office/drawing/2014/main" val="10000"/>
                      </a:ext>
                    </a:extLst>
                  </a:tr>
                  <a:tr h="1265791">
                    <a:tc>
                      <a:txBody>
                        <a:bodyPr/>
                        <a:lstStyle/>
                        <a:p>
                          <a:pPr algn="l"/>
                          <a14:m>
                            <m:oMathPara xmlns:m="http://schemas.openxmlformats.org/officeDocument/2006/math">
                              <m:oMathParaPr>
                                <m:jc m:val="left"/>
                              </m:oMathParaPr>
                              <m:oMath xmlns:m="http://schemas.openxmlformats.org/officeDocument/2006/math">
                                <m:r>
                                  <m:rPr>
                                    <m:nor/>
                                  </m:rPr>
                                  <a:rPr lang="en-US" sz="1600" b="1" i="0" smtClean="0">
                                    <a:solidFill>
                                      <a:srgbClr val="FF0000"/>
                                    </a:solidFill>
                                    <a:latin typeface="+mn-lt"/>
                                  </a:rPr>
                                  <m:t>Receivables</m:t>
                                </m:r>
                                <m:r>
                                  <m:rPr>
                                    <m:nor/>
                                  </m:rPr>
                                  <a:rPr lang="en-US" sz="1600" b="1" i="0" smtClean="0">
                                    <a:solidFill>
                                      <a:srgbClr val="FF0000"/>
                                    </a:solidFill>
                                    <a:latin typeface="+mn-lt"/>
                                  </a:rPr>
                                  <m:t>′ </m:t>
                                </m:r>
                                <m:r>
                                  <m:rPr>
                                    <m:nor/>
                                  </m:rPr>
                                  <a:rPr lang="en-US" sz="1600" b="1" i="0" smtClean="0">
                                    <a:solidFill>
                                      <a:srgbClr val="FF0000"/>
                                    </a:solidFill>
                                    <a:latin typeface="+mn-lt"/>
                                  </a:rPr>
                                  <m:t>Turnover</m:t>
                                </m:r>
                                <m:r>
                                  <m:rPr>
                                    <m:nor/>
                                  </m:rPr>
                                  <a:rPr lang="en-US" sz="1600" b="0" i="0" smtClean="0">
                                    <a:latin typeface="+mn-lt"/>
                                  </a:rPr>
                                  <m:t> =</m:t>
                                </m:r>
                                <m:f>
                                  <m:fPr>
                                    <m:ctrlPr>
                                      <a:rPr lang="en-US" sz="1600" b="0" i="1" smtClean="0">
                                        <a:latin typeface="Cambria Math" panose="02040503050406030204" pitchFamily="18" charset="0"/>
                                      </a:rPr>
                                    </m:ctrlPr>
                                  </m:fPr>
                                  <m:num>
                                    <m:r>
                                      <a:rPr lang="en-US" sz="1600" b="0" i="1" smtClean="0">
                                        <a:latin typeface="Cambria Math"/>
                                      </a:rPr>
                                      <m:t>𝑁𝑒𝑡</m:t>
                                    </m:r>
                                    <m:r>
                                      <a:rPr lang="en-US" sz="1600" b="0" i="1" smtClean="0">
                                        <a:latin typeface="Cambria Math"/>
                                      </a:rPr>
                                      <m:t> </m:t>
                                    </m:r>
                                    <m:r>
                                      <a:rPr lang="en-US" sz="1600" b="0" i="1" smtClean="0">
                                        <a:latin typeface="Cambria Math"/>
                                      </a:rPr>
                                      <m:t>𝑆𝑎𝑙𝑒𝑠</m:t>
                                    </m:r>
                                  </m:num>
                                  <m:den>
                                    <m:r>
                                      <m:rPr>
                                        <m:nor/>
                                      </m:rPr>
                                      <a:rPr lang="en-US" sz="1600" b="0" i="0" smtClean="0">
                                        <a:latin typeface="+mn-lt"/>
                                      </a:rPr>
                                      <m:t>Average</m:t>
                                    </m:r>
                                    <m:r>
                                      <m:rPr>
                                        <m:nor/>
                                      </m:rPr>
                                      <a:rPr lang="en-US" sz="1600" b="0" i="0" smtClean="0">
                                        <a:latin typeface="+mn-lt"/>
                                      </a:rPr>
                                      <m:t> </m:t>
                                    </m:r>
                                    <m:r>
                                      <m:rPr>
                                        <m:nor/>
                                      </m:rPr>
                                      <a:rPr lang="en-US" sz="1600" b="0" i="0" smtClean="0">
                                        <a:latin typeface="+mn-lt"/>
                                      </a:rPr>
                                      <m:t>Gross</m:t>
                                    </m:r>
                                    <m:r>
                                      <m:rPr>
                                        <m:nor/>
                                      </m:rPr>
                                      <a:rPr lang="en-US" sz="1600" b="0" i="0" smtClean="0">
                                        <a:latin typeface="+mn-lt"/>
                                      </a:rPr>
                                      <m:t> </m:t>
                                    </m:r>
                                    <m:r>
                                      <m:rPr>
                                        <m:nor/>
                                      </m:rPr>
                                      <a:rPr lang="en-US" sz="1600" b="0" i="0" smtClean="0">
                                        <a:latin typeface="+mn-lt"/>
                                      </a:rPr>
                                      <m:t>Receivables</m:t>
                                    </m:r>
                                  </m:den>
                                </m:f>
                              </m:oMath>
                            </m:oMathPara>
                          </a14:m>
                          <a:endParaRPr lang="en-US" sz="1600" dirty="0">
                            <a:latin typeface="+mn-lt"/>
                          </a:endParaRPr>
                        </a:p>
                      </a:txBody>
                      <a:tcPr>
                        <a:solidFill>
                          <a:schemeClr val="bg1"/>
                        </a:solidFill>
                      </a:tcPr>
                    </a:tc>
                    <a:tc>
                      <a:txBody>
                        <a:bodyPr/>
                        <a:lstStyle/>
                        <a:p>
                          <a:pPr algn="l"/>
                          <a:r>
                            <a:rPr lang="en-US" sz="1600" dirty="0">
                              <a:latin typeface="+mn-lt"/>
                            </a:rPr>
                            <a:t>How many times accounts receivable are created and collected during the period.</a:t>
                          </a:r>
                        </a:p>
                      </a:txBody>
                      <a:tcPr>
                        <a:solidFill>
                          <a:schemeClr val="bg1"/>
                        </a:solidFill>
                      </a:tcPr>
                    </a:tc>
                    <a:extLst>
                      <a:ext uri="{0D108BD9-81ED-4DB2-BD59-A6C34878D82A}">
                        <a16:rowId xmlns:a16="http://schemas.microsoft.com/office/drawing/2014/main" val="10001"/>
                      </a:ext>
                    </a:extLst>
                  </a:tr>
                  <a:tr h="1447059">
                    <a:tc>
                      <a:txBody>
                        <a:bodyPr/>
                        <a:lstStyle/>
                        <a:p>
                          <a:pPr algn="l"/>
                          <a14:m>
                            <m:oMath xmlns:m="http://schemas.openxmlformats.org/officeDocument/2006/math">
                              <m:r>
                                <m:rPr>
                                  <m:nor/>
                                </m:rPr>
                                <a:rPr lang="en-US" sz="1600" b="1" i="0" smtClean="0">
                                  <a:solidFill>
                                    <a:srgbClr val="FF0000"/>
                                  </a:solidFill>
                                  <a:latin typeface="+mn-lt"/>
                                </a:rPr>
                                <m:t>Average</m:t>
                              </m:r>
                              <m:r>
                                <m:rPr>
                                  <m:nor/>
                                </m:rPr>
                                <a:rPr lang="en-US" sz="1600" b="1" i="0" smtClean="0">
                                  <a:solidFill>
                                    <a:srgbClr val="FF0000"/>
                                  </a:solidFill>
                                  <a:latin typeface="+mn-lt"/>
                                </a:rPr>
                                <m:t> </m:t>
                              </m:r>
                              <m:r>
                                <m:rPr>
                                  <m:nor/>
                                </m:rPr>
                                <a:rPr lang="en-US" sz="1600" b="1" i="0" smtClean="0">
                                  <a:solidFill>
                                    <a:srgbClr val="FF0000"/>
                                  </a:solidFill>
                                  <a:latin typeface="+mn-lt"/>
                                </a:rPr>
                                <m:t>collection</m:t>
                              </m:r>
                              <m:r>
                                <m:rPr>
                                  <m:nor/>
                                </m:rPr>
                                <a:rPr lang="en-US" sz="1600" b="1" i="0" smtClean="0">
                                  <a:solidFill>
                                    <a:srgbClr val="FF0000"/>
                                  </a:solidFill>
                                  <a:latin typeface="+mn-lt"/>
                                </a:rPr>
                                <m:t> </m:t>
                              </m:r>
                              <m:r>
                                <m:rPr>
                                  <m:nor/>
                                </m:rPr>
                                <a:rPr lang="en-US" sz="1600" b="1" i="0" smtClean="0">
                                  <a:solidFill>
                                    <a:srgbClr val="FF0000"/>
                                  </a:solidFill>
                                  <a:latin typeface="+mn-lt"/>
                                </a:rPr>
                                <m:t>period</m:t>
                              </m:r>
                            </m:oMath>
                          </a14:m>
                          <a:r>
                            <a:rPr lang="en-US" sz="1600" b="1" i="0" dirty="0">
                              <a:solidFill>
                                <a:srgbClr val="FF0000"/>
                              </a:solidFill>
                              <a:latin typeface="+mn-lt"/>
                            </a:rPr>
                            <a:t> (Days</a:t>
                          </a:r>
                          <a:r>
                            <a:rPr lang="en-US" sz="1600" b="1" i="0" baseline="0" dirty="0">
                              <a:solidFill>
                                <a:srgbClr val="FF0000"/>
                              </a:solidFill>
                              <a:latin typeface="+mn-lt"/>
                            </a:rPr>
                            <a:t> Sales in Rec</a:t>
                          </a:r>
                          <a:r>
                            <a:rPr lang="en-US" sz="1600" b="1" i="0" dirty="0">
                              <a:solidFill>
                                <a:srgbClr val="FF0000"/>
                              </a:solidFill>
                              <a:latin typeface="+mn-lt"/>
                            </a:rPr>
                            <a:t>)</a:t>
                          </a:r>
                        </a:p>
                        <a:p>
                          <a:pPr algn="l"/>
                          <a:endParaRPr lang="en-US" sz="1600" b="1" i="0" dirty="0">
                            <a:solidFill>
                              <a:srgbClr val="003DA5"/>
                            </a:solidFill>
                            <a:latin typeface="+mn-lt"/>
                          </a:endParaRPr>
                        </a:p>
                        <a:p>
                          <a:pPr algn="l"/>
                          <a:r>
                            <a:rPr lang="en-US" sz="1600" b="1" i="0" dirty="0">
                              <a:solidFill>
                                <a:srgbClr val="003DA5"/>
                              </a:solidFill>
                              <a:latin typeface="+mn-lt"/>
                            </a:rPr>
                            <a:t># of</a:t>
                          </a:r>
                          <a:r>
                            <a:rPr lang="en-US" sz="1600" b="1" i="0" baseline="0" dirty="0">
                              <a:solidFill>
                                <a:srgbClr val="003DA5"/>
                              </a:solidFill>
                              <a:latin typeface="+mn-lt"/>
                            </a:rPr>
                            <a:t> days in receivables</a:t>
                          </a:r>
                          <a14:m>
                            <m:oMath xmlns:m="http://schemas.openxmlformats.org/officeDocument/2006/math">
                              <m:r>
                                <m:rPr>
                                  <m:nor/>
                                </m:rPr>
                                <a:rPr lang="en-US" sz="1600" b="1" i="0" smtClean="0">
                                  <a:solidFill>
                                    <a:srgbClr val="003DA5"/>
                                  </a:solidFill>
                                  <a:latin typeface="+mn-lt"/>
                                </a:rPr>
                                <m:t> </m:t>
                              </m:r>
                              <m:r>
                                <m:rPr>
                                  <m:nor/>
                                </m:rPr>
                                <a:rPr lang="en-US" sz="1600" b="0" i="0" smtClean="0">
                                  <a:latin typeface="+mn-lt"/>
                                </a:rPr>
                                <m:t>=</m:t>
                              </m:r>
                              <m:f>
                                <m:fPr>
                                  <m:ctrlPr>
                                    <a:rPr lang="en-US" sz="1600" b="0" i="1" smtClean="0">
                                      <a:latin typeface="Cambria Math" panose="02040503050406030204" pitchFamily="18" charset="0"/>
                                    </a:rPr>
                                  </m:ctrlPr>
                                </m:fPr>
                                <m:num>
                                  <m:r>
                                    <m:rPr>
                                      <m:nor/>
                                    </m:rPr>
                                    <a:rPr lang="en-US" sz="1600" b="0" i="0" smtClean="0">
                                      <a:latin typeface="Cambria Math"/>
                                    </a:rPr>
                                    <m:t>365</m:t>
                                  </m:r>
                                </m:num>
                                <m:den>
                                  <m:r>
                                    <a:rPr lang="en-US" sz="1600" b="0" i="1" smtClean="0">
                                      <a:latin typeface="Cambria Math"/>
                                    </a:rPr>
                                    <m:t>𝑅𝑒𝑐𝑒𝑖𝑣𝑎𝑏𝑙𝑒𝑠</m:t>
                                  </m:r>
                                  <m:r>
                                    <a:rPr lang="en-US" sz="1600" b="0" i="1" smtClean="0">
                                      <a:latin typeface="Cambria Math"/>
                                    </a:rPr>
                                    <m:t> </m:t>
                                  </m:r>
                                  <m:r>
                                    <a:rPr lang="en-US" sz="1600" b="0" i="1" smtClean="0">
                                      <a:latin typeface="Cambria Math"/>
                                    </a:rPr>
                                    <m:t>𝑡𝑢𝑟𝑛𝑜𝑣𝑒𝑟</m:t>
                                  </m:r>
                                  <m:r>
                                    <a:rPr lang="en-US" sz="1600" b="0" i="1" smtClean="0">
                                      <a:latin typeface="Cambria Math"/>
                                    </a:rPr>
                                    <m:t> </m:t>
                                  </m:r>
                                </m:den>
                              </m:f>
                            </m:oMath>
                          </a14:m>
                          <a:endParaRPr lang="en-US" sz="1600" dirty="0">
                            <a:latin typeface="+mn-lt"/>
                          </a:endParaRPr>
                        </a:p>
                      </a:txBody>
                      <a:tcP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Average time it takes to collect</a:t>
                          </a:r>
                          <a:r>
                            <a:rPr lang="en-US" sz="1600" baseline="0" dirty="0">
                              <a:latin typeface="+mn-lt"/>
                            </a:rPr>
                            <a:t> on accounts receivables (Used to evaluate the efficiency of the collection department)</a:t>
                          </a:r>
                        </a:p>
                        <a:p>
                          <a:pPr algn="l"/>
                          <a:endParaRPr lang="en-US" sz="1600" dirty="0">
                            <a:latin typeface="+mn-lt"/>
                          </a:endParaRPr>
                        </a:p>
                      </a:txBody>
                      <a:tcPr>
                        <a:solidFill>
                          <a:schemeClr val="bg1"/>
                        </a:solidFill>
                      </a:tcPr>
                    </a:tc>
                    <a:extLst>
                      <a:ext uri="{0D108BD9-81ED-4DB2-BD59-A6C34878D82A}">
                        <a16:rowId xmlns:a16="http://schemas.microsoft.com/office/drawing/2014/main" val="10002"/>
                      </a:ext>
                    </a:extLst>
                  </a:tr>
                  <a:tr h="1447059">
                    <a:tc gridSpan="2">
                      <a:txBody>
                        <a:bodyPr/>
                        <a:lstStyle/>
                        <a:p>
                          <a:pPr algn="just"/>
                          <a:r>
                            <a:rPr lang="en-US" sz="1600" dirty="0">
                              <a:latin typeface="+mn-lt"/>
                            </a:rPr>
                            <a:t>A high receivables turnover can</a:t>
                          </a:r>
                          <a:r>
                            <a:rPr lang="en-US" sz="1600" baseline="0" dirty="0">
                              <a:latin typeface="+mn-lt"/>
                            </a:rPr>
                            <a:t> indicate that the company’s collection of Accounts receivable is efficient and the company has a high number of quality customers that pay their debts quickly. On the other hand, A low receivable turnover ratio may be because the company has a poor collection process, or customers that are not financially viable or credit worthy.</a:t>
                          </a:r>
                          <a:endParaRPr lang="en-US" sz="1600" dirty="0">
                            <a:latin typeface="+mn-lt"/>
                          </a:endParaRPr>
                        </a:p>
                      </a:txBody>
                      <a:tcPr>
                        <a:solidFill>
                          <a:schemeClr val="bg1"/>
                        </a:solidFill>
                      </a:tcPr>
                    </a:tc>
                    <a:tc hMerge="1">
                      <a:txBody>
                        <a:bodyPr/>
                        <a:lstStyle/>
                        <a:p>
                          <a:pPr algn="l"/>
                          <a:endParaRPr lang="en-US" sz="1600" dirty="0">
                            <a:latin typeface="+mn-lt"/>
                          </a:endParaRPr>
                        </a:p>
                      </a:txBody>
                      <a:tcPr>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63" name="Table 62"/>
              <p:cNvGraphicFramePr>
                <a:graphicFrameLocks noGrp="1"/>
              </p:cNvGraphicFramePr>
              <p:nvPr>
                <p:extLst>
                  <p:ext uri="{D42A27DB-BD31-4B8C-83A1-F6EECF244321}">
                    <p14:modId xmlns:p14="http://schemas.microsoft.com/office/powerpoint/2010/main" val="648605300"/>
                  </p:ext>
                </p:extLst>
              </p:nvPr>
            </p:nvGraphicFramePr>
            <p:xfrm>
              <a:off x="387424" y="1484784"/>
              <a:ext cx="8001000" cy="4918952"/>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759043">
                    <a:tc>
                      <a:txBody>
                        <a:bodyPr/>
                        <a:lstStyle/>
                        <a:p>
                          <a:pPr algn="l"/>
                          <a:endParaRPr lang="en-US" sz="1600" dirty="0">
                            <a:latin typeface="+mn-lt"/>
                          </a:endParaRPr>
                        </a:p>
                      </a:txBody>
                      <a:tcPr>
                        <a:solidFill>
                          <a:schemeClr val="bg1"/>
                        </a:solidFill>
                      </a:tcPr>
                    </a:tc>
                    <a:tc>
                      <a:txBody>
                        <a:bodyPr/>
                        <a:lstStyle/>
                        <a:p>
                          <a:pPr algn="l"/>
                          <a:endParaRPr lang="en-US" sz="1600" dirty="0">
                            <a:latin typeface="+mn-lt"/>
                          </a:endParaRPr>
                        </a:p>
                      </a:txBody>
                      <a:tcPr>
                        <a:solidFill>
                          <a:schemeClr val="bg1"/>
                        </a:solidFill>
                      </a:tcPr>
                    </a:tc>
                    <a:extLst>
                      <a:ext uri="{0D108BD9-81ED-4DB2-BD59-A6C34878D82A}">
                        <a16:rowId xmlns:a16="http://schemas.microsoft.com/office/drawing/2014/main" val="10000"/>
                      </a:ext>
                    </a:extLst>
                  </a:tr>
                  <a:tr h="1265791">
                    <a:tc>
                      <a:txBody>
                        <a:bodyPr/>
                        <a:lstStyle/>
                        <a:p>
                          <a:endParaRPr lang="en-US"/>
                        </a:p>
                      </a:txBody>
                      <a:tcPr>
                        <a:blipFill>
                          <a:blip r:embed="rId3"/>
                          <a:stretch>
                            <a:fillRect l="-121" t="-60577" r="-59322" b="-229327"/>
                          </a:stretch>
                        </a:blipFill>
                      </a:tcPr>
                    </a:tc>
                    <a:tc>
                      <a:txBody>
                        <a:bodyPr/>
                        <a:lstStyle/>
                        <a:p>
                          <a:pPr algn="l"/>
                          <a:r>
                            <a:rPr lang="en-US" sz="1600" dirty="0">
                              <a:latin typeface="+mn-lt"/>
                            </a:rPr>
                            <a:t>How many times accounts receivable are created and collected during the period.</a:t>
                          </a:r>
                        </a:p>
                      </a:txBody>
                      <a:tcPr>
                        <a:solidFill>
                          <a:schemeClr val="bg1"/>
                        </a:solidFill>
                      </a:tcPr>
                    </a:tc>
                    <a:extLst>
                      <a:ext uri="{0D108BD9-81ED-4DB2-BD59-A6C34878D82A}">
                        <a16:rowId xmlns:a16="http://schemas.microsoft.com/office/drawing/2014/main" val="10001"/>
                      </a:ext>
                    </a:extLst>
                  </a:tr>
                  <a:tr h="1447059">
                    <a:tc>
                      <a:txBody>
                        <a:bodyPr/>
                        <a:lstStyle/>
                        <a:p>
                          <a:endParaRPr lang="en-US"/>
                        </a:p>
                      </a:txBody>
                      <a:tcPr>
                        <a:blipFill>
                          <a:blip r:embed="rId3"/>
                          <a:stretch>
                            <a:fillRect l="-121" t="-140928" r="-59322" b="-101266"/>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Average time it takes to collect</a:t>
                          </a:r>
                          <a:r>
                            <a:rPr lang="en-US" sz="1600" baseline="0" dirty="0">
                              <a:latin typeface="+mn-lt"/>
                            </a:rPr>
                            <a:t> on accounts receivables (Used to evaluate the efficiency of the collection department)</a:t>
                          </a:r>
                        </a:p>
                        <a:p>
                          <a:pPr algn="l"/>
                          <a:endParaRPr lang="en-US" sz="1600" dirty="0">
                            <a:latin typeface="+mn-lt"/>
                          </a:endParaRPr>
                        </a:p>
                      </a:txBody>
                      <a:tcPr>
                        <a:solidFill>
                          <a:schemeClr val="bg1"/>
                        </a:solidFill>
                      </a:tcPr>
                    </a:tc>
                    <a:extLst>
                      <a:ext uri="{0D108BD9-81ED-4DB2-BD59-A6C34878D82A}">
                        <a16:rowId xmlns:a16="http://schemas.microsoft.com/office/drawing/2014/main" val="10002"/>
                      </a:ext>
                    </a:extLst>
                  </a:tr>
                  <a:tr h="1447059">
                    <a:tc gridSpan="2">
                      <a:txBody>
                        <a:bodyPr/>
                        <a:lstStyle/>
                        <a:p>
                          <a:pPr algn="just"/>
                          <a:r>
                            <a:rPr lang="en-US" sz="1600" dirty="0">
                              <a:latin typeface="+mn-lt"/>
                            </a:rPr>
                            <a:t>A high receivables turnover can</a:t>
                          </a:r>
                          <a:r>
                            <a:rPr lang="en-US" sz="1600" baseline="0" dirty="0">
                              <a:latin typeface="+mn-lt"/>
                            </a:rPr>
                            <a:t> indicate that the company’s collection of Accounts receivable is efficient and the company has a high number of quality customers that pay their debts quickly. On the other hand, A low receivable turnover ratio may be because the company has a poor collection process, or customers that are not financially viable or credit worthy.</a:t>
                          </a:r>
                          <a:endParaRPr lang="en-US" sz="1600" dirty="0">
                            <a:latin typeface="+mn-lt"/>
                          </a:endParaRPr>
                        </a:p>
                      </a:txBody>
                      <a:tcPr>
                        <a:solidFill>
                          <a:schemeClr val="bg1"/>
                        </a:solidFill>
                      </a:tcPr>
                    </a:tc>
                    <a:tc hMerge="1">
                      <a:txBody>
                        <a:bodyPr/>
                        <a:lstStyle/>
                        <a:p>
                          <a:pPr algn="l"/>
                          <a:endParaRPr lang="en-US" sz="1600" dirty="0">
                            <a:latin typeface="+mn-lt"/>
                          </a:endParaRPr>
                        </a:p>
                      </a:txBody>
                      <a:tcPr>
                        <a:solidFill>
                          <a:schemeClr val="bg1"/>
                        </a:solid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80405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585216" y="210312"/>
            <a:ext cx="7650843" cy="544635"/>
          </a:xfrm>
        </p:spPr>
        <p:txBody>
          <a:bodyPr/>
          <a:lstStyle/>
          <a:p>
            <a:r>
              <a:rPr lang="en-US" sz="2400" dirty="0"/>
              <a:t>Receivable Turnover Ratio</a:t>
            </a:r>
          </a:p>
        </p:txBody>
      </p:sp>
      <p:grpSp>
        <p:nvGrpSpPr>
          <p:cNvPr id="30723" name="Group 19"/>
          <p:cNvGrpSpPr>
            <a:grpSpLocks/>
          </p:cNvGrpSpPr>
          <p:nvPr/>
        </p:nvGrpSpPr>
        <p:grpSpPr bwMode="auto">
          <a:xfrm>
            <a:off x="499097" y="1866422"/>
            <a:ext cx="5421656" cy="785813"/>
            <a:chOff x="298" y="1099"/>
            <a:chExt cx="3459" cy="495"/>
          </a:xfrm>
        </p:grpSpPr>
        <p:sp>
          <p:nvSpPr>
            <p:cNvPr id="30732" name="Rectangle 4"/>
            <p:cNvSpPr>
              <a:spLocks noChangeArrowheads="1"/>
            </p:cNvSpPr>
            <p:nvPr/>
          </p:nvSpPr>
          <p:spPr bwMode="auto">
            <a:xfrm>
              <a:off x="2013" y="1119"/>
              <a:ext cx="1607"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 Net Credit Sales</a:t>
              </a:r>
              <a:r>
                <a:rPr lang="en-US" b="1" baseline="30000" dirty="0">
                  <a:latin typeface="+mn-lt"/>
                </a:rPr>
                <a:t>1</a:t>
              </a:r>
              <a:r>
                <a:rPr lang="en-US" b="1" dirty="0">
                  <a:latin typeface="+mn-lt"/>
                </a:rPr>
                <a:t> </a:t>
              </a:r>
            </a:p>
            <a:p>
              <a:pPr algn="ctr">
                <a:lnSpc>
                  <a:spcPct val="120000"/>
                </a:lnSpc>
              </a:pPr>
              <a:r>
                <a:rPr lang="en-US" b="1" dirty="0">
                  <a:latin typeface="+mn-lt"/>
                </a:rPr>
                <a:t>Average Net Receivables</a:t>
              </a:r>
            </a:p>
          </p:txBody>
        </p:sp>
        <p:sp>
          <p:nvSpPr>
            <p:cNvPr id="30733" name="Line 5"/>
            <p:cNvSpPr>
              <a:spLocks noChangeShapeType="1"/>
            </p:cNvSpPr>
            <p:nvPr/>
          </p:nvSpPr>
          <p:spPr bwMode="auto">
            <a:xfrm flipV="1">
              <a:off x="2000" y="1375"/>
              <a:ext cx="1757"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0734" name="Rectangle 6"/>
            <p:cNvSpPr>
              <a:spLocks noChangeArrowheads="1"/>
            </p:cNvSpPr>
            <p:nvPr/>
          </p:nvSpPr>
          <p:spPr bwMode="auto">
            <a:xfrm>
              <a:off x="298" y="1099"/>
              <a:ext cx="1494" cy="4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spcBef>
                  <a:spcPct val="50000"/>
                </a:spcBef>
              </a:pPr>
              <a:r>
                <a:rPr lang="en-US" b="1" dirty="0">
                  <a:latin typeface="+mn-lt"/>
                </a:rPr>
                <a:t>Receivable Turnover</a:t>
              </a:r>
              <a:br>
                <a:rPr lang="en-US" b="1" dirty="0">
                  <a:latin typeface="+mn-lt"/>
                </a:rPr>
              </a:br>
              <a:r>
                <a:rPr lang="en-US" b="1" dirty="0">
                  <a:latin typeface="+mn-lt"/>
                </a:rPr>
                <a:t>Ratio</a:t>
              </a:r>
            </a:p>
          </p:txBody>
        </p:sp>
        <p:sp>
          <p:nvSpPr>
            <p:cNvPr id="30735" name="Rectangle 7"/>
            <p:cNvSpPr>
              <a:spLocks noChangeArrowheads="1"/>
            </p:cNvSpPr>
            <p:nvPr/>
          </p:nvSpPr>
          <p:spPr bwMode="auto">
            <a:xfrm>
              <a:off x="1546" y="1243"/>
              <a:ext cx="48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grpSp>
      <p:grpSp>
        <p:nvGrpSpPr>
          <p:cNvPr id="3" name="Group 15"/>
          <p:cNvGrpSpPr>
            <a:grpSpLocks/>
          </p:cNvGrpSpPr>
          <p:nvPr/>
        </p:nvGrpSpPr>
        <p:grpSpPr bwMode="auto">
          <a:xfrm>
            <a:off x="499097" y="2889368"/>
            <a:ext cx="5546103" cy="754063"/>
            <a:chOff x="514972" y="3205163"/>
            <a:chExt cx="5546103" cy="754063"/>
          </a:xfrm>
        </p:grpSpPr>
        <p:sp>
          <p:nvSpPr>
            <p:cNvPr id="30726" name="Rectangle 9"/>
            <p:cNvSpPr>
              <a:spLocks noChangeArrowheads="1"/>
            </p:cNvSpPr>
            <p:nvPr/>
          </p:nvSpPr>
          <p:spPr bwMode="auto">
            <a:xfrm>
              <a:off x="514972" y="3315460"/>
              <a:ext cx="2371725" cy="6437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grpSp>
          <p:nvGrpSpPr>
            <p:cNvPr id="30727" name="Group 17"/>
            <p:cNvGrpSpPr>
              <a:grpSpLocks/>
            </p:cNvGrpSpPr>
            <p:nvPr/>
          </p:nvGrpSpPr>
          <p:grpSpPr bwMode="auto">
            <a:xfrm>
              <a:off x="2454275" y="3205163"/>
              <a:ext cx="3606800" cy="754063"/>
              <a:chOff x="1546" y="2019"/>
              <a:chExt cx="2272" cy="475"/>
            </a:xfrm>
          </p:grpSpPr>
          <p:sp>
            <p:nvSpPr>
              <p:cNvPr id="30728" name="Rectangle 11"/>
              <p:cNvSpPr>
                <a:spLocks noChangeArrowheads="1"/>
              </p:cNvSpPr>
              <p:nvPr/>
            </p:nvSpPr>
            <p:spPr bwMode="auto">
              <a:xfrm>
                <a:off x="2036" y="2019"/>
                <a:ext cx="668"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$100,904</a:t>
                </a:r>
              </a:p>
              <a:p>
                <a:pPr>
                  <a:lnSpc>
                    <a:spcPct val="120000"/>
                  </a:lnSpc>
                </a:pPr>
                <a:r>
                  <a:rPr lang="en-US" b="1" dirty="0">
                    <a:latin typeface="+mn-lt"/>
                  </a:rPr>
                  <a:t>  $1,991*</a:t>
                </a:r>
              </a:p>
            </p:txBody>
          </p:sp>
          <p:sp>
            <p:nvSpPr>
              <p:cNvPr id="30729" name="Line 12"/>
              <p:cNvSpPr>
                <a:spLocks noChangeShapeType="1"/>
              </p:cNvSpPr>
              <p:nvPr/>
            </p:nvSpPr>
            <p:spPr bwMode="auto">
              <a:xfrm>
                <a:off x="1986" y="2275"/>
                <a:ext cx="794"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0730" name="Rectangle 13"/>
              <p:cNvSpPr>
                <a:spLocks noChangeArrowheads="1"/>
              </p:cNvSpPr>
              <p:nvPr/>
            </p:nvSpPr>
            <p:spPr bwMode="auto">
              <a:xfrm>
                <a:off x="2829" y="2163"/>
                <a:ext cx="989"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50.69 times</a:t>
                </a:r>
              </a:p>
            </p:txBody>
          </p:sp>
          <p:sp>
            <p:nvSpPr>
              <p:cNvPr id="30731" name="Rectangle 14"/>
              <p:cNvSpPr>
                <a:spLocks noChangeArrowheads="1"/>
              </p:cNvSpPr>
              <p:nvPr/>
            </p:nvSpPr>
            <p:spPr bwMode="auto">
              <a:xfrm>
                <a:off x="1546" y="2155"/>
                <a:ext cx="48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grpSp>
      </p:grpSp>
      <p:sp>
        <p:nvSpPr>
          <p:cNvPr id="254991" name="Rectangle 15"/>
          <p:cNvSpPr>
            <a:spLocks noChangeArrowheads="1"/>
          </p:cNvSpPr>
          <p:nvPr/>
        </p:nvSpPr>
        <p:spPr bwMode="auto">
          <a:xfrm>
            <a:off x="883541" y="910733"/>
            <a:ext cx="5943600" cy="643766"/>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rgbClr val="000000"/>
            </a:outerShdw>
          </a:effectLst>
        </p:spPr>
        <p:txBody>
          <a:bodyPr wrap="square" lIns="90488" tIns="44450" rIns="90488" bIns="44450">
            <a:spAutoFit/>
          </a:bodyPr>
          <a:lstStyle/>
          <a:p>
            <a:pPr algn="ctr" eaLnBrk="0" hangingPunct="0">
              <a:defRPr/>
            </a:pPr>
            <a:r>
              <a:rPr lang="en-US" dirty="0">
                <a:solidFill>
                  <a:srgbClr val="000000"/>
                </a:solidFill>
                <a:cs typeface="Arial" charset="0"/>
              </a:rPr>
              <a:t>This ratio measures how quickly a company collects its accounts receivable.</a:t>
            </a: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grpSp>
        <p:nvGrpSpPr>
          <p:cNvPr id="17" name="Group 3"/>
          <p:cNvGrpSpPr>
            <a:grpSpLocks/>
          </p:cNvGrpSpPr>
          <p:nvPr/>
        </p:nvGrpSpPr>
        <p:grpSpPr bwMode="auto">
          <a:xfrm>
            <a:off x="2283500" y="3960871"/>
            <a:ext cx="3645386" cy="795338"/>
            <a:chOff x="1314" y="1962"/>
            <a:chExt cx="3059" cy="501"/>
          </a:xfrm>
        </p:grpSpPr>
        <p:sp>
          <p:nvSpPr>
            <p:cNvPr id="18" name="Rectangle 4"/>
            <p:cNvSpPr>
              <a:spLocks noChangeArrowheads="1"/>
            </p:cNvSpPr>
            <p:nvPr/>
          </p:nvSpPr>
          <p:spPr bwMode="auto">
            <a:xfrm>
              <a:off x="1314" y="2068"/>
              <a:ext cx="115"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endParaRPr lang="en-US" b="1" dirty="0">
                <a:latin typeface="+mn-lt"/>
              </a:endParaRPr>
            </a:p>
          </p:txBody>
        </p:sp>
        <p:sp>
          <p:nvSpPr>
            <p:cNvPr id="19" name="Rectangle 5"/>
            <p:cNvSpPr>
              <a:spLocks noChangeArrowheads="1"/>
            </p:cNvSpPr>
            <p:nvPr/>
          </p:nvSpPr>
          <p:spPr bwMode="auto">
            <a:xfrm>
              <a:off x="1716" y="1962"/>
              <a:ext cx="1638" cy="5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*($2,029 + $1,952)</a:t>
              </a:r>
            </a:p>
            <a:p>
              <a:pPr>
                <a:lnSpc>
                  <a:spcPct val="120000"/>
                </a:lnSpc>
                <a:spcBef>
                  <a:spcPct val="15000"/>
                </a:spcBef>
              </a:pPr>
              <a:r>
                <a:rPr lang="en-US" b="1" dirty="0">
                  <a:latin typeface="+mn-lt"/>
                </a:rPr>
                <a:t>                  2</a:t>
              </a:r>
            </a:p>
          </p:txBody>
        </p:sp>
        <p:sp>
          <p:nvSpPr>
            <p:cNvPr id="20" name="Rectangle 7"/>
            <p:cNvSpPr>
              <a:spLocks noChangeArrowheads="1"/>
            </p:cNvSpPr>
            <p:nvPr/>
          </p:nvSpPr>
          <p:spPr bwMode="auto">
            <a:xfrm>
              <a:off x="3449" y="2102"/>
              <a:ext cx="924"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  $1,991</a:t>
              </a:r>
            </a:p>
          </p:txBody>
        </p:sp>
        <p:sp>
          <p:nvSpPr>
            <p:cNvPr id="21" name="Line 8"/>
            <p:cNvSpPr>
              <a:spLocks noChangeShapeType="1"/>
            </p:cNvSpPr>
            <p:nvPr/>
          </p:nvSpPr>
          <p:spPr bwMode="auto">
            <a:xfrm>
              <a:off x="1817" y="2217"/>
              <a:ext cx="1632" cy="3"/>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4" name="TextBox 3"/>
          <p:cNvSpPr txBox="1"/>
          <p:nvPr/>
        </p:nvSpPr>
        <p:spPr>
          <a:xfrm>
            <a:off x="793285" y="5910956"/>
            <a:ext cx="6966879" cy="307777"/>
          </a:xfrm>
          <a:prstGeom prst="rect">
            <a:avLst/>
          </a:prstGeom>
          <a:noFill/>
        </p:spPr>
        <p:txBody>
          <a:bodyPr wrap="square" rtlCol="0">
            <a:spAutoFit/>
          </a:bodyPr>
          <a:lstStyle/>
          <a:p>
            <a:r>
              <a:rPr lang="en-US" sz="1400" i="1" baseline="30000" dirty="0"/>
              <a:t>1</a:t>
            </a:r>
            <a:r>
              <a:rPr lang="en-US" sz="1400" i="1" dirty="0"/>
              <a:t>If credit sales are not reported separately, use total net sales as an approximation</a:t>
            </a:r>
          </a:p>
        </p:txBody>
      </p:sp>
      <p:sp>
        <p:nvSpPr>
          <p:cNvPr id="5" name="Rectangle 4"/>
          <p:cNvSpPr/>
          <p:nvPr/>
        </p:nvSpPr>
        <p:spPr>
          <a:xfrm>
            <a:off x="1104203" y="4916963"/>
            <a:ext cx="6345042" cy="923330"/>
          </a:xfrm>
          <a:prstGeom prst="rect">
            <a:avLst/>
          </a:prstGeom>
          <a:solidFill>
            <a:schemeClr val="accent1">
              <a:lumMod val="20000"/>
              <a:lumOff val="80000"/>
            </a:schemeClr>
          </a:solidFill>
          <a:ln>
            <a:solidFill>
              <a:schemeClr val="tx1"/>
            </a:solidFill>
          </a:ln>
        </p:spPr>
        <p:txBody>
          <a:bodyPr wrap="square">
            <a:spAutoFit/>
          </a:bodyPr>
          <a:lstStyle/>
          <a:p>
            <a:r>
              <a:rPr lang="en-US" dirty="0">
                <a:solidFill>
                  <a:srgbClr val="211D1E"/>
                </a:solidFill>
              </a:rPr>
              <a:t>A high receivable turnover ratio suggests that a company collects its accounts receivable many times during a year. On average, The Home Depot collects its accounts receivable over 50 times a year.</a:t>
            </a:r>
            <a:endParaRPr lang="en-US" dirty="0"/>
          </a:p>
        </p:txBody>
      </p:sp>
    </p:spTree>
    <p:extLst>
      <p:ext uri="{BB962C8B-B14F-4D97-AF65-F5344CB8AC3E}">
        <p14:creationId xmlns:p14="http://schemas.microsoft.com/office/powerpoint/2010/main" val="241129513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par>
                          <p:cTn id="8" fill="hold">
                            <p:stCondLst>
                              <p:cond delay="1000"/>
                            </p:stCondLst>
                            <p:childTnLst>
                              <p:par>
                                <p:cTn id="9" presetID="12" presetClass="entr" presetSubtype="8"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Left)">
                                      <p:cBhvr>
                                        <p:cTn id="1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585216" y="210312"/>
            <a:ext cx="7650843" cy="544635"/>
          </a:xfrm>
        </p:spPr>
        <p:txBody>
          <a:bodyPr>
            <a:normAutofit fontScale="90000"/>
          </a:bodyPr>
          <a:lstStyle/>
          <a:p>
            <a:r>
              <a:rPr lang="en-US" sz="2400" dirty="0"/>
              <a:t>Receivable Turnover Ratio – Converted to Days</a:t>
            </a:r>
          </a:p>
        </p:txBody>
      </p:sp>
      <p:grpSp>
        <p:nvGrpSpPr>
          <p:cNvPr id="30723" name="Group 19"/>
          <p:cNvGrpSpPr>
            <a:grpSpLocks/>
          </p:cNvGrpSpPr>
          <p:nvPr/>
        </p:nvGrpSpPr>
        <p:grpSpPr bwMode="auto">
          <a:xfrm>
            <a:off x="499097" y="1866422"/>
            <a:ext cx="5421656" cy="785813"/>
            <a:chOff x="298" y="1099"/>
            <a:chExt cx="3459" cy="495"/>
          </a:xfrm>
        </p:grpSpPr>
        <p:sp>
          <p:nvSpPr>
            <p:cNvPr id="30732" name="Rectangle 4"/>
            <p:cNvSpPr>
              <a:spLocks noChangeArrowheads="1"/>
            </p:cNvSpPr>
            <p:nvPr/>
          </p:nvSpPr>
          <p:spPr bwMode="auto">
            <a:xfrm>
              <a:off x="1960" y="1119"/>
              <a:ext cx="1704"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Days in a Year</a:t>
              </a:r>
            </a:p>
            <a:p>
              <a:pPr algn="ctr">
                <a:lnSpc>
                  <a:spcPct val="120000"/>
                </a:lnSpc>
              </a:pPr>
              <a:r>
                <a:rPr lang="en-US" b="1" dirty="0">
                  <a:latin typeface="+mn-lt"/>
                </a:rPr>
                <a:t>Receivable Turnover Ratio</a:t>
              </a:r>
            </a:p>
          </p:txBody>
        </p:sp>
        <p:sp>
          <p:nvSpPr>
            <p:cNvPr id="30733" name="Line 5"/>
            <p:cNvSpPr>
              <a:spLocks noChangeShapeType="1"/>
            </p:cNvSpPr>
            <p:nvPr/>
          </p:nvSpPr>
          <p:spPr bwMode="auto">
            <a:xfrm flipV="1">
              <a:off x="2000" y="1375"/>
              <a:ext cx="1757"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0734" name="Rectangle 6"/>
            <p:cNvSpPr>
              <a:spLocks noChangeArrowheads="1"/>
            </p:cNvSpPr>
            <p:nvPr/>
          </p:nvSpPr>
          <p:spPr bwMode="auto">
            <a:xfrm>
              <a:off x="298" y="1099"/>
              <a:ext cx="1494"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spcBef>
                  <a:spcPct val="50000"/>
                </a:spcBef>
              </a:pPr>
              <a:r>
                <a:rPr lang="en-US" b="1" dirty="0">
                  <a:latin typeface="+mn-lt"/>
                </a:rPr>
                <a:t>Average Days to Collect Receivables</a:t>
              </a:r>
            </a:p>
          </p:txBody>
        </p:sp>
        <p:sp>
          <p:nvSpPr>
            <p:cNvPr id="30735" name="Rectangle 7"/>
            <p:cNvSpPr>
              <a:spLocks noChangeArrowheads="1"/>
            </p:cNvSpPr>
            <p:nvPr/>
          </p:nvSpPr>
          <p:spPr bwMode="auto">
            <a:xfrm>
              <a:off x="1546" y="1243"/>
              <a:ext cx="48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grpSp>
      <p:grpSp>
        <p:nvGrpSpPr>
          <p:cNvPr id="3" name="Group 15"/>
          <p:cNvGrpSpPr>
            <a:grpSpLocks/>
          </p:cNvGrpSpPr>
          <p:nvPr/>
        </p:nvGrpSpPr>
        <p:grpSpPr bwMode="auto">
          <a:xfrm>
            <a:off x="499097" y="2889368"/>
            <a:ext cx="5330204" cy="754063"/>
            <a:chOff x="514972" y="3205163"/>
            <a:chExt cx="5330204" cy="754063"/>
          </a:xfrm>
        </p:grpSpPr>
        <p:sp>
          <p:nvSpPr>
            <p:cNvPr id="30726" name="Rectangle 9"/>
            <p:cNvSpPr>
              <a:spLocks noChangeArrowheads="1"/>
            </p:cNvSpPr>
            <p:nvPr/>
          </p:nvSpPr>
          <p:spPr bwMode="auto">
            <a:xfrm>
              <a:off x="514972" y="3315460"/>
              <a:ext cx="2371725" cy="6437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grpSp>
          <p:nvGrpSpPr>
            <p:cNvPr id="30727" name="Group 17"/>
            <p:cNvGrpSpPr>
              <a:grpSpLocks/>
            </p:cNvGrpSpPr>
            <p:nvPr/>
          </p:nvGrpSpPr>
          <p:grpSpPr bwMode="auto">
            <a:xfrm>
              <a:off x="2454275" y="3205163"/>
              <a:ext cx="3390901" cy="754063"/>
              <a:chOff x="1546" y="2019"/>
              <a:chExt cx="2136" cy="475"/>
            </a:xfrm>
          </p:grpSpPr>
          <p:sp>
            <p:nvSpPr>
              <p:cNvPr id="30728" name="Rectangle 11"/>
              <p:cNvSpPr>
                <a:spLocks noChangeArrowheads="1"/>
              </p:cNvSpPr>
              <p:nvPr/>
            </p:nvSpPr>
            <p:spPr bwMode="auto">
              <a:xfrm>
                <a:off x="2036" y="2019"/>
                <a:ext cx="1278"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365</a:t>
                </a:r>
              </a:p>
              <a:p>
                <a:pPr>
                  <a:lnSpc>
                    <a:spcPct val="120000"/>
                  </a:lnSpc>
                </a:pPr>
                <a:r>
                  <a:rPr lang="en-US" b="1" dirty="0">
                    <a:latin typeface="+mn-lt"/>
                  </a:rPr>
                  <a:t>  50.69		</a:t>
                </a:r>
              </a:p>
            </p:txBody>
          </p:sp>
          <p:sp>
            <p:nvSpPr>
              <p:cNvPr id="30729" name="Line 12"/>
              <p:cNvSpPr>
                <a:spLocks noChangeShapeType="1"/>
              </p:cNvSpPr>
              <p:nvPr/>
            </p:nvSpPr>
            <p:spPr bwMode="auto">
              <a:xfrm>
                <a:off x="1986" y="2275"/>
                <a:ext cx="794"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0730" name="Rectangle 13"/>
              <p:cNvSpPr>
                <a:spLocks noChangeArrowheads="1"/>
              </p:cNvSpPr>
              <p:nvPr/>
            </p:nvSpPr>
            <p:spPr bwMode="auto">
              <a:xfrm>
                <a:off x="2829" y="2163"/>
                <a:ext cx="853"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7.20 days</a:t>
                </a:r>
              </a:p>
            </p:txBody>
          </p:sp>
          <p:sp>
            <p:nvSpPr>
              <p:cNvPr id="30731" name="Rectangle 14"/>
              <p:cNvSpPr>
                <a:spLocks noChangeArrowheads="1"/>
              </p:cNvSpPr>
              <p:nvPr/>
            </p:nvSpPr>
            <p:spPr bwMode="auto">
              <a:xfrm>
                <a:off x="1546" y="2155"/>
                <a:ext cx="48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grpSp>
      </p:grpSp>
      <p:sp>
        <p:nvSpPr>
          <p:cNvPr id="254991" name="Rectangle 15"/>
          <p:cNvSpPr>
            <a:spLocks noChangeArrowheads="1"/>
          </p:cNvSpPr>
          <p:nvPr/>
        </p:nvSpPr>
        <p:spPr bwMode="auto">
          <a:xfrm>
            <a:off x="883541" y="910733"/>
            <a:ext cx="6755044" cy="643766"/>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rgbClr val="000000"/>
            </a:outerShdw>
          </a:effectLst>
        </p:spPr>
        <p:txBody>
          <a:bodyPr wrap="square" lIns="90488" tIns="44450" rIns="90488" bIns="44450">
            <a:spAutoFit/>
          </a:bodyPr>
          <a:lstStyle/>
          <a:p>
            <a:pPr algn="ctr" eaLnBrk="0" hangingPunct="0">
              <a:defRPr/>
            </a:pPr>
            <a:r>
              <a:rPr lang="en-US" dirty="0"/>
              <a:t>The receivable turnover ratio often is converted to reflect the number of days, on average, it takes a company to collect its</a:t>
            </a:r>
            <a:endParaRPr lang="en-US" b="1" dirty="0">
              <a:solidFill>
                <a:srgbClr val="000000"/>
              </a:solidFill>
              <a:cs typeface="Arial" charset="0"/>
            </a:endParaRP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5" name="Rectangle 4"/>
          <p:cNvSpPr/>
          <p:nvPr/>
        </p:nvSpPr>
        <p:spPr>
          <a:xfrm>
            <a:off x="883541" y="4109164"/>
            <a:ext cx="7022674" cy="1200329"/>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t>The Home Depot’s average days to collect receivables ratio implies that it takes the company an average of just over seven days to collect its accounts receivable. </a:t>
            </a:r>
          </a:p>
          <a:p>
            <a:pPr algn="ctr"/>
            <a:endParaRPr lang="en-US" dirty="0"/>
          </a:p>
        </p:txBody>
      </p:sp>
    </p:spTree>
    <p:extLst>
      <p:ext uri="{BB962C8B-B14F-4D97-AF65-F5344CB8AC3E}">
        <p14:creationId xmlns:p14="http://schemas.microsoft.com/office/powerpoint/2010/main" val="394478815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7768"/>
            <a:ext cx="8375904" cy="1143000"/>
          </a:xfrm>
        </p:spPr>
        <p:txBody>
          <a:bodyPr/>
          <a:lstStyle/>
          <a:p>
            <a:pPr algn="ctr"/>
            <a:r>
              <a:rPr lang="en-US" b="1" dirty="0">
                <a:solidFill>
                  <a:schemeClr val="bg2"/>
                </a:solidFill>
              </a:rPr>
              <a:t>Inventory turnover Ratio</a:t>
            </a:r>
          </a:p>
        </p:txBody>
      </p:sp>
      <p:sp>
        <p:nvSpPr>
          <p:cNvPr id="4" name="Footer Placeholder 3"/>
          <p:cNvSpPr>
            <a:spLocks noGrp="1"/>
          </p:cNvSpPr>
          <p:nvPr>
            <p:ph type="ftr" sz="quarter" idx="11"/>
          </p:nvPr>
        </p:nvSpPr>
        <p:spPr/>
        <p:txBody>
          <a:bodyPr/>
          <a:lstStyle/>
          <a:p>
            <a:r>
              <a:rPr lang="en-US" dirty="0"/>
              <a:t>Copyright © 2013 CFA Institute</a:t>
            </a:r>
          </a:p>
        </p:txBody>
      </p:sp>
      <p:sp>
        <p:nvSpPr>
          <p:cNvPr id="5" name="Slide Number Placeholder 4"/>
          <p:cNvSpPr>
            <a:spLocks noGrp="1"/>
          </p:cNvSpPr>
          <p:nvPr>
            <p:ph type="sldNum" sz="quarter" idx="12"/>
          </p:nvPr>
        </p:nvSpPr>
        <p:spPr/>
        <p:txBody>
          <a:bodyPr/>
          <a:lstStyle/>
          <a:p>
            <a:fld id="{4E4A4924-7CC3-4BF6-9C5C-A8E770D15754}" type="slidenum">
              <a:rPr lang="en-US" smtClean="0"/>
              <a:pPr/>
              <a:t>18</a:t>
            </a:fld>
            <a:endParaRPr lang="en-US"/>
          </a:p>
        </p:txBody>
      </p:sp>
      <p:sp>
        <p:nvSpPr>
          <p:cNvPr id="62" name="Content Placeholder 61"/>
          <p:cNvSpPr>
            <a:spLocks noGrp="1"/>
          </p:cNvSpPr>
          <p:nvPr>
            <p:ph idx="1"/>
          </p:nvPr>
        </p:nvSpPr>
        <p:spPr/>
        <p:txBody>
          <a:bodyPr/>
          <a:lstStyle/>
          <a:p>
            <a:r>
              <a:rPr lang="en-US" dirty="0"/>
              <a:t>Turnover ratios reflect the number of times assets flow into and out of the company during the period.</a:t>
            </a:r>
          </a:p>
          <a:p>
            <a:r>
              <a:rPr lang="en-US" dirty="0"/>
              <a:t>A turnover is a measure of the efficiency of putting assets to work.</a:t>
            </a:r>
          </a:p>
          <a:p>
            <a:r>
              <a:rPr lang="en-US" dirty="0"/>
              <a:t>Ratios:</a:t>
            </a:r>
          </a:p>
          <a:p>
            <a:endParaRPr lang="en-US" dirty="0"/>
          </a:p>
          <a:p>
            <a:endParaRPr lang="en-US" dirty="0"/>
          </a:p>
        </p:txBody>
      </p:sp>
      <mc:AlternateContent xmlns:mc="http://schemas.openxmlformats.org/markup-compatibility/2006" xmlns:a14="http://schemas.microsoft.com/office/drawing/2010/main">
        <mc:Choice Requires="a14">
          <p:graphicFrame>
            <p:nvGraphicFramePr>
              <p:cNvPr id="63" name="Table 62"/>
              <p:cNvGraphicFramePr>
                <a:graphicFrameLocks noGrp="1"/>
              </p:cNvGraphicFramePr>
              <p:nvPr>
                <p:extLst>
                  <p:ext uri="{D42A27DB-BD31-4B8C-83A1-F6EECF244321}">
                    <p14:modId xmlns:p14="http://schemas.microsoft.com/office/powerpoint/2010/main" val="3223337053"/>
                  </p:ext>
                </p:extLst>
              </p:nvPr>
            </p:nvGraphicFramePr>
            <p:xfrm>
              <a:off x="323528" y="2564904"/>
              <a:ext cx="8001000" cy="5271079"/>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1803418">
                    <a:tc>
                      <a:txBody>
                        <a:bodyPr/>
                        <a:lstStyle/>
                        <a:p>
                          <a:pPr algn="l"/>
                          <a:r>
                            <a:rPr lang="en-US" sz="1600" b="1" dirty="0">
                              <a:solidFill>
                                <a:srgbClr val="FF0000"/>
                              </a:solidFill>
                              <a:latin typeface="+mn-lt"/>
                            </a:rPr>
                            <a:t>Inventory turnover</a:t>
                          </a:r>
                          <a:r>
                            <a:rPr lang="en-US" sz="1600" dirty="0">
                              <a:latin typeface="+mn-lt"/>
                            </a:rPr>
                            <a:t> = </a:t>
                          </a:r>
                          <a14:m>
                            <m:oMath xmlns:m="http://schemas.openxmlformats.org/officeDocument/2006/math">
                              <m:f>
                                <m:fPr>
                                  <m:ctrlPr>
                                    <a:rPr lang="en-US" sz="1600" i="1" smtClean="0">
                                      <a:latin typeface="Cambria Math" panose="02040503050406030204" pitchFamily="18" charset="0"/>
                                    </a:rPr>
                                  </m:ctrlPr>
                                </m:fPr>
                                <m:num>
                                  <m:r>
                                    <m:rPr>
                                      <m:nor/>
                                    </m:rPr>
                                    <a:rPr lang="en-US" sz="1600" b="0" i="0" smtClean="0">
                                      <a:latin typeface="+mn-lt"/>
                                    </a:rPr>
                                    <m:t> </m:t>
                                  </m:r>
                                  <m:r>
                                    <m:rPr>
                                      <m:nor/>
                                    </m:rPr>
                                    <a:rPr lang="en-US" sz="1600" b="0" i="0" smtClean="0">
                                      <a:latin typeface="+mn-lt"/>
                                    </a:rPr>
                                    <m:t>Cost</m:t>
                                  </m:r>
                                  <m:r>
                                    <m:rPr>
                                      <m:nor/>
                                    </m:rPr>
                                    <a:rPr lang="en-US" sz="1600" b="0" i="0" smtClean="0">
                                      <a:latin typeface="+mn-lt"/>
                                    </a:rPr>
                                    <m:t> </m:t>
                                  </m:r>
                                  <m:r>
                                    <m:rPr>
                                      <m:nor/>
                                    </m:rPr>
                                    <a:rPr lang="en-US" sz="1600" b="0" i="0" smtClean="0">
                                      <a:latin typeface="+mn-lt"/>
                                    </a:rPr>
                                    <m:t>of</m:t>
                                  </m:r>
                                  <m:r>
                                    <m:rPr>
                                      <m:nor/>
                                    </m:rPr>
                                    <a:rPr lang="en-US" sz="1600" b="0" i="0" smtClean="0">
                                      <a:latin typeface="+mn-lt"/>
                                    </a:rPr>
                                    <m:t> </m:t>
                                  </m:r>
                                  <m:r>
                                    <m:rPr>
                                      <m:nor/>
                                    </m:rPr>
                                    <a:rPr lang="en-US" sz="1600" b="0" i="0" smtClean="0">
                                      <a:latin typeface="+mn-lt"/>
                                    </a:rPr>
                                    <m:t>goods</m:t>
                                  </m:r>
                                  <m:r>
                                    <m:rPr>
                                      <m:nor/>
                                    </m:rPr>
                                    <a:rPr lang="en-US" sz="1600" b="0" i="0" smtClean="0">
                                      <a:latin typeface="+mn-lt"/>
                                    </a:rPr>
                                    <m:t> </m:t>
                                  </m:r>
                                  <m:r>
                                    <m:rPr>
                                      <m:nor/>
                                    </m:rPr>
                                    <a:rPr lang="en-US" sz="1600" b="0" i="0" smtClean="0">
                                      <a:latin typeface="+mn-lt"/>
                                    </a:rPr>
                                    <m:t>sold</m:t>
                                  </m:r>
                                </m:num>
                                <m:den>
                                  <m:r>
                                    <m:rPr>
                                      <m:nor/>
                                    </m:rPr>
                                    <a:rPr lang="en-US" sz="1600" b="0" i="0" smtClean="0">
                                      <a:latin typeface="+mn-lt"/>
                                    </a:rPr>
                                    <m:t>Average</m:t>
                                  </m:r>
                                  <m:r>
                                    <m:rPr>
                                      <m:nor/>
                                    </m:rPr>
                                    <a:rPr lang="en-US" sz="1600" b="0" i="0" smtClean="0">
                                      <a:latin typeface="+mn-lt"/>
                                    </a:rPr>
                                    <m:t> </m:t>
                                  </m:r>
                                  <m:r>
                                    <m:rPr>
                                      <m:nor/>
                                    </m:rPr>
                                    <a:rPr lang="en-US" sz="1600" b="0" i="0" smtClean="0">
                                      <a:latin typeface="+mn-lt"/>
                                    </a:rPr>
                                    <m:t>inventory</m:t>
                                  </m:r>
                                </m:den>
                              </m:f>
                            </m:oMath>
                          </a14:m>
                          <a:r>
                            <a:rPr lang="en-US" sz="1600" dirty="0">
                              <a:latin typeface="+mn-lt"/>
                            </a:rPr>
                            <a:t> </a:t>
                          </a:r>
                        </a:p>
                      </a:txBody>
                      <a:tcPr>
                        <a:solidFill>
                          <a:schemeClr val="bg1"/>
                        </a:solidFill>
                      </a:tcPr>
                    </a:tc>
                    <a:tc>
                      <a:txBody>
                        <a:bodyPr/>
                        <a:lstStyle/>
                        <a:p>
                          <a:pPr algn="l"/>
                          <a:r>
                            <a:rPr lang="en-US" sz="1600" dirty="0">
                              <a:latin typeface="+mn-lt"/>
                            </a:rPr>
                            <a:t>How many times inventory is created and sold during the period.</a:t>
                          </a:r>
                        </a:p>
                      </a:txBody>
                      <a:tcPr>
                        <a:solidFill>
                          <a:schemeClr val="bg1"/>
                        </a:solidFill>
                      </a:tcPr>
                    </a:tc>
                    <a:extLst>
                      <a:ext uri="{0D108BD9-81ED-4DB2-BD59-A6C34878D82A}">
                        <a16:rowId xmlns:a16="http://schemas.microsoft.com/office/drawing/2014/main" val="10000"/>
                      </a:ext>
                    </a:extLst>
                  </a:tr>
                  <a:tr h="1305252">
                    <a:tc>
                      <a:txBody>
                        <a:bodyPr/>
                        <a:lstStyle/>
                        <a:p>
                          <a:pPr algn="l"/>
                          <a14:m>
                            <m:oMath xmlns:m="http://schemas.openxmlformats.org/officeDocument/2006/math">
                              <m:r>
                                <m:rPr>
                                  <m:nor/>
                                </m:rPr>
                                <a:rPr lang="en-US" sz="1600" b="1" i="0" smtClean="0">
                                  <a:solidFill>
                                    <a:srgbClr val="FF0000"/>
                                  </a:solidFill>
                                  <a:latin typeface="Cambria Math"/>
                                </a:rPr>
                                <m:t>N</m:t>
                              </m:r>
                              <m:r>
                                <m:rPr>
                                  <m:nor/>
                                </m:rPr>
                                <a:rPr lang="en-US" sz="1600" b="1" i="0" smtClean="0">
                                  <a:solidFill>
                                    <a:srgbClr val="FF0000"/>
                                  </a:solidFill>
                                  <a:latin typeface="+mn-lt"/>
                                </a:rPr>
                                <m:t>o</m:t>
                              </m:r>
                              <m:r>
                                <m:rPr>
                                  <m:nor/>
                                </m:rPr>
                                <a:rPr lang="en-US" sz="1600" b="1" i="0" smtClean="0">
                                  <a:solidFill>
                                    <a:srgbClr val="FF0000"/>
                                  </a:solidFill>
                                  <a:latin typeface="+mn-lt"/>
                                </a:rPr>
                                <m:t>. </m:t>
                              </m:r>
                              <m:r>
                                <m:rPr>
                                  <m:nor/>
                                </m:rPr>
                                <a:rPr lang="en-US" sz="1600" b="1" i="0" smtClean="0">
                                  <a:solidFill>
                                    <a:srgbClr val="FF0000"/>
                                  </a:solidFill>
                                  <a:latin typeface="+mn-lt"/>
                                </a:rPr>
                                <m:t>of</m:t>
                              </m:r>
                              <m:r>
                                <m:rPr>
                                  <m:nor/>
                                </m:rPr>
                                <a:rPr lang="en-US" sz="1600" b="1" i="0" smtClean="0">
                                  <a:solidFill>
                                    <a:srgbClr val="FF0000"/>
                                  </a:solidFill>
                                  <a:latin typeface="+mn-lt"/>
                                </a:rPr>
                                <m:t> </m:t>
                              </m:r>
                              <m:r>
                                <m:rPr>
                                  <m:nor/>
                                </m:rPr>
                                <a:rPr lang="en-US" sz="1600" b="1" i="0" smtClean="0">
                                  <a:solidFill>
                                    <a:srgbClr val="FF0000"/>
                                  </a:solidFill>
                                  <a:latin typeface="+mn-lt"/>
                                </a:rPr>
                                <m:t>Days</m:t>
                              </m:r>
                              <m:r>
                                <m:rPr>
                                  <m:nor/>
                                </m:rPr>
                                <a:rPr lang="en-US" sz="1600" b="1" i="0" smtClean="0">
                                  <a:solidFill>
                                    <a:srgbClr val="FF0000"/>
                                  </a:solidFill>
                                  <a:latin typeface="+mn-lt"/>
                                </a:rPr>
                                <m:t> </m:t>
                              </m:r>
                              <m:r>
                                <m:rPr>
                                  <m:nor/>
                                </m:rPr>
                                <a:rPr lang="en-US" sz="1600" b="1" i="0" smtClean="0">
                                  <a:solidFill>
                                    <a:srgbClr val="FF0000"/>
                                  </a:solidFill>
                                  <a:latin typeface="+mn-lt"/>
                                </a:rPr>
                                <m:t>in</m:t>
                              </m:r>
                              <m:r>
                                <m:rPr>
                                  <m:nor/>
                                </m:rPr>
                                <a:rPr lang="en-US" sz="1600" b="1" i="0" smtClean="0">
                                  <a:solidFill>
                                    <a:srgbClr val="FF0000"/>
                                  </a:solidFill>
                                  <a:latin typeface="+mn-lt"/>
                                </a:rPr>
                                <m:t> </m:t>
                              </m:r>
                              <m:r>
                                <m:rPr>
                                  <m:nor/>
                                </m:rPr>
                                <a:rPr lang="en-US" sz="1600" b="1" i="0" smtClean="0">
                                  <a:solidFill>
                                    <a:srgbClr val="FF0000"/>
                                  </a:solidFill>
                                  <a:latin typeface="+mn-lt"/>
                                </a:rPr>
                                <m:t>inventory</m:t>
                              </m:r>
                              <m:r>
                                <m:rPr>
                                  <m:nor/>
                                </m:rPr>
                                <a:rPr lang="en-US" sz="1600" b="0" i="0" smtClean="0">
                                  <a:latin typeface="+mn-lt"/>
                                </a:rPr>
                                <m:t> =</m:t>
                              </m:r>
                            </m:oMath>
                          </a14:m>
                          <a:r>
                            <a:rPr lang="en-US" sz="1600" dirty="0">
                              <a:latin typeface="+mn-lt"/>
                            </a:rPr>
                            <a:t>365/Inventory TO</a:t>
                          </a:r>
                        </a:p>
                        <a:p>
                          <a:pPr algn="l"/>
                          <a:endParaRPr lang="en-US" sz="1600" dirty="0">
                            <a:latin typeface="+mn-lt"/>
                          </a:endParaRPr>
                        </a:p>
                        <a:p>
                          <a:pPr algn="l"/>
                          <a:r>
                            <a:rPr lang="en-US" sz="1600" dirty="0">
                              <a:latin typeface="+mn-lt"/>
                            </a:rPr>
                            <a:t>A high turnover ratio</a:t>
                          </a:r>
                          <a:r>
                            <a:rPr lang="en-US" sz="1600" baseline="0" dirty="0">
                              <a:latin typeface="+mn-lt"/>
                            </a:rPr>
                            <a:t> means that the company is selling its goods very quickly and there is a high demand for its products and vice versa</a:t>
                          </a:r>
                          <a:endParaRPr lang="en-US" sz="1600" dirty="0">
                            <a:latin typeface="+mn-lt"/>
                          </a:endParaRPr>
                        </a:p>
                      </a:txBody>
                      <a:tcPr>
                        <a:solidFill>
                          <a:schemeClr val="bg1"/>
                        </a:solidFill>
                      </a:tcPr>
                    </a:tc>
                    <a:tc>
                      <a:txBody>
                        <a:bodyPr/>
                        <a:lstStyle/>
                        <a:p>
                          <a:pPr algn="l"/>
                          <a:r>
                            <a:rPr lang="en-US" sz="1600" dirty="0">
                              <a:latin typeface="+mn-lt"/>
                            </a:rPr>
                            <a:t>Average time it takes to create and sell Cost</a:t>
                          </a:r>
                          <a:r>
                            <a:rPr lang="en-US" sz="1600" baseline="0" dirty="0">
                              <a:latin typeface="+mn-lt"/>
                            </a:rPr>
                            <a:t> of goods sold</a:t>
                          </a:r>
                          <a:endParaRPr lang="en-US" sz="1600" dirty="0">
                            <a:latin typeface="+mn-lt"/>
                          </a:endParaRPr>
                        </a:p>
                      </a:txBody>
                      <a:tcPr>
                        <a:solidFill>
                          <a:schemeClr val="bg1"/>
                        </a:solidFill>
                      </a:tcPr>
                    </a:tc>
                    <a:extLst>
                      <a:ext uri="{0D108BD9-81ED-4DB2-BD59-A6C34878D82A}">
                        <a16:rowId xmlns:a16="http://schemas.microsoft.com/office/drawing/2014/main" val="10001"/>
                      </a:ext>
                    </a:extLst>
                  </a:tr>
                  <a:tr h="1305252">
                    <a:tc>
                      <a:txBody>
                        <a:bodyPr/>
                        <a:lstStyle/>
                        <a:p>
                          <a:pPr algn="l"/>
                          <a:endParaRPr lang="en-US" sz="1600" dirty="0">
                            <a:latin typeface="+mn-lt"/>
                          </a:endParaRPr>
                        </a:p>
                      </a:txBody>
                      <a:tcPr>
                        <a:solidFill>
                          <a:schemeClr val="bg1"/>
                        </a:solidFill>
                      </a:tcPr>
                    </a:tc>
                    <a:tc>
                      <a:txBody>
                        <a:bodyPr/>
                        <a:lstStyle/>
                        <a:p>
                          <a:pPr algn="l"/>
                          <a:endParaRPr lang="en-US" sz="1600" dirty="0">
                            <a:latin typeface="+mn-lt"/>
                          </a:endParaRPr>
                        </a:p>
                      </a:txBody>
                      <a:tcPr>
                        <a:solidFill>
                          <a:schemeClr val="bg1"/>
                        </a:solidFill>
                      </a:tcPr>
                    </a:tc>
                    <a:extLst>
                      <a:ext uri="{0D108BD9-81ED-4DB2-BD59-A6C34878D82A}">
                        <a16:rowId xmlns:a16="http://schemas.microsoft.com/office/drawing/2014/main" val="10002"/>
                      </a:ext>
                    </a:extLst>
                  </a:tr>
                  <a:tr h="851769">
                    <a:tc>
                      <a:txBody>
                        <a:bodyPr/>
                        <a:lstStyle/>
                        <a:p>
                          <a:pPr algn="l"/>
                          <a:endParaRPr lang="en-US" sz="1600" dirty="0">
                            <a:latin typeface="+mn-lt"/>
                          </a:endParaRPr>
                        </a:p>
                      </a:txBody>
                      <a:tcPr>
                        <a:solidFill>
                          <a:schemeClr val="bg1"/>
                        </a:solidFill>
                      </a:tcPr>
                    </a:tc>
                    <a:tc>
                      <a:txBody>
                        <a:bodyPr/>
                        <a:lstStyle/>
                        <a:p>
                          <a:pPr algn="l"/>
                          <a:endParaRPr lang="en-US" sz="1600" dirty="0">
                            <a:latin typeface="+mn-lt"/>
                          </a:endParaRPr>
                        </a:p>
                      </a:txBody>
                      <a:tcPr>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63" name="Table 62"/>
              <p:cNvGraphicFramePr>
                <a:graphicFrameLocks noGrp="1"/>
              </p:cNvGraphicFramePr>
              <p:nvPr>
                <p:extLst>
                  <p:ext uri="{D42A27DB-BD31-4B8C-83A1-F6EECF244321}">
                    <p14:modId xmlns:p14="http://schemas.microsoft.com/office/powerpoint/2010/main" val="3223337053"/>
                  </p:ext>
                </p:extLst>
              </p:nvPr>
            </p:nvGraphicFramePr>
            <p:xfrm>
              <a:off x="323528" y="2564904"/>
              <a:ext cx="8001000" cy="5271079"/>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1803418">
                    <a:tc>
                      <a:txBody>
                        <a:bodyPr/>
                        <a:lstStyle/>
                        <a:p>
                          <a:endParaRPr lang="en-US"/>
                        </a:p>
                      </a:txBody>
                      <a:tcPr>
                        <a:blipFill>
                          <a:blip r:embed="rId3"/>
                          <a:stretch>
                            <a:fillRect l="-121" t="-676" r="-59394" b="-193243"/>
                          </a:stretch>
                        </a:blipFill>
                      </a:tcPr>
                    </a:tc>
                    <a:tc>
                      <a:txBody>
                        <a:bodyPr/>
                        <a:lstStyle/>
                        <a:p>
                          <a:pPr algn="l"/>
                          <a:r>
                            <a:rPr lang="en-US" sz="1600" dirty="0">
                              <a:latin typeface="+mn-lt"/>
                            </a:rPr>
                            <a:t>How many times inventory is created and sold during the period.</a:t>
                          </a:r>
                        </a:p>
                      </a:txBody>
                      <a:tcPr>
                        <a:solidFill>
                          <a:schemeClr val="bg1"/>
                        </a:solidFill>
                      </a:tcPr>
                    </a:tc>
                    <a:extLst>
                      <a:ext uri="{0D108BD9-81ED-4DB2-BD59-A6C34878D82A}">
                        <a16:rowId xmlns:a16="http://schemas.microsoft.com/office/drawing/2014/main" val="10000"/>
                      </a:ext>
                    </a:extLst>
                  </a:tr>
                  <a:tr h="1310640">
                    <a:tc>
                      <a:txBody>
                        <a:bodyPr/>
                        <a:lstStyle/>
                        <a:p>
                          <a:endParaRPr lang="en-US"/>
                        </a:p>
                      </a:txBody>
                      <a:tcPr>
                        <a:blipFill>
                          <a:blip r:embed="rId3"/>
                          <a:stretch>
                            <a:fillRect l="-121" t="-137963" r="-59394" b="-164815"/>
                          </a:stretch>
                        </a:blipFill>
                      </a:tcPr>
                    </a:tc>
                    <a:tc>
                      <a:txBody>
                        <a:bodyPr/>
                        <a:lstStyle/>
                        <a:p>
                          <a:pPr algn="l"/>
                          <a:r>
                            <a:rPr lang="en-US" sz="1600" dirty="0">
                              <a:latin typeface="+mn-lt"/>
                            </a:rPr>
                            <a:t>Average time it takes to create and sell Cost</a:t>
                          </a:r>
                          <a:r>
                            <a:rPr lang="en-US" sz="1600" baseline="0" dirty="0">
                              <a:latin typeface="+mn-lt"/>
                            </a:rPr>
                            <a:t> of goods sold</a:t>
                          </a:r>
                          <a:endParaRPr lang="en-US" sz="1600" dirty="0">
                            <a:latin typeface="+mn-lt"/>
                          </a:endParaRPr>
                        </a:p>
                      </a:txBody>
                      <a:tcPr>
                        <a:solidFill>
                          <a:schemeClr val="bg1"/>
                        </a:solidFill>
                      </a:tcPr>
                    </a:tc>
                    <a:extLst>
                      <a:ext uri="{0D108BD9-81ED-4DB2-BD59-A6C34878D82A}">
                        <a16:rowId xmlns:a16="http://schemas.microsoft.com/office/drawing/2014/main" val="10001"/>
                      </a:ext>
                    </a:extLst>
                  </a:tr>
                  <a:tr h="1305252">
                    <a:tc>
                      <a:txBody>
                        <a:bodyPr/>
                        <a:lstStyle/>
                        <a:p>
                          <a:pPr algn="l"/>
                          <a:endParaRPr lang="en-US" sz="1600" dirty="0">
                            <a:latin typeface="+mn-lt"/>
                          </a:endParaRPr>
                        </a:p>
                      </a:txBody>
                      <a:tcPr>
                        <a:solidFill>
                          <a:schemeClr val="bg1"/>
                        </a:solidFill>
                      </a:tcPr>
                    </a:tc>
                    <a:tc>
                      <a:txBody>
                        <a:bodyPr/>
                        <a:lstStyle/>
                        <a:p>
                          <a:pPr algn="l"/>
                          <a:endParaRPr lang="en-US" sz="1600" dirty="0">
                            <a:latin typeface="+mn-lt"/>
                          </a:endParaRPr>
                        </a:p>
                      </a:txBody>
                      <a:tcPr>
                        <a:solidFill>
                          <a:schemeClr val="bg1"/>
                        </a:solidFill>
                      </a:tcPr>
                    </a:tc>
                    <a:extLst>
                      <a:ext uri="{0D108BD9-81ED-4DB2-BD59-A6C34878D82A}">
                        <a16:rowId xmlns:a16="http://schemas.microsoft.com/office/drawing/2014/main" val="10002"/>
                      </a:ext>
                    </a:extLst>
                  </a:tr>
                  <a:tr h="851769">
                    <a:tc>
                      <a:txBody>
                        <a:bodyPr/>
                        <a:lstStyle/>
                        <a:p>
                          <a:pPr algn="l"/>
                          <a:endParaRPr lang="en-US" sz="1600" dirty="0">
                            <a:latin typeface="+mn-lt"/>
                          </a:endParaRPr>
                        </a:p>
                      </a:txBody>
                      <a:tcPr>
                        <a:solidFill>
                          <a:schemeClr val="bg1"/>
                        </a:solidFill>
                      </a:tcPr>
                    </a:tc>
                    <a:tc>
                      <a:txBody>
                        <a:bodyPr/>
                        <a:lstStyle/>
                        <a:p>
                          <a:pPr algn="l"/>
                          <a:endParaRPr lang="en-US" sz="1600" dirty="0">
                            <a:latin typeface="+mn-lt"/>
                          </a:endParaRPr>
                        </a:p>
                      </a:txBody>
                      <a:tcPr>
                        <a:solidFill>
                          <a:schemeClr val="bg1"/>
                        </a:solid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2769574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39"/>
          <p:cNvSpPr>
            <a:spLocks noGrp="1" noChangeArrowheads="1"/>
          </p:cNvSpPr>
          <p:nvPr>
            <p:ph type="title"/>
          </p:nvPr>
        </p:nvSpPr>
        <p:spPr>
          <a:xfrm>
            <a:off x="585216" y="210312"/>
            <a:ext cx="7650843" cy="544635"/>
          </a:xfrm>
        </p:spPr>
        <p:txBody>
          <a:bodyPr/>
          <a:lstStyle/>
          <a:p>
            <a:r>
              <a:rPr lang="en-US" sz="2400" dirty="0"/>
              <a:t>Inventory Turnover Ratio</a:t>
            </a:r>
          </a:p>
        </p:txBody>
      </p:sp>
      <p:grpSp>
        <p:nvGrpSpPr>
          <p:cNvPr id="32771" name="Group 1027"/>
          <p:cNvGrpSpPr>
            <a:grpSpLocks/>
          </p:cNvGrpSpPr>
          <p:nvPr/>
        </p:nvGrpSpPr>
        <p:grpSpPr bwMode="auto">
          <a:xfrm>
            <a:off x="684148" y="1663981"/>
            <a:ext cx="5070476" cy="754063"/>
            <a:chOff x="388" y="1054"/>
            <a:chExt cx="3194" cy="475"/>
          </a:xfrm>
        </p:grpSpPr>
        <p:sp>
          <p:nvSpPr>
            <p:cNvPr id="32779" name="Rectangle 1028"/>
            <p:cNvSpPr>
              <a:spLocks noChangeArrowheads="1"/>
            </p:cNvSpPr>
            <p:nvPr/>
          </p:nvSpPr>
          <p:spPr bwMode="auto">
            <a:xfrm>
              <a:off x="2124" y="1054"/>
              <a:ext cx="1244"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Cost of Goods Sold</a:t>
              </a:r>
            </a:p>
            <a:p>
              <a:pPr>
                <a:lnSpc>
                  <a:spcPct val="120000"/>
                </a:lnSpc>
              </a:pPr>
              <a:r>
                <a:rPr lang="en-US" b="1" dirty="0">
                  <a:latin typeface="+mn-lt"/>
                </a:rPr>
                <a:t> </a:t>
              </a:r>
              <a:r>
                <a:rPr lang="en-US" b="1" dirty="0">
                  <a:solidFill>
                    <a:srgbClr val="FF3300"/>
                  </a:solidFill>
                  <a:latin typeface="+mn-lt"/>
                </a:rPr>
                <a:t>Average</a:t>
              </a:r>
              <a:r>
                <a:rPr lang="en-US" b="1" dirty="0">
                  <a:latin typeface="+mn-lt"/>
                </a:rPr>
                <a:t> Inventory</a:t>
              </a:r>
            </a:p>
          </p:txBody>
        </p:sp>
        <p:sp>
          <p:nvSpPr>
            <p:cNvPr id="32780" name="Line 1029"/>
            <p:cNvSpPr>
              <a:spLocks noChangeShapeType="1"/>
            </p:cNvSpPr>
            <p:nvPr/>
          </p:nvSpPr>
          <p:spPr bwMode="auto">
            <a:xfrm>
              <a:off x="1938" y="1326"/>
              <a:ext cx="1644"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2781" name="Rectangle 1030"/>
            <p:cNvSpPr>
              <a:spLocks noChangeArrowheads="1"/>
            </p:cNvSpPr>
            <p:nvPr/>
          </p:nvSpPr>
          <p:spPr bwMode="auto">
            <a:xfrm>
              <a:off x="388" y="1107"/>
              <a:ext cx="1494"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Inventory </a:t>
              </a:r>
            </a:p>
            <a:p>
              <a:pPr algn="ctr"/>
              <a:r>
                <a:rPr lang="en-US" b="1" dirty="0">
                  <a:latin typeface="+mn-lt"/>
                </a:rPr>
                <a:t>Turnover Ratio</a:t>
              </a:r>
            </a:p>
          </p:txBody>
        </p:sp>
        <p:sp>
          <p:nvSpPr>
            <p:cNvPr id="32782" name="Rectangle 1031"/>
            <p:cNvSpPr>
              <a:spLocks noChangeArrowheads="1"/>
            </p:cNvSpPr>
            <p:nvPr/>
          </p:nvSpPr>
          <p:spPr bwMode="auto">
            <a:xfrm>
              <a:off x="1499" y="1210"/>
              <a:ext cx="48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grpSp>
      <p:grpSp>
        <p:nvGrpSpPr>
          <p:cNvPr id="3" name="Group 1032"/>
          <p:cNvGrpSpPr>
            <a:grpSpLocks/>
          </p:cNvGrpSpPr>
          <p:nvPr/>
        </p:nvGrpSpPr>
        <p:grpSpPr bwMode="auto">
          <a:xfrm>
            <a:off x="657715" y="2552694"/>
            <a:ext cx="5253040" cy="754063"/>
            <a:chOff x="342" y="2027"/>
            <a:chExt cx="3309" cy="475"/>
          </a:xfrm>
        </p:grpSpPr>
        <p:sp>
          <p:nvSpPr>
            <p:cNvPr id="32774" name="Rectangle 1033"/>
            <p:cNvSpPr>
              <a:spLocks noChangeArrowheads="1"/>
            </p:cNvSpPr>
            <p:nvPr/>
          </p:nvSpPr>
          <p:spPr bwMode="auto">
            <a:xfrm>
              <a:off x="342" y="2056"/>
              <a:ext cx="1494"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 </a:t>
              </a:r>
            </a:p>
            <a:p>
              <a:pPr algn="ctr"/>
              <a:r>
                <a:rPr lang="en-US" b="1" dirty="0">
                  <a:latin typeface="+mn-lt"/>
                </a:rPr>
                <a:t>Depot 2017</a:t>
              </a:r>
            </a:p>
          </p:txBody>
        </p:sp>
        <p:sp>
          <p:nvSpPr>
            <p:cNvPr id="32775" name="Rectangle 1034"/>
            <p:cNvSpPr>
              <a:spLocks noChangeArrowheads="1"/>
            </p:cNvSpPr>
            <p:nvPr/>
          </p:nvSpPr>
          <p:spPr bwMode="auto">
            <a:xfrm>
              <a:off x="1987" y="2027"/>
              <a:ext cx="701"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$66,548</a:t>
              </a:r>
            </a:p>
            <a:p>
              <a:pPr>
                <a:lnSpc>
                  <a:spcPct val="120000"/>
                </a:lnSpc>
              </a:pPr>
              <a:r>
                <a:rPr lang="en-US" b="1" dirty="0">
                  <a:latin typeface="+mn-lt"/>
                </a:rPr>
                <a:t> $12,649*</a:t>
              </a:r>
            </a:p>
          </p:txBody>
        </p:sp>
        <p:sp>
          <p:nvSpPr>
            <p:cNvPr id="32776" name="Line 1035"/>
            <p:cNvSpPr>
              <a:spLocks noChangeShapeType="1"/>
            </p:cNvSpPr>
            <p:nvPr/>
          </p:nvSpPr>
          <p:spPr bwMode="auto">
            <a:xfrm flipV="1">
              <a:off x="1893" y="2275"/>
              <a:ext cx="774" cy="6"/>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2777" name="Rectangle 1036"/>
            <p:cNvSpPr>
              <a:spLocks noChangeArrowheads="1"/>
            </p:cNvSpPr>
            <p:nvPr/>
          </p:nvSpPr>
          <p:spPr bwMode="auto">
            <a:xfrm>
              <a:off x="2736" y="2159"/>
              <a:ext cx="915"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5.26 times</a:t>
              </a:r>
            </a:p>
          </p:txBody>
        </p:sp>
        <p:sp>
          <p:nvSpPr>
            <p:cNvPr id="32778" name="Rectangle 1037"/>
            <p:cNvSpPr>
              <a:spLocks noChangeArrowheads="1"/>
            </p:cNvSpPr>
            <p:nvPr/>
          </p:nvSpPr>
          <p:spPr bwMode="auto">
            <a:xfrm>
              <a:off x="1453" y="2148"/>
              <a:ext cx="48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grpSp>
      <p:sp>
        <p:nvSpPr>
          <p:cNvPr id="257038" name="Rectangle 1038"/>
          <p:cNvSpPr>
            <a:spLocks noChangeArrowheads="1"/>
          </p:cNvSpPr>
          <p:nvPr/>
        </p:nvSpPr>
        <p:spPr bwMode="auto">
          <a:xfrm>
            <a:off x="1405972" y="822890"/>
            <a:ext cx="4651672" cy="643766"/>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rgbClr val="000000"/>
            </a:outerShdw>
          </a:effectLst>
        </p:spPr>
        <p:txBody>
          <a:bodyPr wrap="square" lIns="90488" tIns="44450" rIns="90488" bIns="44450">
            <a:spAutoFit/>
          </a:bodyPr>
          <a:lstStyle/>
          <a:p>
            <a:pPr algn="ctr" eaLnBrk="0" hangingPunct="0">
              <a:defRPr/>
            </a:pPr>
            <a:r>
              <a:rPr lang="en-US" dirty="0">
                <a:solidFill>
                  <a:srgbClr val="000000"/>
                </a:solidFill>
                <a:cs typeface="Arial" charset="0"/>
              </a:rPr>
              <a:t>This ratio measures how quickly the company sells its inventory.</a:t>
            </a: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grpSp>
        <p:nvGrpSpPr>
          <p:cNvPr id="16" name="Group 3"/>
          <p:cNvGrpSpPr>
            <a:grpSpLocks/>
          </p:cNvGrpSpPr>
          <p:nvPr/>
        </p:nvGrpSpPr>
        <p:grpSpPr bwMode="auto">
          <a:xfrm>
            <a:off x="2258508" y="3428991"/>
            <a:ext cx="3882534" cy="795338"/>
            <a:chOff x="1314" y="1962"/>
            <a:chExt cx="3258" cy="501"/>
          </a:xfrm>
        </p:grpSpPr>
        <p:sp>
          <p:nvSpPr>
            <p:cNvPr id="17" name="Rectangle 4"/>
            <p:cNvSpPr>
              <a:spLocks noChangeArrowheads="1"/>
            </p:cNvSpPr>
            <p:nvPr/>
          </p:nvSpPr>
          <p:spPr bwMode="auto">
            <a:xfrm>
              <a:off x="1314" y="2068"/>
              <a:ext cx="115"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endParaRPr lang="en-US" b="1" dirty="0">
                <a:latin typeface="+mn-lt"/>
              </a:endParaRPr>
            </a:p>
          </p:txBody>
        </p:sp>
        <p:sp>
          <p:nvSpPr>
            <p:cNvPr id="18" name="Rectangle 5"/>
            <p:cNvSpPr>
              <a:spLocks noChangeArrowheads="1"/>
            </p:cNvSpPr>
            <p:nvPr/>
          </p:nvSpPr>
          <p:spPr bwMode="auto">
            <a:xfrm>
              <a:off x="1716" y="1962"/>
              <a:ext cx="1895" cy="5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*($12,549 + $12,748))</a:t>
              </a:r>
            </a:p>
            <a:p>
              <a:pPr>
                <a:lnSpc>
                  <a:spcPct val="120000"/>
                </a:lnSpc>
                <a:spcBef>
                  <a:spcPct val="15000"/>
                </a:spcBef>
              </a:pPr>
              <a:r>
                <a:rPr lang="en-US" b="1" dirty="0">
                  <a:latin typeface="+mn-lt"/>
                </a:rPr>
                <a:t>                  2</a:t>
              </a:r>
            </a:p>
          </p:txBody>
        </p:sp>
        <p:sp>
          <p:nvSpPr>
            <p:cNvPr id="19" name="Rectangle 7"/>
            <p:cNvSpPr>
              <a:spLocks noChangeArrowheads="1"/>
            </p:cNvSpPr>
            <p:nvPr/>
          </p:nvSpPr>
          <p:spPr bwMode="auto">
            <a:xfrm>
              <a:off x="3550" y="2097"/>
              <a:ext cx="102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  $12,649</a:t>
              </a:r>
            </a:p>
          </p:txBody>
        </p:sp>
        <p:sp>
          <p:nvSpPr>
            <p:cNvPr id="20" name="Line 8"/>
            <p:cNvSpPr>
              <a:spLocks noChangeShapeType="1"/>
            </p:cNvSpPr>
            <p:nvPr/>
          </p:nvSpPr>
          <p:spPr bwMode="auto">
            <a:xfrm>
              <a:off x="1817" y="2217"/>
              <a:ext cx="1632" cy="3"/>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4" name="Rectangle 3"/>
          <p:cNvSpPr/>
          <p:nvPr/>
        </p:nvSpPr>
        <p:spPr>
          <a:xfrm>
            <a:off x="472611" y="4364328"/>
            <a:ext cx="7510409" cy="1477328"/>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solidFill>
                  <a:srgbClr val="211D1E"/>
                </a:solidFill>
              </a:rPr>
              <a:t>An increase in this ratio is usually favorable. However, if the ratio is too high, it may be an indication that sales were lost because desired items were not in stock. A company must balance the cost of holding inventory with the potential cost of losing a sale. On average, The Home Depot’s inventory was acquired and sold to customers just over 5 times during the year. </a:t>
            </a:r>
            <a:endParaRPr lang="en-US" dirty="0"/>
          </a:p>
        </p:txBody>
      </p:sp>
    </p:spTree>
    <p:extLst>
      <p:ext uri="{BB962C8B-B14F-4D97-AF65-F5344CB8AC3E}">
        <p14:creationId xmlns:p14="http://schemas.microsoft.com/office/powerpoint/2010/main" val="215510573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par>
                          <p:cTn id="8" fill="hold">
                            <p:stCondLst>
                              <p:cond delay="1000"/>
                            </p:stCondLst>
                            <p:childTnLst>
                              <p:par>
                                <p:cTn id="9" presetID="1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slide(fromLeft)">
                                      <p:cBhvr>
                                        <p:cTn id="11"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585216" y="210312"/>
            <a:ext cx="7650843" cy="544635"/>
          </a:xfrm>
        </p:spPr>
        <p:txBody>
          <a:bodyPr>
            <a:normAutofit fontScale="90000"/>
          </a:bodyPr>
          <a:lstStyle/>
          <a:p>
            <a:r>
              <a:rPr lang="en-US" sz="2400" dirty="0"/>
              <a:t>Inventory Turnover Ratio – Converted to Days</a:t>
            </a:r>
          </a:p>
        </p:txBody>
      </p:sp>
      <p:grpSp>
        <p:nvGrpSpPr>
          <p:cNvPr id="30723" name="Group 19"/>
          <p:cNvGrpSpPr>
            <a:grpSpLocks/>
          </p:cNvGrpSpPr>
          <p:nvPr/>
        </p:nvGrpSpPr>
        <p:grpSpPr bwMode="auto">
          <a:xfrm>
            <a:off x="499097" y="1866422"/>
            <a:ext cx="5421656" cy="785813"/>
            <a:chOff x="298" y="1099"/>
            <a:chExt cx="3459" cy="495"/>
          </a:xfrm>
        </p:grpSpPr>
        <p:sp>
          <p:nvSpPr>
            <p:cNvPr id="30732" name="Rectangle 4"/>
            <p:cNvSpPr>
              <a:spLocks noChangeArrowheads="1"/>
            </p:cNvSpPr>
            <p:nvPr/>
          </p:nvSpPr>
          <p:spPr bwMode="auto">
            <a:xfrm>
              <a:off x="1994" y="1119"/>
              <a:ext cx="1636"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Days in a Year</a:t>
              </a:r>
            </a:p>
            <a:p>
              <a:pPr algn="ctr">
                <a:lnSpc>
                  <a:spcPct val="120000"/>
                </a:lnSpc>
              </a:pPr>
              <a:r>
                <a:rPr lang="en-US" b="1" dirty="0">
                  <a:latin typeface="+mn-lt"/>
                </a:rPr>
                <a:t>Inventory Turnover Ratio</a:t>
              </a:r>
            </a:p>
          </p:txBody>
        </p:sp>
        <p:sp>
          <p:nvSpPr>
            <p:cNvPr id="30733" name="Line 5"/>
            <p:cNvSpPr>
              <a:spLocks noChangeShapeType="1"/>
            </p:cNvSpPr>
            <p:nvPr/>
          </p:nvSpPr>
          <p:spPr bwMode="auto">
            <a:xfrm flipV="1">
              <a:off x="2000" y="1375"/>
              <a:ext cx="1757"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0734" name="Rectangle 6"/>
            <p:cNvSpPr>
              <a:spLocks noChangeArrowheads="1"/>
            </p:cNvSpPr>
            <p:nvPr/>
          </p:nvSpPr>
          <p:spPr bwMode="auto">
            <a:xfrm>
              <a:off x="298" y="1099"/>
              <a:ext cx="1494"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spcBef>
                  <a:spcPct val="50000"/>
                </a:spcBef>
              </a:pPr>
              <a:r>
                <a:rPr lang="en-US" b="1" dirty="0">
                  <a:latin typeface="+mn-lt"/>
                </a:rPr>
                <a:t>Average Days to Sell Inventory</a:t>
              </a:r>
            </a:p>
          </p:txBody>
        </p:sp>
        <p:sp>
          <p:nvSpPr>
            <p:cNvPr id="30735" name="Rectangle 7"/>
            <p:cNvSpPr>
              <a:spLocks noChangeArrowheads="1"/>
            </p:cNvSpPr>
            <p:nvPr/>
          </p:nvSpPr>
          <p:spPr bwMode="auto">
            <a:xfrm>
              <a:off x="1546" y="1243"/>
              <a:ext cx="48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grpSp>
      <p:grpSp>
        <p:nvGrpSpPr>
          <p:cNvPr id="3" name="Group 15"/>
          <p:cNvGrpSpPr>
            <a:grpSpLocks/>
          </p:cNvGrpSpPr>
          <p:nvPr/>
        </p:nvGrpSpPr>
        <p:grpSpPr bwMode="auto">
          <a:xfrm>
            <a:off x="499097" y="2889368"/>
            <a:ext cx="5446092" cy="754063"/>
            <a:chOff x="514972" y="3205163"/>
            <a:chExt cx="5446092" cy="754063"/>
          </a:xfrm>
        </p:grpSpPr>
        <p:sp>
          <p:nvSpPr>
            <p:cNvPr id="30726" name="Rectangle 9"/>
            <p:cNvSpPr>
              <a:spLocks noChangeArrowheads="1"/>
            </p:cNvSpPr>
            <p:nvPr/>
          </p:nvSpPr>
          <p:spPr bwMode="auto">
            <a:xfrm>
              <a:off x="514972" y="3315460"/>
              <a:ext cx="2371725" cy="6437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grpSp>
          <p:nvGrpSpPr>
            <p:cNvPr id="30727" name="Group 17"/>
            <p:cNvGrpSpPr>
              <a:grpSpLocks/>
            </p:cNvGrpSpPr>
            <p:nvPr/>
          </p:nvGrpSpPr>
          <p:grpSpPr bwMode="auto">
            <a:xfrm>
              <a:off x="2454275" y="3205163"/>
              <a:ext cx="3506789" cy="754063"/>
              <a:chOff x="1546" y="2019"/>
              <a:chExt cx="2209" cy="475"/>
            </a:xfrm>
          </p:grpSpPr>
          <p:sp>
            <p:nvSpPr>
              <p:cNvPr id="30728" name="Rectangle 11"/>
              <p:cNvSpPr>
                <a:spLocks noChangeArrowheads="1"/>
              </p:cNvSpPr>
              <p:nvPr/>
            </p:nvSpPr>
            <p:spPr bwMode="auto">
              <a:xfrm>
                <a:off x="2036" y="2019"/>
                <a:ext cx="1278"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365</a:t>
                </a:r>
              </a:p>
              <a:p>
                <a:pPr>
                  <a:lnSpc>
                    <a:spcPct val="120000"/>
                  </a:lnSpc>
                </a:pPr>
                <a:r>
                  <a:rPr lang="en-US" b="1" dirty="0">
                    <a:latin typeface="+mn-lt"/>
                  </a:rPr>
                  <a:t>   5.26		</a:t>
                </a:r>
              </a:p>
            </p:txBody>
          </p:sp>
          <p:sp>
            <p:nvSpPr>
              <p:cNvPr id="30729" name="Line 12"/>
              <p:cNvSpPr>
                <a:spLocks noChangeShapeType="1"/>
              </p:cNvSpPr>
              <p:nvPr/>
            </p:nvSpPr>
            <p:spPr bwMode="auto">
              <a:xfrm>
                <a:off x="1986" y="2275"/>
                <a:ext cx="794"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0730" name="Rectangle 13"/>
              <p:cNvSpPr>
                <a:spLocks noChangeArrowheads="1"/>
              </p:cNvSpPr>
              <p:nvPr/>
            </p:nvSpPr>
            <p:spPr bwMode="auto">
              <a:xfrm>
                <a:off x="2829" y="2163"/>
                <a:ext cx="92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69.39 days</a:t>
                </a:r>
              </a:p>
            </p:txBody>
          </p:sp>
          <p:sp>
            <p:nvSpPr>
              <p:cNvPr id="30731" name="Rectangle 14"/>
              <p:cNvSpPr>
                <a:spLocks noChangeArrowheads="1"/>
              </p:cNvSpPr>
              <p:nvPr/>
            </p:nvSpPr>
            <p:spPr bwMode="auto">
              <a:xfrm>
                <a:off x="1546" y="2155"/>
                <a:ext cx="48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grpSp>
      </p:grpSp>
      <p:sp>
        <p:nvSpPr>
          <p:cNvPr id="254991" name="Rectangle 15"/>
          <p:cNvSpPr>
            <a:spLocks noChangeArrowheads="1"/>
          </p:cNvSpPr>
          <p:nvPr/>
        </p:nvSpPr>
        <p:spPr bwMode="auto">
          <a:xfrm>
            <a:off x="827584" y="910732"/>
            <a:ext cx="6811001" cy="920765"/>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rgbClr val="000000"/>
            </a:outerShdw>
          </a:effectLst>
        </p:spPr>
        <p:txBody>
          <a:bodyPr wrap="square" lIns="90488" tIns="44450" rIns="90488" bIns="44450">
            <a:spAutoFit/>
          </a:bodyPr>
          <a:lstStyle/>
          <a:p>
            <a:pPr algn="ctr" eaLnBrk="0" hangingPunct="0">
              <a:defRPr/>
            </a:pPr>
            <a:r>
              <a:rPr lang="en-US" dirty="0"/>
              <a:t>The inventory turnover ratio often is converted to reflect the number of days, on average, it takes a company to sell its inventory. </a:t>
            </a:r>
            <a:endParaRPr lang="en-US" b="1" dirty="0">
              <a:solidFill>
                <a:srgbClr val="000000"/>
              </a:solidFill>
              <a:cs typeface="Arial" charset="0"/>
            </a:endParaRP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5" name="Rectangle 4"/>
          <p:cNvSpPr/>
          <p:nvPr/>
        </p:nvSpPr>
        <p:spPr>
          <a:xfrm>
            <a:off x="1174108" y="4181361"/>
            <a:ext cx="6113160" cy="923330"/>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t>The Home Depot’s average days to sell inventory ratio implies that, on average, it takes the company just over sixty-nine days to sell its inventory. </a:t>
            </a:r>
          </a:p>
        </p:txBody>
      </p:sp>
    </p:spTree>
    <p:extLst>
      <p:ext uri="{BB962C8B-B14F-4D97-AF65-F5344CB8AC3E}">
        <p14:creationId xmlns:p14="http://schemas.microsoft.com/office/powerpoint/2010/main" val="25213428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585216" y="210312"/>
            <a:ext cx="6934200" cy="715962"/>
          </a:xfrm>
        </p:spPr>
        <p:txBody>
          <a:bodyPr/>
          <a:lstStyle/>
          <a:p>
            <a:r>
              <a:rPr lang="en-US" dirty="0"/>
              <a:t>Accounts Payable Turnover</a:t>
            </a:r>
          </a:p>
        </p:txBody>
      </p:sp>
      <p:sp>
        <p:nvSpPr>
          <p:cNvPr id="4" name="TextBox 3"/>
          <p:cNvSpPr txBox="1"/>
          <p:nvPr/>
        </p:nvSpPr>
        <p:spPr>
          <a:xfrm>
            <a:off x="617574" y="1684158"/>
            <a:ext cx="8130890" cy="923330"/>
          </a:xfrm>
          <a:prstGeom prst="rect">
            <a:avLst/>
          </a:prstGeom>
          <a:noFill/>
          <a:ln>
            <a:solidFill>
              <a:schemeClr val="tx1"/>
            </a:solidFill>
          </a:ln>
        </p:spPr>
        <p:txBody>
          <a:bodyPr wrap="square">
            <a:spAutoFit/>
          </a:bodyPr>
          <a:lstStyle/>
          <a:p>
            <a:pPr>
              <a:defRPr/>
            </a:pPr>
            <a:r>
              <a:rPr lang="en-US" b="1" dirty="0"/>
              <a:t>Accounts Payable Turnover  =  </a:t>
            </a:r>
          </a:p>
          <a:p>
            <a:pPr>
              <a:defRPr/>
            </a:pPr>
            <a:endParaRPr lang="en-US" b="1" dirty="0"/>
          </a:p>
          <a:p>
            <a:pPr>
              <a:defRPr/>
            </a:pPr>
            <a:r>
              <a:rPr lang="en-US" b="1" dirty="0"/>
              <a:t>Purchases (or COGS)  /  Average Accounts Payable</a:t>
            </a:r>
          </a:p>
        </p:txBody>
      </p:sp>
      <p:sp>
        <p:nvSpPr>
          <p:cNvPr id="5" name="TextBox 4"/>
          <p:cNvSpPr txBox="1"/>
          <p:nvPr/>
        </p:nvSpPr>
        <p:spPr>
          <a:xfrm>
            <a:off x="604351" y="2907780"/>
            <a:ext cx="6096000" cy="923330"/>
          </a:xfrm>
          <a:prstGeom prst="rect">
            <a:avLst/>
          </a:prstGeom>
          <a:noFill/>
        </p:spPr>
        <p:txBody>
          <a:bodyPr wrap="square">
            <a:spAutoFit/>
          </a:bodyPr>
          <a:lstStyle/>
          <a:p>
            <a:pPr algn="ctr">
              <a:defRPr/>
            </a:pPr>
            <a:r>
              <a:rPr lang="en-US" dirty="0"/>
              <a:t>Measures how quickly management is paying its suppliers. </a:t>
            </a:r>
          </a:p>
          <a:p>
            <a:pPr algn="ctr">
              <a:defRPr/>
            </a:pPr>
            <a:r>
              <a:rPr lang="en-US" dirty="0"/>
              <a:t>A high accounts payable ratio normally suggests that a company is paying its suppliers in a timely manner.</a:t>
            </a:r>
          </a:p>
        </p:txBody>
      </p:sp>
      <p:sp>
        <p:nvSpPr>
          <p:cNvPr id="7" name="TextBox 6"/>
          <p:cNvSpPr txBox="1"/>
          <p:nvPr/>
        </p:nvSpPr>
        <p:spPr>
          <a:xfrm>
            <a:off x="304800" y="4471038"/>
            <a:ext cx="7620000" cy="646331"/>
          </a:xfrm>
          <a:prstGeom prst="rect">
            <a:avLst/>
          </a:prstGeom>
          <a:solidFill>
            <a:schemeClr val="accent1">
              <a:lumMod val="20000"/>
              <a:lumOff val="80000"/>
            </a:schemeClr>
          </a:solidFill>
          <a:ln>
            <a:solidFill>
              <a:schemeClr val="tx1"/>
            </a:solidFill>
          </a:ln>
        </p:spPr>
        <p:txBody>
          <a:bodyPr wrap="square">
            <a:spAutoFit/>
          </a:bodyPr>
          <a:lstStyle/>
          <a:p>
            <a:pPr algn="ctr" hangingPunct="0">
              <a:defRPr/>
            </a:pPr>
            <a:r>
              <a:rPr lang="en-US" dirty="0"/>
              <a:t>The ratio is more intuitive by dividing it into the number of days in a year: </a:t>
            </a:r>
          </a:p>
          <a:p>
            <a:pPr algn="ctr" hangingPunct="0">
              <a:defRPr/>
            </a:pPr>
            <a:r>
              <a:rPr lang="en-US" b="1" dirty="0"/>
              <a:t>Average Days to pay payables  =  365 Days  ÷  Accounts Payable Turnover Ratio</a:t>
            </a:r>
            <a:endParaRPr lang="en-US" dirty="0"/>
          </a:p>
        </p:txBody>
      </p:sp>
      <p:sp>
        <p:nvSpPr>
          <p:cNvPr id="2" name="Footer Placeholder 1"/>
          <p:cNvSpPr>
            <a:spLocks noGrp="1"/>
          </p:cNvSpPr>
          <p:nvPr>
            <p:ph type="ftr" sz="quarter" idx="3"/>
          </p:nvPr>
        </p:nvSpPr>
        <p:spPr/>
        <p:txBody>
          <a:bodyPr/>
          <a:lstStyle/>
          <a:p>
            <a:r>
              <a:rPr lang="en-US" dirty="0">
                <a:solidFill>
                  <a:prstClr val="black"/>
                </a:solidFill>
              </a:rPr>
              <a:t>Copyright ©2020 McGraw-Hill Education. All rights reserved. No reproduction or distribution without the prior written consent of McGraw-Hill Education. </a:t>
            </a:r>
          </a:p>
        </p:txBody>
      </p:sp>
      <p:sp>
        <p:nvSpPr>
          <p:cNvPr id="9" name="Rectangle 8"/>
          <p:cNvSpPr/>
          <p:nvPr/>
        </p:nvSpPr>
        <p:spPr>
          <a:xfrm>
            <a:off x="4899546" y="838200"/>
            <a:ext cx="2323284" cy="218070"/>
          </a:xfrm>
          <a:prstGeom prst="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a:p>
            <a:pPr algn="ctr"/>
            <a:r>
              <a:rPr lang="en-US" dirty="0"/>
              <a:t>KEY RATIO ANALYSIS</a:t>
            </a:r>
          </a:p>
        </p:txBody>
      </p:sp>
      <p:sp>
        <p:nvSpPr>
          <p:cNvPr id="10" name="TextBox 9"/>
          <p:cNvSpPr txBox="1"/>
          <p:nvPr/>
        </p:nvSpPr>
        <p:spPr>
          <a:xfrm>
            <a:off x="6414590" y="967022"/>
            <a:ext cx="1883249" cy="923330"/>
          </a:xfrm>
          <a:prstGeom prst="rect">
            <a:avLst/>
          </a:prstGeom>
          <a:noFill/>
        </p:spPr>
        <p:txBody>
          <a:bodyPr wrap="square" rtlCol="0">
            <a:spAutoFit/>
          </a:bodyPr>
          <a:lstStyle/>
          <a:p>
            <a:pPr algn="ctr"/>
            <a:r>
              <a:rPr lang="en-US" sz="5400" dirty="0">
                <a:solidFill>
                  <a:srgbClr val="622233"/>
                </a:solidFill>
              </a:rPr>
              <a:t>$$$</a:t>
            </a:r>
          </a:p>
        </p:txBody>
      </p:sp>
    </p:spTree>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585216" y="210312"/>
            <a:ext cx="6934200" cy="715962"/>
          </a:xfrm>
        </p:spPr>
        <p:txBody>
          <a:bodyPr/>
          <a:lstStyle/>
          <a:p>
            <a:r>
              <a:rPr lang="en-US" dirty="0"/>
              <a:t>Accounts Payable Turnover</a:t>
            </a:r>
          </a:p>
        </p:txBody>
      </p:sp>
      <p:sp>
        <p:nvSpPr>
          <p:cNvPr id="5" name="TextBox 4"/>
          <p:cNvSpPr txBox="1"/>
          <p:nvPr/>
        </p:nvSpPr>
        <p:spPr>
          <a:xfrm>
            <a:off x="733108" y="1279274"/>
            <a:ext cx="6096000" cy="3416320"/>
          </a:xfrm>
          <a:prstGeom prst="rect">
            <a:avLst/>
          </a:prstGeom>
          <a:noFill/>
        </p:spPr>
        <p:txBody>
          <a:bodyPr wrap="square">
            <a:spAutoFit/>
          </a:bodyPr>
          <a:lstStyle/>
          <a:p>
            <a:pPr algn="ctr">
              <a:defRPr/>
            </a:pPr>
            <a:r>
              <a:rPr lang="en-US" dirty="0"/>
              <a:t>Measures how quickly management is paying its suppliers. </a:t>
            </a:r>
          </a:p>
          <a:p>
            <a:pPr algn="ctr">
              <a:defRPr/>
            </a:pPr>
            <a:r>
              <a:rPr lang="en-US" dirty="0"/>
              <a:t>A high accounts payable ratio normally suggests that a company is paying its suppliers in a timely manner.</a:t>
            </a:r>
          </a:p>
          <a:p>
            <a:endParaRPr lang="en-US" dirty="0"/>
          </a:p>
          <a:p>
            <a:r>
              <a:rPr lang="en-US" dirty="0"/>
              <a:t>A decreasing ratio could signal that the company is taking longer to pay off its suppliers and is suffering financial distress (or it might signal that the company has negotiated different payment arrangements with its suppliers)</a:t>
            </a:r>
          </a:p>
          <a:p>
            <a:pPr algn="ctr">
              <a:defRPr/>
            </a:pPr>
            <a:endParaRPr lang="en-US" dirty="0"/>
          </a:p>
          <a:p>
            <a:pPr algn="ctr">
              <a:defRPr/>
            </a:pPr>
            <a:endParaRPr lang="en-US" dirty="0"/>
          </a:p>
        </p:txBody>
      </p:sp>
      <p:sp>
        <p:nvSpPr>
          <p:cNvPr id="7" name="TextBox 6"/>
          <p:cNvSpPr txBox="1"/>
          <p:nvPr/>
        </p:nvSpPr>
        <p:spPr>
          <a:xfrm>
            <a:off x="304800" y="4471038"/>
            <a:ext cx="7620000" cy="646331"/>
          </a:xfrm>
          <a:prstGeom prst="rect">
            <a:avLst/>
          </a:prstGeom>
          <a:solidFill>
            <a:schemeClr val="accent1">
              <a:lumMod val="20000"/>
              <a:lumOff val="80000"/>
            </a:schemeClr>
          </a:solidFill>
          <a:ln>
            <a:solidFill>
              <a:schemeClr val="tx1"/>
            </a:solidFill>
          </a:ln>
        </p:spPr>
        <p:txBody>
          <a:bodyPr wrap="square">
            <a:spAutoFit/>
          </a:bodyPr>
          <a:lstStyle/>
          <a:p>
            <a:pPr algn="ctr" hangingPunct="0">
              <a:defRPr/>
            </a:pPr>
            <a:r>
              <a:rPr lang="en-US" dirty="0"/>
              <a:t>The ratio is more intuitive by dividing it into the number of days in a year: </a:t>
            </a:r>
          </a:p>
          <a:p>
            <a:pPr algn="ctr" hangingPunct="0">
              <a:defRPr/>
            </a:pPr>
            <a:r>
              <a:rPr lang="en-US" b="1" dirty="0"/>
              <a:t>Average Days to pay payables  =  365 Days  ÷  Accounts Payable Turnover Ratio</a:t>
            </a:r>
            <a:endParaRPr lang="en-US" dirty="0"/>
          </a:p>
        </p:txBody>
      </p:sp>
      <p:sp>
        <p:nvSpPr>
          <p:cNvPr id="2" name="Footer Placeholder 1"/>
          <p:cNvSpPr>
            <a:spLocks noGrp="1"/>
          </p:cNvSpPr>
          <p:nvPr>
            <p:ph type="ftr" sz="quarter" idx="3"/>
          </p:nvPr>
        </p:nvSpPr>
        <p:spPr/>
        <p:txBody>
          <a:bodyPr/>
          <a:lstStyle/>
          <a:p>
            <a:r>
              <a:rPr lang="en-US" dirty="0">
                <a:solidFill>
                  <a:prstClr val="black"/>
                </a:solidFill>
              </a:rPr>
              <a:t>Copyright ©2020 McGraw-Hill Education. All rights reserved. No reproduction or distribution without the prior written consent of McGraw-Hill Education. </a:t>
            </a:r>
          </a:p>
        </p:txBody>
      </p:sp>
      <p:sp>
        <p:nvSpPr>
          <p:cNvPr id="9" name="Rectangle 8"/>
          <p:cNvSpPr/>
          <p:nvPr/>
        </p:nvSpPr>
        <p:spPr>
          <a:xfrm>
            <a:off x="4899546" y="838200"/>
            <a:ext cx="2323284" cy="218070"/>
          </a:xfrm>
          <a:prstGeom prst="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a:p>
            <a:pPr algn="ctr"/>
            <a:r>
              <a:rPr lang="en-US" dirty="0"/>
              <a:t>KEY RATIO ANALYSIS</a:t>
            </a:r>
          </a:p>
        </p:txBody>
      </p:sp>
      <p:sp>
        <p:nvSpPr>
          <p:cNvPr id="10" name="TextBox 9"/>
          <p:cNvSpPr txBox="1"/>
          <p:nvPr/>
        </p:nvSpPr>
        <p:spPr>
          <a:xfrm>
            <a:off x="6414590" y="967022"/>
            <a:ext cx="1883249" cy="923330"/>
          </a:xfrm>
          <a:prstGeom prst="rect">
            <a:avLst/>
          </a:prstGeom>
          <a:noFill/>
        </p:spPr>
        <p:txBody>
          <a:bodyPr wrap="square" rtlCol="0">
            <a:spAutoFit/>
          </a:bodyPr>
          <a:lstStyle/>
          <a:p>
            <a:pPr algn="ctr"/>
            <a:r>
              <a:rPr lang="en-US" sz="5400" dirty="0">
                <a:solidFill>
                  <a:srgbClr val="622233"/>
                </a:solidFill>
              </a:rPr>
              <a:t>$$$</a:t>
            </a:r>
          </a:p>
        </p:txBody>
      </p:sp>
    </p:spTree>
    <p:extLst>
      <p:ext uri="{BB962C8B-B14F-4D97-AF65-F5344CB8AC3E}">
        <p14:creationId xmlns:p14="http://schemas.microsoft.com/office/powerpoint/2010/main" val="512523070"/>
      </p:ext>
    </p:extLst>
  </p:cSld>
  <p:clrMapOvr>
    <a:masterClrMapping/>
  </p:clrMapOvr>
  <p:transition>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Rectangle 2"/>
          <p:cNvSpPr txBox="1">
            <a:spLocks noGrp="1"/>
          </p:cNvSpPr>
          <p:nvPr>
            <p:ph type="title"/>
          </p:nvPr>
        </p:nvSpPr>
        <p:spPr>
          <a:xfrm>
            <a:off x="628659" y="904062"/>
            <a:ext cx="8515351" cy="920347"/>
          </a:xfrm>
          <a:prstGeom prst="rect">
            <a:avLst/>
          </a:prstGeom>
        </p:spPr>
        <p:txBody>
          <a:bodyPr/>
          <a:lstStyle/>
          <a:p>
            <a:r>
              <a:rPr b="1" dirty="0">
                <a:solidFill>
                  <a:srgbClr val="003DA5"/>
                </a:solidFill>
              </a:rPr>
              <a:t>Operating and Cash Cycles</a:t>
            </a:r>
          </a:p>
        </p:txBody>
      </p:sp>
      <p:sp>
        <p:nvSpPr>
          <p:cNvPr id="163" name="Content Placeholder 2"/>
          <p:cNvSpPr txBox="1">
            <a:spLocks noGrp="1"/>
          </p:cNvSpPr>
          <p:nvPr>
            <p:ph type="body" idx="1"/>
          </p:nvPr>
        </p:nvSpPr>
        <p:spPr>
          <a:xfrm>
            <a:off x="615462" y="1847953"/>
            <a:ext cx="8403011" cy="4059280"/>
          </a:xfrm>
          <a:prstGeom prst="rect">
            <a:avLst/>
          </a:prstGeom>
        </p:spPr>
        <p:txBody>
          <a:bodyPr/>
          <a:lstStyle/>
          <a:p>
            <a:pPr marL="458775" indent="-458775">
              <a:lnSpc>
                <a:spcPct val="81000"/>
              </a:lnSpc>
            </a:pPr>
            <a:r>
              <a:rPr sz="3200" b="1" dirty="0">
                <a:solidFill>
                  <a:srgbClr val="C00000"/>
                </a:solidFill>
              </a:rPr>
              <a:t>The operating cycle </a:t>
            </a:r>
            <a:r>
              <a:rPr sz="2000" dirty="0"/>
              <a:t>is the number of days that inventory is held before it is sold and the number of days that accounts receivables is held before collection. </a:t>
            </a:r>
          </a:p>
          <a:p>
            <a:pPr marL="458775" indent="-458775">
              <a:lnSpc>
                <a:spcPct val="81000"/>
              </a:lnSpc>
              <a:defRPr sz="900"/>
            </a:pPr>
            <a:endParaRPr sz="2000" dirty="0"/>
          </a:p>
          <a:p>
            <a:pPr marL="458775" indent="-458775">
              <a:lnSpc>
                <a:spcPct val="81000"/>
              </a:lnSpc>
            </a:pPr>
            <a:r>
              <a:rPr sz="3200" b="1" dirty="0">
                <a:solidFill>
                  <a:srgbClr val="C00000"/>
                </a:solidFill>
              </a:rPr>
              <a:t>The cash conversion cycle </a:t>
            </a:r>
            <a:r>
              <a:rPr sz="3200" dirty="0"/>
              <a:t>is </a:t>
            </a:r>
            <a:r>
              <a:rPr sz="2000" dirty="0"/>
              <a:t>the operating cycle minus the average age of accounts payable. </a:t>
            </a:r>
          </a:p>
          <a:p>
            <a:pPr marL="458775" indent="-458775">
              <a:lnSpc>
                <a:spcPct val="81000"/>
              </a:lnSpc>
              <a:defRPr sz="900"/>
            </a:pPr>
            <a:r>
              <a:rPr dirty="0"/>
              <a:t> </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build="p"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 Placeholder 1"/>
          <p:cNvSpPr txBox="1">
            <a:spLocks noGrp="1"/>
          </p:cNvSpPr>
          <p:nvPr>
            <p:ph type="body" idx="1"/>
          </p:nvPr>
        </p:nvSpPr>
        <p:spPr>
          <a:xfrm>
            <a:off x="249358" y="1123637"/>
            <a:ext cx="8567541" cy="5070413"/>
          </a:xfrm>
          <a:prstGeom prst="rect">
            <a:avLst/>
          </a:prstGeom>
        </p:spPr>
        <p:txBody>
          <a:bodyPr/>
          <a:lstStyle/>
          <a:p>
            <a:r>
              <a:rPr dirty="0"/>
              <a:t>Example: Assume that a company has an average age of inventory of 120 days, an average age of accounts payable of 100 days and an average age of accounts receivable of 40 days. </a:t>
            </a:r>
          </a:p>
          <a:p>
            <a:r>
              <a:rPr dirty="0"/>
              <a:t>Calculate the operating cycle and the cash cycle.</a:t>
            </a:r>
          </a:p>
        </p:txBody>
      </p:sp>
      <p:grpSp>
        <p:nvGrpSpPr>
          <p:cNvPr id="181" name="Group 2"/>
          <p:cNvGrpSpPr/>
          <p:nvPr/>
        </p:nvGrpSpPr>
        <p:grpSpPr>
          <a:xfrm>
            <a:off x="715694" y="2780928"/>
            <a:ext cx="7634868" cy="3245084"/>
            <a:chOff x="-2" y="-2"/>
            <a:chExt cx="6501554" cy="3534285"/>
          </a:xfrm>
        </p:grpSpPr>
        <p:grpSp>
          <p:nvGrpSpPr>
            <p:cNvPr id="168" name="Right Arrow 3"/>
            <p:cNvGrpSpPr/>
            <p:nvPr/>
          </p:nvGrpSpPr>
          <p:grpSpPr>
            <a:xfrm>
              <a:off x="0" y="760585"/>
              <a:ext cx="4479686" cy="1622167"/>
              <a:chOff x="0" y="0"/>
              <a:chExt cx="4479685" cy="1622165"/>
            </a:xfrm>
          </p:grpSpPr>
          <p:sp>
            <p:nvSpPr>
              <p:cNvPr id="166" name="Arrow"/>
              <p:cNvSpPr/>
              <p:nvPr/>
            </p:nvSpPr>
            <p:spPr>
              <a:xfrm>
                <a:off x="0" y="0"/>
                <a:ext cx="4479685" cy="1622165"/>
              </a:xfrm>
              <a:prstGeom prst="rightArrow">
                <a:avLst>
                  <a:gd name="adj1" fmla="val 50000"/>
                  <a:gd name="adj2" fmla="val 50000"/>
                </a:avLst>
              </a:prstGeom>
              <a:solidFill>
                <a:srgbClr val="679080"/>
              </a:solidFill>
              <a:ln w="6350" cap="flat">
                <a:solidFill>
                  <a:srgbClr val="7DAB96"/>
                </a:solidFill>
                <a:prstDash val="solid"/>
                <a:miter lim="800000"/>
              </a:ln>
              <a:effectLst/>
            </p:spPr>
            <p:txBody>
              <a:bodyPr wrap="square" lIns="45719" tIns="45719" rIns="45719" bIns="45719" numCol="1" anchor="t">
                <a:noAutofit/>
              </a:bodyPr>
              <a:lstStyle/>
              <a:p>
                <a:pPr algn="ctr">
                  <a:spcBef>
                    <a:spcPts val="600"/>
                  </a:spcBef>
                  <a:defRPr sz="1800">
                    <a:solidFill>
                      <a:srgbClr val="FFFFFF"/>
                    </a:solidFill>
                    <a:latin typeface="Verdana"/>
                    <a:ea typeface="Verdana"/>
                    <a:cs typeface="Verdana"/>
                    <a:sym typeface="Verdana"/>
                  </a:defRPr>
                </a:pPr>
                <a:endParaRPr/>
              </a:p>
            </p:txBody>
          </p:sp>
          <p:sp>
            <p:nvSpPr>
              <p:cNvPr id="167" name="120 Days Sales in  Inventory"/>
              <p:cNvSpPr txBox="1"/>
              <p:nvPr/>
            </p:nvSpPr>
            <p:spPr>
              <a:xfrm>
                <a:off x="3175" y="454435"/>
                <a:ext cx="4067795" cy="60337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lgn="ctr">
                  <a:spcBef>
                    <a:spcPts val="600"/>
                  </a:spcBef>
                  <a:defRPr sz="1800" b="1">
                    <a:solidFill>
                      <a:srgbClr val="FFFFFF"/>
                    </a:solidFill>
                    <a:latin typeface="Verdana"/>
                    <a:ea typeface="Verdana"/>
                    <a:cs typeface="Verdana"/>
                    <a:sym typeface="Verdana"/>
                  </a:defRPr>
                </a:pPr>
                <a:r>
                  <a:rPr dirty="0"/>
                  <a:t>120 Days Sales in </a:t>
                </a:r>
                <a:br>
                  <a:rPr dirty="0"/>
                </a:br>
                <a:r>
                  <a:rPr dirty="0"/>
                  <a:t>Inventory</a:t>
                </a:r>
              </a:p>
            </p:txBody>
          </p:sp>
        </p:grpSp>
        <p:grpSp>
          <p:nvGrpSpPr>
            <p:cNvPr id="171" name="Right Arrow 4"/>
            <p:cNvGrpSpPr/>
            <p:nvPr/>
          </p:nvGrpSpPr>
          <p:grpSpPr>
            <a:xfrm>
              <a:off x="4479684" y="778968"/>
              <a:ext cx="2008137" cy="1679225"/>
              <a:chOff x="0" y="0"/>
              <a:chExt cx="2008135" cy="1679224"/>
            </a:xfrm>
          </p:grpSpPr>
          <p:sp>
            <p:nvSpPr>
              <p:cNvPr id="169" name="Arrow"/>
              <p:cNvSpPr/>
              <p:nvPr/>
            </p:nvSpPr>
            <p:spPr>
              <a:xfrm>
                <a:off x="0" y="0"/>
                <a:ext cx="2008135" cy="1679224"/>
              </a:xfrm>
              <a:prstGeom prst="rightArrow">
                <a:avLst>
                  <a:gd name="adj1" fmla="val 50000"/>
                  <a:gd name="adj2" fmla="val 50000"/>
                </a:avLst>
              </a:prstGeom>
              <a:solidFill>
                <a:srgbClr val="679080"/>
              </a:solidFill>
              <a:ln w="6350" cap="flat">
                <a:solidFill>
                  <a:srgbClr val="7DAB96"/>
                </a:solidFill>
                <a:prstDash val="solid"/>
                <a:miter lim="800000"/>
              </a:ln>
              <a:effectLst/>
            </p:spPr>
            <p:txBody>
              <a:bodyPr wrap="square" lIns="45719" tIns="45719" rIns="45719" bIns="45719" numCol="1" anchor="t">
                <a:noAutofit/>
              </a:bodyPr>
              <a:lstStyle/>
              <a:p>
                <a:pPr algn="ctr">
                  <a:spcBef>
                    <a:spcPts val="600"/>
                  </a:spcBef>
                  <a:defRPr sz="1800">
                    <a:solidFill>
                      <a:srgbClr val="FFFFFF"/>
                    </a:solidFill>
                    <a:latin typeface="Verdana"/>
                    <a:ea typeface="Verdana"/>
                    <a:cs typeface="Verdana"/>
                    <a:sym typeface="Verdana"/>
                  </a:defRPr>
                </a:pPr>
                <a:endParaRPr/>
              </a:p>
            </p:txBody>
          </p:sp>
          <p:sp>
            <p:nvSpPr>
              <p:cNvPr id="170" name="40 Days Sales in AR"/>
              <p:cNvSpPr txBox="1"/>
              <p:nvPr/>
            </p:nvSpPr>
            <p:spPr>
              <a:xfrm>
                <a:off x="3175" y="422980"/>
                <a:ext cx="1581979" cy="90505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lgn="ctr">
                  <a:spcBef>
                    <a:spcPts val="600"/>
                  </a:spcBef>
                  <a:defRPr sz="1800" b="1">
                    <a:solidFill>
                      <a:srgbClr val="FFFFFF"/>
                    </a:solidFill>
                    <a:latin typeface="Verdana"/>
                    <a:ea typeface="Verdana"/>
                    <a:cs typeface="Verdana"/>
                    <a:sym typeface="Verdana"/>
                  </a:defRPr>
                </a:pPr>
                <a:r>
                  <a:t>40 Days Sales in</a:t>
                </a:r>
                <a:br>
                  <a:rPr/>
                </a:br>
                <a:r>
                  <a:t>AR</a:t>
                </a:r>
              </a:p>
            </p:txBody>
          </p:sp>
        </p:grpSp>
        <p:grpSp>
          <p:nvGrpSpPr>
            <p:cNvPr id="174" name="Left Arrow 5"/>
            <p:cNvGrpSpPr/>
            <p:nvPr/>
          </p:nvGrpSpPr>
          <p:grpSpPr>
            <a:xfrm>
              <a:off x="2162606" y="2099231"/>
              <a:ext cx="4338946" cy="1435052"/>
              <a:chOff x="0" y="0"/>
              <a:chExt cx="4338944" cy="1435050"/>
            </a:xfrm>
          </p:grpSpPr>
          <p:sp>
            <p:nvSpPr>
              <p:cNvPr id="172" name="Arrow"/>
              <p:cNvSpPr/>
              <p:nvPr/>
            </p:nvSpPr>
            <p:spPr>
              <a:xfrm>
                <a:off x="0" y="0"/>
                <a:ext cx="4338944" cy="1435050"/>
              </a:xfrm>
              <a:prstGeom prst="leftArrow">
                <a:avLst>
                  <a:gd name="adj1" fmla="val 50000"/>
                  <a:gd name="adj2" fmla="val 50000"/>
                </a:avLst>
              </a:prstGeom>
              <a:solidFill>
                <a:srgbClr val="C60052"/>
              </a:solidFill>
              <a:ln w="6350" cap="flat">
                <a:solidFill>
                  <a:srgbClr val="DF015E"/>
                </a:solidFill>
                <a:prstDash val="solid"/>
                <a:miter lim="800000"/>
              </a:ln>
              <a:effectLst/>
            </p:spPr>
            <p:txBody>
              <a:bodyPr wrap="square" lIns="45719" tIns="45719" rIns="45719" bIns="45719" numCol="1" anchor="t">
                <a:noAutofit/>
              </a:bodyPr>
              <a:lstStyle/>
              <a:p>
                <a:pPr algn="ctr">
                  <a:spcBef>
                    <a:spcPts val="600"/>
                  </a:spcBef>
                  <a:defRPr sz="1800">
                    <a:solidFill>
                      <a:srgbClr val="FFFFFF"/>
                    </a:solidFill>
                    <a:latin typeface="Verdana"/>
                    <a:ea typeface="Verdana"/>
                    <a:cs typeface="Verdana"/>
                    <a:sym typeface="Verdana"/>
                  </a:defRPr>
                </a:pPr>
                <a:endParaRPr/>
              </a:p>
            </p:txBody>
          </p:sp>
          <p:sp>
            <p:nvSpPr>
              <p:cNvPr id="173" name="−100 Days Purchases in Accounts Payable"/>
              <p:cNvSpPr txBox="1"/>
              <p:nvPr/>
            </p:nvSpPr>
            <p:spPr>
              <a:xfrm>
                <a:off x="407656" y="361936"/>
                <a:ext cx="3882392" cy="7039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a:spcBef>
                    <a:spcPts val="600"/>
                  </a:spcBef>
                  <a:defRPr sz="1800" b="1">
                    <a:solidFill>
                      <a:srgbClr val="FFFFFF"/>
                    </a:solidFill>
                    <a:latin typeface="Verdana"/>
                    <a:ea typeface="Verdana"/>
                    <a:cs typeface="Verdana"/>
                    <a:sym typeface="Verdana"/>
                  </a:defRPr>
                </a:pPr>
                <a:r>
                  <a:t>−100 Days Purchases</a:t>
                </a:r>
                <a:br>
                  <a:rPr/>
                </a:br>
                <a:r>
                  <a:t>in Accounts Payable</a:t>
                </a:r>
              </a:p>
            </p:txBody>
          </p:sp>
        </p:grpSp>
        <p:grpSp>
          <p:nvGrpSpPr>
            <p:cNvPr id="177" name="Alternate Process 6"/>
            <p:cNvGrpSpPr/>
            <p:nvPr/>
          </p:nvGrpSpPr>
          <p:grpSpPr>
            <a:xfrm>
              <a:off x="0" y="2267241"/>
              <a:ext cx="2162609" cy="1247156"/>
              <a:chOff x="0" y="0"/>
              <a:chExt cx="2162607" cy="1247154"/>
            </a:xfrm>
          </p:grpSpPr>
          <p:sp>
            <p:nvSpPr>
              <p:cNvPr id="175" name="Shape"/>
              <p:cNvSpPr/>
              <p:nvPr/>
            </p:nvSpPr>
            <p:spPr>
              <a:xfrm>
                <a:off x="0" y="0"/>
                <a:ext cx="2162607" cy="1247154"/>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929" y="0"/>
                      <a:pt x="2076" y="0"/>
                    </a:cubicBezTo>
                    <a:lnTo>
                      <a:pt x="19524" y="0"/>
                    </a:lnTo>
                    <a:cubicBezTo>
                      <a:pt x="20671" y="0"/>
                      <a:pt x="21600" y="1612"/>
                      <a:pt x="21600" y="3600"/>
                    </a:cubicBezTo>
                    <a:lnTo>
                      <a:pt x="21600" y="18000"/>
                    </a:lnTo>
                    <a:cubicBezTo>
                      <a:pt x="21600" y="19988"/>
                      <a:pt x="20671" y="21600"/>
                      <a:pt x="19524" y="21600"/>
                    </a:cubicBezTo>
                    <a:lnTo>
                      <a:pt x="2076" y="21600"/>
                    </a:lnTo>
                    <a:cubicBezTo>
                      <a:pt x="929" y="21600"/>
                      <a:pt x="0" y="19988"/>
                      <a:pt x="0" y="18000"/>
                    </a:cubicBezTo>
                    <a:close/>
                  </a:path>
                </a:pathLst>
              </a:custGeom>
              <a:solidFill>
                <a:srgbClr val="4C82C6"/>
              </a:solidFill>
              <a:ln w="6350" cap="flat">
                <a:solidFill>
                  <a:schemeClr val="accent1"/>
                </a:solidFill>
                <a:prstDash val="solid"/>
                <a:miter lim="800000"/>
              </a:ln>
              <a:effectLst/>
            </p:spPr>
            <p:txBody>
              <a:bodyPr wrap="square" lIns="45719" tIns="45719" rIns="45719" bIns="45719" numCol="1" anchor="t">
                <a:noAutofit/>
              </a:bodyPr>
              <a:lstStyle/>
              <a:p>
                <a:pPr algn="ctr">
                  <a:spcBef>
                    <a:spcPts val="600"/>
                  </a:spcBef>
                  <a:defRPr sz="1800">
                    <a:solidFill>
                      <a:srgbClr val="FFFFFF"/>
                    </a:solidFill>
                    <a:latin typeface="Verdana"/>
                    <a:ea typeface="Verdana"/>
                    <a:cs typeface="Verdana"/>
                    <a:sym typeface="Verdana"/>
                  </a:defRPr>
                </a:pPr>
                <a:endParaRPr/>
              </a:p>
            </p:txBody>
          </p:sp>
          <p:sp>
            <p:nvSpPr>
              <p:cNvPr id="176" name="Cash Conversion Cycle = 60 Days"/>
              <p:cNvSpPr txBox="1"/>
              <p:nvPr/>
            </p:nvSpPr>
            <p:spPr>
              <a:xfrm>
                <a:off x="152825" y="107105"/>
                <a:ext cx="1856957" cy="100561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spcBef>
                    <a:spcPts val="600"/>
                  </a:spcBef>
                  <a:defRPr sz="1800" b="1">
                    <a:solidFill>
                      <a:srgbClr val="FFFFFF"/>
                    </a:solidFill>
                    <a:latin typeface="Verdana"/>
                    <a:ea typeface="Verdana"/>
                    <a:cs typeface="Verdana"/>
                    <a:sym typeface="Verdana"/>
                  </a:defRPr>
                </a:lvl1pPr>
              </a:lstStyle>
              <a:p>
                <a:r>
                  <a:t>Cash Conversion Cycle = 60 Days</a:t>
                </a:r>
              </a:p>
            </p:txBody>
          </p:sp>
        </p:grpSp>
        <p:grpSp>
          <p:nvGrpSpPr>
            <p:cNvPr id="180" name="Alternate Process 7"/>
            <p:cNvGrpSpPr/>
            <p:nvPr/>
          </p:nvGrpSpPr>
          <p:grpSpPr>
            <a:xfrm>
              <a:off x="-2" y="-2"/>
              <a:ext cx="6487823" cy="738333"/>
              <a:chOff x="-1" y="-1"/>
              <a:chExt cx="6487821" cy="738331"/>
            </a:xfrm>
          </p:grpSpPr>
          <p:sp>
            <p:nvSpPr>
              <p:cNvPr id="178" name="Shape"/>
              <p:cNvSpPr/>
              <p:nvPr/>
            </p:nvSpPr>
            <p:spPr>
              <a:xfrm>
                <a:off x="-1" y="-1"/>
                <a:ext cx="6487821" cy="738331"/>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183" y="0"/>
                      <a:pt x="410" y="0"/>
                    </a:cubicBezTo>
                    <a:lnTo>
                      <a:pt x="21190" y="0"/>
                    </a:lnTo>
                    <a:cubicBezTo>
                      <a:pt x="21417" y="0"/>
                      <a:pt x="21600" y="1612"/>
                      <a:pt x="21600" y="3600"/>
                    </a:cubicBezTo>
                    <a:lnTo>
                      <a:pt x="21600" y="18000"/>
                    </a:lnTo>
                    <a:cubicBezTo>
                      <a:pt x="21600" y="19988"/>
                      <a:pt x="21417" y="21600"/>
                      <a:pt x="21190" y="21600"/>
                    </a:cubicBezTo>
                    <a:lnTo>
                      <a:pt x="410" y="21600"/>
                    </a:lnTo>
                    <a:cubicBezTo>
                      <a:pt x="183" y="21600"/>
                      <a:pt x="0" y="19988"/>
                      <a:pt x="0" y="18000"/>
                    </a:cubicBezTo>
                    <a:close/>
                  </a:path>
                </a:pathLst>
              </a:custGeom>
              <a:solidFill>
                <a:srgbClr val="4C82C6"/>
              </a:solidFill>
              <a:ln w="6350" cap="flat">
                <a:solidFill>
                  <a:schemeClr val="accent1"/>
                </a:solidFill>
                <a:prstDash val="solid"/>
                <a:miter lim="800000"/>
              </a:ln>
              <a:effectLst/>
            </p:spPr>
            <p:txBody>
              <a:bodyPr wrap="square" lIns="45719" tIns="45719" rIns="45719" bIns="45719" numCol="1" anchor="t">
                <a:noAutofit/>
              </a:bodyPr>
              <a:lstStyle/>
              <a:p>
                <a:pPr algn="ctr">
                  <a:lnSpc>
                    <a:spcPts val="1200"/>
                  </a:lnSpc>
                  <a:spcBef>
                    <a:spcPts val="600"/>
                  </a:spcBef>
                  <a:defRPr sz="1800">
                    <a:solidFill>
                      <a:srgbClr val="FFFFFF"/>
                    </a:solidFill>
                    <a:latin typeface="Verdana"/>
                    <a:ea typeface="Verdana"/>
                    <a:cs typeface="Verdana"/>
                    <a:sym typeface="Verdana"/>
                  </a:defRPr>
                </a:pPr>
                <a:endParaRPr/>
              </a:p>
            </p:txBody>
          </p:sp>
          <p:sp>
            <p:nvSpPr>
              <p:cNvPr id="179" name="Operating Cycle = 160 Days"/>
              <p:cNvSpPr txBox="1"/>
              <p:nvPr/>
            </p:nvSpPr>
            <p:spPr>
              <a:xfrm>
                <a:off x="110422" y="64701"/>
                <a:ext cx="6266974" cy="52976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a:lnSpc>
                    <a:spcPts val="1200"/>
                  </a:lnSpc>
                  <a:spcBef>
                    <a:spcPts val="600"/>
                  </a:spcBef>
                  <a:defRPr sz="1800" b="1">
                    <a:solidFill>
                      <a:srgbClr val="FFFFFF"/>
                    </a:solidFill>
                    <a:latin typeface="Verdana"/>
                    <a:ea typeface="Verdana"/>
                    <a:cs typeface="Verdana"/>
                    <a:sym typeface="Verdana"/>
                  </a:defRPr>
                </a:pPr>
                <a:endParaRPr/>
              </a:p>
              <a:p>
                <a:pPr algn="ctr">
                  <a:lnSpc>
                    <a:spcPts val="1200"/>
                  </a:lnSpc>
                  <a:spcBef>
                    <a:spcPts val="600"/>
                  </a:spcBef>
                  <a:defRPr sz="1800" b="1">
                    <a:solidFill>
                      <a:srgbClr val="FFFFFF"/>
                    </a:solidFill>
                    <a:latin typeface="Verdana"/>
                    <a:ea typeface="Verdana"/>
                    <a:cs typeface="Verdana"/>
                    <a:sym typeface="Verdana"/>
                  </a:defRPr>
                </a:pPr>
                <a:r>
                  <a:t>Operating Cycle = 160 Days</a:t>
                </a:r>
              </a:p>
            </p:txBody>
          </p:sp>
        </p:grpSp>
      </p:gr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bg2"/>
                </a:solidFill>
              </a:rPr>
              <a:t>Third: Solvency Analysis</a:t>
            </a:r>
          </a:p>
        </p:txBody>
      </p:sp>
      <p:sp>
        <p:nvSpPr>
          <p:cNvPr id="3" name="Content Placeholder 2"/>
          <p:cNvSpPr>
            <a:spLocks noGrp="1"/>
          </p:cNvSpPr>
          <p:nvPr>
            <p:ph sz="half" idx="1"/>
          </p:nvPr>
        </p:nvSpPr>
        <p:spPr>
          <a:xfrm>
            <a:off x="381000" y="1447800"/>
            <a:ext cx="4479032" cy="4724399"/>
          </a:xfrm>
        </p:spPr>
        <p:txBody>
          <a:bodyPr>
            <a:normAutofit fontScale="85000" lnSpcReduction="20000"/>
          </a:bodyPr>
          <a:lstStyle/>
          <a:p>
            <a:r>
              <a:rPr lang="en-US" dirty="0"/>
              <a:t>A company’s business risk is determined, in large part, from the company’s line of business.</a:t>
            </a:r>
          </a:p>
          <a:p>
            <a:r>
              <a:rPr lang="en-US" b="1" dirty="0"/>
              <a:t>Financial risk </a:t>
            </a:r>
            <a:r>
              <a:rPr lang="en-US" dirty="0"/>
              <a:t>is the risk resulting from a company’s choice of how to finance the business using debt or equity.</a:t>
            </a:r>
          </a:p>
          <a:p>
            <a:r>
              <a:rPr lang="en-US" dirty="0"/>
              <a:t>We use solvency ratios to assess a company’s financial risk.</a:t>
            </a:r>
          </a:p>
          <a:p>
            <a:r>
              <a:rPr lang="en-GB" altLang="en-US" dirty="0">
                <a:solidFill>
                  <a:srgbClr val="336699"/>
                </a:solidFill>
              </a:rPr>
              <a:t>Solvency refers to the long-run financial viability and its ability to cover long-term obligations</a:t>
            </a:r>
            <a:endParaRPr lang="en-US" dirty="0"/>
          </a:p>
          <a:p>
            <a:r>
              <a:rPr lang="en-US" dirty="0"/>
              <a:t>There are two types of solvency ratios: Capital Structure, earnings power and loan covenants.</a:t>
            </a:r>
          </a:p>
          <a:p>
            <a:pPr marL="210312" lvl="1" indent="0">
              <a:buNone/>
            </a:pPr>
            <a:r>
              <a:rPr lang="en-US" dirty="0"/>
              <a:t>Capital Structure: Involve evaluating elements in the capital structure and their attributes.</a:t>
            </a:r>
          </a:p>
          <a:p>
            <a:pPr>
              <a:lnSpc>
                <a:spcPct val="80000"/>
              </a:lnSpc>
            </a:pPr>
            <a:r>
              <a:rPr lang="en-GB" altLang="en-US" b="1" dirty="0">
                <a:solidFill>
                  <a:srgbClr val="336699"/>
                </a:solidFill>
              </a:rPr>
              <a:t>Earning power</a:t>
            </a:r>
            <a:r>
              <a:rPr lang="en-GB" altLang="en-US" dirty="0">
                <a:solidFill>
                  <a:srgbClr val="336699"/>
                </a:solidFill>
              </a:rPr>
              <a:t> — recurring ability to generate cash from operations</a:t>
            </a:r>
          </a:p>
          <a:p>
            <a:pPr>
              <a:lnSpc>
                <a:spcPct val="80000"/>
              </a:lnSpc>
            </a:pPr>
            <a:r>
              <a:rPr lang="en-GB" altLang="en-US" b="1" dirty="0"/>
              <a:t>Loan covenants</a:t>
            </a:r>
            <a:r>
              <a:rPr lang="en-GB" altLang="en-US" dirty="0"/>
              <a:t> — </a:t>
            </a:r>
            <a:r>
              <a:rPr lang="en-GB" altLang="en-US" dirty="0">
                <a:latin typeface="Times New Roman" panose="02020603050405020304" pitchFamily="18" charset="0"/>
                <a:cs typeface="Times New Roman" panose="02020603050405020304" pitchFamily="18" charset="0"/>
              </a:rPr>
              <a:t>protection against insolvency and financial distress; they define default (and the legal remedies available when it occurs) to allow the opportunity to collect on a loan before severe distress</a:t>
            </a:r>
          </a:p>
          <a:p>
            <a:pPr>
              <a:lnSpc>
                <a:spcPct val="80000"/>
              </a:lnSpc>
              <a:buNone/>
            </a:pPr>
            <a:endParaRPr lang="en-GB" alt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dirty="0"/>
              <a:t>Copyright © 2013 CFA Institute</a:t>
            </a:r>
          </a:p>
        </p:txBody>
      </p:sp>
      <p:sp>
        <p:nvSpPr>
          <p:cNvPr id="5" name="Slide Number Placeholder 4"/>
          <p:cNvSpPr>
            <a:spLocks noGrp="1"/>
          </p:cNvSpPr>
          <p:nvPr>
            <p:ph type="sldNum" sz="quarter" idx="12"/>
          </p:nvPr>
        </p:nvSpPr>
        <p:spPr/>
        <p:txBody>
          <a:bodyPr/>
          <a:lstStyle/>
          <a:p>
            <a:fld id="{4E4A4924-7CC3-4BF6-9C5C-A8E770D15754}" type="slidenum">
              <a:rPr lang="en-US" smtClean="0"/>
              <a:pPr/>
              <a:t>25</a:t>
            </a:fld>
            <a:endParaRPr lang="en-US"/>
          </a:p>
        </p:txBody>
      </p:sp>
      <p:graphicFrame>
        <p:nvGraphicFramePr>
          <p:cNvPr id="6" name="Diagram 5"/>
          <p:cNvGraphicFramePr/>
          <p:nvPr>
            <p:extLst>
              <p:ext uri="{D42A27DB-BD31-4B8C-83A1-F6EECF244321}">
                <p14:modId xmlns:p14="http://schemas.microsoft.com/office/powerpoint/2010/main" val="2693901446"/>
              </p:ext>
            </p:extLst>
          </p:nvPr>
        </p:nvGraphicFramePr>
        <p:xfrm>
          <a:off x="5257800" y="1600200"/>
          <a:ext cx="32766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66589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3333CC"/>
                </a:solidFill>
              </a:rPr>
              <a:t>Solvency ratios</a:t>
            </a:r>
          </a:p>
        </p:txBody>
      </p:sp>
      <mc:AlternateContent xmlns:mc="http://schemas.openxmlformats.org/markup-compatibility/2006" xmlns:a14="http://schemas.microsoft.com/office/drawing/2010/main">
        <mc:Choice Requires="a14">
          <p:graphicFrame>
            <p:nvGraphicFramePr>
              <p:cNvPr id="6" name="Content Placeholder 5"/>
              <p:cNvGraphicFramePr>
                <a:graphicFrameLocks noGrp="1"/>
              </p:cNvGraphicFramePr>
              <p:nvPr>
                <p:ph idx="1"/>
                <p:extLst>
                  <p:ext uri="{D42A27DB-BD31-4B8C-83A1-F6EECF244321}">
                    <p14:modId xmlns:p14="http://schemas.microsoft.com/office/powerpoint/2010/main" val="2802175528"/>
                  </p:ext>
                </p:extLst>
              </p:nvPr>
            </p:nvGraphicFramePr>
            <p:xfrm>
              <a:off x="381000" y="1447800"/>
              <a:ext cx="8375652" cy="4357463"/>
            </p:xfrm>
            <a:graphic>
              <a:graphicData uri="http://schemas.openxmlformats.org/drawingml/2006/table">
                <a:tbl>
                  <a:tblPr bandRow="1">
                    <a:tableStyleId>{5C22544A-7EE6-4342-B048-85BDC9FD1C3A}</a:tableStyleId>
                  </a:tblPr>
                  <a:tblGrid>
                    <a:gridCol w="609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gridCol w="3346452">
                      <a:extLst>
                        <a:ext uri="{9D8B030D-6E8A-4147-A177-3AD203B41FA5}">
                          <a16:colId xmlns:a16="http://schemas.microsoft.com/office/drawing/2014/main" val="20003"/>
                        </a:ext>
                      </a:extLst>
                    </a:gridCol>
                  </a:tblGrid>
                  <a:tr h="1015331">
                    <a:tc rowSpan="3">
                      <a:txBody>
                        <a:bodyPr/>
                        <a:lstStyle/>
                        <a:p>
                          <a:r>
                            <a:rPr lang="en-US" sz="1600" dirty="0"/>
                            <a:t>Component-Percentage Solvency Ratios</a:t>
                          </a:r>
                        </a:p>
                      </a:txBody>
                      <a:tcPr vert="vert270">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r>
                                  <m:rPr>
                                    <m:nor/>
                                  </m:rPr>
                                  <a:rPr lang="en-US" sz="1200" b="1" i="0" smtClean="0">
                                    <a:solidFill>
                                      <a:srgbClr val="FF0000"/>
                                    </a:solidFill>
                                    <a:latin typeface="+mn-lt"/>
                                  </a:rPr>
                                  <m:t>Debt</m:t>
                                </m:r>
                                <m:r>
                                  <m:rPr>
                                    <m:nor/>
                                  </m:rPr>
                                  <a:rPr lang="en-US" sz="1200" b="1" i="0" smtClean="0">
                                    <a:solidFill>
                                      <a:srgbClr val="FF0000"/>
                                    </a:solidFill>
                                    <a:latin typeface="+mn-lt"/>
                                  </a:rPr>
                                  <m:t>−</m:t>
                                </m:r>
                                <m:r>
                                  <m:rPr>
                                    <m:nor/>
                                  </m:rPr>
                                  <a:rPr lang="en-US" sz="1200" b="1" i="0" smtClean="0">
                                    <a:solidFill>
                                      <a:srgbClr val="FF0000"/>
                                    </a:solidFill>
                                    <a:latin typeface="+mn-lt"/>
                                  </a:rPr>
                                  <m:t>to</m:t>
                                </m:r>
                                <m:r>
                                  <m:rPr>
                                    <m:nor/>
                                  </m:rPr>
                                  <a:rPr lang="en-US" sz="1200" b="1" i="0" smtClean="0">
                                    <a:solidFill>
                                      <a:srgbClr val="FF0000"/>
                                    </a:solidFill>
                                    <a:latin typeface="+mn-lt"/>
                                  </a:rPr>
                                  <m:t>−</m:t>
                                </m:r>
                                <m:r>
                                  <m:rPr>
                                    <m:nor/>
                                  </m:rPr>
                                  <a:rPr lang="en-US" sz="1200" b="1" i="0" smtClean="0">
                                    <a:solidFill>
                                      <a:srgbClr val="FF0000"/>
                                    </a:solidFill>
                                    <a:latin typeface="+mn-lt"/>
                                  </a:rPr>
                                  <m:t>assets</m:t>
                                </m:r>
                                <m:r>
                                  <m:rPr>
                                    <m:nor/>
                                  </m:rPr>
                                  <a:rPr lang="en-US" sz="1200" b="1" i="0" smtClean="0">
                                    <a:solidFill>
                                      <a:srgbClr val="FF0000"/>
                                    </a:solidFill>
                                    <a:latin typeface="+mn-lt"/>
                                  </a:rPr>
                                  <m:t> </m:t>
                                </m:r>
                                <m:r>
                                  <m:rPr>
                                    <m:nor/>
                                  </m:rPr>
                                  <a:rPr lang="en-US" sz="1200" b="1" i="0" smtClean="0">
                                    <a:solidFill>
                                      <a:srgbClr val="FF0000"/>
                                    </a:solidFill>
                                    <a:latin typeface="+mn-lt"/>
                                  </a:rPr>
                                  <m:t>ratio</m:t>
                                </m:r>
                                <m:r>
                                  <m:rPr>
                                    <m:nor/>
                                  </m:rPr>
                                  <a:rPr lang="en-US" sz="1200" b="0" i="0" smtClean="0">
                                    <a:latin typeface="+mn-lt"/>
                                  </a:rPr>
                                  <m:t> = </m:t>
                                </m:r>
                                <m:f>
                                  <m:fPr>
                                    <m:ctrlPr>
                                      <a:rPr lang="en-US" sz="1200" b="0" i="1" smtClean="0">
                                        <a:latin typeface="Cambria Math" panose="02040503050406030204" pitchFamily="18" charset="0"/>
                                      </a:rPr>
                                    </m:ctrlPr>
                                  </m:fPr>
                                  <m:num>
                                    <m:r>
                                      <m:rPr>
                                        <m:nor/>
                                      </m:rPr>
                                      <a:rPr lang="en-US" sz="1200" b="0" i="0" smtClean="0">
                                        <a:latin typeface="+mn-lt"/>
                                      </a:rPr>
                                      <m:t>Total</m:t>
                                    </m:r>
                                    <m:r>
                                      <m:rPr>
                                        <m:nor/>
                                      </m:rPr>
                                      <a:rPr lang="en-US" sz="1200" b="0" i="0" smtClean="0">
                                        <a:latin typeface="+mn-lt"/>
                                      </a:rPr>
                                      <m:t> </m:t>
                                    </m:r>
                                    <m:r>
                                      <m:rPr>
                                        <m:nor/>
                                      </m:rPr>
                                      <a:rPr lang="en-US" sz="1200" b="0" i="0" smtClean="0">
                                        <a:latin typeface="+mn-lt"/>
                                      </a:rPr>
                                      <m:t>debt</m:t>
                                    </m:r>
                                    <m:r>
                                      <m:rPr>
                                        <m:nor/>
                                      </m:rPr>
                                      <a:rPr lang="en-US" sz="1200" b="0" i="0" smtClean="0">
                                        <a:latin typeface="+mn-lt"/>
                                      </a:rPr>
                                      <m:t> (</m:t>
                                    </m:r>
                                    <m:r>
                                      <m:rPr>
                                        <m:nor/>
                                      </m:rPr>
                                      <a:rPr lang="en-US" sz="1200" b="0" i="0" smtClean="0">
                                        <a:latin typeface="+mn-lt"/>
                                      </a:rPr>
                                      <m:t>liabilities</m:t>
                                    </m:r>
                                    <m:r>
                                      <m:rPr>
                                        <m:nor/>
                                      </m:rPr>
                                      <a:rPr lang="en-US" sz="1200" b="0" i="0" smtClean="0">
                                        <a:latin typeface="+mn-lt"/>
                                      </a:rPr>
                                      <m:t>: </m:t>
                                    </m:r>
                                    <m:r>
                                      <m:rPr>
                                        <m:nor/>
                                      </m:rPr>
                                      <a:rPr lang="en-US" sz="1200" b="0" i="0" smtClean="0">
                                        <a:latin typeface="+mn-lt"/>
                                      </a:rPr>
                                      <m:t>current</m:t>
                                    </m:r>
                                    <m:r>
                                      <m:rPr>
                                        <m:nor/>
                                      </m:rPr>
                                      <a:rPr lang="en-US" sz="1200" b="0" i="0" smtClean="0">
                                        <a:latin typeface="+mn-lt"/>
                                      </a:rPr>
                                      <m:t> </m:t>
                                    </m:r>
                                    <m:r>
                                      <m:rPr>
                                        <m:nor/>
                                      </m:rPr>
                                      <a:rPr lang="en-US" sz="1200" b="0" i="0" smtClean="0">
                                        <a:latin typeface="+mn-lt"/>
                                      </a:rPr>
                                      <m:t>and</m:t>
                                    </m:r>
                                    <m:r>
                                      <m:rPr>
                                        <m:nor/>
                                      </m:rPr>
                                      <a:rPr lang="en-US" sz="1200" b="0" i="0" smtClean="0">
                                        <a:latin typeface="+mn-lt"/>
                                      </a:rPr>
                                      <m:t> </m:t>
                                    </m:r>
                                    <m:r>
                                      <m:rPr>
                                        <m:nor/>
                                      </m:rPr>
                                      <a:rPr lang="en-US" sz="1200" b="0" i="0" smtClean="0">
                                        <a:latin typeface="+mn-lt"/>
                                      </a:rPr>
                                      <m:t>long</m:t>
                                    </m:r>
                                    <m:r>
                                      <m:rPr>
                                        <m:nor/>
                                      </m:rPr>
                                      <a:rPr lang="en-US" sz="1200" b="0" i="0" smtClean="0">
                                        <a:latin typeface="+mn-lt"/>
                                      </a:rPr>
                                      <m:t> </m:t>
                                    </m:r>
                                    <m:r>
                                      <m:rPr>
                                        <m:nor/>
                                      </m:rPr>
                                      <a:rPr lang="en-US" sz="1200" b="0" i="0" smtClean="0">
                                        <a:latin typeface="+mn-lt"/>
                                      </a:rPr>
                                      <m:t>term</m:t>
                                    </m:r>
                                    <m:r>
                                      <m:rPr>
                                        <m:nor/>
                                      </m:rPr>
                                      <a:rPr lang="en-US" sz="1200" b="0" i="0" smtClean="0">
                                        <a:latin typeface="+mn-lt"/>
                                      </a:rPr>
                                      <m:t>)</m:t>
                                    </m:r>
                                  </m:num>
                                  <m:den>
                                    <m:r>
                                      <m:rPr>
                                        <m:nor/>
                                      </m:rPr>
                                      <a:rPr lang="en-US" sz="1200" b="0" i="0" smtClean="0">
                                        <a:latin typeface="+mn-lt"/>
                                      </a:rPr>
                                      <m:t>Total</m:t>
                                    </m:r>
                                    <m:r>
                                      <m:rPr>
                                        <m:nor/>
                                      </m:rPr>
                                      <a:rPr lang="en-US" sz="1200" b="0" i="0" smtClean="0">
                                        <a:latin typeface="+mn-lt"/>
                                      </a:rPr>
                                      <m:t> </m:t>
                                    </m:r>
                                    <m:r>
                                      <m:rPr>
                                        <m:nor/>
                                      </m:rPr>
                                      <a:rPr lang="en-US" sz="1200" b="0" i="0" smtClean="0">
                                        <a:latin typeface="+mn-lt"/>
                                      </a:rPr>
                                      <m:t>assets</m:t>
                                    </m:r>
                                  </m:den>
                                </m:f>
                              </m:oMath>
                            </m:oMathPara>
                          </a14:m>
                          <a:endParaRPr lang="en-US" sz="1200" dirty="0">
                            <a:latin typeface="+mn-lt"/>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Proportion of assets financed</a:t>
                          </a:r>
                          <a:r>
                            <a:rPr lang="en-US" sz="1400" baseline="0" dirty="0"/>
                            <a:t> with debt</a:t>
                          </a:r>
                        </a:p>
                        <a:p>
                          <a:r>
                            <a:rPr lang="en-US" sz="1400" baseline="0" dirty="0"/>
                            <a:t>Greater % indicates a greater degree of leverage and greater risk</a:t>
                          </a:r>
                          <a:endParaRPr lang="en-US" sz="1400" dirty="0"/>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015331">
                    <a:tc vMerge="1">
                      <a:txBody>
                        <a:bodyPr/>
                        <a:lstStyle/>
                        <a:p>
                          <a:endParaRPr lang="en-US" dirty="0"/>
                        </a:p>
                      </a:txBody>
                      <a:tcPr>
                        <a:lnT w="12700" cap="flat" cmpd="sng" algn="ctr">
                          <a:solidFill>
                            <a:schemeClr val="tx1"/>
                          </a:solidFill>
                          <a:prstDash val="solid"/>
                          <a:round/>
                          <a:headEnd type="none" w="med" len="med"/>
                          <a:tailEnd type="none" w="med" len="med"/>
                        </a:lnT>
                      </a:tcPr>
                    </a:tc>
                    <a:tc>
                      <a:txBody>
                        <a:bodyPr/>
                        <a:lstStyle/>
                        <a:p>
                          <a:pPr algn="l"/>
                          <a14:m>
                            <m:oMathPara xmlns:m="http://schemas.openxmlformats.org/officeDocument/2006/math">
                              <m:oMathParaPr>
                                <m:jc m:val="left"/>
                              </m:oMathParaPr>
                              <m:oMath xmlns:m="http://schemas.openxmlformats.org/officeDocument/2006/math">
                                <m:r>
                                  <m:rPr>
                                    <m:nor/>
                                  </m:rPr>
                                  <a:rPr lang="en-US" sz="1200" b="1" i="0" smtClean="0">
                                    <a:solidFill>
                                      <a:srgbClr val="FF0000"/>
                                    </a:solidFill>
                                    <a:latin typeface="+mn-lt"/>
                                  </a:rPr>
                                  <m:t>Debt</m:t>
                                </m:r>
                                <m:r>
                                  <m:rPr>
                                    <m:nor/>
                                  </m:rPr>
                                  <a:rPr lang="en-US" sz="1200" b="1" i="0" smtClean="0">
                                    <a:solidFill>
                                      <a:srgbClr val="FF0000"/>
                                    </a:solidFill>
                                    <a:latin typeface="+mn-lt"/>
                                  </a:rPr>
                                  <m:t>−</m:t>
                                </m:r>
                                <m:r>
                                  <m:rPr>
                                    <m:nor/>
                                  </m:rPr>
                                  <a:rPr lang="en-US" sz="1200" b="1" i="0" smtClean="0">
                                    <a:solidFill>
                                      <a:srgbClr val="FF0000"/>
                                    </a:solidFill>
                                    <a:latin typeface="+mn-lt"/>
                                  </a:rPr>
                                  <m:t>to</m:t>
                                </m:r>
                                <m:r>
                                  <m:rPr>
                                    <m:nor/>
                                  </m:rPr>
                                  <a:rPr lang="en-US" sz="1200" b="1" i="0" smtClean="0">
                                    <a:solidFill>
                                      <a:srgbClr val="FF0000"/>
                                    </a:solidFill>
                                    <a:latin typeface="+mn-lt"/>
                                  </a:rPr>
                                  <m:t>−</m:t>
                                </m:r>
                                <m:r>
                                  <m:rPr>
                                    <m:nor/>
                                  </m:rPr>
                                  <a:rPr lang="en-US" sz="1200" b="1" i="0" smtClean="0">
                                    <a:solidFill>
                                      <a:srgbClr val="FF0000"/>
                                    </a:solidFill>
                                    <a:latin typeface="+mn-lt"/>
                                  </a:rPr>
                                  <m:t>equity</m:t>
                                </m:r>
                                <m:r>
                                  <m:rPr>
                                    <m:nor/>
                                  </m:rPr>
                                  <a:rPr lang="en-US" sz="1200" b="1" i="0" smtClean="0">
                                    <a:solidFill>
                                      <a:srgbClr val="FF0000"/>
                                    </a:solidFill>
                                    <a:latin typeface="+mn-lt"/>
                                  </a:rPr>
                                  <m:t> </m:t>
                                </m:r>
                                <m:r>
                                  <m:rPr>
                                    <m:nor/>
                                  </m:rPr>
                                  <a:rPr lang="en-US" sz="1200" b="1" i="0" smtClean="0">
                                    <a:solidFill>
                                      <a:srgbClr val="FF0000"/>
                                    </a:solidFill>
                                    <a:latin typeface="+mn-lt"/>
                                  </a:rPr>
                                  <m:t>ratio</m:t>
                                </m:r>
                                <m:r>
                                  <m:rPr>
                                    <m:nor/>
                                  </m:rPr>
                                  <a:rPr lang="en-US" sz="1200" b="0" i="0" smtClean="0">
                                    <a:latin typeface="+mn-lt"/>
                                  </a:rPr>
                                  <m:t> = </m:t>
                                </m:r>
                                <m:f>
                                  <m:fPr>
                                    <m:ctrlPr>
                                      <a:rPr lang="en-US" sz="1200" b="0" i="1" smtClean="0">
                                        <a:latin typeface="Cambria Math" panose="02040503050406030204" pitchFamily="18" charset="0"/>
                                      </a:rPr>
                                    </m:ctrlPr>
                                  </m:fPr>
                                  <m:num>
                                    <m:r>
                                      <m:rPr>
                                        <m:nor/>
                                      </m:rPr>
                                      <a:rPr lang="en-US" sz="1200" b="0" i="0" smtClean="0">
                                        <a:latin typeface="+mn-lt"/>
                                      </a:rPr>
                                      <m:t>Total</m:t>
                                    </m:r>
                                    <m:r>
                                      <a:rPr lang="en-US" sz="1200" b="0" i="1" smtClean="0">
                                        <a:latin typeface="Cambria Math"/>
                                      </a:rPr>
                                      <m:t> </m:t>
                                    </m:r>
                                    <m:r>
                                      <m:rPr>
                                        <m:sty m:val="p"/>
                                      </m:rPr>
                                      <a:rPr lang="en-US" sz="1200" b="0" i="0" smtClean="0">
                                        <a:latin typeface="Cambria Math"/>
                                      </a:rPr>
                                      <m:t>liabilities</m:t>
                                    </m:r>
                                  </m:num>
                                  <m:den>
                                    <m:r>
                                      <m:rPr>
                                        <m:nor/>
                                      </m:rPr>
                                      <a:rPr lang="en-US" sz="1200" b="0" i="0" smtClean="0">
                                        <a:latin typeface="+mn-lt"/>
                                      </a:rPr>
                                      <m:t>Total</m:t>
                                    </m:r>
                                    <m:r>
                                      <m:rPr>
                                        <m:nor/>
                                      </m:rPr>
                                      <a:rPr lang="en-US" sz="1200" b="0" i="0" smtClean="0">
                                        <a:latin typeface="+mn-lt"/>
                                      </a:rPr>
                                      <m:t> </m:t>
                                    </m:r>
                                    <m:r>
                                      <m:rPr>
                                        <m:nor/>
                                      </m:rPr>
                                      <a:rPr lang="en-US" sz="1200" b="0" i="0" smtClean="0">
                                        <a:latin typeface="+mn-lt"/>
                                      </a:rPr>
                                      <m:t>shareholders</m:t>
                                    </m:r>
                                    <m:r>
                                      <m:rPr>
                                        <m:nor/>
                                      </m:rPr>
                                      <a:rPr lang="en-US" sz="1200" b="0" i="0" smtClean="0">
                                        <a:latin typeface="+mn-lt"/>
                                      </a:rPr>
                                      <m:t>′ </m:t>
                                    </m:r>
                                    <m:r>
                                      <m:rPr>
                                        <m:nor/>
                                      </m:rPr>
                                      <a:rPr lang="en-US" sz="1200" b="0" i="0" smtClean="0">
                                        <a:latin typeface="+mn-lt"/>
                                      </a:rPr>
                                      <m:t>equity</m:t>
                                    </m:r>
                                  </m:den>
                                </m:f>
                              </m:oMath>
                            </m:oMathPara>
                          </a14:m>
                          <a:endParaRPr lang="en-US" sz="1200"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Debt</a:t>
                          </a:r>
                          <a:r>
                            <a:rPr lang="en-US" sz="1400" baseline="0" dirty="0"/>
                            <a:t> financing relative to equity financing. This ratio is used to evaluate the company’s financial leverage</a:t>
                          </a:r>
                          <a:endParaRPr lang="en-US"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15331">
                    <a:tc vMerge="1">
                      <a:txBody>
                        <a:bodyPr/>
                        <a:lstStyle/>
                        <a:p>
                          <a:endParaRPr lang="en-US" dirty="0"/>
                        </a:p>
                      </a:txBody>
                      <a:tcPr/>
                    </a:tc>
                    <a:tc>
                      <a:txBody>
                        <a:bodyPr/>
                        <a:lstStyle/>
                        <a:p>
                          <a:pPr algn="l"/>
                          <a14:m>
                            <m:oMathPara xmlns:m="http://schemas.openxmlformats.org/officeDocument/2006/math">
                              <m:oMathParaPr>
                                <m:jc m:val="left"/>
                              </m:oMathParaPr>
                              <m:oMath xmlns:m="http://schemas.openxmlformats.org/officeDocument/2006/math">
                                <m:r>
                                  <m:rPr>
                                    <m:nor/>
                                  </m:rPr>
                                  <a:rPr lang="en-US" sz="1200" b="1" i="0" smtClean="0">
                                    <a:solidFill>
                                      <a:srgbClr val="FF0000"/>
                                    </a:solidFill>
                                    <a:latin typeface="Cambria Math"/>
                                  </a:rPr>
                                  <m:t>Assets</m:t>
                                </m:r>
                                <m:r>
                                  <m:rPr>
                                    <m:nor/>
                                  </m:rPr>
                                  <a:rPr lang="en-US" sz="1200" b="1" i="0" smtClean="0">
                                    <a:solidFill>
                                      <a:srgbClr val="FF0000"/>
                                    </a:solidFill>
                                    <a:latin typeface="Cambria Math"/>
                                  </a:rPr>
                                  <m:t>  </m:t>
                                </m:r>
                                <m:r>
                                  <m:rPr>
                                    <m:nor/>
                                  </m:rPr>
                                  <a:rPr lang="en-US" sz="1200" b="1" i="0" smtClean="0">
                                    <a:solidFill>
                                      <a:srgbClr val="FF0000"/>
                                    </a:solidFill>
                                    <a:latin typeface="Cambria Math"/>
                                  </a:rPr>
                                  <m:t>to</m:t>
                                </m:r>
                                <m:r>
                                  <m:rPr>
                                    <m:nor/>
                                  </m:rPr>
                                  <a:rPr lang="en-US" sz="1200" b="1" i="0" smtClean="0">
                                    <a:solidFill>
                                      <a:srgbClr val="FF0000"/>
                                    </a:solidFill>
                                    <a:latin typeface="Cambria Math"/>
                                  </a:rPr>
                                  <m:t> </m:t>
                                </m:r>
                                <m:r>
                                  <m:rPr>
                                    <m:nor/>
                                  </m:rPr>
                                  <a:rPr lang="en-US" sz="1200" b="1" i="0" smtClean="0">
                                    <a:solidFill>
                                      <a:srgbClr val="FF0000"/>
                                    </a:solidFill>
                                    <a:latin typeface="Cambria Math"/>
                                  </a:rPr>
                                  <m:t>shareholders</m:t>
                                </m:r>
                                <m:r>
                                  <m:rPr>
                                    <m:nor/>
                                  </m:rPr>
                                  <a:rPr lang="en-US" sz="1200" b="1" i="0" smtClean="0">
                                    <a:solidFill>
                                      <a:srgbClr val="FF0000"/>
                                    </a:solidFill>
                                    <a:latin typeface="Cambria Math"/>
                                  </a:rPr>
                                  <m:t>′ </m:t>
                                </m:r>
                                <m:r>
                                  <m:rPr>
                                    <m:nor/>
                                  </m:rPr>
                                  <a:rPr lang="en-US" sz="1200" b="1" i="0" smtClean="0">
                                    <a:solidFill>
                                      <a:srgbClr val="FF0000"/>
                                    </a:solidFill>
                                    <a:latin typeface="Cambria Math"/>
                                  </a:rPr>
                                  <m:t>equity</m:t>
                                </m:r>
                                <m:r>
                                  <m:rPr>
                                    <m:nor/>
                                  </m:rPr>
                                  <a:rPr lang="en-US" sz="1200" b="1" i="0" smtClean="0">
                                    <a:solidFill>
                                      <a:srgbClr val="FF0000"/>
                                    </a:solidFill>
                                    <a:latin typeface="Cambria Math"/>
                                  </a:rPr>
                                  <m:t>  (</m:t>
                                </m:r>
                                <m:r>
                                  <m:rPr>
                                    <m:nor/>
                                  </m:rPr>
                                  <a:rPr lang="en-US" sz="1200" b="1" i="0" smtClean="0">
                                    <a:solidFill>
                                      <a:srgbClr val="FF0000"/>
                                    </a:solidFill>
                                    <a:latin typeface="Cambria Math"/>
                                  </a:rPr>
                                  <m:t>financial</m:t>
                                </m:r>
                                <m:r>
                                  <m:rPr>
                                    <m:nor/>
                                  </m:rPr>
                                  <a:rPr lang="en-US" sz="1200" b="1" i="0" smtClean="0">
                                    <a:solidFill>
                                      <a:srgbClr val="FF0000"/>
                                    </a:solidFill>
                                    <a:latin typeface="Cambria Math"/>
                                  </a:rPr>
                                  <m:t> </m:t>
                                </m:r>
                                <m:r>
                                  <m:rPr>
                                    <m:nor/>
                                  </m:rPr>
                                  <a:rPr lang="en-US" sz="1200" b="1" i="0" smtClean="0">
                                    <a:solidFill>
                                      <a:srgbClr val="FF0000"/>
                                    </a:solidFill>
                                    <a:latin typeface="Cambria Math"/>
                                  </a:rPr>
                                  <m:t>leverage</m:t>
                                </m:r>
                                <m:r>
                                  <m:rPr>
                                    <m:nor/>
                                  </m:rPr>
                                  <a:rPr lang="en-US" sz="1200" b="1" i="0" smtClean="0">
                                    <a:solidFill>
                                      <a:srgbClr val="FF0000"/>
                                    </a:solidFill>
                                    <a:latin typeface="Cambria Math"/>
                                  </a:rPr>
                                  <m:t> </m:t>
                                </m:r>
                                <m:r>
                                  <m:rPr>
                                    <m:nor/>
                                  </m:rPr>
                                  <a:rPr lang="en-US" sz="1200" b="1" i="0" smtClean="0">
                                    <a:solidFill>
                                      <a:srgbClr val="FF0000"/>
                                    </a:solidFill>
                                    <a:latin typeface="Cambria Math"/>
                                  </a:rPr>
                                  <m:t>multiplier</m:t>
                                </m:r>
                                <m:r>
                                  <m:rPr>
                                    <m:nor/>
                                  </m:rPr>
                                  <a:rPr lang="en-US" sz="1200" b="1" i="0" smtClean="0">
                                    <a:solidFill>
                                      <a:srgbClr val="FF0000"/>
                                    </a:solidFill>
                                    <a:latin typeface="Cambria Math"/>
                                  </a:rPr>
                                  <m:t>)</m:t>
                                </m:r>
                              </m:oMath>
                            </m:oMathPara>
                          </a14:m>
                          <a:endParaRPr lang="en-US" sz="1200" b="1" i="0" dirty="0">
                            <a:solidFill>
                              <a:srgbClr val="FF0000"/>
                            </a:solidFill>
                            <a:latin typeface="Cambria Math"/>
                          </a:endParaRPr>
                        </a:p>
                        <a:p>
                          <a:pPr algn="l"/>
                          <a14:m>
                            <m:oMathPara xmlns:m="http://schemas.openxmlformats.org/officeDocument/2006/math">
                              <m:oMathParaPr>
                                <m:jc m:val="left"/>
                              </m:oMathParaPr>
                              <m:oMath xmlns:m="http://schemas.openxmlformats.org/officeDocument/2006/math">
                                <m:r>
                                  <m:rPr>
                                    <m:nor/>
                                  </m:rPr>
                                  <a:rPr lang="en-US" sz="1200" b="1" i="0" smtClean="0">
                                    <a:solidFill>
                                      <a:srgbClr val="FF0000"/>
                                    </a:solidFill>
                                    <a:latin typeface="Cambria Math"/>
                                  </a:rPr>
                                  <m:t> </m:t>
                                </m:r>
                                <m:r>
                                  <m:rPr>
                                    <m:nor/>
                                  </m:rPr>
                                  <a:rPr lang="en-US" sz="1200" b="0" i="0" smtClean="0">
                                    <a:latin typeface="+mn-lt"/>
                                  </a:rPr>
                                  <m:t>= </m:t>
                                </m:r>
                                <m:f>
                                  <m:fPr>
                                    <m:ctrlPr>
                                      <a:rPr lang="en-US" sz="1200" b="0" i="1" smtClean="0">
                                        <a:latin typeface="Cambria Math" panose="02040503050406030204" pitchFamily="18" charset="0"/>
                                      </a:rPr>
                                    </m:ctrlPr>
                                  </m:fPr>
                                  <m:num>
                                    <m:r>
                                      <m:rPr>
                                        <m:nor/>
                                      </m:rPr>
                                      <a:rPr lang="en-US" sz="1200" b="0" i="0" smtClean="0">
                                        <a:latin typeface="+mn-lt"/>
                                      </a:rPr>
                                      <m:t>Total</m:t>
                                    </m:r>
                                    <m:r>
                                      <m:rPr>
                                        <m:nor/>
                                      </m:rPr>
                                      <a:rPr lang="en-US" sz="1200" b="0" i="0" smtClean="0">
                                        <a:latin typeface="+mn-lt"/>
                                      </a:rPr>
                                      <m:t> </m:t>
                                    </m:r>
                                    <m:r>
                                      <m:rPr>
                                        <m:nor/>
                                      </m:rPr>
                                      <a:rPr lang="en-US" sz="1200" b="0" i="0" smtClean="0">
                                        <a:latin typeface="+mn-lt"/>
                                      </a:rPr>
                                      <m:t>assets</m:t>
                                    </m:r>
                                  </m:num>
                                  <m:den>
                                    <m:r>
                                      <m:rPr>
                                        <m:nor/>
                                      </m:rPr>
                                      <a:rPr lang="en-US" sz="1200" b="0" i="0" smtClean="0">
                                        <a:latin typeface="+mn-lt"/>
                                      </a:rPr>
                                      <m:t>Total</m:t>
                                    </m:r>
                                    <m:r>
                                      <m:rPr>
                                        <m:nor/>
                                      </m:rPr>
                                      <a:rPr lang="en-US" sz="1200" b="0" i="0" smtClean="0">
                                        <a:latin typeface="+mn-lt"/>
                                      </a:rPr>
                                      <m:t> </m:t>
                                    </m:r>
                                    <m:r>
                                      <m:rPr>
                                        <m:nor/>
                                      </m:rPr>
                                      <a:rPr lang="en-US" sz="1200" b="0" i="0" smtClean="0">
                                        <a:latin typeface="+mn-lt"/>
                                      </a:rPr>
                                      <m:t>shareholders</m:t>
                                    </m:r>
                                    <m:r>
                                      <m:rPr>
                                        <m:nor/>
                                      </m:rPr>
                                      <a:rPr lang="en-US" sz="1200" b="0" i="0" smtClean="0">
                                        <a:latin typeface="+mn-lt"/>
                                      </a:rPr>
                                      <m:t>′ </m:t>
                                    </m:r>
                                    <m:r>
                                      <m:rPr>
                                        <m:nor/>
                                      </m:rPr>
                                      <a:rPr lang="en-US" sz="1200" b="0" i="0" smtClean="0">
                                        <a:latin typeface="+mn-lt"/>
                                      </a:rPr>
                                      <m:t>equity</m:t>
                                    </m:r>
                                  </m:den>
                                </m:f>
                              </m:oMath>
                            </m:oMathPara>
                          </a14:m>
                          <a:endParaRPr lang="en-US" sz="1200"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Represents</a:t>
                          </a:r>
                          <a:r>
                            <a:rPr lang="en-US" sz="1400" baseline="0" dirty="0"/>
                            <a:t> the amount of assets on which shareholders have a residual claim.</a:t>
                          </a:r>
                          <a:endParaRPr lang="en-US"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311470">
                    <a:tc>
                      <a:txBody>
                        <a:bodyPr/>
                        <a:lstStyle/>
                        <a:p>
                          <a:pPr algn="ctr"/>
                          <a:r>
                            <a:rPr lang="en-US" sz="1600" dirty="0"/>
                            <a:t>Coverage Ratios</a:t>
                          </a:r>
                        </a:p>
                      </a:txBody>
                      <a:tcPr vert="vert27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r>
                                  <m:rPr>
                                    <m:nor/>
                                  </m:rPr>
                                  <a:rPr lang="en-US" sz="1200" b="1" i="0" smtClean="0">
                                    <a:solidFill>
                                      <a:srgbClr val="FF0000"/>
                                    </a:solidFill>
                                    <a:latin typeface="+mn-lt"/>
                                  </a:rPr>
                                  <m:t>Interest</m:t>
                                </m:r>
                                <m:r>
                                  <m:rPr>
                                    <m:nor/>
                                  </m:rPr>
                                  <a:rPr lang="en-US" sz="1200" b="1" i="0" smtClean="0">
                                    <a:solidFill>
                                      <a:srgbClr val="FF0000"/>
                                    </a:solidFill>
                                    <a:latin typeface="+mn-lt"/>
                                  </a:rPr>
                                  <m:t> </m:t>
                                </m:r>
                                <m:r>
                                  <m:rPr>
                                    <m:nor/>
                                  </m:rPr>
                                  <a:rPr lang="en-US" sz="1200" b="1" i="0" smtClean="0">
                                    <a:solidFill>
                                      <a:srgbClr val="FF0000"/>
                                    </a:solidFill>
                                    <a:latin typeface="+mn-lt"/>
                                  </a:rPr>
                                  <m:t>coverage</m:t>
                                </m:r>
                                <m:r>
                                  <m:rPr>
                                    <m:nor/>
                                  </m:rPr>
                                  <a:rPr lang="en-US" sz="1200" b="1" i="0" smtClean="0">
                                    <a:solidFill>
                                      <a:srgbClr val="FF0000"/>
                                    </a:solidFill>
                                    <a:latin typeface="+mn-lt"/>
                                  </a:rPr>
                                  <m:t> </m:t>
                                </m:r>
                                <m:r>
                                  <m:rPr>
                                    <m:nor/>
                                  </m:rPr>
                                  <a:rPr lang="en-US" sz="1200" b="1" i="0" smtClean="0">
                                    <a:solidFill>
                                      <a:srgbClr val="FF0000"/>
                                    </a:solidFill>
                                    <a:latin typeface="+mn-lt"/>
                                  </a:rPr>
                                  <m:t>ratio</m:t>
                                </m:r>
                                <m:r>
                                  <m:rPr>
                                    <m:nor/>
                                  </m:rPr>
                                  <a:rPr lang="en-US" sz="1200" b="1" i="0" smtClean="0">
                                    <a:solidFill>
                                      <a:srgbClr val="FF0000"/>
                                    </a:solidFill>
                                    <a:latin typeface="+mn-lt"/>
                                  </a:rPr>
                                  <m:t> </m:t>
                                </m:r>
                                <m:r>
                                  <m:rPr>
                                    <m:nor/>
                                  </m:rPr>
                                  <a:rPr lang="en-US" sz="1200" b="0" i="0" smtClean="0">
                                    <a:latin typeface="+mn-lt"/>
                                  </a:rPr>
                                  <m:t>= </m:t>
                                </m:r>
                                <m:f>
                                  <m:fPr>
                                    <m:ctrlPr>
                                      <a:rPr lang="en-US" sz="1200" b="0" i="1" smtClean="0">
                                        <a:latin typeface="Cambria Math" panose="02040503050406030204" pitchFamily="18" charset="0"/>
                                      </a:rPr>
                                    </m:ctrlPr>
                                  </m:fPr>
                                  <m:num>
                                    <m:r>
                                      <m:rPr>
                                        <m:nor/>
                                      </m:rPr>
                                      <a:rPr lang="en-US" sz="1200" b="0" i="0" smtClean="0">
                                        <a:latin typeface="+mn-lt"/>
                                      </a:rPr>
                                      <m:t>EBIT</m:t>
                                    </m:r>
                                  </m:num>
                                  <m:den>
                                    <m:r>
                                      <m:rPr>
                                        <m:nor/>
                                      </m:rPr>
                                      <a:rPr lang="en-US" sz="1200" b="0" i="0" smtClean="0">
                                        <a:latin typeface="+mn-lt"/>
                                      </a:rPr>
                                      <m:t>Interest</m:t>
                                    </m:r>
                                    <m:r>
                                      <m:rPr>
                                        <m:nor/>
                                      </m:rPr>
                                      <a:rPr lang="en-US" sz="1200" b="0" i="0" smtClean="0">
                                        <a:latin typeface="+mn-lt"/>
                                      </a:rPr>
                                      <m:t> </m:t>
                                    </m:r>
                                    <m:r>
                                      <m:rPr>
                                        <m:nor/>
                                      </m:rPr>
                                      <a:rPr lang="en-US" sz="1200" b="0" i="0" smtClean="0">
                                        <a:latin typeface="+mn-lt"/>
                                      </a:rPr>
                                      <m:t>payments</m:t>
                                    </m:r>
                                    <m:r>
                                      <m:rPr>
                                        <m:nor/>
                                      </m:rPr>
                                      <a:rPr lang="en-US" sz="1200" b="0" i="0" smtClean="0">
                                        <a:latin typeface="+mn-lt"/>
                                      </a:rPr>
                                      <m:t>+ </m:t>
                                    </m:r>
                                  </m:den>
                                </m:f>
                              </m:oMath>
                            </m:oMathPara>
                          </a14:m>
                          <a:endParaRPr lang="en-US" sz="1200"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Ability to satisfy</a:t>
                          </a:r>
                          <a:r>
                            <a:rPr lang="en-US" sz="1400" baseline="0" dirty="0"/>
                            <a:t> interest payments as they come due. The lower this ratio, the more the company is burdened by debt expenses</a:t>
                          </a:r>
                        </a:p>
                        <a:p>
                          <a:endParaRPr lang="en-US"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Choice>
        <mc:Fallback xmlns="">
          <p:graphicFrame>
            <p:nvGraphicFramePr>
              <p:cNvPr id="6" name="Content Placeholder 5"/>
              <p:cNvGraphicFramePr>
                <a:graphicFrameLocks noGrp="1"/>
              </p:cNvGraphicFramePr>
              <p:nvPr>
                <p:ph idx="1"/>
                <p:extLst>
                  <p:ext uri="{D42A27DB-BD31-4B8C-83A1-F6EECF244321}">
                    <p14:modId xmlns:p14="http://schemas.microsoft.com/office/powerpoint/2010/main" val="2802175528"/>
                  </p:ext>
                </p:extLst>
              </p:nvPr>
            </p:nvGraphicFramePr>
            <p:xfrm>
              <a:off x="381000" y="1447800"/>
              <a:ext cx="8375652" cy="4357463"/>
            </p:xfrm>
            <a:graphic>
              <a:graphicData uri="http://schemas.openxmlformats.org/drawingml/2006/table">
                <a:tbl>
                  <a:tblPr bandRow="1">
                    <a:tableStyleId>{5C22544A-7EE6-4342-B048-85BDC9FD1C3A}</a:tableStyleId>
                  </a:tblPr>
                  <a:tblGrid>
                    <a:gridCol w="609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gridCol w="3346452">
                      <a:extLst>
                        <a:ext uri="{9D8B030D-6E8A-4147-A177-3AD203B41FA5}">
                          <a16:colId xmlns:a16="http://schemas.microsoft.com/office/drawing/2014/main" val="20003"/>
                        </a:ext>
                      </a:extLst>
                    </a:gridCol>
                  </a:tblGrid>
                  <a:tr h="1015331">
                    <a:tc rowSpan="3">
                      <a:txBody>
                        <a:bodyPr/>
                        <a:lstStyle/>
                        <a:p>
                          <a:r>
                            <a:rPr lang="en-US" sz="1600" dirty="0"/>
                            <a:t>Component-Percentage Solvency Ratios</a:t>
                          </a:r>
                        </a:p>
                      </a:txBody>
                      <a:tcPr vert="vert270">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B w="12700" cap="flat" cmpd="sng" algn="ctr">
                          <a:solidFill>
                            <a:schemeClr val="tx1"/>
                          </a:solidFill>
                          <a:prstDash val="solid"/>
                          <a:round/>
                          <a:headEnd type="none" w="med" len="med"/>
                          <a:tailEnd type="none" w="med" len="med"/>
                        </a:lnB>
                        <a:blipFill>
                          <a:blip r:embed="rId3"/>
                          <a:stretch>
                            <a:fillRect l="-14941" t="-599" r="-88905" b="-329940"/>
                          </a:stretch>
                        </a:blipFill>
                      </a:tcPr>
                    </a:tc>
                    <a:tc>
                      <a:txBody>
                        <a:bodyPr/>
                        <a:lstStyle/>
                        <a:p>
                          <a:endParaRPr lang="en-US" dirty="0"/>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Proportion of assets financed</a:t>
                          </a:r>
                          <a:r>
                            <a:rPr lang="en-US" sz="1400" baseline="0" dirty="0"/>
                            <a:t> with debt</a:t>
                          </a:r>
                        </a:p>
                        <a:p>
                          <a:r>
                            <a:rPr lang="en-US" sz="1400" baseline="0" dirty="0"/>
                            <a:t>Greater % indicates a greater degree of leverage and greater risk</a:t>
                          </a:r>
                          <a:endParaRPr lang="en-US" sz="1400" dirty="0"/>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015331">
                    <a:tc vMerge="1">
                      <a:txBody>
                        <a:bodyPr/>
                        <a:lstStyle/>
                        <a:p>
                          <a:endParaRPr lang="en-US" dirty="0"/>
                        </a:p>
                      </a:txBody>
                      <a:tcPr>
                        <a:lnT w="12700" cap="flat" cmpd="sng" algn="ctr">
                          <a:solidFill>
                            <a:schemeClr val="tx1"/>
                          </a:solidFill>
                          <a:prstDash val="solid"/>
                          <a:round/>
                          <a:headEnd type="none" w="med" len="med"/>
                          <a:tailEnd type="none" w="med" len="med"/>
                        </a:lnT>
                      </a:tcPr>
                    </a:tc>
                    <a:tc>
                      <a:txBody>
                        <a:bodyPr/>
                        <a:lstStyle/>
                        <a:p>
                          <a:endParaRPr 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941" t="-100599" r="-88905" b="-229940"/>
                          </a:stretch>
                        </a:blipFill>
                      </a:tcPr>
                    </a:tc>
                    <a:tc>
                      <a:txBody>
                        <a:bodyPr/>
                        <a:lstStyle/>
                        <a:p>
                          <a:endParaRPr 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Debt</a:t>
                          </a:r>
                          <a:r>
                            <a:rPr lang="en-US" sz="1400" baseline="0" dirty="0"/>
                            <a:t> financing relative to equity financing. This ratio is used to evaluate the company’s financial leverage</a:t>
                          </a:r>
                          <a:endParaRPr lang="en-US"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15331">
                    <a:tc vMerge="1">
                      <a:txBody>
                        <a:bodyPr/>
                        <a:lstStyle/>
                        <a:p>
                          <a:endParaRPr lang="en-US" dirty="0"/>
                        </a:p>
                      </a:txBody>
                      <a:tcPr/>
                    </a:tc>
                    <a:tc>
                      <a:txBody>
                        <a:bodyPr/>
                        <a:lstStyle/>
                        <a:p>
                          <a:endParaRPr 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941" t="-200599" r="-88905" b="-129940"/>
                          </a:stretch>
                        </a:blipFill>
                      </a:tcPr>
                    </a:tc>
                    <a:tc>
                      <a:txBody>
                        <a:bodyPr/>
                        <a:lstStyle/>
                        <a:p>
                          <a:endParaRPr 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Represents</a:t>
                          </a:r>
                          <a:r>
                            <a:rPr lang="en-US" sz="1400" baseline="0" dirty="0"/>
                            <a:t> the amount of assets on which shareholders have a residual claim.</a:t>
                          </a:r>
                          <a:endParaRPr lang="en-US"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311470">
                    <a:tc>
                      <a:txBody>
                        <a:bodyPr/>
                        <a:lstStyle/>
                        <a:p>
                          <a:pPr algn="ctr"/>
                          <a:r>
                            <a:rPr lang="en-US" sz="1600" dirty="0"/>
                            <a:t>Coverage Ratios</a:t>
                          </a:r>
                        </a:p>
                      </a:txBody>
                      <a:tcPr vert="vert27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941" t="-233488" r="-88905" b="-930"/>
                          </a:stretch>
                        </a:blipFill>
                      </a:tcPr>
                    </a:tc>
                    <a:tc>
                      <a:txBody>
                        <a:bodyPr/>
                        <a:lstStyle/>
                        <a:p>
                          <a:endParaRPr 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Ability to satisfy</a:t>
                          </a:r>
                          <a:r>
                            <a:rPr lang="en-US" sz="1400" baseline="0" dirty="0"/>
                            <a:t> interest payments as they come due. The lower this ratio, the more the company is burdened by debt expenses</a:t>
                          </a:r>
                        </a:p>
                        <a:p>
                          <a:endParaRPr lang="en-US"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Fallback>
      </mc:AlternateContent>
      <p:sp>
        <p:nvSpPr>
          <p:cNvPr id="4" name="Footer Placeholder 3"/>
          <p:cNvSpPr>
            <a:spLocks noGrp="1"/>
          </p:cNvSpPr>
          <p:nvPr>
            <p:ph type="ftr" sz="quarter" idx="11"/>
          </p:nvPr>
        </p:nvSpPr>
        <p:spPr>
          <a:xfrm>
            <a:off x="304800" y="6458633"/>
            <a:ext cx="2895600" cy="399367"/>
          </a:xfrm>
        </p:spPr>
        <p:txBody>
          <a:bodyPr/>
          <a:lstStyle/>
          <a:p>
            <a:r>
              <a:rPr lang="en-US" dirty="0"/>
              <a:t>Copyright © 2013 CFA Institute</a:t>
            </a:r>
          </a:p>
        </p:txBody>
      </p:sp>
      <p:sp>
        <p:nvSpPr>
          <p:cNvPr id="5" name="Slide Number Placeholder 4"/>
          <p:cNvSpPr>
            <a:spLocks noGrp="1"/>
          </p:cNvSpPr>
          <p:nvPr>
            <p:ph type="sldNum" sz="quarter" idx="12"/>
          </p:nvPr>
        </p:nvSpPr>
        <p:spPr/>
        <p:txBody>
          <a:bodyPr/>
          <a:lstStyle/>
          <a:p>
            <a:fld id="{4E4A4924-7CC3-4BF6-9C5C-A8E770D15754}" type="slidenum">
              <a:rPr lang="en-US" smtClean="0"/>
              <a:pPr/>
              <a:t>26</a:t>
            </a:fld>
            <a:endParaRPr lang="en-US"/>
          </a:p>
        </p:txBody>
      </p:sp>
    </p:spTree>
    <p:extLst>
      <p:ext uri="{BB962C8B-B14F-4D97-AF65-F5344CB8AC3E}">
        <p14:creationId xmlns:p14="http://schemas.microsoft.com/office/powerpoint/2010/main" val="60936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5"/>
          <p:cNvSpPr>
            <a:spLocks noGrp="1" noChangeArrowheads="1"/>
          </p:cNvSpPr>
          <p:nvPr>
            <p:ph type="title"/>
          </p:nvPr>
        </p:nvSpPr>
        <p:spPr>
          <a:xfrm>
            <a:off x="585216" y="210312"/>
            <a:ext cx="7650843" cy="544635"/>
          </a:xfrm>
        </p:spPr>
        <p:txBody>
          <a:bodyPr/>
          <a:lstStyle/>
          <a:p>
            <a:r>
              <a:rPr lang="en-US" sz="2400" dirty="0"/>
              <a:t>Debt-to-Equity Ratio</a:t>
            </a:r>
          </a:p>
        </p:txBody>
      </p:sp>
      <p:sp>
        <p:nvSpPr>
          <p:cNvPr id="263182" name="Rectangle 14"/>
          <p:cNvSpPr>
            <a:spLocks noChangeArrowheads="1"/>
          </p:cNvSpPr>
          <p:nvPr/>
        </p:nvSpPr>
        <p:spPr bwMode="auto">
          <a:xfrm>
            <a:off x="1268380" y="779914"/>
            <a:ext cx="5749925" cy="643766"/>
          </a:xfrm>
          <a:prstGeom prst="rect">
            <a:avLst/>
          </a:prstGeom>
          <a:solidFill>
            <a:schemeClr val="accent2">
              <a:lumMod val="20000"/>
              <a:lumOff val="80000"/>
            </a:schemeClr>
          </a:solidFill>
          <a:ln w="28575" cmpd="thinThick">
            <a:solidFill>
              <a:schemeClr val="tx1"/>
            </a:solidFill>
            <a:miter lim="800000"/>
            <a:headEnd/>
            <a:tailEnd/>
          </a:ln>
          <a:effectLst>
            <a:outerShdw dist="107763" dir="2700000" algn="ctr" rotWithShape="0">
              <a:srgbClr val="000000"/>
            </a:outerShdw>
          </a:effectLst>
        </p:spPr>
        <p:txBody>
          <a:bodyPr lIns="90488" tIns="44450" rIns="90488" bIns="44450">
            <a:spAutoFit/>
          </a:bodyPr>
          <a:lstStyle/>
          <a:p>
            <a:pPr algn="ctr" eaLnBrk="0" hangingPunct="0">
              <a:defRPr/>
            </a:pPr>
            <a:r>
              <a:rPr lang="en-US" dirty="0">
                <a:solidFill>
                  <a:srgbClr val="000000"/>
                </a:solidFill>
                <a:cs typeface="Arial" charset="0"/>
              </a:rPr>
              <a:t>This ratio measures the amount of liabilities that exists for each $1 invested by the owners. </a:t>
            </a:r>
          </a:p>
        </p:txBody>
      </p:sp>
      <p:grpSp>
        <p:nvGrpSpPr>
          <p:cNvPr id="2" name="Group 18"/>
          <p:cNvGrpSpPr>
            <a:grpSpLocks/>
          </p:cNvGrpSpPr>
          <p:nvPr/>
        </p:nvGrpSpPr>
        <p:grpSpPr bwMode="auto">
          <a:xfrm>
            <a:off x="1062800" y="3033565"/>
            <a:ext cx="6500813" cy="754063"/>
            <a:chOff x="832" y="2013"/>
            <a:chExt cx="4095" cy="475"/>
          </a:xfrm>
        </p:grpSpPr>
        <p:sp>
          <p:nvSpPr>
            <p:cNvPr id="37899" name="Rectangle 9"/>
            <p:cNvSpPr>
              <a:spLocks noChangeArrowheads="1"/>
            </p:cNvSpPr>
            <p:nvPr/>
          </p:nvSpPr>
          <p:spPr bwMode="auto">
            <a:xfrm>
              <a:off x="3120" y="2013"/>
              <a:ext cx="595"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$43,075</a:t>
              </a:r>
            </a:p>
            <a:p>
              <a:pPr algn="ctr">
                <a:lnSpc>
                  <a:spcPct val="120000"/>
                </a:lnSpc>
              </a:pPr>
              <a:r>
                <a:rPr lang="en-US" b="1" dirty="0">
                  <a:latin typeface="+mn-lt"/>
                </a:rPr>
                <a:t>$1,454</a:t>
              </a:r>
            </a:p>
          </p:txBody>
        </p:sp>
        <p:sp>
          <p:nvSpPr>
            <p:cNvPr id="37900" name="Line 10"/>
            <p:cNvSpPr>
              <a:spLocks noChangeShapeType="1"/>
            </p:cNvSpPr>
            <p:nvPr/>
          </p:nvSpPr>
          <p:spPr bwMode="auto">
            <a:xfrm>
              <a:off x="2755" y="2267"/>
              <a:ext cx="1339"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7901" name="Rectangle 11"/>
            <p:cNvSpPr>
              <a:spLocks noChangeArrowheads="1"/>
            </p:cNvSpPr>
            <p:nvPr/>
          </p:nvSpPr>
          <p:spPr bwMode="auto">
            <a:xfrm>
              <a:off x="4239" y="2119"/>
              <a:ext cx="6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29.63</a:t>
              </a:r>
            </a:p>
          </p:txBody>
        </p:sp>
        <p:sp>
          <p:nvSpPr>
            <p:cNvPr id="37902" name="Rectangle 13"/>
            <p:cNvSpPr>
              <a:spLocks noChangeArrowheads="1"/>
            </p:cNvSpPr>
            <p:nvPr/>
          </p:nvSpPr>
          <p:spPr bwMode="auto">
            <a:xfrm>
              <a:off x="2375" y="2115"/>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37903" name="Rectangle 16"/>
            <p:cNvSpPr>
              <a:spLocks noChangeArrowheads="1"/>
            </p:cNvSpPr>
            <p:nvPr/>
          </p:nvSpPr>
          <p:spPr bwMode="auto">
            <a:xfrm>
              <a:off x="832" y="2027"/>
              <a:ext cx="1491"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grpSp>
      <p:grpSp>
        <p:nvGrpSpPr>
          <p:cNvPr id="37893" name="Group 18"/>
          <p:cNvGrpSpPr>
            <a:grpSpLocks/>
          </p:cNvGrpSpPr>
          <p:nvPr/>
        </p:nvGrpSpPr>
        <p:grpSpPr bwMode="auto">
          <a:xfrm>
            <a:off x="1062800" y="1940163"/>
            <a:ext cx="5460944" cy="754062"/>
            <a:chOff x="1066800" y="1628776"/>
            <a:chExt cx="5461002" cy="754063"/>
          </a:xfrm>
        </p:grpSpPr>
        <p:grpSp>
          <p:nvGrpSpPr>
            <p:cNvPr id="37894" name="Group 19"/>
            <p:cNvGrpSpPr>
              <a:grpSpLocks/>
            </p:cNvGrpSpPr>
            <p:nvPr/>
          </p:nvGrpSpPr>
          <p:grpSpPr bwMode="auto">
            <a:xfrm>
              <a:off x="1066800" y="1628776"/>
              <a:ext cx="5461002" cy="754063"/>
              <a:chOff x="672" y="1026"/>
              <a:chExt cx="3440" cy="475"/>
            </a:xfrm>
          </p:grpSpPr>
          <p:sp>
            <p:nvSpPr>
              <p:cNvPr id="37896" name="Rectangle 4"/>
              <p:cNvSpPr>
                <a:spLocks noChangeArrowheads="1"/>
              </p:cNvSpPr>
              <p:nvPr/>
            </p:nvSpPr>
            <p:spPr bwMode="auto">
              <a:xfrm>
                <a:off x="2447" y="1026"/>
                <a:ext cx="1665"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Total Liabilities</a:t>
                </a:r>
              </a:p>
              <a:p>
                <a:pPr algn="ctr">
                  <a:lnSpc>
                    <a:spcPct val="120000"/>
                  </a:lnSpc>
                </a:pPr>
                <a:r>
                  <a:rPr lang="en-US" b="1" dirty="0">
                    <a:latin typeface="+mn-lt"/>
                  </a:rPr>
                  <a:t>Total Stockholders’ Equity</a:t>
                </a:r>
              </a:p>
            </p:txBody>
          </p:sp>
          <p:sp>
            <p:nvSpPr>
              <p:cNvPr id="37897" name="Rectangle 6"/>
              <p:cNvSpPr>
                <a:spLocks noChangeArrowheads="1"/>
              </p:cNvSpPr>
              <p:nvPr/>
            </p:nvSpPr>
            <p:spPr bwMode="auto">
              <a:xfrm>
                <a:off x="672" y="1101"/>
                <a:ext cx="1491" cy="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spcBef>
                    <a:spcPct val="50000"/>
                  </a:spcBef>
                </a:pPr>
                <a:r>
                  <a:rPr lang="en-US" b="1" dirty="0">
                    <a:latin typeface="+mn-lt"/>
                  </a:rPr>
                  <a:t>Debt-to-Equity Ratio</a:t>
                </a:r>
              </a:p>
            </p:txBody>
          </p:sp>
          <p:sp>
            <p:nvSpPr>
              <p:cNvPr id="37898" name="Rectangle 7"/>
              <p:cNvSpPr>
                <a:spLocks noChangeArrowheads="1"/>
              </p:cNvSpPr>
              <p:nvPr/>
            </p:nvSpPr>
            <p:spPr bwMode="auto">
              <a:xfrm>
                <a:off x="2175" y="1130"/>
                <a:ext cx="294"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grpSp>
        <p:cxnSp>
          <p:nvCxnSpPr>
            <p:cNvPr id="18" name="Straight Connector 17"/>
            <p:cNvCxnSpPr>
              <a:stCxn id="37896" idx="1"/>
              <a:endCxn id="37896" idx="3"/>
            </p:cNvCxnSpPr>
            <p:nvPr/>
          </p:nvCxnSpPr>
          <p:spPr>
            <a:xfrm>
              <a:off x="3884614" y="2005807"/>
              <a:ext cx="26431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Footer Placeholder 2"/>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4" name="Rectangle 3"/>
          <p:cNvSpPr/>
          <p:nvPr/>
        </p:nvSpPr>
        <p:spPr>
          <a:xfrm>
            <a:off x="1375537" y="4392340"/>
            <a:ext cx="6188075" cy="646331"/>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t>In fiscal 2017, for each $1.00 of stockholders’ equity, The Home Depot had $29.63 of liabilities. </a:t>
            </a:r>
          </a:p>
        </p:txBody>
      </p:sp>
    </p:spTree>
    <p:extLst>
      <p:ext uri="{BB962C8B-B14F-4D97-AF65-F5344CB8AC3E}">
        <p14:creationId xmlns:p14="http://schemas.microsoft.com/office/powerpoint/2010/main" val="299922913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1041"/>
          <p:cNvSpPr>
            <a:spLocks noGrp="1" noChangeArrowheads="1"/>
          </p:cNvSpPr>
          <p:nvPr>
            <p:ph type="title"/>
          </p:nvPr>
        </p:nvSpPr>
        <p:spPr>
          <a:xfrm>
            <a:off x="585216" y="210312"/>
            <a:ext cx="7650843" cy="530981"/>
          </a:xfrm>
        </p:spPr>
        <p:txBody>
          <a:bodyPr/>
          <a:lstStyle/>
          <a:p>
            <a:r>
              <a:rPr lang="en-US" sz="2400" dirty="0"/>
              <a:t>Times Interest Earned Ratio</a:t>
            </a:r>
          </a:p>
        </p:txBody>
      </p:sp>
      <p:grpSp>
        <p:nvGrpSpPr>
          <p:cNvPr id="36868" name="Group 1028"/>
          <p:cNvGrpSpPr>
            <a:grpSpLocks/>
          </p:cNvGrpSpPr>
          <p:nvPr/>
        </p:nvGrpSpPr>
        <p:grpSpPr bwMode="auto">
          <a:xfrm>
            <a:off x="285751" y="2536825"/>
            <a:ext cx="7021513" cy="1196975"/>
            <a:chOff x="77" y="1021"/>
            <a:chExt cx="4423" cy="754"/>
          </a:xfrm>
        </p:grpSpPr>
        <p:sp>
          <p:nvSpPr>
            <p:cNvPr id="36876" name="Rectangle 1029"/>
            <p:cNvSpPr>
              <a:spLocks noChangeArrowheads="1"/>
            </p:cNvSpPr>
            <p:nvPr/>
          </p:nvSpPr>
          <p:spPr bwMode="auto">
            <a:xfrm>
              <a:off x="953" y="1021"/>
              <a:ext cx="3547" cy="7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       Net               Interest         Income Tax </a:t>
              </a:r>
              <a:br>
                <a:rPr lang="en-US" b="1" dirty="0">
                  <a:latin typeface="+mn-lt"/>
                </a:rPr>
              </a:br>
              <a:r>
                <a:rPr lang="en-US" b="1" dirty="0">
                  <a:latin typeface="+mn-lt"/>
                </a:rPr>
                <a:t>Income           Expense           Expense</a:t>
              </a:r>
            </a:p>
            <a:p>
              <a:pPr algn="ctr"/>
              <a:br>
                <a:rPr lang="en-US" b="1" dirty="0">
                  <a:latin typeface="+mn-lt"/>
                </a:rPr>
              </a:br>
              <a:r>
                <a:rPr lang="en-US" b="1" dirty="0">
                  <a:latin typeface="+mn-lt"/>
                </a:rPr>
                <a:t>    Interest Expense</a:t>
              </a:r>
            </a:p>
          </p:txBody>
        </p:sp>
        <p:sp>
          <p:nvSpPr>
            <p:cNvPr id="36877" name="Line 1030"/>
            <p:cNvSpPr>
              <a:spLocks noChangeShapeType="1"/>
            </p:cNvSpPr>
            <p:nvPr/>
          </p:nvSpPr>
          <p:spPr bwMode="auto">
            <a:xfrm>
              <a:off x="1529" y="1486"/>
              <a:ext cx="2479" cy="13"/>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6878" name="Rectangle 1031"/>
            <p:cNvSpPr>
              <a:spLocks noChangeArrowheads="1"/>
            </p:cNvSpPr>
            <p:nvPr/>
          </p:nvSpPr>
          <p:spPr bwMode="auto">
            <a:xfrm>
              <a:off x="77" y="1273"/>
              <a:ext cx="1254"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Times Interest Earned</a:t>
              </a:r>
            </a:p>
          </p:txBody>
        </p:sp>
        <p:sp>
          <p:nvSpPr>
            <p:cNvPr id="36879" name="Rectangle 1032"/>
            <p:cNvSpPr>
              <a:spLocks noChangeArrowheads="1"/>
            </p:cNvSpPr>
            <p:nvPr/>
          </p:nvSpPr>
          <p:spPr bwMode="auto">
            <a:xfrm>
              <a:off x="1145" y="1367"/>
              <a:ext cx="294"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sp>
          <p:nvSpPr>
            <p:cNvPr id="36880" name="Rectangle 1033"/>
            <p:cNvSpPr>
              <a:spLocks noChangeArrowheads="1"/>
            </p:cNvSpPr>
            <p:nvPr/>
          </p:nvSpPr>
          <p:spPr bwMode="auto">
            <a:xfrm>
              <a:off x="2153" y="1099"/>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a:t>
              </a:r>
            </a:p>
          </p:txBody>
        </p:sp>
        <p:sp>
          <p:nvSpPr>
            <p:cNvPr id="36881" name="Rectangle 1034"/>
            <p:cNvSpPr>
              <a:spLocks noChangeArrowheads="1"/>
            </p:cNvSpPr>
            <p:nvPr/>
          </p:nvSpPr>
          <p:spPr bwMode="auto">
            <a:xfrm>
              <a:off x="3012" y="1099"/>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a:t>
              </a:r>
            </a:p>
          </p:txBody>
        </p:sp>
      </p:grpSp>
      <p:grpSp>
        <p:nvGrpSpPr>
          <p:cNvPr id="3" name="Group 17"/>
          <p:cNvGrpSpPr>
            <a:grpSpLocks/>
          </p:cNvGrpSpPr>
          <p:nvPr/>
        </p:nvGrpSpPr>
        <p:grpSpPr bwMode="auto">
          <a:xfrm>
            <a:off x="285540" y="4036527"/>
            <a:ext cx="7821397" cy="754566"/>
            <a:chOff x="371475" y="4449763"/>
            <a:chExt cx="7821397" cy="754566"/>
          </a:xfrm>
        </p:grpSpPr>
        <p:sp>
          <p:nvSpPr>
            <p:cNvPr id="36871" name="Rectangle 1036"/>
            <p:cNvSpPr>
              <a:spLocks noChangeArrowheads="1"/>
            </p:cNvSpPr>
            <p:nvPr/>
          </p:nvSpPr>
          <p:spPr bwMode="auto">
            <a:xfrm>
              <a:off x="2362200" y="4449763"/>
              <a:ext cx="4411663" cy="7545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$8,630 +  $1,057  +  $5,068</a:t>
              </a:r>
              <a:br>
                <a:rPr lang="en-US" b="1" dirty="0">
                  <a:latin typeface="+mn-lt"/>
                </a:rPr>
              </a:br>
              <a:r>
                <a:rPr lang="en-US" b="1" dirty="0">
                  <a:latin typeface="+mn-lt"/>
                </a:rPr>
                <a:t>$1,057</a:t>
              </a:r>
            </a:p>
          </p:txBody>
        </p:sp>
        <p:sp>
          <p:nvSpPr>
            <p:cNvPr id="36872" name="Line 1037"/>
            <p:cNvSpPr>
              <a:spLocks noChangeShapeType="1"/>
            </p:cNvSpPr>
            <p:nvPr/>
          </p:nvSpPr>
          <p:spPr bwMode="auto">
            <a:xfrm>
              <a:off x="2533701" y="4868011"/>
              <a:ext cx="4105434"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6873" name="Rectangle 1038"/>
            <p:cNvSpPr>
              <a:spLocks noChangeArrowheads="1"/>
            </p:cNvSpPr>
            <p:nvPr/>
          </p:nvSpPr>
          <p:spPr bwMode="auto">
            <a:xfrm>
              <a:off x="371475" y="4486624"/>
              <a:ext cx="1990725" cy="6437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sp>
          <p:nvSpPr>
            <p:cNvPr id="36874" name="Rectangle 1039"/>
            <p:cNvSpPr>
              <a:spLocks noChangeArrowheads="1"/>
            </p:cNvSpPr>
            <p:nvPr/>
          </p:nvSpPr>
          <p:spPr bwMode="auto">
            <a:xfrm>
              <a:off x="2067135" y="4668129"/>
              <a:ext cx="466725" cy="3667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b="1" dirty="0">
                  <a:latin typeface="+mn-lt"/>
                </a:rPr>
                <a:t>=</a:t>
              </a:r>
            </a:p>
          </p:txBody>
        </p:sp>
        <p:sp>
          <p:nvSpPr>
            <p:cNvPr id="36875" name="Rectangle 1040"/>
            <p:cNvSpPr>
              <a:spLocks noChangeArrowheads="1"/>
            </p:cNvSpPr>
            <p:nvPr/>
          </p:nvSpPr>
          <p:spPr bwMode="auto">
            <a:xfrm>
              <a:off x="6562935" y="4596578"/>
              <a:ext cx="1629937" cy="3667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squar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  13.96 times</a:t>
              </a:r>
            </a:p>
          </p:txBody>
        </p:sp>
      </p:gr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4" name="Rectangle 3"/>
          <p:cNvSpPr/>
          <p:nvPr/>
        </p:nvSpPr>
        <p:spPr>
          <a:xfrm>
            <a:off x="970156" y="5154595"/>
            <a:ext cx="6337107" cy="923330"/>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solidFill>
                  <a:srgbClr val="211D1E"/>
                </a:solidFill>
              </a:rPr>
              <a:t>A high ratio indicates a secure position for creditors. </a:t>
            </a:r>
            <a:r>
              <a:rPr lang="en-US" dirty="0"/>
              <a:t>In fiscal 2017, The Home Depot generated $13.96 in income for each $1.00 of interest expense.</a:t>
            </a:r>
            <a:r>
              <a:rPr lang="en-US" dirty="0">
                <a:solidFill>
                  <a:srgbClr val="211D1E"/>
                </a:solidFill>
              </a:rPr>
              <a:t> </a:t>
            </a:r>
            <a:endParaRPr lang="en-US" dirty="0"/>
          </a:p>
        </p:txBody>
      </p:sp>
      <p:sp>
        <p:nvSpPr>
          <p:cNvPr id="20" name="Rectangle 14"/>
          <p:cNvSpPr>
            <a:spLocks noChangeArrowheads="1"/>
          </p:cNvSpPr>
          <p:nvPr/>
        </p:nvSpPr>
        <p:spPr bwMode="auto">
          <a:xfrm>
            <a:off x="644690" y="952324"/>
            <a:ext cx="7204075" cy="920765"/>
          </a:xfrm>
          <a:prstGeom prst="rect">
            <a:avLst/>
          </a:prstGeom>
          <a:solidFill>
            <a:schemeClr val="accent2">
              <a:lumMod val="20000"/>
              <a:lumOff val="80000"/>
            </a:schemeClr>
          </a:solidFill>
          <a:ln w="28575" cmpd="thinThick">
            <a:solidFill>
              <a:schemeClr val="accent4">
                <a:lumMod val="50000"/>
              </a:schemeClr>
            </a:solidFill>
            <a:miter lim="800000"/>
            <a:headEnd/>
            <a:tailEnd/>
          </a:ln>
          <a:effectLst>
            <a:outerShdw dist="107763" dir="2700000" algn="ctr" rotWithShape="0">
              <a:srgbClr val="000000"/>
            </a:outerShdw>
          </a:effectLst>
        </p:spPr>
        <p:txBody>
          <a:bodyPr wrap="square" lIns="90488" tIns="44450" rIns="90488" bIns="44450">
            <a:spAutoFit/>
          </a:bodyPr>
          <a:lstStyle/>
          <a:p>
            <a:pPr algn="ctr"/>
            <a:r>
              <a:rPr lang="en-US" dirty="0"/>
              <a:t>This ratio compares the income available to pay interest in a period to a company’s interest obligation for the same period. </a:t>
            </a:r>
          </a:p>
          <a:p>
            <a:pPr algn="ctr"/>
            <a:r>
              <a:rPr lang="en-US" dirty="0">
                <a:solidFill>
                  <a:srgbClr val="000000"/>
                </a:solidFill>
              </a:rPr>
              <a:t>This ratio indicates a margin of protection for creditors. </a:t>
            </a:r>
          </a:p>
        </p:txBody>
      </p:sp>
    </p:spTree>
    <p:extLst>
      <p:ext uri="{BB962C8B-B14F-4D97-AF65-F5344CB8AC3E}">
        <p14:creationId xmlns:p14="http://schemas.microsoft.com/office/powerpoint/2010/main" val="270948043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003DA5"/>
                </a:solidFill>
              </a:rPr>
              <a:t>Forth: Profitability ratios</a:t>
            </a:r>
          </a:p>
        </p:txBody>
      </p:sp>
      <p:sp>
        <p:nvSpPr>
          <p:cNvPr id="4" name="Footer Placeholder 3"/>
          <p:cNvSpPr>
            <a:spLocks noGrp="1"/>
          </p:cNvSpPr>
          <p:nvPr>
            <p:ph type="ftr" sz="quarter" idx="11"/>
          </p:nvPr>
        </p:nvSpPr>
        <p:spPr/>
        <p:txBody>
          <a:bodyPr/>
          <a:lstStyle/>
          <a:p>
            <a:r>
              <a:rPr lang="en-US" dirty="0"/>
              <a:t>Copyright © 2013 CFA Institute</a:t>
            </a:r>
          </a:p>
        </p:txBody>
      </p:sp>
      <p:sp>
        <p:nvSpPr>
          <p:cNvPr id="5" name="Slide Number Placeholder 4"/>
          <p:cNvSpPr>
            <a:spLocks noGrp="1"/>
          </p:cNvSpPr>
          <p:nvPr>
            <p:ph type="sldNum" sz="quarter" idx="12"/>
          </p:nvPr>
        </p:nvSpPr>
        <p:spPr/>
        <p:txBody>
          <a:bodyPr/>
          <a:lstStyle/>
          <a:p>
            <a:fld id="{4E4A4924-7CC3-4BF6-9C5C-A8E770D15754}" type="slidenum">
              <a:rPr lang="en-US" smtClean="0"/>
              <a:pPr/>
              <a:t>29</a:t>
            </a:fld>
            <a:endParaRPr lang="en-US"/>
          </a:p>
        </p:txBody>
      </p:sp>
      <mc:AlternateContent xmlns:mc="http://schemas.openxmlformats.org/markup-compatibility/2006" xmlns:a14="http://schemas.microsoft.com/office/drawing/2010/main">
        <mc:Choice Requires="a14">
          <p:sp>
            <p:nvSpPr>
              <p:cNvPr id="19" name="Content Placeholder 18"/>
              <p:cNvSpPr>
                <a:spLocks noGrp="1"/>
              </p:cNvSpPr>
              <p:nvPr>
                <p:ph idx="1"/>
              </p:nvPr>
            </p:nvSpPr>
            <p:spPr>
              <a:xfrm>
                <a:off x="381000" y="1512913"/>
                <a:ext cx="8375904" cy="4724399"/>
              </a:xfrm>
            </p:spPr>
            <p:txBody>
              <a:bodyPr>
                <a:normAutofit fontScale="92500" lnSpcReduction="10000"/>
              </a:bodyPr>
              <a:lstStyle/>
              <a:p>
                <a:pPr marL="9144" lvl="0" indent="0">
                  <a:buNone/>
                </a:pPr>
                <a:r>
                  <a:rPr lang="en-US" b="0" i="0" dirty="0">
                    <a:latin typeface="+mn-lt"/>
                  </a:rPr>
                  <a:t>Each margin ratio compares a measure of income </a:t>
                </a:r>
                <a:r>
                  <a:rPr lang="en-US" dirty="0"/>
                  <a:t>with</a:t>
                </a:r>
                <a:r>
                  <a:rPr lang="en-US" b="0" i="0" dirty="0">
                    <a:latin typeface="+mn-lt"/>
                  </a:rPr>
                  <a:t> total revenues:</a:t>
                </a:r>
              </a:p>
              <a:p>
                <a:pPr marL="9144" lvl="0" indent="0">
                  <a:lnSpc>
                    <a:spcPct val="150000"/>
                  </a:lnSpc>
                  <a:spcBef>
                    <a:spcPts val="1200"/>
                  </a:spcBef>
                  <a:buNone/>
                </a:pPr>
                <a:r>
                  <a:rPr lang="en-US" sz="1900" b="1" dirty="0">
                    <a:solidFill>
                      <a:srgbClr val="FF0000"/>
                    </a:solidFill>
                  </a:rPr>
                  <a:t>1-</a:t>
                </a:r>
                <a14:m>
                  <m:oMath xmlns:m="http://schemas.openxmlformats.org/officeDocument/2006/math">
                    <m:r>
                      <m:rPr>
                        <m:nor/>
                      </m:rPr>
                      <a:rPr lang="en-US" sz="1900" b="1" i="0" smtClean="0">
                        <a:solidFill>
                          <a:srgbClr val="FF0000"/>
                        </a:solidFill>
                      </a:rPr>
                      <m:t>Gross</m:t>
                    </m:r>
                    <m:r>
                      <m:rPr>
                        <m:nor/>
                      </m:rPr>
                      <a:rPr lang="en-US" sz="1900" b="1" i="0" smtClean="0">
                        <a:solidFill>
                          <a:srgbClr val="FF0000"/>
                        </a:solidFill>
                      </a:rPr>
                      <m:t> </m:t>
                    </m:r>
                    <m:r>
                      <m:rPr>
                        <m:nor/>
                      </m:rPr>
                      <a:rPr lang="en-US" sz="1900" b="1" i="0" smtClean="0">
                        <a:solidFill>
                          <a:srgbClr val="FF0000"/>
                        </a:solidFill>
                      </a:rPr>
                      <m:t>profit</m:t>
                    </m:r>
                    <m:r>
                      <m:rPr>
                        <m:nor/>
                      </m:rPr>
                      <a:rPr lang="en-US" sz="1900" b="1" i="0" smtClean="0">
                        <a:solidFill>
                          <a:srgbClr val="FF0000"/>
                        </a:solidFill>
                      </a:rPr>
                      <m:t> </m:t>
                    </m:r>
                    <m:r>
                      <m:rPr>
                        <m:nor/>
                      </m:rPr>
                      <a:rPr lang="en-US" sz="1900" b="1" i="0" smtClean="0">
                        <a:solidFill>
                          <a:srgbClr val="FF0000"/>
                        </a:solidFill>
                      </a:rPr>
                      <m:t>margin</m:t>
                    </m:r>
                    <m:r>
                      <m:rPr>
                        <m:nor/>
                      </m:rPr>
                      <a:rPr lang="en-US" sz="1900" b="0" i="0" smtClean="0">
                        <a:solidFill>
                          <a:srgbClr val="FF0000"/>
                        </a:solidFill>
                      </a:rPr>
                      <m:t> </m:t>
                    </m:r>
                    <m:r>
                      <m:rPr>
                        <m:nor/>
                      </m:rPr>
                      <a:rPr lang="en-US" sz="1900" b="1" i="0" smtClean="0">
                        <a:solidFill>
                          <a:srgbClr val="FF0000"/>
                        </a:solidFill>
                      </a:rPr>
                      <m:t>Ratio</m:t>
                    </m:r>
                    <m:r>
                      <m:rPr>
                        <m:nor/>
                      </m:rPr>
                      <a:rPr lang="en-US" sz="1900" b="0" i="0" smtClean="0"/>
                      <m:t> =</m:t>
                    </m:r>
                    <m:r>
                      <a:rPr lang="en-US" sz="1900" b="0" i="1" smtClean="0">
                        <a:latin typeface="Cambria Math"/>
                      </a:rPr>
                      <m:t> </m:t>
                    </m:r>
                    <m:f>
                      <m:fPr>
                        <m:ctrlPr>
                          <a:rPr lang="en-US" sz="1900" i="1" smtClean="0">
                            <a:latin typeface="Cambria Math" panose="02040503050406030204" pitchFamily="18" charset="0"/>
                          </a:rPr>
                        </m:ctrlPr>
                      </m:fPr>
                      <m:num>
                        <m:r>
                          <m:rPr>
                            <m:nor/>
                          </m:rPr>
                          <a:rPr lang="en-US" sz="1900" b="0" i="0" smtClean="0"/>
                          <m:t>Gross</m:t>
                        </m:r>
                        <m:r>
                          <m:rPr>
                            <m:nor/>
                          </m:rPr>
                          <a:rPr lang="en-US" sz="1900" b="0" i="0" smtClean="0"/>
                          <m:t> </m:t>
                        </m:r>
                        <m:r>
                          <m:rPr>
                            <m:nor/>
                          </m:rPr>
                          <a:rPr lang="en-US" sz="1900" b="0" i="0" smtClean="0"/>
                          <m:t>profit</m:t>
                        </m:r>
                      </m:num>
                      <m:den>
                        <m:r>
                          <m:rPr>
                            <m:nor/>
                          </m:rPr>
                          <a:rPr lang="en-US" sz="1900" b="0" i="0" smtClean="0"/>
                          <m:t>Total</m:t>
                        </m:r>
                        <m:r>
                          <m:rPr>
                            <m:nor/>
                          </m:rPr>
                          <a:rPr lang="en-US" sz="1900" b="0" i="0" smtClean="0"/>
                          <m:t> </m:t>
                        </m:r>
                        <m:r>
                          <m:rPr>
                            <m:nor/>
                          </m:rPr>
                          <a:rPr lang="en-US" sz="1900" b="0" i="0" smtClean="0"/>
                          <m:t>revenues</m:t>
                        </m:r>
                      </m:den>
                    </m:f>
                  </m:oMath>
                </a14:m>
                <a:r>
                  <a:rPr lang="en-US" sz="1900" dirty="0"/>
                  <a:t>  This measure reveals the amount of money left over sales after deducting Cost of goods Sold</a:t>
                </a:r>
              </a:p>
              <a:p>
                <a:pPr marL="9144" lvl="0" indent="0">
                  <a:lnSpc>
                    <a:spcPct val="150000"/>
                  </a:lnSpc>
                  <a:spcBef>
                    <a:spcPts val="1200"/>
                  </a:spcBef>
                  <a:buNone/>
                </a:pPr>
                <a14:m>
                  <m:oMath xmlns:m="http://schemas.openxmlformats.org/officeDocument/2006/math">
                    <m:r>
                      <m:rPr>
                        <m:nor/>
                      </m:rPr>
                      <a:rPr lang="en-US" sz="1900" b="1" i="0" smtClean="0">
                        <a:solidFill>
                          <a:srgbClr val="FF0000"/>
                        </a:solidFill>
                      </a:rPr>
                      <m:t>2−</m:t>
                    </m:r>
                    <m:r>
                      <m:rPr>
                        <m:nor/>
                      </m:rPr>
                      <a:rPr lang="en-US" sz="1900" b="1" i="0" smtClean="0">
                        <a:solidFill>
                          <a:srgbClr val="FF0000"/>
                        </a:solidFill>
                      </a:rPr>
                      <m:t>Operating</m:t>
                    </m:r>
                    <m:r>
                      <m:rPr>
                        <m:nor/>
                      </m:rPr>
                      <a:rPr lang="en-US" sz="1900" b="1" i="0" smtClean="0">
                        <a:solidFill>
                          <a:srgbClr val="FF0000"/>
                        </a:solidFill>
                      </a:rPr>
                      <m:t> </m:t>
                    </m:r>
                    <m:r>
                      <m:rPr>
                        <m:nor/>
                      </m:rPr>
                      <a:rPr lang="en-US" sz="1900" b="1" i="0" smtClean="0">
                        <a:solidFill>
                          <a:srgbClr val="FF0000"/>
                        </a:solidFill>
                      </a:rPr>
                      <m:t>profit</m:t>
                    </m:r>
                    <m:r>
                      <m:rPr>
                        <m:nor/>
                      </m:rPr>
                      <a:rPr lang="en-US" sz="1900" b="1" i="0" smtClean="0">
                        <a:solidFill>
                          <a:srgbClr val="FF0000"/>
                        </a:solidFill>
                      </a:rPr>
                      <m:t> </m:t>
                    </m:r>
                    <m:r>
                      <m:rPr>
                        <m:nor/>
                      </m:rPr>
                      <a:rPr lang="en-US" sz="1900" b="1" i="0" smtClean="0">
                        <a:solidFill>
                          <a:srgbClr val="FF0000"/>
                        </a:solidFill>
                      </a:rPr>
                      <m:t>margin</m:t>
                    </m:r>
                    <m:r>
                      <m:rPr>
                        <m:nor/>
                      </m:rPr>
                      <a:rPr lang="en-US" sz="1900" b="0" i="0" smtClean="0"/>
                      <m:t> = </m:t>
                    </m:r>
                    <m:f>
                      <m:fPr>
                        <m:ctrlPr>
                          <a:rPr lang="en-US" sz="1900" i="1" smtClean="0">
                            <a:latin typeface="Cambria Math" panose="02040503050406030204" pitchFamily="18" charset="0"/>
                          </a:rPr>
                        </m:ctrlPr>
                      </m:fPr>
                      <m:num>
                        <m:r>
                          <m:rPr>
                            <m:nor/>
                          </m:rPr>
                          <a:rPr lang="en-US" sz="1900" b="0" i="0" smtClean="0"/>
                          <m:t>Operating</m:t>
                        </m:r>
                        <m:r>
                          <m:rPr>
                            <m:nor/>
                          </m:rPr>
                          <a:rPr lang="en-US" sz="1900" b="0" i="0" smtClean="0"/>
                          <m:t> </m:t>
                        </m:r>
                        <m:r>
                          <m:rPr>
                            <m:nor/>
                          </m:rPr>
                          <a:rPr lang="en-US" sz="1900" b="0" i="0" smtClean="0"/>
                          <m:t>profit</m:t>
                        </m:r>
                      </m:num>
                      <m:den>
                        <m:r>
                          <m:rPr>
                            <m:nor/>
                          </m:rPr>
                          <a:rPr lang="en-US" sz="1900" b="0" i="0" smtClean="0"/>
                          <m:t>Total</m:t>
                        </m:r>
                        <m:r>
                          <m:rPr>
                            <m:nor/>
                          </m:rPr>
                          <a:rPr lang="en-US" sz="1900" b="0" i="0" smtClean="0"/>
                          <m:t> </m:t>
                        </m:r>
                        <m:r>
                          <m:rPr>
                            <m:nor/>
                          </m:rPr>
                          <a:rPr lang="en-US" sz="1900" b="0" i="0" smtClean="0"/>
                          <m:t>revenue</m:t>
                        </m:r>
                      </m:den>
                    </m:f>
                  </m:oMath>
                </a14:m>
                <a:r>
                  <a:rPr lang="en-US" sz="1900" dirty="0"/>
                  <a:t>    This ratio is used to measure the % of profit produced by the company before subtracting interest and expenses</a:t>
                </a:r>
              </a:p>
              <a:p>
                <a:pPr marL="9144" lvl="0" indent="0">
                  <a:lnSpc>
                    <a:spcPct val="150000"/>
                  </a:lnSpc>
                  <a:spcBef>
                    <a:spcPts val="1200"/>
                  </a:spcBef>
                  <a:buNone/>
                </a:pPr>
                <a14:m>
                  <m:oMath xmlns:m="http://schemas.openxmlformats.org/officeDocument/2006/math">
                    <m:r>
                      <m:rPr>
                        <m:nor/>
                      </m:rPr>
                      <a:rPr lang="en-US" sz="1900" b="0" i="0" smtClean="0"/>
                      <m:t> </m:t>
                    </m:r>
                    <m:r>
                      <m:rPr>
                        <m:nor/>
                      </m:rPr>
                      <a:rPr lang="en-US" sz="1900" b="1" i="0" smtClean="0"/>
                      <m:t>3−</m:t>
                    </m:r>
                    <m:r>
                      <m:rPr>
                        <m:nor/>
                      </m:rPr>
                      <a:rPr lang="en-US" sz="1900" b="1" i="0" smtClean="0">
                        <a:solidFill>
                          <a:srgbClr val="FF0000"/>
                        </a:solidFill>
                      </a:rPr>
                      <m:t>Net</m:t>
                    </m:r>
                    <m:r>
                      <m:rPr>
                        <m:nor/>
                      </m:rPr>
                      <a:rPr lang="en-US" sz="1900" b="1" i="0" smtClean="0">
                        <a:solidFill>
                          <a:srgbClr val="FF0000"/>
                        </a:solidFill>
                      </a:rPr>
                      <m:t> </m:t>
                    </m:r>
                    <m:r>
                      <m:rPr>
                        <m:nor/>
                      </m:rPr>
                      <a:rPr lang="en-US" sz="1900" b="1" i="0" smtClean="0">
                        <a:solidFill>
                          <a:srgbClr val="FF0000"/>
                        </a:solidFill>
                      </a:rPr>
                      <m:t>profit</m:t>
                    </m:r>
                    <m:r>
                      <m:rPr>
                        <m:nor/>
                      </m:rPr>
                      <a:rPr lang="en-US" sz="1900" b="1" i="0" smtClean="0">
                        <a:solidFill>
                          <a:srgbClr val="FF0000"/>
                        </a:solidFill>
                      </a:rPr>
                      <m:t> </m:t>
                    </m:r>
                    <m:r>
                      <m:rPr>
                        <m:nor/>
                      </m:rPr>
                      <a:rPr lang="en-US" sz="1900" b="1" i="0" smtClean="0">
                        <a:solidFill>
                          <a:srgbClr val="FF0000"/>
                        </a:solidFill>
                      </a:rPr>
                      <m:t>margin</m:t>
                    </m:r>
                    <m:r>
                      <m:rPr>
                        <m:nor/>
                      </m:rPr>
                      <a:rPr lang="en-US" sz="1900" b="0" i="0" smtClean="0"/>
                      <m:t> = </m:t>
                    </m:r>
                    <m:f>
                      <m:fPr>
                        <m:ctrlPr>
                          <a:rPr lang="en-US" sz="1900" i="1" smtClean="0">
                            <a:latin typeface="Cambria Math" panose="02040503050406030204" pitchFamily="18" charset="0"/>
                          </a:rPr>
                        </m:ctrlPr>
                      </m:fPr>
                      <m:num>
                        <m:r>
                          <m:rPr>
                            <m:nor/>
                          </m:rPr>
                          <a:rPr lang="en-US" sz="1900" b="0" smtClean="0">
                            <a:latin typeface="Times New Roman" pitchFamily="18" charset="0"/>
                            <a:cs typeface="Times New Roman" pitchFamily="18" charset="0"/>
                          </a:rPr>
                          <m:t>Ne</m:t>
                        </m:r>
                        <m:r>
                          <m:rPr>
                            <m:sty m:val="p"/>
                          </m:rPr>
                          <a:rPr lang="en-US" sz="1900" b="0" i="0" smtClean="0">
                            <a:latin typeface="Cambria Math"/>
                          </a:rPr>
                          <m:t>t</m:t>
                        </m:r>
                        <m:r>
                          <a:rPr lang="en-US" sz="1900" b="0" i="0" smtClean="0">
                            <a:latin typeface="Cambria Math"/>
                          </a:rPr>
                          <m:t> </m:t>
                        </m:r>
                        <m:r>
                          <m:rPr>
                            <m:sty m:val="p"/>
                          </m:rPr>
                          <a:rPr lang="en-US" sz="1900" b="0" i="0" smtClean="0">
                            <a:latin typeface="Cambria Math"/>
                          </a:rPr>
                          <m:t>Income</m:t>
                        </m:r>
                      </m:num>
                      <m:den>
                        <m:r>
                          <m:rPr>
                            <m:nor/>
                          </m:rPr>
                          <a:rPr lang="en-US" sz="1900" b="0" i="0" smtClean="0">
                            <a:latin typeface="Times New Roman" pitchFamily="18" charset="0"/>
                            <a:cs typeface="Times New Roman" pitchFamily="18" charset="0"/>
                          </a:rPr>
                          <m:t>Total</m:t>
                        </m:r>
                        <m:r>
                          <m:rPr>
                            <m:nor/>
                          </m:rPr>
                          <a:rPr lang="en-US" sz="1900" b="0" i="0" smtClean="0">
                            <a:latin typeface="Times New Roman" pitchFamily="18" charset="0"/>
                            <a:cs typeface="Times New Roman" pitchFamily="18" charset="0"/>
                          </a:rPr>
                          <m:t> </m:t>
                        </m:r>
                        <m:r>
                          <m:rPr>
                            <m:nor/>
                          </m:rPr>
                          <a:rPr lang="en-US" sz="1900" b="0" i="0" smtClean="0">
                            <a:latin typeface="Times New Roman" pitchFamily="18" charset="0"/>
                            <a:cs typeface="Times New Roman" pitchFamily="18" charset="0"/>
                          </a:rPr>
                          <m:t>revenue</m:t>
                        </m:r>
                      </m:den>
                    </m:f>
                  </m:oMath>
                </a14:m>
                <a:r>
                  <a:rPr lang="en-US" sz="1900" dirty="0"/>
                  <a:t> This ratio is used to measure the % of revenue left after deducting all expenses from sales. It’s a measure of each net income dollars generated by each dollars of sales</a:t>
                </a:r>
              </a:p>
            </p:txBody>
          </p:sp>
        </mc:Choice>
        <mc:Fallback xmlns="">
          <p:sp>
            <p:nvSpPr>
              <p:cNvPr id="19" name="Content Placeholder 18"/>
              <p:cNvSpPr>
                <a:spLocks noGrp="1" noRot="1" noChangeAspect="1" noMove="1" noResize="1" noEditPoints="1" noAdjustHandles="1" noChangeArrowheads="1" noChangeShapeType="1" noTextEdit="1"/>
              </p:cNvSpPr>
              <p:nvPr>
                <p:ph idx="1"/>
              </p:nvPr>
            </p:nvSpPr>
            <p:spPr>
              <a:xfrm>
                <a:off x="381000" y="1512913"/>
                <a:ext cx="8375904" cy="4724399"/>
              </a:xfrm>
              <a:blipFill>
                <a:blip r:embed="rId3"/>
                <a:stretch>
                  <a:fillRect l="-582" t="-903"/>
                </a:stretch>
              </a:blipFill>
            </p:spPr>
            <p:txBody>
              <a:bodyPr/>
              <a:lstStyle/>
              <a:p>
                <a:r>
                  <a:rPr lang="en-US">
                    <a:noFill/>
                  </a:rPr>
                  <a:t> </a:t>
                </a:r>
              </a:p>
            </p:txBody>
          </p:sp>
        </mc:Fallback>
      </mc:AlternateContent>
    </p:spTree>
    <p:extLst>
      <p:ext uri="{BB962C8B-B14F-4D97-AF65-F5344CB8AC3E}">
        <p14:creationId xmlns:p14="http://schemas.microsoft.com/office/powerpoint/2010/main" val="3746331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9"/>
          <p:cNvSpPr>
            <a:spLocks noGrp="1" noChangeArrowheads="1"/>
          </p:cNvSpPr>
          <p:nvPr>
            <p:ph type="title"/>
          </p:nvPr>
        </p:nvSpPr>
        <p:spPr>
          <a:xfrm>
            <a:off x="585217" y="210312"/>
            <a:ext cx="7248008" cy="558290"/>
          </a:xfrm>
        </p:spPr>
        <p:txBody>
          <a:bodyPr/>
          <a:lstStyle/>
          <a:p>
            <a:r>
              <a:rPr lang="en-US" sz="2400" dirty="0"/>
              <a:t>Gross Profit Percentage</a:t>
            </a:r>
          </a:p>
        </p:txBody>
      </p:sp>
      <p:sp>
        <p:nvSpPr>
          <p:cNvPr id="244744" name="Rectangle 8"/>
          <p:cNvSpPr>
            <a:spLocks noChangeArrowheads="1"/>
          </p:cNvSpPr>
          <p:nvPr/>
        </p:nvSpPr>
        <p:spPr bwMode="auto">
          <a:xfrm>
            <a:off x="600040" y="834421"/>
            <a:ext cx="7218362" cy="1197764"/>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chemeClr val="tx1"/>
            </a:outerShdw>
          </a:effectLst>
        </p:spPr>
        <p:txBody>
          <a:bodyPr wrap="square" lIns="90488" tIns="44450" rIns="90488" bIns="44450">
            <a:spAutoFit/>
          </a:bodyPr>
          <a:lstStyle/>
          <a:p>
            <a:pPr algn="ctr" eaLnBrk="0" hangingPunct="0">
              <a:defRPr/>
            </a:pPr>
            <a:r>
              <a:rPr lang="en-US" dirty="0"/>
              <a:t>The gross profit percentage (also referred to as the gross profit margin) reflects gross profit as a percent of sales. </a:t>
            </a:r>
          </a:p>
          <a:p>
            <a:pPr algn="ctr" eaLnBrk="0" hangingPunct="0">
              <a:defRPr/>
            </a:pPr>
            <a:r>
              <a:rPr lang="en-US" dirty="0"/>
              <a:t>If not shown separately on a company’s income statement, gross profit is computed by subtracting cost of sales from net sales. </a:t>
            </a:r>
            <a:endParaRPr lang="en-US" b="1" dirty="0">
              <a:cs typeface="Arial" charset="0"/>
            </a:endParaRP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grpSp>
        <p:nvGrpSpPr>
          <p:cNvPr id="11" name="Group 1042"/>
          <p:cNvGrpSpPr>
            <a:grpSpLocks/>
          </p:cNvGrpSpPr>
          <p:nvPr/>
        </p:nvGrpSpPr>
        <p:grpSpPr bwMode="auto">
          <a:xfrm>
            <a:off x="1457973" y="2621915"/>
            <a:ext cx="5032381" cy="754063"/>
            <a:chOff x="1065" y="1017"/>
            <a:chExt cx="3170" cy="475"/>
          </a:xfrm>
        </p:grpSpPr>
        <p:sp>
          <p:nvSpPr>
            <p:cNvPr id="12" name="Rectangle 1028"/>
            <p:cNvSpPr>
              <a:spLocks noChangeArrowheads="1"/>
            </p:cNvSpPr>
            <p:nvPr/>
          </p:nvSpPr>
          <p:spPr bwMode="auto">
            <a:xfrm>
              <a:off x="1065" y="1017"/>
              <a:ext cx="855" cy="4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Gross Profit </a:t>
              </a:r>
            </a:p>
            <a:p>
              <a:pPr algn="ctr">
                <a:lnSpc>
                  <a:spcPct val="120000"/>
                </a:lnSpc>
              </a:pPr>
              <a:r>
                <a:rPr lang="en-US" b="1" dirty="0">
                  <a:latin typeface="+mn-lt"/>
                </a:rPr>
                <a:t>Percentage</a:t>
              </a:r>
            </a:p>
          </p:txBody>
        </p:sp>
        <p:sp>
          <p:nvSpPr>
            <p:cNvPr id="13" name="Rectangle 1029"/>
            <p:cNvSpPr>
              <a:spLocks noChangeArrowheads="1"/>
            </p:cNvSpPr>
            <p:nvPr/>
          </p:nvSpPr>
          <p:spPr bwMode="auto">
            <a:xfrm>
              <a:off x="2623" y="1017"/>
              <a:ext cx="1226"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Gross Profit</a:t>
              </a:r>
            </a:p>
            <a:p>
              <a:pPr algn="ctr">
                <a:lnSpc>
                  <a:spcPct val="120000"/>
                </a:lnSpc>
              </a:pPr>
              <a:r>
                <a:rPr lang="en-US" b="1" dirty="0">
                  <a:latin typeface="+mn-lt"/>
                </a:rPr>
                <a:t>Net Sales Revenue</a:t>
              </a:r>
            </a:p>
          </p:txBody>
        </p:sp>
        <p:sp>
          <p:nvSpPr>
            <p:cNvPr id="14" name="Rectangle 1030"/>
            <p:cNvSpPr>
              <a:spLocks noChangeArrowheads="1"/>
            </p:cNvSpPr>
            <p:nvPr/>
          </p:nvSpPr>
          <p:spPr bwMode="auto">
            <a:xfrm>
              <a:off x="1943" y="1179"/>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15" name="Line 1031"/>
            <p:cNvSpPr>
              <a:spLocks noChangeShapeType="1"/>
            </p:cNvSpPr>
            <p:nvPr/>
          </p:nvSpPr>
          <p:spPr bwMode="auto">
            <a:xfrm flipV="1">
              <a:off x="2249" y="1278"/>
              <a:ext cx="1986"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16" name="Group 1032"/>
          <p:cNvGrpSpPr>
            <a:grpSpLocks/>
          </p:cNvGrpSpPr>
          <p:nvPr/>
        </p:nvGrpSpPr>
        <p:grpSpPr bwMode="auto">
          <a:xfrm>
            <a:off x="919820" y="3655354"/>
            <a:ext cx="5570544" cy="768352"/>
            <a:chOff x="340" y="1823"/>
            <a:chExt cx="3509" cy="484"/>
          </a:xfrm>
        </p:grpSpPr>
        <p:grpSp>
          <p:nvGrpSpPr>
            <p:cNvPr id="17" name="Group 1033"/>
            <p:cNvGrpSpPr>
              <a:grpSpLocks/>
            </p:cNvGrpSpPr>
            <p:nvPr/>
          </p:nvGrpSpPr>
          <p:grpSpPr bwMode="auto">
            <a:xfrm>
              <a:off x="340" y="1823"/>
              <a:ext cx="3509" cy="484"/>
              <a:chOff x="340" y="1823"/>
              <a:chExt cx="3509" cy="484"/>
            </a:xfrm>
          </p:grpSpPr>
          <p:sp>
            <p:nvSpPr>
              <p:cNvPr id="19" name="Rectangle 1034"/>
              <p:cNvSpPr>
                <a:spLocks noChangeArrowheads="1"/>
              </p:cNvSpPr>
              <p:nvPr/>
            </p:nvSpPr>
            <p:spPr bwMode="auto">
              <a:xfrm>
                <a:off x="340" y="1823"/>
                <a:ext cx="1456"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squar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The Home </a:t>
                </a:r>
              </a:p>
              <a:p>
                <a:pPr algn="ctr">
                  <a:lnSpc>
                    <a:spcPct val="120000"/>
                  </a:lnSpc>
                </a:pPr>
                <a:r>
                  <a:rPr lang="en-US" b="1" dirty="0">
                    <a:latin typeface="+mn-lt"/>
                  </a:rPr>
                  <a:t>Depot 2017</a:t>
                </a:r>
              </a:p>
            </p:txBody>
          </p:sp>
          <p:sp>
            <p:nvSpPr>
              <p:cNvPr id="20" name="Rectangle 1035"/>
              <p:cNvSpPr>
                <a:spLocks noChangeArrowheads="1"/>
              </p:cNvSpPr>
              <p:nvPr/>
            </p:nvSpPr>
            <p:spPr bwMode="auto">
              <a:xfrm>
                <a:off x="1940" y="1832"/>
                <a:ext cx="754"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$34,356 </a:t>
                </a:r>
              </a:p>
              <a:p>
                <a:pPr>
                  <a:lnSpc>
                    <a:spcPct val="120000"/>
                  </a:lnSpc>
                </a:pPr>
                <a:r>
                  <a:rPr lang="en-US" b="1" dirty="0">
                    <a:latin typeface="+mn-lt"/>
                  </a:rPr>
                  <a:t>  $100,904</a:t>
                </a:r>
              </a:p>
            </p:txBody>
          </p:sp>
          <p:sp>
            <p:nvSpPr>
              <p:cNvPr id="21" name="Rectangle 1036"/>
              <p:cNvSpPr>
                <a:spLocks noChangeArrowheads="1"/>
              </p:cNvSpPr>
              <p:nvPr/>
            </p:nvSpPr>
            <p:spPr bwMode="auto">
              <a:xfrm>
                <a:off x="1529" y="1963"/>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2" name="Rectangle 1037"/>
              <p:cNvSpPr>
                <a:spLocks noChangeArrowheads="1"/>
              </p:cNvSpPr>
              <p:nvPr/>
            </p:nvSpPr>
            <p:spPr bwMode="auto">
              <a:xfrm>
                <a:off x="2729" y="1930"/>
                <a:ext cx="1120"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  34.05%</a:t>
                </a:r>
              </a:p>
            </p:txBody>
          </p:sp>
        </p:grpSp>
        <p:sp>
          <p:nvSpPr>
            <p:cNvPr id="18" name="Line 1038"/>
            <p:cNvSpPr>
              <a:spLocks noChangeShapeType="1"/>
            </p:cNvSpPr>
            <p:nvPr/>
          </p:nvSpPr>
          <p:spPr bwMode="auto">
            <a:xfrm flipV="1">
              <a:off x="1875" y="2057"/>
              <a:ext cx="819" cy="8"/>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3" name="Rectangle 2"/>
          <p:cNvSpPr/>
          <p:nvPr/>
        </p:nvSpPr>
        <p:spPr>
          <a:xfrm>
            <a:off x="816352" y="4707343"/>
            <a:ext cx="6785738" cy="923330"/>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solidFill>
                  <a:srgbClr val="211D1E"/>
                </a:solidFill>
              </a:rPr>
              <a:t>After subtracting the direct costs associated with selling products, The Home Depot had approximately 34 cents of each dollar of sales remaining to cover other expenses. </a:t>
            </a:r>
            <a:endParaRPr lang="en-US" dirty="0"/>
          </a:p>
        </p:txBody>
      </p:sp>
    </p:spTree>
    <p:extLst>
      <p:ext uri="{BB962C8B-B14F-4D97-AF65-F5344CB8AC3E}">
        <p14:creationId xmlns:p14="http://schemas.microsoft.com/office/powerpoint/2010/main" val="211616056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Left)">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5"/>
          <p:cNvSpPr>
            <a:spLocks noGrp="1" noChangeArrowheads="1"/>
          </p:cNvSpPr>
          <p:nvPr>
            <p:ph type="title"/>
          </p:nvPr>
        </p:nvSpPr>
        <p:spPr>
          <a:xfrm>
            <a:off x="585216" y="210312"/>
            <a:ext cx="7650843" cy="564157"/>
          </a:xfrm>
        </p:spPr>
        <p:txBody>
          <a:bodyPr/>
          <a:lstStyle/>
          <a:p>
            <a:r>
              <a:rPr lang="en-US" sz="2400" dirty="0"/>
              <a:t>Net Profit Margin</a:t>
            </a:r>
          </a:p>
        </p:txBody>
      </p:sp>
      <p:sp>
        <p:nvSpPr>
          <p:cNvPr id="248841" name="Rectangle 9"/>
          <p:cNvSpPr>
            <a:spLocks noChangeArrowheads="1"/>
          </p:cNvSpPr>
          <p:nvPr/>
        </p:nvSpPr>
        <p:spPr bwMode="auto">
          <a:xfrm>
            <a:off x="787090" y="988361"/>
            <a:ext cx="6901798" cy="366767"/>
          </a:xfrm>
          <a:prstGeom prst="rect">
            <a:avLst/>
          </a:prstGeom>
          <a:solidFill>
            <a:schemeClr val="accent2">
              <a:lumMod val="20000"/>
              <a:lumOff val="80000"/>
            </a:schemeClr>
          </a:solidFill>
          <a:ln w="28575" cmpd="thinThick">
            <a:solidFill>
              <a:schemeClr val="tx1"/>
            </a:solidFill>
            <a:miter lim="800000"/>
            <a:headEnd/>
            <a:tailEnd/>
          </a:ln>
          <a:effectLst>
            <a:outerShdw dist="107763" dir="2700000" algn="ctr" rotWithShape="0">
              <a:srgbClr val="000000"/>
            </a:outerShdw>
          </a:effectLst>
        </p:spPr>
        <p:txBody>
          <a:bodyPr wrap="square" lIns="90488" tIns="44450" rIns="90488" bIns="44450">
            <a:spAutoFit/>
          </a:bodyPr>
          <a:lstStyle/>
          <a:p>
            <a:pPr algn="ctr" eaLnBrk="0" hangingPunct="0">
              <a:defRPr/>
            </a:pPr>
            <a:r>
              <a:rPr lang="en-US" dirty="0">
                <a:solidFill>
                  <a:srgbClr val="000000"/>
                </a:solidFill>
                <a:cs typeface="Arial" charset="0"/>
              </a:rPr>
              <a:t>This ratio reflects net income as a percentage of sales.</a:t>
            </a:r>
          </a:p>
        </p:txBody>
      </p:sp>
      <p:grpSp>
        <p:nvGrpSpPr>
          <p:cNvPr id="26629" name="Group 16"/>
          <p:cNvGrpSpPr>
            <a:grpSpLocks/>
          </p:cNvGrpSpPr>
          <p:nvPr/>
        </p:nvGrpSpPr>
        <p:grpSpPr bwMode="auto">
          <a:xfrm>
            <a:off x="1744428" y="2185824"/>
            <a:ext cx="4113215" cy="754063"/>
            <a:chOff x="981" y="1104"/>
            <a:chExt cx="2591" cy="475"/>
          </a:xfrm>
        </p:grpSpPr>
        <p:sp>
          <p:nvSpPr>
            <p:cNvPr id="26630" name="Rectangle 11"/>
            <p:cNvSpPr>
              <a:spLocks noChangeArrowheads="1"/>
            </p:cNvSpPr>
            <p:nvPr/>
          </p:nvSpPr>
          <p:spPr bwMode="auto">
            <a:xfrm>
              <a:off x="981" y="1128"/>
              <a:ext cx="703"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Net Profit</a:t>
              </a:r>
            </a:p>
            <a:p>
              <a:pPr algn="ctr"/>
              <a:r>
                <a:rPr lang="en-US" b="1" dirty="0">
                  <a:latin typeface="+mn-lt"/>
                </a:rPr>
                <a:t>Margin</a:t>
              </a:r>
            </a:p>
          </p:txBody>
        </p:sp>
        <p:sp>
          <p:nvSpPr>
            <p:cNvPr id="26631" name="Rectangle 12"/>
            <p:cNvSpPr>
              <a:spLocks noChangeArrowheads="1"/>
            </p:cNvSpPr>
            <p:nvPr/>
          </p:nvSpPr>
          <p:spPr bwMode="auto">
            <a:xfrm>
              <a:off x="2194" y="1104"/>
              <a:ext cx="1378"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Net Income          </a:t>
              </a:r>
            </a:p>
            <a:p>
              <a:pPr>
                <a:lnSpc>
                  <a:spcPct val="120000"/>
                </a:lnSpc>
              </a:pPr>
              <a:r>
                <a:rPr lang="en-US" b="1" dirty="0">
                  <a:latin typeface="+mn-lt"/>
                </a:rPr>
                <a:t>Net Sales Revenue</a:t>
              </a:r>
            </a:p>
          </p:txBody>
        </p:sp>
        <p:sp>
          <p:nvSpPr>
            <p:cNvPr id="26632" name="Rectangle 13"/>
            <p:cNvSpPr>
              <a:spLocks noChangeArrowheads="1"/>
            </p:cNvSpPr>
            <p:nvPr/>
          </p:nvSpPr>
          <p:spPr bwMode="auto">
            <a:xfrm>
              <a:off x="1752" y="1232"/>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6633" name="Line 14"/>
            <p:cNvSpPr>
              <a:spLocks noChangeShapeType="1"/>
            </p:cNvSpPr>
            <p:nvPr/>
          </p:nvSpPr>
          <p:spPr bwMode="auto">
            <a:xfrm>
              <a:off x="2072" y="1365"/>
              <a:ext cx="1468"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15" name="Group 3"/>
          <p:cNvGrpSpPr>
            <a:grpSpLocks/>
          </p:cNvGrpSpPr>
          <p:nvPr/>
        </p:nvGrpSpPr>
        <p:grpSpPr bwMode="auto">
          <a:xfrm>
            <a:off x="1577746" y="3430073"/>
            <a:ext cx="4503742" cy="754063"/>
            <a:chOff x="598" y="1964"/>
            <a:chExt cx="2837" cy="475"/>
          </a:xfrm>
        </p:grpSpPr>
        <p:sp>
          <p:nvSpPr>
            <p:cNvPr id="16" name="Rectangle 4"/>
            <p:cNvSpPr>
              <a:spLocks noChangeArrowheads="1"/>
            </p:cNvSpPr>
            <p:nvPr/>
          </p:nvSpPr>
          <p:spPr bwMode="auto">
            <a:xfrm>
              <a:off x="2816" y="2086"/>
              <a:ext cx="619"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8.55%</a:t>
              </a:r>
            </a:p>
          </p:txBody>
        </p:sp>
        <p:sp>
          <p:nvSpPr>
            <p:cNvPr id="17" name="Rectangle 5"/>
            <p:cNvSpPr>
              <a:spLocks noChangeArrowheads="1"/>
            </p:cNvSpPr>
            <p:nvPr/>
          </p:nvSpPr>
          <p:spPr bwMode="auto">
            <a:xfrm>
              <a:off x="598" y="1978"/>
              <a:ext cx="814"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sp>
          <p:nvSpPr>
            <p:cNvPr id="18" name="Rectangle 6"/>
            <p:cNvSpPr>
              <a:spLocks noChangeArrowheads="1"/>
            </p:cNvSpPr>
            <p:nvPr/>
          </p:nvSpPr>
          <p:spPr bwMode="auto">
            <a:xfrm>
              <a:off x="1794" y="1964"/>
              <a:ext cx="966"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$8,630</a:t>
              </a:r>
            </a:p>
            <a:p>
              <a:pPr algn="ctr">
                <a:lnSpc>
                  <a:spcPct val="120000"/>
                </a:lnSpc>
              </a:pPr>
              <a:r>
                <a:rPr lang="en-US" b="1" dirty="0">
                  <a:latin typeface="+mn-lt"/>
                </a:rPr>
                <a:t>$100,904</a:t>
              </a:r>
            </a:p>
          </p:txBody>
        </p:sp>
        <p:sp>
          <p:nvSpPr>
            <p:cNvPr id="19" name="Rectangle 7"/>
            <p:cNvSpPr>
              <a:spLocks noChangeArrowheads="1"/>
            </p:cNvSpPr>
            <p:nvPr/>
          </p:nvSpPr>
          <p:spPr bwMode="auto">
            <a:xfrm>
              <a:off x="1446" y="2113"/>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0" name="Line 8"/>
            <p:cNvSpPr>
              <a:spLocks noChangeShapeType="1"/>
            </p:cNvSpPr>
            <p:nvPr/>
          </p:nvSpPr>
          <p:spPr bwMode="auto">
            <a:xfrm flipV="1">
              <a:off x="1795" y="2202"/>
              <a:ext cx="991" cy="1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3" name="Rectangle 2"/>
          <p:cNvSpPr/>
          <p:nvPr/>
        </p:nvSpPr>
        <p:spPr>
          <a:xfrm>
            <a:off x="797434" y="4640912"/>
            <a:ext cx="6891454" cy="923330"/>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solidFill>
                  <a:srgbClr val="211D1E"/>
                </a:solidFill>
              </a:rPr>
              <a:t>For fiscal 2017, each dollar of The Home Depot’s sales generated over 8 cents of profit. For each dollar of sales, The Home Depot is subtracting just under 92 cents in expenses. </a:t>
            </a:r>
          </a:p>
        </p:txBody>
      </p:sp>
    </p:spTree>
    <p:extLst>
      <p:ext uri="{BB962C8B-B14F-4D97-AF65-F5344CB8AC3E}">
        <p14:creationId xmlns:p14="http://schemas.microsoft.com/office/powerpoint/2010/main" val="338914828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Left)">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41"/>
          <p:cNvSpPr>
            <a:spLocks noGrp="1" noChangeArrowheads="1"/>
          </p:cNvSpPr>
          <p:nvPr>
            <p:ph type="title"/>
          </p:nvPr>
        </p:nvSpPr>
        <p:spPr>
          <a:xfrm>
            <a:off x="585216" y="210312"/>
            <a:ext cx="7650843" cy="544635"/>
          </a:xfrm>
        </p:spPr>
        <p:txBody>
          <a:bodyPr/>
          <a:lstStyle/>
          <a:p>
            <a:r>
              <a:rPr lang="en-US" sz="2400" dirty="0"/>
              <a:t>Return on Assets (ROA)</a:t>
            </a:r>
          </a:p>
        </p:txBody>
      </p:sp>
      <p:grpSp>
        <p:nvGrpSpPr>
          <p:cNvPr id="22531" name="Group 1042"/>
          <p:cNvGrpSpPr>
            <a:grpSpLocks/>
          </p:cNvGrpSpPr>
          <p:nvPr/>
        </p:nvGrpSpPr>
        <p:grpSpPr bwMode="auto">
          <a:xfrm>
            <a:off x="1615283" y="1905555"/>
            <a:ext cx="4919663" cy="754063"/>
            <a:chOff x="1136" y="1017"/>
            <a:chExt cx="3099" cy="475"/>
          </a:xfrm>
        </p:grpSpPr>
        <p:sp>
          <p:nvSpPr>
            <p:cNvPr id="22541" name="Rectangle 1028"/>
            <p:cNvSpPr>
              <a:spLocks noChangeArrowheads="1"/>
            </p:cNvSpPr>
            <p:nvPr/>
          </p:nvSpPr>
          <p:spPr bwMode="auto">
            <a:xfrm>
              <a:off x="1136" y="1017"/>
              <a:ext cx="713"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Return on</a:t>
              </a:r>
              <a:br>
                <a:rPr lang="en-US" b="1" dirty="0">
                  <a:latin typeface="+mn-lt"/>
                </a:rPr>
              </a:br>
              <a:r>
                <a:rPr lang="en-US" b="1" dirty="0">
                  <a:latin typeface="+mn-lt"/>
                </a:rPr>
                <a:t> Assets</a:t>
              </a:r>
            </a:p>
          </p:txBody>
        </p:sp>
        <p:sp>
          <p:nvSpPr>
            <p:cNvPr id="22542" name="Rectangle 1029"/>
            <p:cNvSpPr>
              <a:spLocks noChangeArrowheads="1"/>
            </p:cNvSpPr>
            <p:nvPr/>
          </p:nvSpPr>
          <p:spPr bwMode="auto">
            <a:xfrm>
              <a:off x="2553" y="1017"/>
              <a:ext cx="1367"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Net Income </a:t>
              </a:r>
            </a:p>
            <a:p>
              <a:pPr algn="ctr">
                <a:lnSpc>
                  <a:spcPct val="120000"/>
                </a:lnSpc>
              </a:pPr>
              <a:r>
                <a:rPr lang="en-US" b="1" dirty="0">
                  <a:solidFill>
                    <a:srgbClr val="FF3300"/>
                  </a:solidFill>
                  <a:latin typeface="+mn-lt"/>
                </a:rPr>
                <a:t>Average </a:t>
              </a:r>
              <a:r>
                <a:rPr lang="en-US" b="1" dirty="0">
                  <a:latin typeface="+mn-lt"/>
                </a:rPr>
                <a:t>Total Assets</a:t>
              </a:r>
            </a:p>
          </p:txBody>
        </p:sp>
        <p:sp>
          <p:nvSpPr>
            <p:cNvPr id="22543" name="Rectangle 1030"/>
            <p:cNvSpPr>
              <a:spLocks noChangeArrowheads="1"/>
            </p:cNvSpPr>
            <p:nvPr/>
          </p:nvSpPr>
          <p:spPr bwMode="auto">
            <a:xfrm>
              <a:off x="1943" y="1179"/>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2544" name="Line 1031"/>
            <p:cNvSpPr>
              <a:spLocks noChangeShapeType="1"/>
            </p:cNvSpPr>
            <p:nvPr/>
          </p:nvSpPr>
          <p:spPr bwMode="auto">
            <a:xfrm flipV="1">
              <a:off x="2249" y="1278"/>
              <a:ext cx="1986"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 name="Group 1032"/>
          <p:cNvGrpSpPr>
            <a:grpSpLocks/>
          </p:cNvGrpSpPr>
          <p:nvPr/>
        </p:nvGrpSpPr>
        <p:grpSpPr bwMode="auto">
          <a:xfrm>
            <a:off x="1582119" y="2939944"/>
            <a:ext cx="4927603" cy="757239"/>
            <a:chOff x="745" y="1830"/>
            <a:chExt cx="3104" cy="477"/>
          </a:xfrm>
        </p:grpSpPr>
        <p:grpSp>
          <p:nvGrpSpPr>
            <p:cNvPr id="22535" name="Group 1033"/>
            <p:cNvGrpSpPr>
              <a:grpSpLocks/>
            </p:cNvGrpSpPr>
            <p:nvPr/>
          </p:nvGrpSpPr>
          <p:grpSpPr bwMode="auto">
            <a:xfrm>
              <a:off x="745" y="1830"/>
              <a:ext cx="3104" cy="477"/>
              <a:chOff x="745" y="1830"/>
              <a:chExt cx="3104" cy="477"/>
            </a:xfrm>
          </p:grpSpPr>
          <p:sp>
            <p:nvSpPr>
              <p:cNvPr id="22537" name="Rectangle 1034"/>
              <p:cNvSpPr>
                <a:spLocks noChangeArrowheads="1"/>
              </p:cNvSpPr>
              <p:nvPr/>
            </p:nvSpPr>
            <p:spPr bwMode="auto">
              <a:xfrm>
                <a:off x="745" y="1830"/>
                <a:ext cx="814" cy="4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The Home </a:t>
                </a:r>
              </a:p>
              <a:p>
                <a:pPr algn="ctr">
                  <a:lnSpc>
                    <a:spcPct val="120000"/>
                  </a:lnSpc>
                </a:pPr>
                <a:r>
                  <a:rPr lang="en-US" b="1" dirty="0">
                    <a:latin typeface="+mn-lt"/>
                  </a:rPr>
                  <a:t>Depot 2017</a:t>
                </a:r>
              </a:p>
            </p:txBody>
          </p:sp>
          <p:sp>
            <p:nvSpPr>
              <p:cNvPr id="22538" name="Rectangle 1035"/>
              <p:cNvSpPr>
                <a:spLocks noChangeArrowheads="1"/>
              </p:cNvSpPr>
              <p:nvPr/>
            </p:nvSpPr>
            <p:spPr bwMode="auto">
              <a:xfrm>
                <a:off x="1940" y="1832"/>
                <a:ext cx="754"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$8,630 </a:t>
                </a:r>
              </a:p>
              <a:p>
                <a:pPr>
                  <a:lnSpc>
                    <a:spcPct val="120000"/>
                  </a:lnSpc>
                </a:pPr>
                <a:r>
                  <a:rPr lang="en-US" b="1" dirty="0">
                    <a:latin typeface="+mn-lt"/>
                  </a:rPr>
                  <a:t>  $43,748*</a:t>
                </a:r>
              </a:p>
            </p:txBody>
          </p:sp>
          <p:sp>
            <p:nvSpPr>
              <p:cNvPr id="22539" name="Rectangle 1036"/>
              <p:cNvSpPr>
                <a:spLocks noChangeArrowheads="1"/>
              </p:cNvSpPr>
              <p:nvPr/>
            </p:nvSpPr>
            <p:spPr bwMode="auto">
              <a:xfrm>
                <a:off x="1634" y="1948"/>
                <a:ext cx="83"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squar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2540" name="Rectangle 1037"/>
              <p:cNvSpPr>
                <a:spLocks noChangeArrowheads="1"/>
              </p:cNvSpPr>
              <p:nvPr/>
            </p:nvSpPr>
            <p:spPr bwMode="auto">
              <a:xfrm>
                <a:off x="2729" y="1930"/>
                <a:ext cx="1120"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  19.73%</a:t>
                </a:r>
              </a:p>
            </p:txBody>
          </p:sp>
        </p:grpSp>
        <p:sp>
          <p:nvSpPr>
            <p:cNvPr id="22536" name="Line 1038"/>
            <p:cNvSpPr>
              <a:spLocks noChangeShapeType="1"/>
            </p:cNvSpPr>
            <p:nvPr/>
          </p:nvSpPr>
          <p:spPr bwMode="auto">
            <a:xfrm flipV="1">
              <a:off x="1875" y="2057"/>
              <a:ext cx="819" cy="8"/>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243727" name="Rectangle 1039"/>
          <p:cNvSpPr>
            <a:spLocks noChangeArrowheads="1"/>
          </p:cNvSpPr>
          <p:nvPr/>
        </p:nvSpPr>
        <p:spPr bwMode="auto">
          <a:xfrm>
            <a:off x="585216" y="929186"/>
            <a:ext cx="7340595" cy="643766"/>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chemeClr val="tx1"/>
            </a:outerShdw>
          </a:effectLst>
        </p:spPr>
        <p:txBody>
          <a:bodyPr wrap="square" lIns="90488" tIns="44450" rIns="90488" bIns="44450">
            <a:spAutoFit/>
          </a:bodyPr>
          <a:lstStyle/>
          <a:p>
            <a:pPr algn="ctr" eaLnBrk="0" hangingPunct="0">
              <a:defRPr/>
            </a:pPr>
            <a:r>
              <a:rPr lang="en-US" dirty="0"/>
              <a:t>This ratio compares income to the total assets used to generate the income . </a:t>
            </a:r>
            <a:endParaRPr lang="en-US" dirty="0">
              <a:cs typeface="Arial" charset="0"/>
            </a:endParaRP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4" name="Rectangle 3"/>
          <p:cNvSpPr/>
          <p:nvPr/>
        </p:nvSpPr>
        <p:spPr>
          <a:xfrm>
            <a:off x="848660" y="5074473"/>
            <a:ext cx="6813705" cy="646331"/>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solidFill>
                  <a:srgbClr val="211D1E"/>
                </a:solidFill>
              </a:rPr>
              <a:t>On average, for every $1.00 of assets reported on The Home Depot’s balance sheet, the company earned just under 20 cents in fiscal 2017. </a:t>
            </a:r>
            <a:endParaRPr lang="en-US" dirty="0"/>
          </a:p>
        </p:txBody>
      </p:sp>
      <p:grpSp>
        <p:nvGrpSpPr>
          <p:cNvPr id="18" name="Group 3"/>
          <p:cNvGrpSpPr>
            <a:grpSpLocks/>
          </p:cNvGrpSpPr>
          <p:nvPr/>
        </p:nvGrpSpPr>
        <p:grpSpPr bwMode="auto">
          <a:xfrm>
            <a:off x="2381389" y="4067088"/>
            <a:ext cx="3762169" cy="795338"/>
            <a:chOff x="1314" y="1962"/>
            <a:chExt cx="3157" cy="501"/>
          </a:xfrm>
        </p:grpSpPr>
        <p:sp>
          <p:nvSpPr>
            <p:cNvPr id="19" name="Rectangle 4"/>
            <p:cNvSpPr>
              <a:spLocks noChangeArrowheads="1"/>
            </p:cNvSpPr>
            <p:nvPr/>
          </p:nvSpPr>
          <p:spPr bwMode="auto">
            <a:xfrm>
              <a:off x="1314" y="2068"/>
              <a:ext cx="115"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endParaRPr lang="en-US" b="1" dirty="0">
                <a:latin typeface="+mn-lt"/>
              </a:endParaRPr>
            </a:p>
          </p:txBody>
        </p:sp>
        <p:sp>
          <p:nvSpPr>
            <p:cNvPr id="20" name="Rectangle 5"/>
            <p:cNvSpPr>
              <a:spLocks noChangeArrowheads="1"/>
            </p:cNvSpPr>
            <p:nvPr/>
          </p:nvSpPr>
          <p:spPr bwMode="auto">
            <a:xfrm>
              <a:off x="1716" y="1962"/>
              <a:ext cx="1835" cy="5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*($42,966 + $44,529)</a:t>
              </a:r>
            </a:p>
            <a:p>
              <a:pPr>
                <a:lnSpc>
                  <a:spcPct val="120000"/>
                </a:lnSpc>
                <a:spcBef>
                  <a:spcPct val="15000"/>
                </a:spcBef>
              </a:pPr>
              <a:r>
                <a:rPr lang="en-US" b="1" dirty="0">
                  <a:latin typeface="+mn-lt"/>
                </a:rPr>
                <a:t>                  2</a:t>
              </a:r>
            </a:p>
          </p:txBody>
        </p:sp>
        <p:sp>
          <p:nvSpPr>
            <p:cNvPr id="21" name="Rectangle 7"/>
            <p:cNvSpPr>
              <a:spLocks noChangeArrowheads="1"/>
            </p:cNvSpPr>
            <p:nvPr/>
          </p:nvSpPr>
          <p:spPr bwMode="auto">
            <a:xfrm>
              <a:off x="3449" y="2102"/>
              <a:ext cx="102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  $43,748</a:t>
              </a:r>
            </a:p>
          </p:txBody>
        </p:sp>
        <p:sp>
          <p:nvSpPr>
            <p:cNvPr id="22" name="Line 8"/>
            <p:cNvSpPr>
              <a:spLocks noChangeShapeType="1"/>
            </p:cNvSpPr>
            <p:nvPr/>
          </p:nvSpPr>
          <p:spPr bwMode="auto">
            <a:xfrm>
              <a:off x="1817" y="2217"/>
              <a:ext cx="1632" cy="3"/>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Tree>
    <p:extLst>
      <p:ext uri="{BB962C8B-B14F-4D97-AF65-F5344CB8AC3E}">
        <p14:creationId xmlns:p14="http://schemas.microsoft.com/office/powerpoint/2010/main" val="21762096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par>
                          <p:cTn id="8" fill="hold">
                            <p:stCondLst>
                              <p:cond delay="1000"/>
                            </p:stCondLst>
                            <p:childTnLst>
                              <p:par>
                                <p:cTn id="9" presetID="12" presetClass="entr" presetSubtype="8"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lide(fromLeft)">
                                      <p:cBhvr>
                                        <p:cTn id="11"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447800"/>
                <a:ext cx="8375904" cy="5221560"/>
              </a:xfrm>
            </p:spPr>
            <p:txBody>
              <a:bodyPr/>
              <a:lstStyle/>
              <a:p>
                <a:pPr marL="9144" indent="0">
                  <a:buNone/>
                </a:pPr>
                <a:endParaRPr lang="en-US" b="1" i="1" dirty="0">
                  <a:solidFill>
                    <a:srgbClr val="FF0000"/>
                  </a:solidFill>
                  <a:latin typeface="Cambria Math"/>
                </a:endParaRPr>
              </a:p>
              <a:p>
                <a:pPr marL="9144" indent="0">
                  <a:buNone/>
                </a:pPr>
                <a:r>
                  <a:rPr lang="en-US" b="1" i="1" dirty="0">
                    <a:solidFill>
                      <a:srgbClr val="FF0000"/>
                    </a:solidFill>
                    <a:latin typeface="Cambria Math"/>
                  </a:rPr>
                  <a:t>ROA   can be analyzed using the DuPont  Analysis</a:t>
                </a:r>
              </a:p>
              <a:p>
                <a:pPr marL="9144" indent="0">
                  <a:buNone/>
                </a:pPr>
                <a:endParaRPr lang="en-US" altLang="en-US" b="1" dirty="0">
                  <a:solidFill>
                    <a:srgbClr val="000000"/>
                  </a:solidFill>
                  <a:latin typeface="Comic Sans MS" pitchFamily="66" charset="0"/>
                </a:endParaRPr>
              </a:p>
              <a:p>
                <a:pPr marL="9144" indent="0">
                  <a:buNone/>
                </a:pPr>
                <a:r>
                  <a:rPr lang="en-US" dirty="0"/>
                  <a:t>Return on Operating Assets = </a:t>
                </a:r>
                <a14:m>
                  <m:oMath xmlns:m="http://schemas.openxmlformats.org/officeDocument/2006/math">
                    <m:f>
                      <m:fPr>
                        <m:ctrlPr>
                          <a:rPr lang="en-US" i="1">
                            <a:latin typeface="Cambria Math" panose="02040503050406030204" pitchFamily="18" charset="0"/>
                          </a:rPr>
                        </m:ctrlPr>
                      </m:fPr>
                      <m:num>
                        <m:r>
                          <a:rPr lang="en-US" i="1">
                            <a:latin typeface="Cambria Math"/>
                          </a:rPr>
                          <m:t>        </m:t>
                        </m:r>
                        <m:r>
                          <a:rPr lang="en-US" i="1">
                            <a:latin typeface="Cambria Math"/>
                          </a:rPr>
                          <m:t>𝑁𝑒𝑡</m:t>
                        </m:r>
                        <m:r>
                          <a:rPr lang="en-US" i="1">
                            <a:latin typeface="Cambria Math"/>
                          </a:rPr>
                          <m:t> </m:t>
                        </m:r>
                        <m:r>
                          <a:rPr lang="en-US" i="1">
                            <a:latin typeface="Cambria Math"/>
                          </a:rPr>
                          <m:t>𝑖𝑛𝑐𝑜𝑚𝑒</m:t>
                        </m:r>
                      </m:num>
                      <m:den>
                        <m:r>
                          <a:rPr lang="en-US" i="1">
                            <a:latin typeface="Cambria Math"/>
                          </a:rPr>
                          <m:t>𝑆𝑎𝑙𝑒𝑠</m:t>
                        </m:r>
                      </m:den>
                    </m:f>
                  </m:oMath>
                </a14:m>
                <a:r>
                  <a:rPr lang="en-US" dirty="0"/>
                  <a:t>          X   </a:t>
                </a:r>
                <a14:m>
                  <m:oMath xmlns:m="http://schemas.openxmlformats.org/officeDocument/2006/math">
                    <m:f>
                      <m:fPr>
                        <m:ctrlPr>
                          <a:rPr lang="en-US" i="1">
                            <a:latin typeface="Cambria Math" panose="02040503050406030204" pitchFamily="18" charset="0"/>
                          </a:rPr>
                        </m:ctrlPr>
                      </m:fPr>
                      <m:num>
                        <m:r>
                          <a:rPr lang="en-US" i="1">
                            <a:latin typeface="Cambria Math"/>
                          </a:rPr>
                          <m:t>𝑆𝑎𝑙𝑒𝑠</m:t>
                        </m:r>
                      </m:num>
                      <m:den>
                        <m:r>
                          <a:rPr lang="en-US" b="0" i="1" smtClean="0">
                            <a:latin typeface="Cambria Math"/>
                          </a:rPr>
                          <m:t>𝐴𝑣𝑒𝑟𝑎𝑔𝑒</m:t>
                        </m:r>
                        <m:r>
                          <a:rPr lang="en-US" b="0" i="1" smtClean="0">
                            <a:latin typeface="Cambria Math"/>
                          </a:rPr>
                          <m:t> </m:t>
                        </m:r>
                        <m:r>
                          <a:rPr lang="en-US" i="1">
                            <a:latin typeface="Cambria Math"/>
                          </a:rPr>
                          <m:t>𝑇𝑜𝑡𝑎𝑙</m:t>
                        </m:r>
                        <m:r>
                          <a:rPr lang="en-US" i="1">
                            <a:latin typeface="Cambria Math"/>
                          </a:rPr>
                          <m:t> </m:t>
                        </m:r>
                        <m:r>
                          <a:rPr lang="en-US" i="1">
                            <a:latin typeface="Cambria Math"/>
                          </a:rPr>
                          <m:t>𝐴𝑠𝑠𝑒𝑡𝑠</m:t>
                        </m:r>
                      </m:den>
                    </m:f>
                  </m:oMath>
                </a14:m>
                <a:endParaRPr lang="en-US" dirty="0"/>
              </a:p>
              <a:p>
                <a:pPr marL="9144" indent="0">
                  <a:buNone/>
                </a:pPr>
                <a:r>
                  <a:rPr lang="en-US" dirty="0"/>
                  <a:t>                                                Net  Profit</a:t>
                </a:r>
                <a:r>
                  <a:rPr lang="en-US" i="1" dirty="0"/>
                  <a:t> margin X  Assets turnover</a:t>
                </a:r>
                <a:endParaRPr lang="en-US" dirty="0"/>
              </a:p>
              <a:p>
                <a:pPr marL="9144" lvl="0" indent="0">
                  <a:buNone/>
                </a:pPr>
                <a:r>
                  <a:rPr lang="en-US" dirty="0"/>
                  <a:t> </a:t>
                </a:r>
                <a:endParaRPr lang="en-US" altLang="en-US" dirty="0">
                  <a:solidFill>
                    <a:srgbClr val="000000"/>
                  </a:solidFill>
                  <a:latin typeface="Comic Sans MS" pitchFamily="66" charset="0"/>
                </a:endParaRPr>
              </a:p>
              <a:p>
                <a:pPr marL="9144" indent="0">
                  <a:buNone/>
                </a:pPr>
                <a:endParaRPr lang="en-US" altLang="en-US" dirty="0">
                  <a:solidFill>
                    <a:srgbClr val="000000"/>
                  </a:solidFill>
                  <a:latin typeface="Comic Sans MS" pitchFamily="66" charset="0"/>
                </a:endParaRPr>
              </a:p>
              <a:p>
                <a:pPr marL="9144" indent="0">
                  <a:buNone/>
                </a:pPr>
                <a:endParaRPr lang="en-US" b="1" i="1" dirty="0">
                  <a:solidFill>
                    <a:srgbClr val="000000"/>
                  </a:solidFill>
                  <a:latin typeface="Comic Sans MS" pitchFamily="66" charset="0"/>
                </a:endParaRPr>
              </a:p>
              <a:p>
                <a:pPr marL="9144" indent="0">
                  <a:buNone/>
                </a:pPr>
                <a:endParaRPr lang="en-US" altLang="en-US" dirty="0">
                  <a:solidFill>
                    <a:srgbClr val="000000"/>
                  </a:solidFill>
                  <a:latin typeface="Comic Sans MS" pitchFamily="66"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447800"/>
                <a:ext cx="8375904" cy="5221560"/>
              </a:xfrm>
              <a:blipFill>
                <a:blip r:embed="rId3"/>
                <a:stretch>
                  <a:fillRect l="-582"/>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t>Copyright © 2013 CFA Institute</a:t>
            </a:r>
            <a:endParaRPr lang="en-US" dirty="0"/>
          </a:p>
        </p:txBody>
      </p:sp>
      <p:sp>
        <p:nvSpPr>
          <p:cNvPr id="5" name="Slide Number Placeholder 4"/>
          <p:cNvSpPr>
            <a:spLocks noGrp="1"/>
          </p:cNvSpPr>
          <p:nvPr>
            <p:ph type="sldNum" sz="quarter" idx="12"/>
          </p:nvPr>
        </p:nvSpPr>
        <p:spPr/>
        <p:txBody>
          <a:bodyPr/>
          <a:lstStyle/>
          <a:p>
            <a:fld id="{4E4A4924-7CC3-4BF6-9C5C-A8E770D15754}" type="slidenum">
              <a:rPr lang="ar-EG" smtClean="0"/>
              <a:pPr/>
              <a:t>33</a:t>
            </a:fld>
            <a:endParaRPr lang="ar-EG"/>
          </a:p>
        </p:txBody>
      </p:sp>
    </p:spTree>
    <p:extLst>
      <p:ext uri="{BB962C8B-B14F-4D97-AF65-F5344CB8AC3E}">
        <p14:creationId xmlns:p14="http://schemas.microsoft.com/office/powerpoint/2010/main" val="32087077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5"/>
          <p:cNvSpPr>
            <a:spLocks noGrp="1" noChangeArrowheads="1"/>
          </p:cNvSpPr>
          <p:nvPr>
            <p:ph type="title"/>
          </p:nvPr>
        </p:nvSpPr>
        <p:spPr>
          <a:xfrm>
            <a:off x="585216" y="210312"/>
            <a:ext cx="7650843" cy="585599"/>
          </a:xfrm>
        </p:spPr>
        <p:txBody>
          <a:bodyPr/>
          <a:lstStyle/>
          <a:p>
            <a:r>
              <a:rPr lang="en-US" sz="2400" dirty="0"/>
              <a:t>Return on Equity (ROE)</a:t>
            </a:r>
          </a:p>
        </p:txBody>
      </p:sp>
      <p:grpSp>
        <p:nvGrpSpPr>
          <p:cNvPr id="2" name="Group 3"/>
          <p:cNvGrpSpPr>
            <a:grpSpLocks/>
          </p:cNvGrpSpPr>
          <p:nvPr/>
        </p:nvGrpSpPr>
        <p:grpSpPr bwMode="auto">
          <a:xfrm>
            <a:off x="1321645" y="2904900"/>
            <a:ext cx="4506916" cy="795338"/>
            <a:chOff x="1161" y="1957"/>
            <a:chExt cx="2839" cy="501"/>
          </a:xfrm>
        </p:grpSpPr>
        <p:sp>
          <p:nvSpPr>
            <p:cNvPr id="21515" name="Rectangle 4"/>
            <p:cNvSpPr>
              <a:spLocks noChangeArrowheads="1"/>
            </p:cNvSpPr>
            <p:nvPr/>
          </p:nvSpPr>
          <p:spPr bwMode="auto">
            <a:xfrm>
              <a:off x="1161" y="1982"/>
              <a:ext cx="814"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The Home</a:t>
              </a:r>
            </a:p>
            <a:p>
              <a:pPr algn="ctr">
                <a:lnSpc>
                  <a:spcPct val="120000"/>
                </a:lnSpc>
              </a:pPr>
              <a:r>
                <a:rPr lang="en-US" b="1" dirty="0">
                  <a:latin typeface="+mn-lt"/>
                </a:rPr>
                <a:t>Depot 2017</a:t>
              </a:r>
            </a:p>
          </p:txBody>
        </p:sp>
        <p:sp>
          <p:nvSpPr>
            <p:cNvPr id="21516" name="Rectangle 5"/>
            <p:cNvSpPr>
              <a:spLocks noChangeArrowheads="1"/>
            </p:cNvSpPr>
            <p:nvPr/>
          </p:nvSpPr>
          <p:spPr bwMode="auto">
            <a:xfrm>
              <a:off x="2197" y="1957"/>
              <a:ext cx="794" cy="5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$8,630</a:t>
              </a:r>
            </a:p>
            <a:p>
              <a:pPr>
                <a:lnSpc>
                  <a:spcPct val="120000"/>
                </a:lnSpc>
                <a:spcBef>
                  <a:spcPct val="15000"/>
                </a:spcBef>
              </a:pPr>
              <a:r>
                <a:rPr lang="en-US" b="1" dirty="0">
                  <a:latin typeface="+mn-lt"/>
                </a:rPr>
                <a:t>      $2,894*</a:t>
              </a:r>
            </a:p>
          </p:txBody>
        </p:sp>
        <p:sp>
          <p:nvSpPr>
            <p:cNvPr id="21517" name="Rectangle 6"/>
            <p:cNvSpPr>
              <a:spLocks noChangeArrowheads="1"/>
            </p:cNvSpPr>
            <p:nvPr/>
          </p:nvSpPr>
          <p:spPr bwMode="auto">
            <a:xfrm>
              <a:off x="2009" y="2095"/>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1518" name="Rectangle 7"/>
            <p:cNvSpPr>
              <a:spLocks noChangeArrowheads="1"/>
            </p:cNvSpPr>
            <p:nvPr/>
          </p:nvSpPr>
          <p:spPr bwMode="auto">
            <a:xfrm>
              <a:off x="3166" y="2088"/>
              <a:ext cx="834"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  298.25% </a:t>
              </a:r>
            </a:p>
          </p:txBody>
        </p:sp>
        <p:sp>
          <p:nvSpPr>
            <p:cNvPr id="21519" name="Line 8"/>
            <p:cNvSpPr>
              <a:spLocks noChangeShapeType="1"/>
            </p:cNvSpPr>
            <p:nvPr/>
          </p:nvSpPr>
          <p:spPr bwMode="auto">
            <a:xfrm flipV="1">
              <a:off x="2265" y="2208"/>
              <a:ext cx="869" cy="12"/>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 name="Group 9"/>
          <p:cNvGrpSpPr>
            <a:grpSpLocks/>
          </p:cNvGrpSpPr>
          <p:nvPr/>
        </p:nvGrpSpPr>
        <p:grpSpPr bwMode="auto">
          <a:xfrm>
            <a:off x="141941" y="2044699"/>
            <a:ext cx="7682870" cy="754062"/>
            <a:chOff x="427" y="1235"/>
            <a:chExt cx="3982" cy="475"/>
          </a:xfrm>
        </p:grpSpPr>
        <p:sp>
          <p:nvSpPr>
            <p:cNvPr id="21511" name="Rectangle 10"/>
            <p:cNvSpPr>
              <a:spLocks noChangeArrowheads="1"/>
            </p:cNvSpPr>
            <p:nvPr/>
          </p:nvSpPr>
          <p:spPr bwMode="auto">
            <a:xfrm>
              <a:off x="1849" y="1235"/>
              <a:ext cx="2560"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Net Income </a:t>
              </a:r>
            </a:p>
            <a:p>
              <a:pPr>
                <a:lnSpc>
                  <a:spcPct val="120000"/>
                </a:lnSpc>
              </a:pPr>
              <a:r>
                <a:rPr lang="en-US" b="1" dirty="0">
                  <a:latin typeface="+mn-lt"/>
                </a:rPr>
                <a:t>  </a:t>
              </a:r>
              <a:r>
                <a:rPr lang="en-US" b="1" dirty="0">
                  <a:solidFill>
                    <a:srgbClr val="FF6600"/>
                  </a:solidFill>
                  <a:latin typeface="+mn-lt"/>
                </a:rPr>
                <a:t>     </a:t>
              </a:r>
              <a:r>
                <a:rPr lang="en-US" b="1" dirty="0">
                  <a:solidFill>
                    <a:srgbClr val="FF3300"/>
                  </a:solidFill>
                  <a:latin typeface="+mn-lt"/>
                </a:rPr>
                <a:t>Average</a:t>
              </a:r>
              <a:r>
                <a:rPr lang="en-US" b="1" dirty="0">
                  <a:latin typeface="+mn-lt"/>
                </a:rPr>
                <a:t> Stockholders’ Equity</a:t>
              </a:r>
            </a:p>
          </p:txBody>
        </p:sp>
        <p:sp>
          <p:nvSpPr>
            <p:cNvPr id="21512" name="Rectangle 11"/>
            <p:cNvSpPr>
              <a:spLocks noChangeArrowheads="1"/>
            </p:cNvSpPr>
            <p:nvPr/>
          </p:nvSpPr>
          <p:spPr bwMode="auto">
            <a:xfrm>
              <a:off x="427" y="1325"/>
              <a:ext cx="1461" cy="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Return on Equity</a:t>
              </a:r>
            </a:p>
          </p:txBody>
        </p:sp>
        <p:sp>
          <p:nvSpPr>
            <p:cNvPr id="21513" name="Rectangle 12"/>
            <p:cNvSpPr>
              <a:spLocks noChangeArrowheads="1"/>
            </p:cNvSpPr>
            <p:nvPr/>
          </p:nvSpPr>
          <p:spPr bwMode="auto">
            <a:xfrm>
              <a:off x="1691" y="1373"/>
              <a:ext cx="155"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1514" name="Line 13"/>
            <p:cNvSpPr>
              <a:spLocks noChangeShapeType="1"/>
            </p:cNvSpPr>
            <p:nvPr/>
          </p:nvSpPr>
          <p:spPr bwMode="auto">
            <a:xfrm flipV="1">
              <a:off x="1888" y="1468"/>
              <a:ext cx="1733" cy="8"/>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241678" name="Rectangle 14"/>
          <p:cNvSpPr>
            <a:spLocks noChangeArrowheads="1"/>
          </p:cNvSpPr>
          <p:nvPr/>
        </p:nvSpPr>
        <p:spPr bwMode="auto">
          <a:xfrm>
            <a:off x="831810" y="818699"/>
            <a:ext cx="7036418" cy="920765"/>
          </a:xfrm>
          <a:prstGeom prst="rect">
            <a:avLst/>
          </a:prstGeom>
          <a:solidFill>
            <a:schemeClr val="accent6">
              <a:lumMod val="20000"/>
              <a:lumOff val="80000"/>
            </a:schemeClr>
          </a:solidFill>
          <a:ln w="28575" cmpd="thinThick">
            <a:solidFill>
              <a:schemeClr val="tx1"/>
            </a:solidFill>
            <a:miter lim="800000"/>
            <a:headEnd/>
            <a:tailEnd/>
          </a:ln>
          <a:effectLst>
            <a:outerShdw dist="71842" dir="2700000" algn="ctr" rotWithShape="0">
              <a:schemeClr val="tx1"/>
            </a:outerShdw>
          </a:effectLst>
        </p:spPr>
        <p:txBody>
          <a:bodyPr wrap="square" lIns="90488" tIns="44450" rIns="90488" bIns="44450">
            <a:spAutoFit/>
          </a:bodyPr>
          <a:lstStyle/>
          <a:p>
            <a:pPr algn="ctr" eaLnBrk="0" hangingPunct="0">
              <a:defRPr/>
            </a:pPr>
            <a:r>
              <a:rPr lang="en-US" dirty="0">
                <a:cs typeface="Arial" charset="0"/>
              </a:rPr>
              <a:t>Return on Equity relates income earned to the investment made by the owners. Investors </a:t>
            </a:r>
            <a:r>
              <a:rPr lang="en-US" dirty="0"/>
              <a:t>expect to earn a return on the money they invest.</a:t>
            </a:r>
          </a:p>
        </p:txBody>
      </p:sp>
      <p:sp>
        <p:nvSpPr>
          <p:cNvPr id="4" name="Footer Placeholder 3"/>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pic>
        <p:nvPicPr>
          <p:cNvPr id="5" name="Picture 4"/>
          <p:cNvPicPr>
            <a:picLocks noChangeAspect="1"/>
          </p:cNvPicPr>
          <p:nvPr/>
        </p:nvPicPr>
        <p:blipFill>
          <a:blip r:embed="rId3"/>
          <a:stretch>
            <a:fillRect/>
          </a:stretch>
        </p:blipFill>
        <p:spPr>
          <a:xfrm>
            <a:off x="1789594" y="4660727"/>
            <a:ext cx="4514850" cy="1009650"/>
          </a:xfrm>
          <a:prstGeom prst="rect">
            <a:avLst/>
          </a:prstGeom>
          <a:ln>
            <a:solidFill>
              <a:schemeClr val="tx1"/>
            </a:solidFill>
          </a:ln>
        </p:spPr>
      </p:pic>
      <p:grpSp>
        <p:nvGrpSpPr>
          <p:cNvPr id="18" name="Group 3"/>
          <p:cNvGrpSpPr>
            <a:grpSpLocks/>
          </p:cNvGrpSpPr>
          <p:nvPr/>
        </p:nvGrpSpPr>
        <p:grpSpPr bwMode="auto">
          <a:xfrm>
            <a:off x="2404081" y="3805584"/>
            <a:ext cx="3645382" cy="795338"/>
            <a:chOff x="1314" y="1962"/>
            <a:chExt cx="3059" cy="501"/>
          </a:xfrm>
        </p:grpSpPr>
        <p:sp>
          <p:nvSpPr>
            <p:cNvPr id="19" name="Rectangle 4"/>
            <p:cNvSpPr>
              <a:spLocks noChangeArrowheads="1"/>
            </p:cNvSpPr>
            <p:nvPr/>
          </p:nvSpPr>
          <p:spPr bwMode="auto">
            <a:xfrm>
              <a:off x="1314" y="2068"/>
              <a:ext cx="115"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endParaRPr lang="en-US" b="1" dirty="0">
                <a:latin typeface="+mn-lt"/>
              </a:endParaRPr>
            </a:p>
          </p:txBody>
        </p:sp>
        <p:sp>
          <p:nvSpPr>
            <p:cNvPr id="20" name="Rectangle 5"/>
            <p:cNvSpPr>
              <a:spLocks noChangeArrowheads="1"/>
            </p:cNvSpPr>
            <p:nvPr/>
          </p:nvSpPr>
          <p:spPr bwMode="auto">
            <a:xfrm>
              <a:off x="1716" y="1962"/>
              <a:ext cx="1638" cy="5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*($4,333 + $1,454)</a:t>
              </a:r>
            </a:p>
            <a:p>
              <a:pPr>
                <a:lnSpc>
                  <a:spcPct val="120000"/>
                </a:lnSpc>
                <a:spcBef>
                  <a:spcPct val="15000"/>
                </a:spcBef>
              </a:pPr>
              <a:r>
                <a:rPr lang="en-US" b="1" dirty="0">
                  <a:latin typeface="+mn-lt"/>
                </a:rPr>
                <a:t>                  2</a:t>
              </a:r>
            </a:p>
          </p:txBody>
        </p:sp>
        <p:sp>
          <p:nvSpPr>
            <p:cNvPr id="22" name="Rectangle 7"/>
            <p:cNvSpPr>
              <a:spLocks noChangeArrowheads="1"/>
            </p:cNvSpPr>
            <p:nvPr/>
          </p:nvSpPr>
          <p:spPr bwMode="auto">
            <a:xfrm>
              <a:off x="3449" y="2102"/>
              <a:ext cx="924"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  $2,894</a:t>
              </a:r>
            </a:p>
          </p:txBody>
        </p:sp>
        <p:sp>
          <p:nvSpPr>
            <p:cNvPr id="23" name="Line 8"/>
            <p:cNvSpPr>
              <a:spLocks noChangeShapeType="1"/>
            </p:cNvSpPr>
            <p:nvPr/>
          </p:nvSpPr>
          <p:spPr bwMode="auto">
            <a:xfrm>
              <a:off x="1817" y="2217"/>
              <a:ext cx="1632" cy="3"/>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24" name="Rectangle 23"/>
          <p:cNvSpPr/>
          <p:nvPr/>
        </p:nvSpPr>
        <p:spPr>
          <a:xfrm>
            <a:off x="819919" y="5773918"/>
            <a:ext cx="6813705" cy="646331"/>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solidFill>
                  <a:srgbClr val="211D1E"/>
                </a:solidFill>
              </a:rPr>
              <a:t>On average, for every $1.00 equity investors contributed to </a:t>
            </a:r>
          </a:p>
          <a:p>
            <a:pPr algn="ctr"/>
            <a:r>
              <a:rPr lang="en-US" dirty="0">
                <a:solidFill>
                  <a:srgbClr val="211D1E"/>
                </a:solidFill>
              </a:rPr>
              <a:t>The Home Depot, the company earned $2.98 in fiscal 2017.</a:t>
            </a:r>
            <a:endParaRPr lang="en-US" dirty="0"/>
          </a:p>
        </p:txBody>
      </p:sp>
    </p:spTree>
    <p:extLst>
      <p:ext uri="{BB962C8B-B14F-4D97-AF65-F5344CB8AC3E}">
        <p14:creationId xmlns:p14="http://schemas.microsoft.com/office/powerpoint/2010/main" val="102081487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par>
                                <p:cTn id="8" presetID="12" presetClass="entr" presetSubtype="8" fill="hold" grpId="0" nodeType="withEffect">
                                  <p:stCondLst>
                                    <p:cond delay="0"/>
                                  </p:stCondLst>
                                  <p:childTnLst>
                                    <p:set>
                                      <p:cBhvr>
                                        <p:cTn id="9" dur="1" fill="hold">
                                          <p:stCondLst>
                                            <p:cond delay="0"/>
                                          </p:stCondLst>
                                        </p:cTn>
                                        <p:tgtEl>
                                          <p:spTgt spid="241678"/>
                                        </p:tgtEl>
                                        <p:attrNameLst>
                                          <p:attrName>style.visibility</p:attrName>
                                        </p:attrNameLst>
                                      </p:cBhvr>
                                      <p:to>
                                        <p:strVal val="visible"/>
                                      </p:to>
                                    </p:set>
                                    <p:animEffect transition="in" filter="slide(fromLeft)">
                                      <p:cBhvr>
                                        <p:cTn id="10" dur="500"/>
                                        <p:tgtEl>
                                          <p:spTgt spid="241678"/>
                                        </p:tgtEl>
                                      </p:cBhvr>
                                    </p:animEffect>
                                  </p:childTnLst>
                                </p:cTn>
                              </p:par>
                            </p:childTnLst>
                          </p:cTn>
                        </p:par>
                        <p:par>
                          <p:cTn id="11" fill="hold" nodeType="afterGroup">
                            <p:stCondLst>
                              <p:cond delay="1000"/>
                            </p:stCondLst>
                            <p:childTnLst>
                              <p:par>
                                <p:cTn id="12" presetID="1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slide(fromLeft)">
                                      <p:cBhvr>
                                        <p:cTn id="14" dur="1000"/>
                                        <p:tgtEl>
                                          <p:spTgt spid="2"/>
                                        </p:tgtEl>
                                      </p:cBhvr>
                                    </p:animEffect>
                                  </p:childTnLst>
                                </p:cTn>
                              </p:par>
                            </p:childTnLst>
                          </p:cTn>
                        </p:par>
                        <p:par>
                          <p:cTn id="15" fill="hold">
                            <p:stCondLst>
                              <p:cond delay="2000"/>
                            </p:stCondLst>
                            <p:childTnLst>
                              <p:par>
                                <p:cTn id="16" presetID="12" presetClass="entr" presetSubtype="8" fill="hold"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slide(fromLeft)">
                                      <p:cBhvr>
                                        <p:cTn id="18"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7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11"/>
          <p:cNvSpPr/>
          <p:nvPr/>
        </p:nvSpPr>
        <p:spPr>
          <a:xfrm>
            <a:off x="1183649" y="3143892"/>
            <a:ext cx="1368595" cy="653437"/>
          </a:xfrm>
          <a:prstGeom prst="ellipse">
            <a:avLst/>
          </a:prstGeom>
          <a:solidFill>
            <a:schemeClr val="bg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Oval 12"/>
          <p:cNvSpPr/>
          <p:nvPr/>
        </p:nvSpPr>
        <p:spPr>
          <a:xfrm>
            <a:off x="2852599" y="3136016"/>
            <a:ext cx="1368595" cy="653437"/>
          </a:xfrm>
          <a:prstGeom prst="ellipse">
            <a:avLst/>
          </a:prstGeom>
          <a:solidFill>
            <a:schemeClr val="accent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Oval 13"/>
          <p:cNvSpPr/>
          <p:nvPr/>
        </p:nvSpPr>
        <p:spPr>
          <a:xfrm>
            <a:off x="4533880" y="3128140"/>
            <a:ext cx="1368595" cy="653437"/>
          </a:xfrm>
          <a:prstGeom prst="ellipse">
            <a:avLst/>
          </a:prstGeom>
          <a:solidFill>
            <a:schemeClr val="accent6">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Oval 14"/>
          <p:cNvSpPr/>
          <p:nvPr/>
        </p:nvSpPr>
        <p:spPr>
          <a:xfrm>
            <a:off x="6153512" y="3120264"/>
            <a:ext cx="1368595" cy="653437"/>
          </a:xfrm>
          <a:prstGeom prst="ellipse">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585216" y="210312"/>
            <a:ext cx="6057153" cy="449053"/>
          </a:xfrm>
        </p:spPr>
        <p:txBody>
          <a:bodyPr/>
          <a:lstStyle/>
          <a:p>
            <a:r>
              <a:rPr lang="en-US" sz="2400" dirty="0"/>
              <a:t>The DuPont Model</a:t>
            </a:r>
          </a:p>
        </p:txBody>
      </p:sp>
      <p:sp>
        <p:nvSpPr>
          <p:cNvPr id="3" name="Content Placeholder 2"/>
          <p:cNvSpPr>
            <a:spLocks noGrp="1"/>
          </p:cNvSpPr>
          <p:nvPr>
            <p:ph idx="1"/>
          </p:nvPr>
        </p:nvSpPr>
        <p:spPr>
          <a:xfrm>
            <a:off x="532112" y="1621558"/>
            <a:ext cx="5324485" cy="986482"/>
          </a:xfrm>
          <a:solidFill>
            <a:schemeClr val="accent2">
              <a:lumMod val="20000"/>
              <a:lumOff val="80000"/>
            </a:schemeClr>
          </a:solidFill>
          <a:ln>
            <a:solidFill>
              <a:schemeClr val="tx1"/>
            </a:solidFill>
          </a:ln>
        </p:spPr>
        <p:txBody>
          <a:bodyPr/>
          <a:lstStyle/>
          <a:p>
            <a:r>
              <a:rPr lang="en-US" dirty="0"/>
              <a:t>The </a:t>
            </a:r>
            <a:r>
              <a:rPr lang="en-US" b="1" dirty="0"/>
              <a:t>DuPont model </a:t>
            </a:r>
            <a:r>
              <a:rPr lang="en-US" dirty="0"/>
              <a:t>is used by analysts to better assess how a company is implementing its business strategy. The model is broken down into three components:</a:t>
            </a:r>
          </a:p>
        </p:txBody>
      </p:sp>
      <p:sp>
        <p:nvSpPr>
          <p:cNvPr id="4" name="Footer Placeholder 3"/>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a:ea typeface="+mn-ea"/>
                <a:cs typeface="+mn-cs"/>
              </a:rPr>
              <a:t>Copyright ©2020 McGraw-Hill Education. All rights reserved. No reproduction or distribution without the prior written consent of McGraw-Hill Education.</a:t>
            </a:r>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Rectangle 5"/>
          <p:cNvSpPr/>
          <p:nvPr/>
        </p:nvSpPr>
        <p:spPr>
          <a:xfrm>
            <a:off x="4899546" y="731178"/>
            <a:ext cx="2323284" cy="218070"/>
          </a:xfrm>
          <a:prstGeom prst="rect">
            <a:avLst/>
          </a:prstGeom>
          <a:solidFill>
            <a:sysClr val="window" lastClr="FFFFFF">
              <a:lumMod val="6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a:ea typeface="+mn-ea"/>
                <a:cs typeface="+mn-cs"/>
              </a:rPr>
              <a:t>FINANCIAL ANALYSIS</a:t>
            </a:r>
          </a:p>
        </p:txBody>
      </p:sp>
      <p:sp>
        <p:nvSpPr>
          <p:cNvPr id="7" name="Text Placeholder 8"/>
          <p:cNvSpPr txBox="1">
            <a:spLocks noGrp="1"/>
          </p:cNvSpPr>
          <p:nvPr>
            <p:ph type="body" sz="quarter" idx="11"/>
          </p:nvPr>
        </p:nvSpPr>
        <p:spPr>
          <a:xfrm>
            <a:off x="6590277" y="1057734"/>
            <a:ext cx="1592263" cy="923330"/>
          </a:xfrm>
          <a:prstGeom prst="rect">
            <a:avLst/>
          </a:prstGeom>
          <a:noFill/>
        </p:spPr>
        <p:txBody>
          <a:bodyPr wrap="square" rtlCol="0">
            <a:spAutoFit/>
          </a:bodyPr>
          <a:lstStyle/>
          <a:p>
            <a:pPr algn="ctr"/>
            <a:r>
              <a:rPr lang="en-US" sz="5400" dirty="0">
                <a:solidFill>
                  <a:srgbClr val="622233"/>
                </a:solidFill>
              </a:rPr>
              <a:t>$$$</a:t>
            </a:r>
          </a:p>
        </p:txBody>
      </p:sp>
      <p:sp>
        <p:nvSpPr>
          <p:cNvPr id="8" name="TextBox 7"/>
          <p:cNvSpPr txBox="1"/>
          <p:nvPr/>
        </p:nvSpPr>
        <p:spPr>
          <a:xfrm>
            <a:off x="1578199" y="3254853"/>
            <a:ext cx="6164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ROE</a:t>
            </a:r>
          </a:p>
        </p:txBody>
      </p:sp>
      <p:sp>
        <p:nvSpPr>
          <p:cNvPr id="9" name="TextBox 8"/>
          <p:cNvSpPr txBox="1"/>
          <p:nvPr/>
        </p:nvSpPr>
        <p:spPr>
          <a:xfrm>
            <a:off x="2901916" y="3222318"/>
            <a:ext cx="1277843" cy="54476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Net Profit</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Margin</a:t>
            </a:r>
          </a:p>
        </p:txBody>
      </p:sp>
      <p:sp>
        <p:nvSpPr>
          <p:cNvPr id="10" name="TextBox 9"/>
          <p:cNvSpPr txBox="1"/>
          <p:nvPr/>
        </p:nvSpPr>
        <p:spPr>
          <a:xfrm>
            <a:off x="4570867" y="3202113"/>
            <a:ext cx="1277843" cy="54476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Total Asset</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Turnover</a:t>
            </a:r>
          </a:p>
        </p:txBody>
      </p:sp>
      <p:sp>
        <p:nvSpPr>
          <p:cNvPr id="11" name="TextBox 10"/>
          <p:cNvSpPr txBox="1"/>
          <p:nvPr/>
        </p:nvSpPr>
        <p:spPr>
          <a:xfrm>
            <a:off x="6227488" y="3194237"/>
            <a:ext cx="1277843" cy="76264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Financial</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Leverage</a:t>
            </a:r>
          </a:p>
          <a:p>
            <a:pPr marL="0" marR="0" lvl="0" indent="0" algn="ctr" defTabSz="914400" rtl="0" eaLnBrk="1" fontAlgn="auto" latinLnBrk="0" hangingPunct="1">
              <a:lnSpc>
                <a:spcPct val="80000"/>
              </a:lnSpc>
              <a:spcBef>
                <a:spcPts val="0"/>
              </a:spcBef>
              <a:spcAft>
                <a:spcPts val="0"/>
              </a:spcAft>
              <a:buClrTx/>
              <a:buSzTx/>
              <a:buFontTx/>
              <a:buNone/>
              <a:tabLst/>
              <a:defRPr/>
            </a:pPr>
            <a:r>
              <a:rPr lang="en-US" b="1" dirty="0" err="1">
                <a:solidFill>
                  <a:prstClr val="black"/>
                </a:solidFill>
                <a:latin typeface="Calibri"/>
              </a:rPr>
              <a:t>Muliplier</a:t>
            </a: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5"/>
          <p:cNvSpPr txBox="1"/>
          <p:nvPr/>
        </p:nvSpPr>
        <p:spPr>
          <a:xfrm>
            <a:off x="2552242" y="3267182"/>
            <a:ext cx="362492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                             ×</a:t>
            </a:r>
          </a:p>
        </p:txBody>
      </p:sp>
      <p:grpSp>
        <p:nvGrpSpPr>
          <p:cNvPr id="22" name="Group 21"/>
          <p:cNvGrpSpPr/>
          <p:nvPr/>
        </p:nvGrpSpPr>
        <p:grpSpPr>
          <a:xfrm>
            <a:off x="394548" y="3852680"/>
            <a:ext cx="7636514" cy="959002"/>
            <a:chOff x="394548" y="5171881"/>
            <a:chExt cx="7636514" cy="959002"/>
          </a:xfrm>
        </p:grpSpPr>
        <p:sp>
          <p:nvSpPr>
            <p:cNvPr id="17" name="TextBox 16"/>
            <p:cNvSpPr txBox="1"/>
            <p:nvPr/>
          </p:nvSpPr>
          <p:spPr>
            <a:xfrm>
              <a:off x="394548" y="5387767"/>
              <a:ext cx="2613892"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Net Income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Average Total Stockholders’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Equity</a:t>
              </a:r>
            </a:p>
          </p:txBody>
        </p:sp>
        <p:sp>
          <p:nvSpPr>
            <p:cNvPr id="18" name="TextBox 17"/>
            <p:cNvSpPr txBox="1"/>
            <p:nvPr/>
          </p:nvSpPr>
          <p:spPr>
            <a:xfrm>
              <a:off x="2125147" y="5392219"/>
              <a:ext cx="2613892"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Net Income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Net Sales</a:t>
              </a:r>
              <a:br>
                <a:rPr kumimoji="0" lang="en-US" sz="1400" b="1" i="0" u="none" strike="noStrike" kern="1200" cap="none" spc="0" normalizeH="0" baseline="0" noProof="0" dirty="0">
                  <a:ln>
                    <a:noFill/>
                  </a:ln>
                  <a:solidFill>
                    <a:prstClr val="black"/>
                  </a:solidFill>
                  <a:effectLst/>
                  <a:uLnTx/>
                  <a:uFillTx/>
                  <a:latin typeface="Calibri"/>
                  <a:ea typeface="+mn-ea"/>
                  <a:cs typeface="+mn-cs"/>
                </a:rPr>
              </a:br>
              <a:r>
                <a:rPr kumimoji="0" lang="en-US" sz="1400" b="1" i="0" u="none" strike="noStrike" kern="1200" cap="none" spc="0" normalizeH="0" baseline="0" noProof="0" dirty="0">
                  <a:ln>
                    <a:noFill/>
                  </a:ln>
                  <a:solidFill>
                    <a:prstClr val="black"/>
                  </a:solidFill>
                  <a:effectLst/>
                  <a:uLnTx/>
                  <a:uFillTx/>
                  <a:latin typeface="Calibri"/>
                  <a:ea typeface="+mn-ea"/>
                  <a:cs typeface="+mn-cs"/>
                </a:rPr>
                <a:t>Revenue</a:t>
              </a:r>
            </a:p>
          </p:txBody>
        </p:sp>
        <p:sp>
          <p:nvSpPr>
            <p:cNvPr id="19" name="TextBox 18"/>
            <p:cNvSpPr txBox="1"/>
            <p:nvPr/>
          </p:nvSpPr>
          <p:spPr>
            <a:xfrm>
              <a:off x="3498184" y="5171881"/>
              <a:ext cx="2613892"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Net Sales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Revenue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Average Total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Assets</a:t>
              </a:r>
            </a:p>
          </p:txBody>
        </p:sp>
        <p:sp>
          <p:nvSpPr>
            <p:cNvPr id="20" name="TextBox 19"/>
            <p:cNvSpPr txBox="1"/>
            <p:nvPr/>
          </p:nvSpPr>
          <p:spPr>
            <a:xfrm>
              <a:off x="5417170" y="5381473"/>
              <a:ext cx="2613892"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Average Total Assets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Average Total Stockholders’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Equity</a:t>
              </a:r>
            </a:p>
          </p:txBody>
        </p:sp>
      </p:grpSp>
      <p:cxnSp>
        <p:nvCxnSpPr>
          <p:cNvPr id="23" name="Straight Connector 22"/>
          <p:cNvCxnSpPr/>
          <p:nvPr/>
        </p:nvCxnSpPr>
        <p:spPr>
          <a:xfrm flipV="1">
            <a:off x="636339" y="4352133"/>
            <a:ext cx="2125510" cy="4316"/>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2934103" y="4348572"/>
            <a:ext cx="962076"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4270153" y="4353024"/>
            <a:ext cx="1130247"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5667851" y="4335174"/>
            <a:ext cx="2099848"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704641" y="4134663"/>
            <a:ext cx="362492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                          ×</a:t>
            </a:r>
          </a:p>
        </p:txBody>
      </p:sp>
    </p:spTree>
    <p:extLst>
      <p:ext uri="{BB962C8B-B14F-4D97-AF65-F5344CB8AC3E}">
        <p14:creationId xmlns:p14="http://schemas.microsoft.com/office/powerpoint/2010/main" val="7015389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75904" cy="828328"/>
          </a:xfrm>
        </p:spPr>
        <p:txBody>
          <a:bodyPr/>
          <a:lstStyle/>
          <a:p>
            <a:r>
              <a:rPr lang="en-US" b="1" dirty="0">
                <a:solidFill>
                  <a:srgbClr val="3333CC"/>
                </a:solidFill>
              </a:rPr>
              <a:t>Fifth: Investor and Markets ANALYSIS)</a:t>
            </a:r>
            <a:endParaRPr lang="ar-EG" b="1" dirty="0">
              <a:solidFill>
                <a:srgbClr val="3333CC"/>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980728"/>
                <a:ext cx="8375904" cy="6768752"/>
              </a:xfrm>
            </p:spPr>
            <p:txBody>
              <a:bodyPr>
                <a:normAutofit/>
              </a:bodyPr>
              <a:lstStyle/>
              <a:p>
                <a:pPr marL="9144" indent="0">
                  <a:buNone/>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a:rPr>
                        <m:t>𝑬𝒂𝒓𝒏𝒊𝒏𝒈𝒔</m:t>
                      </m:r>
                      <m:r>
                        <a:rPr lang="en-US" b="1" i="1" smtClean="0">
                          <a:solidFill>
                            <a:srgbClr val="FF0000"/>
                          </a:solidFill>
                          <a:latin typeface="Cambria Math"/>
                        </a:rPr>
                        <m:t> </m:t>
                      </m:r>
                      <m:r>
                        <a:rPr lang="en-US" b="1" i="1" smtClean="0">
                          <a:solidFill>
                            <a:srgbClr val="FF0000"/>
                          </a:solidFill>
                          <a:latin typeface="Cambria Math"/>
                        </a:rPr>
                        <m:t>𝑷𝒆𝒓</m:t>
                      </m:r>
                      <m:r>
                        <a:rPr lang="en-US" b="1" i="1" smtClean="0">
                          <a:solidFill>
                            <a:srgbClr val="FF0000"/>
                          </a:solidFill>
                          <a:latin typeface="Cambria Math"/>
                        </a:rPr>
                        <m:t> </m:t>
                      </m:r>
                      <m:r>
                        <a:rPr lang="en-US" b="1" i="1" smtClean="0">
                          <a:solidFill>
                            <a:srgbClr val="FF0000"/>
                          </a:solidFill>
                          <a:latin typeface="Cambria Math"/>
                        </a:rPr>
                        <m:t>𝑺𝒉𝒂𝒓𝒆</m:t>
                      </m:r>
                      <m:r>
                        <a:rPr lang="en-US" i="1" smtClean="0">
                          <a:solidFill>
                            <a:srgbClr val="FF0000"/>
                          </a:solidFill>
                          <a:latin typeface="Cambria Math"/>
                        </a:rPr>
                        <m:t> </m:t>
                      </m:r>
                      <m:r>
                        <m:rPr>
                          <m:nor/>
                        </m:rPr>
                        <a:rPr lang="en-US" i="1">
                          <a:latin typeface="Times New Roman" pitchFamily="18" charset="0"/>
                          <a:cs typeface="Times New Roman" pitchFamily="18" charset="0"/>
                        </a:rPr>
                        <m:t>=</m:t>
                      </m:r>
                      <m:r>
                        <a:rPr lang="en-US" i="1">
                          <a:latin typeface="Cambria Math"/>
                        </a:rPr>
                        <m:t> </m:t>
                      </m:r>
                      <m:f>
                        <m:fPr>
                          <m:ctrlPr>
                            <a:rPr lang="en-US" i="1">
                              <a:latin typeface="Cambria Math" panose="02040503050406030204" pitchFamily="18" charset="0"/>
                            </a:rPr>
                          </m:ctrlPr>
                        </m:fPr>
                        <m:num>
                          <m:r>
                            <m:rPr>
                              <m:nor/>
                            </m:rPr>
                            <a:rPr lang="en-US" i="1">
                              <a:latin typeface="Times New Roman" pitchFamily="18" charset="0"/>
                              <a:cs typeface="Times New Roman" pitchFamily="18" charset="0"/>
                            </a:rPr>
                            <m:t>Net</m:t>
                          </m:r>
                          <m:r>
                            <m:rPr>
                              <m:nor/>
                            </m:rPr>
                            <a:rPr lang="en-US" i="1">
                              <a:latin typeface="Times New Roman" pitchFamily="18" charset="0"/>
                              <a:cs typeface="Times New Roman" pitchFamily="18" charset="0"/>
                            </a:rPr>
                            <m:t> </m:t>
                          </m:r>
                          <m:r>
                            <m:rPr>
                              <m:nor/>
                            </m:rPr>
                            <a:rPr lang="en-US" i="1">
                              <a:latin typeface="Times New Roman" pitchFamily="18" charset="0"/>
                              <a:cs typeface="Times New Roman" pitchFamily="18" charset="0"/>
                            </a:rPr>
                            <m:t>income</m:t>
                          </m:r>
                          <m:r>
                            <a:rPr lang="en-US" b="0" i="1" smtClean="0">
                              <a:latin typeface="Cambria Math"/>
                              <a:cs typeface="Times New Roman" pitchFamily="18" charset="0"/>
                            </a:rPr>
                            <m:t> −</m:t>
                          </m:r>
                          <m:r>
                            <a:rPr lang="en-US" b="0" i="1" smtClean="0">
                              <a:latin typeface="Cambria Math"/>
                              <a:cs typeface="Times New Roman" pitchFamily="18" charset="0"/>
                            </a:rPr>
                            <m:t>𝑃𝑟𝑒𝑓𝑒𝑟𝑟𝑒𝑑</m:t>
                          </m:r>
                          <m:r>
                            <a:rPr lang="en-US" b="0" i="1" smtClean="0">
                              <a:latin typeface="Cambria Math"/>
                              <a:cs typeface="Times New Roman" pitchFamily="18" charset="0"/>
                            </a:rPr>
                            <m:t> </m:t>
                          </m:r>
                          <m:r>
                            <a:rPr lang="en-US" b="0" i="1" smtClean="0">
                              <a:latin typeface="Cambria Math"/>
                              <a:cs typeface="Times New Roman" pitchFamily="18" charset="0"/>
                            </a:rPr>
                            <m:t>𝐷𝑖𝑣𝑖𝑑𝑒𝑛𝑑𝑠</m:t>
                          </m:r>
                        </m:num>
                        <m:den>
                          <m:eqArr>
                            <m:eqArrPr>
                              <m:ctrlPr>
                                <a:rPr lang="en-US" i="1">
                                  <a:latin typeface="Cambria Math" panose="02040503050406030204" pitchFamily="18" charset="0"/>
                                </a:rPr>
                              </m:ctrlPr>
                            </m:eqArrPr>
                            <m:e>
                              <m:r>
                                <m:rPr>
                                  <m:nor/>
                                </m:rPr>
                                <a:rPr lang="en-US" i="1">
                                  <a:latin typeface="Times New Roman" pitchFamily="18" charset="0"/>
                                  <a:cs typeface="Times New Roman" pitchFamily="18" charset="0"/>
                                </a:rPr>
                                <m:t>Weighted</m:t>
                              </m:r>
                              <m:r>
                                <m:rPr>
                                  <m:nor/>
                                </m:rPr>
                                <a:rPr lang="en-US" i="1">
                                  <a:latin typeface="Times New Roman" pitchFamily="18" charset="0"/>
                                  <a:cs typeface="Times New Roman" pitchFamily="18" charset="0"/>
                                </a:rPr>
                                <m:t> </m:t>
                              </m:r>
                              <m:r>
                                <m:rPr>
                                  <m:nor/>
                                </m:rPr>
                                <a:rPr lang="en-US" i="1">
                                  <a:latin typeface="Times New Roman" pitchFamily="18" charset="0"/>
                                  <a:cs typeface="Times New Roman" pitchFamily="18" charset="0"/>
                                </a:rPr>
                                <m:t>Averag</m:t>
                              </m:r>
                              <m:r>
                                <a:rPr lang="en-US" i="1">
                                  <a:latin typeface="Cambria Math"/>
                                </a:rPr>
                                <m:t>𝑒</m:t>
                              </m:r>
                              <m:r>
                                <a:rPr lang="en-US" i="1">
                                  <a:latin typeface="Cambria Math"/>
                                </a:rPr>
                                <m:t> </m:t>
                              </m:r>
                              <m:r>
                                <a:rPr lang="en-US" i="1">
                                  <a:latin typeface="Cambria Math"/>
                                </a:rPr>
                                <m:t>𝐶𝑜𝑚𝑚𝑜𝑛</m:t>
                              </m:r>
                              <m:r>
                                <a:rPr lang="en-US" i="1">
                                  <a:latin typeface="Cambria Math"/>
                                </a:rPr>
                                <m:t> </m:t>
                              </m:r>
                              <m:r>
                                <a:rPr lang="en-US" i="1">
                                  <a:latin typeface="Cambria Math"/>
                                </a:rPr>
                                <m:t>𝑆𝑡𝑜𝑐𝑘𝑠</m:t>
                              </m:r>
                              <m:r>
                                <a:rPr lang="en-US" i="1">
                                  <a:latin typeface="Cambria Math"/>
                                </a:rPr>
                                <m:t> </m:t>
                              </m:r>
                              <m:r>
                                <a:rPr lang="en-US" i="1">
                                  <a:latin typeface="Cambria Math"/>
                                </a:rPr>
                                <m:t>𝑂𝑢𝑡𝑠𝑡𝑎𝑛𝑑𝑖𝑛𝑔</m:t>
                              </m:r>
                            </m:e>
                            <m:e/>
                          </m:eqArr>
                        </m:den>
                      </m:f>
                    </m:oMath>
                  </m:oMathPara>
                </a14:m>
                <a:endParaRPr lang="en-US" i="1" dirty="0">
                  <a:latin typeface="Times New Roman" pitchFamily="18" charset="0"/>
                  <a:cs typeface="Times New Roman" pitchFamily="18" charset="0"/>
                </a:endParaRPr>
              </a:p>
              <a:p>
                <a:pPr marL="9144" indent="0">
                  <a:buNone/>
                </a:pPr>
                <a:r>
                  <a:rPr lang="en-US" dirty="0">
                    <a:latin typeface="Times New Roman" pitchFamily="18" charset="0"/>
                    <a:cs typeface="Times New Roman" pitchFamily="18" charset="0"/>
                  </a:rPr>
                  <a:t>This is a measure of net income earned on each share of common stock</a:t>
                </a:r>
                <a:endParaRPr lang="ar-EG" dirty="0">
                  <a:latin typeface="Times New Roman" pitchFamily="18" charset="0"/>
                  <a:cs typeface="Times New Roman" pitchFamily="18" charset="0"/>
                </a:endParaRPr>
              </a:p>
              <a:p>
                <a:pPr marL="9144" lvl="0" indent="0">
                  <a:buNone/>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𝑷𝒓</m:t>
                      </m:r>
                      <m:r>
                        <a:rPr lang="en-US" b="1" i="1" smtClean="0">
                          <a:solidFill>
                            <a:srgbClr val="FF0000"/>
                          </a:solidFill>
                          <a:latin typeface="Cambria Math"/>
                        </a:rPr>
                        <m:t>𝒊𝒄𝒆</m:t>
                      </m:r>
                      <m:r>
                        <a:rPr lang="en-US" b="1" i="1" smtClean="0">
                          <a:solidFill>
                            <a:srgbClr val="FF0000"/>
                          </a:solidFill>
                          <a:latin typeface="Cambria Math"/>
                        </a:rPr>
                        <m:t> </m:t>
                      </m:r>
                      <m:r>
                        <a:rPr lang="en-US" b="1" i="1" smtClean="0">
                          <a:solidFill>
                            <a:srgbClr val="FF0000"/>
                          </a:solidFill>
                          <a:latin typeface="Cambria Math"/>
                        </a:rPr>
                        <m:t>𝑬𝒂𝒓𝒏𝒊𝒏𝒈𝒔</m:t>
                      </m:r>
                      <m:r>
                        <a:rPr lang="en-US" b="1" i="1" smtClean="0">
                          <a:solidFill>
                            <a:srgbClr val="FF0000"/>
                          </a:solidFill>
                          <a:latin typeface="Cambria Math"/>
                        </a:rPr>
                        <m:t> </m:t>
                      </m:r>
                      <m:r>
                        <a:rPr lang="en-US" b="1" i="1" smtClean="0">
                          <a:solidFill>
                            <a:srgbClr val="FF0000"/>
                          </a:solidFill>
                          <a:latin typeface="Cambria Math"/>
                        </a:rPr>
                        <m:t>𝑹𝒂𝒕𝒊𝒐</m:t>
                      </m:r>
                      <m:r>
                        <m:rPr>
                          <m:nor/>
                        </m:rPr>
                        <a:rPr lang="en-US" i="1">
                          <a:latin typeface="Times New Roman" pitchFamily="18" charset="0"/>
                          <a:cs typeface="Times New Roman" pitchFamily="18" charset="0"/>
                        </a:rPr>
                        <m:t>=</m:t>
                      </m:r>
                      <m:r>
                        <a:rPr lang="en-US" i="1">
                          <a:latin typeface="Cambria Math"/>
                        </a:rPr>
                        <m:t> </m:t>
                      </m:r>
                      <m:f>
                        <m:fPr>
                          <m:ctrlPr>
                            <a:rPr lang="en-US" i="1">
                              <a:latin typeface="Cambria Math" panose="02040503050406030204" pitchFamily="18" charset="0"/>
                            </a:rPr>
                          </m:ctrlPr>
                        </m:fPr>
                        <m:num>
                          <m:r>
                            <m:rPr>
                              <m:nor/>
                            </m:rPr>
                            <a:rPr lang="en-US" b="0" i="1" smtClean="0">
                              <a:latin typeface="Times New Roman" pitchFamily="18" charset="0"/>
                              <a:cs typeface="Times New Roman" pitchFamily="18" charset="0"/>
                            </a:rPr>
                            <m:t>Market</m:t>
                          </m:r>
                          <m:r>
                            <m:rPr>
                              <m:nor/>
                            </m:rPr>
                            <a:rPr lang="en-US" b="0" i="1" smtClean="0">
                              <a:latin typeface="Times New Roman" pitchFamily="18" charset="0"/>
                              <a:cs typeface="Times New Roman" pitchFamily="18" charset="0"/>
                            </a:rPr>
                            <m:t> </m:t>
                          </m:r>
                          <m:r>
                            <m:rPr>
                              <m:nor/>
                            </m:rPr>
                            <a:rPr lang="en-US" b="0" i="1" smtClean="0">
                              <a:latin typeface="Times New Roman" pitchFamily="18" charset="0"/>
                              <a:cs typeface="Times New Roman" pitchFamily="18" charset="0"/>
                            </a:rPr>
                            <m:t>Price</m:t>
                          </m:r>
                          <m:r>
                            <m:rPr>
                              <m:nor/>
                            </m:rPr>
                            <a:rPr lang="en-US" b="0" i="1" smtClean="0">
                              <a:latin typeface="Times New Roman" pitchFamily="18" charset="0"/>
                              <a:cs typeface="Times New Roman" pitchFamily="18" charset="0"/>
                            </a:rPr>
                            <m:t> </m:t>
                          </m:r>
                          <m:r>
                            <m:rPr>
                              <m:nor/>
                            </m:rPr>
                            <a:rPr lang="en-US" b="0" i="1" smtClean="0">
                              <a:latin typeface="Times New Roman" pitchFamily="18" charset="0"/>
                              <a:cs typeface="Times New Roman" pitchFamily="18" charset="0"/>
                            </a:rPr>
                            <m:t>Per</m:t>
                          </m:r>
                          <m:r>
                            <m:rPr>
                              <m:nor/>
                            </m:rPr>
                            <a:rPr lang="en-US" b="0" i="1" smtClean="0">
                              <a:latin typeface="Times New Roman" pitchFamily="18" charset="0"/>
                              <a:cs typeface="Times New Roman" pitchFamily="18" charset="0"/>
                            </a:rPr>
                            <m:t> </m:t>
                          </m:r>
                          <m:r>
                            <m:rPr>
                              <m:nor/>
                            </m:rPr>
                            <a:rPr lang="en-US" b="0" i="1" smtClean="0">
                              <a:latin typeface="Times New Roman" pitchFamily="18" charset="0"/>
                              <a:cs typeface="Times New Roman" pitchFamily="18" charset="0"/>
                            </a:rPr>
                            <m:t>Share</m:t>
                          </m:r>
                          <m:r>
                            <m:rPr>
                              <m:nor/>
                            </m:rPr>
                            <a:rPr lang="en-US" b="0" i="1" smtClean="0">
                              <a:latin typeface="Times New Roman" pitchFamily="18" charset="0"/>
                              <a:cs typeface="Times New Roman" pitchFamily="18" charset="0"/>
                            </a:rPr>
                            <m:t> </m:t>
                          </m:r>
                          <m:r>
                            <m:rPr>
                              <m:nor/>
                            </m:rPr>
                            <a:rPr lang="en-US" b="0" i="1" smtClean="0">
                              <a:latin typeface="Times New Roman" pitchFamily="18" charset="0"/>
                              <a:cs typeface="Times New Roman" pitchFamily="18" charset="0"/>
                            </a:rPr>
                            <m:t>of</m:t>
                          </m:r>
                          <m:r>
                            <m:rPr>
                              <m:nor/>
                            </m:rPr>
                            <a:rPr lang="en-US" b="0" i="1" smtClean="0">
                              <a:latin typeface="Times New Roman" pitchFamily="18" charset="0"/>
                              <a:cs typeface="Times New Roman" pitchFamily="18" charset="0"/>
                            </a:rPr>
                            <m:t> </m:t>
                          </m:r>
                          <m:r>
                            <m:rPr>
                              <m:nor/>
                            </m:rPr>
                            <a:rPr lang="en-US" b="0" i="1" smtClean="0">
                              <a:latin typeface="Times New Roman" pitchFamily="18" charset="0"/>
                              <a:cs typeface="Times New Roman" pitchFamily="18" charset="0"/>
                            </a:rPr>
                            <m:t>Stock</m:t>
                          </m:r>
                          <m:r>
                            <m:rPr>
                              <m:nor/>
                            </m:rPr>
                            <a:rPr lang="en-US" b="0" i="1" smtClean="0">
                              <a:latin typeface="Times New Roman" pitchFamily="18" charset="0"/>
                              <a:cs typeface="Times New Roman" pitchFamily="18" charset="0"/>
                            </a:rPr>
                            <m:t> </m:t>
                          </m:r>
                        </m:num>
                        <m:den>
                          <m:r>
                            <a:rPr lang="en-US" b="0" i="1" smtClean="0">
                              <a:latin typeface="Cambria Math"/>
                            </a:rPr>
                            <m:t>𝐸𝑎𝑟𝑛𝑖𝑛𝑔𝑠</m:t>
                          </m:r>
                          <m:r>
                            <a:rPr lang="en-US" b="0" i="1" smtClean="0">
                              <a:latin typeface="Cambria Math"/>
                            </a:rPr>
                            <m:t> </m:t>
                          </m:r>
                          <m:r>
                            <a:rPr lang="en-US" b="0" i="1" smtClean="0">
                              <a:latin typeface="Cambria Math"/>
                            </a:rPr>
                            <m:t>𝑃𝑒𝑟</m:t>
                          </m:r>
                          <m:r>
                            <a:rPr lang="en-US" b="0" i="1" smtClean="0">
                              <a:latin typeface="Cambria Math"/>
                            </a:rPr>
                            <m:t> </m:t>
                          </m:r>
                          <m:r>
                            <a:rPr lang="en-US" b="0" i="1" smtClean="0">
                              <a:latin typeface="Cambria Math"/>
                            </a:rPr>
                            <m:t>𝑆h𝑎𝑟𝑒</m:t>
                          </m:r>
                          <m:r>
                            <a:rPr lang="en-US" b="0" i="1" smtClean="0">
                              <a:latin typeface="Cambria Math"/>
                            </a:rPr>
                            <m:t> </m:t>
                          </m:r>
                        </m:den>
                      </m:f>
                    </m:oMath>
                  </m:oMathPara>
                </a14:m>
                <a:endParaRPr lang="en-US" i="1" dirty="0">
                  <a:latin typeface="Times New Roman" pitchFamily="18" charset="0"/>
                  <a:cs typeface="Times New Roman" pitchFamily="18" charset="0"/>
                </a:endParaRPr>
              </a:p>
              <a:p>
                <a:pPr marL="9144" indent="0">
                  <a:buNone/>
                </a:pPr>
                <a:r>
                  <a:rPr lang="en-US" altLang="en-US" dirty="0">
                    <a:solidFill>
                      <a:srgbClr val="000000"/>
                    </a:solidFill>
                    <a:latin typeface="Times New Roman" pitchFamily="18" charset="0"/>
                    <a:cs typeface="Times New Roman" pitchFamily="18" charset="0"/>
                  </a:rPr>
                  <a:t>Used to evaluate whether the stock is overpriced or underpriced. </a:t>
                </a:r>
                <a:r>
                  <a:rPr lang="en-US" dirty="0"/>
                  <a:t>A relatively </a:t>
                </a:r>
                <a:r>
                  <a:rPr lang="en-US" i="1" dirty="0"/>
                  <a:t>low P/E ratio</a:t>
                </a:r>
                <a:r>
                  <a:rPr lang="en-US" dirty="0"/>
                  <a:t> could indicate that the company is under- priced. Conversely, investors expect high growth rate from companies with </a:t>
                </a:r>
                <a:r>
                  <a:rPr lang="en-US" i="1" dirty="0"/>
                  <a:t>high P/E ratio</a:t>
                </a:r>
                <a:r>
                  <a:rPr lang="en-US" dirty="0"/>
                  <a:t>.</a:t>
                </a:r>
                <a:endParaRPr lang="en-US" dirty="0">
                  <a:solidFill>
                    <a:srgbClr val="FF0000"/>
                  </a:solidFill>
                  <a:latin typeface="Times New Roman" pitchFamily="18" charset="0"/>
                  <a:cs typeface="Times New Roman" pitchFamily="18" charset="0"/>
                </a:endParaRPr>
              </a:p>
              <a:p>
                <a:pPr marL="9144" indent="0">
                  <a:buNone/>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a:rPr>
                        <m:t>𝑫𝒊𝒗𝒊𝒅𝒆𝒏𝒅𝒔</m:t>
                      </m:r>
                      <m:r>
                        <a:rPr lang="en-US" b="1" i="1" smtClean="0">
                          <a:solidFill>
                            <a:srgbClr val="FF0000"/>
                          </a:solidFill>
                          <a:latin typeface="Cambria Math"/>
                        </a:rPr>
                        <m:t> </m:t>
                      </m:r>
                      <m:r>
                        <a:rPr lang="en-US" b="1" i="1" smtClean="0">
                          <a:solidFill>
                            <a:srgbClr val="FF0000"/>
                          </a:solidFill>
                          <a:latin typeface="Cambria Math"/>
                        </a:rPr>
                        <m:t>𝑷𝒂𝒚𝒐𝒖𝒕</m:t>
                      </m:r>
                      <m:r>
                        <a:rPr lang="en-US" b="1" i="1" smtClean="0">
                          <a:solidFill>
                            <a:srgbClr val="FF0000"/>
                          </a:solidFill>
                          <a:latin typeface="Cambria Math"/>
                        </a:rPr>
                        <m:t> </m:t>
                      </m:r>
                      <m:r>
                        <a:rPr lang="en-US" b="1" i="1" smtClean="0">
                          <a:solidFill>
                            <a:srgbClr val="FF0000"/>
                          </a:solidFill>
                          <a:latin typeface="Cambria Math"/>
                        </a:rPr>
                        <m:t>𝑹𝒂𝒕𝒊𝒐</m:t>
                      </m:r>
                      <m:r>
                        <a:rPr lang="en-US" b="0" i="1" smtClean="0">
                          <a:solidFill>
                            <a:srgbClr val="FF0000"/>
                          </a:solidFill>
                          <a:latin typeface="Cambria Math"/>
                        </a:rPr>
                        <m:t> </m:t>
                      </m:r>
                      <m:r>
                        <m:rPr>
                          <m:nor/>
                        </m:rPr>
                        <a:rPr lang="en-US" i="1">
                          <a:latin typeface="Times New Roman" pitchFamily="18" charset="0"/>
                          <a:cs typeface="Times New Roman" pitchFamily="18" charset="0"/>
                        </a:rPr>
                        <m:t> =</m:t>
                      </m:r>
                      <m:r>
                        <a:rPr lang="en-US" i="1">
                          <a:latin typeface="Cambria Math"/>
                        </a:rPr>
                        <m:t> </m:t>
                      </m:r>
                      <m:f>
                        <m:fPr>
                          <m:ctrlPr>
                            <a:rPr lang="en-US" i="1">
                              <a:latin typeface="Cambria Math" panose="02040503050406030204" pitchFamily="18" charset="0"/>
                            </a:rPr>
                          </m:ctrlPr>
                        </m:fPr>
                        <m:num>
                          <m:r>
                            <m:rPr>
                              <m:nor/>
                            </m:rPr>
                            <a:rPr lang="en-US" b="0" i="1" smtClean="0">
                              <a:latin typeface="Times New Roman" pitchFamily="18" charset="0"/>
                              <a:cs typeface="Times New Roman" pitchFamily="18" charset="0"/>
                            </a:rPr>
                            <m:t>Cash</m:t>
                          </m:r>
                          <m:r>
                            <m:rPr>
                              <m:nor/>
                            </m:rPr>
                            <a:rPr lang="en-US" b="0" i="1" smtClean="0">
                              <a:latin typeface="Times New Roman" pitchFamily="18" charset="0"/>
                              <a:cs typeface="Times New Roman" pitchFamily="18" charset="0"/>
                            </a:rPr>
                            <m:t> </m:t>
                          </m:r>
                          <m:r>
                            <m:rPr>
                              <m:nor/>
                            </m:rPr>
                            <a:rPr lang="en-US" b="0" i="1" smtClean="0">
                              <a:latin typeface="Times New Roman" pitchFamily="18" charset="0"/>
                              <a:cs typeface="Times New Roman" pitchFamily="18" charset="0"/>
                            </a:rPr>
                            <m:t>Dividends</m:t>
                          </m:r>
                          <m:r>
                            <m:rPr>
                              <m:nor/>
                            </m:rPr>
                            <a:rPr lang="en-US" b="0" i="1" smtClean="0">
                              <a:latin typeface="Times New Roman" pitchFamily="18" charset="0"/>
                              <a:cs typeface="Times New Roman" pitchFamily="18" charset="0"/>
                            </a:rPr>
                            <m:t> /</m:t>
                          </m:r>
                          <m:r>
                            <m:rPr>
                              <m:nor/>
                            </m:rPr>
                            <a:rPr lang="en-US" b="0" i="1" smtClean="0">
                              <a:latin typeface="Times New Roman" pitchFamily="18" charset="0"/>
                              <a:cs typeface="Times New Roman" pitchFamily="18" charset="0"/>
                            </a:rPr>
                            <m:t>share</m:t>
                          </m:r>
                          <m:r>
                            <m:rPr>
                              <m:nor/>
                            </m:rPr>
                            <a:rPr lang="en-US" b="0" i="1" smtClean="0">
                              <a:latin typeface="Times New Roman" pitchFamily="18" charset="0"/>
                              <a:cs typeface="Times New Roman" pitchFamily="18" charset="0"/>
                            </a:rPr>
                            <m:t> </m:t>
                          </m:r>
                        </m:num>
                        <m:den>
                          <m:r>
                            <a:rPr lang="en-US" b="0" i="1" smtClean="0">
                              <a:latin typeface="Cambria Math"/>
                            </a:rPr>
                            <m:t>𝑁𝑒𝑡</m:t>
                          </m:r>
                          <m:r>
                            <a:rPr lang="en-US" b="0" i="1" smtClean="0">
                              <a:latin typeface="Cambria Math"/>
                            </a:rPr>
                            <m:t> </m:t>
                          </m:r>
                          <m:r>
                            <a:rPr lang="en-US" b="0" i="1" smtClean="0">
                              <a:latin typeface="Cambria Math"/>
                            </a:rPr>
                            <m:t>𝐼𝑛𝑐𝑜𝑚𝑒</m:t>
                          </m:r>
                          <m:r>
                            <a:rPr lang="en-US" b="0" i="1" smtClean="0">
                              <a:latin typeface="Cambria Math" panose="02040503050406030204" pitchFamily="18" charset="0"/>
                            </a:rPr>
                            <m:t> /</m:t>
                          </m:r>
                          <m:r>
                            <a:rPr lang="en-US" b="0" i="1" smtClean="0">
                              <a:latin typeface="Cambria Math" panose="02040503050406030204" pitchFamily="18" charset="0"/>
                            </a:rPr>
                            <m:t>𝑠h𝑎𝑟𝑒</m:t>
                          </m:r>
                          <m:r>
                            <a:rPr lang="en-US" b="0" i="1" smtClean="0">
                              <a:latin typeface="Cambria Math" panose="02040503050406030204" pitchFamily="18" charset="0"/>
                            </a:rPr>
                            <m:t> (</m:t>
                          </m:r>
                          <m:r>
                            <a:rPr lang="en-US" b="0" i="1" smtClean="0">
                              <a:latin typeface="Cambria Math" panose="02040503050406030204" pitchFamily="18" charset="0"/>
                            </a:rPr>
                            <m:t>𝐸𝑃𝑆</m:t>
                          </m:r>
                        </m:den>
                      </m:f>
                      <m:r>
                        <a:rPr lang="en-US" b="0" i="1" smtClean="0">
                          <a:latin typeface="Cambria Math" panose="02040503050406030204" pitchFamily="18" charset="0"/>
                        </a:rPr>
                        <m:t>)</m:t>
                      </m:r>
                    </m:oMath>
                  </m:oMathPara>
                </a14:m>
                <a:endParaRPr lang="en-US" i="1" dirty="0">
                  <a:latin typeface="Times New Roman" pitchFamily="18" charset="0"/>
                </a:endParaRPr>
              </a:p>
              <a:p>
                <a:pPr marL="9144" indent="0">
                  <a:buNone/>
                </a:pPr>
                <a:r>
                  <a:rPr lang="en-US" altLang="en-US" dirty="0">
                    <a:latin typeface="Times New Roman" pitchFamily="18" charset="0"/>
                    <a:cs typeface="Times New Roman" pitchFamily="18" charset="0"/>
                  </a:rPr>
                  <a:t>This is a measure of  the percentage of earnings distributed in the form of cash dividends (i.e. </a:t>
                </a:r>
                <a:r>
                  <a:rPr lang="en-US" dirty="0">
                    <a:latin typeface="Times New Roman" pitchFamily="18" charset="0"/>
                    <a:cs typeface="Times New Roman" pitchFamily="18" charset="0"/>
                  </a:rPr>
                  <a:t>the proportion of current earnings per common share being paid out in dividends</a:t>
                </a:r>
                <a:r>
                  <a:rPr lang="en-US" dirty="0"/>
                  <a:t>:</a:t>
                </a:r>
              </a:p>
              <a:p>
                <a:pPr marL="9144" indent="0">
                  <a:buNone/>
                </a:pPr>
                <a14:m>
                  <m:oMathPara xmlns:m="http://schemas.openxmlformats.org/officeDocument/2006/math">
                    <m:oMathParaPr>
                      <m:jc m:val="centerGroup"/>
                    </m:oMathParaPr>
                    <m:oMath xmlns:m="http://schemas.openxmlformats.org/officeDocument/2006/math">
                      <m:r>
                        <a:rPr lang="en-US" b="1" i="1">
                          <a:solidFill>
                            <a:srgbClr val="FF0000"/>
                          </a:solidFill>
                          <a:latin typeface="Cambria Math"/>
                        </a:rPr>
                        <m:t>𝑫𝒊𝒗𝒊𝒅𝒆𝒏𝒅𝒔</m:t>
                      </m:r>
                      <m:r>
                        <a:rPr lang="en-US" b="1" i="1">
                          <a:solidFill>
                            <a:srgbClr val="FF0000"/>
                          </a:solidFill>
                          <a:latin typeface="Cambria Math"/>
                        </a:rPr>
                        <m:t> </m:t>
                      </m:r>
                      <m:r>
                        <a:rPr lang="en-US" b="1" i="1" smtClean="0">
                          <a:solidFill>
                            <a:srgbClr val="FF0000"/>
                          </a:solidFill>
                          <a:latin typeface="Cambria Math" panose="02040503050406030204" pitchFamily="18" charset="0"/>
                        </a:rPr>
                        <m:t>𝒚𝒊𝒆𝒍𝒅</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𝑹𝒂𝒕𝒊𝒐</m:t>
                      </m:r>
                      <m:r>
                        <a:rPr lang="en-US" b="1" i="1" smtClean="0">
                          <a:solidFill>
                            <a:srgbClr val="FF0000"/>
                          </a:solidFill>
                          <a:latin typeface="Cambria Math" panose="02040503050406030204" pitchFamily="18" charset="0"/>
                        </a:rPr>
                        <m:t> </m:t>
                      </m:r>
                      <m:r>
                        <m:rPr>
                          <m:nor/>
                        </m:rPr>
                        <a:rPr lang="en-US" i="1">
                          <a:latin typeface="Times New Roman" pitchFamily="18" charset="0"/>
                          <a:cs typeface="Times New Roman" pitchFamily="18" charset="0"/>
                        </a:rPr>
                        <m:t> =</m:t>
                      </m:r>
                      <m:r>
                        <a:rPr lang="en-US" i="1" smtClean="0">
                          <a:latin typeface="Cambria Math"/>
                        </a:rPr>
                        <m:t> </m:t>
                      </m:r>
                      <m:f>
                        <m:fPr>
                          <m:ctrlPr>
                            <a:rPr lang="en-US" i="1">
                              <a:latin typeface="Cambria Math" panose="02040503050406030204" pitchFamily="18" charset="0"/>
                            </a:rPr>
                          </m:ctrlPr>
                        </m:fPr>
                        <m:num>
                          <m:r>
                            <m:rPr>
                              <m:nor/>
                            </m:rPr>
                            <a:rPr lang="en-US" i="1">
                              <a:latin typeface="Times New Roman" pitchFamily="18" charset="0"/>
                              <a:cs typeface="Times New Roman" pitchFamily="18" charset="0"/>
                            </a:rPr>
                            <m:t>Dividends</m:t>
                          </m:r>
                          <m:r>
                            <m:rPr>
                              <m:nor/>
                            </m:rPr>
                            <a:rPr lang="en-US" i="1">
                              <a:latin typeface="Times New Roman" pitchFamily="18" charset="0"/>
                              <a:cs typeface="Times New Roman" pitchFamily="18" charset="0"/>
                            </a:rPr>
                            <m:t> /</m:t>
                          </m:r>
                          <m:r>
                            <m:rPr>
                              <m:nor/>
                            </m:rPr>
                            <a:rPr lang="en-US" i="1">
                              <a:latin typeface="Times New Roman" pitchFamily="18" charset="0"/>
                              <a:cs typeface="Times New Roman" pitchFamily="18" charset="0"/>
                            </a:rPr>
                            <m:t>share</m:t>
                          </m:r>
                          <m:r>
                            <m:rPr>
                              <m:nor/>
                            </m:rPr>
                            <a:rPr lang="en-US" i="1">
                              <a:latin typeface="Times New Roman" pitchFamily="18" charset="0"/>
                              <a:cs typeface="Times New Roman" pitchFamily="18" charset="0"/>
                            </a:rPr>
                            <m:t> </m:t>
                          </m:r>
                        </m:num>
                        <m:den>
                          <m:r>
                            <a:rPr lang="en-US" b="0" i="1" smtClean="0">
                              <a:latin typeface="Cambria Math" panose="02040503050406030204" pitchFamily="18" charset="0"/>
                              <a:cs typeface="Times New Roman" pitchFamily="18" charset="0"/>
                            </a:rPr>
                            <m:t>𝑀𝑎𝑟𝑘𝑒𝑡</m:t>
                          </m:r>
                          <m:r>
                            <a:rPr lang="en-US" b="0" i="1" smtClean="0">
                              <a:latin typeface="Cambria Math" panose="02040503050406030204" pitchFamily="18" charset="0"/>
                              <a:cs typeface="Times New Roman" pitchFamily="18" charset="0"/>
                            </a:rPr>
                            <m:t> </m:t>
                          </m:r>
                          <m:r>
                            <a:rPr lang="en-US" b="0" i="1" smtClean="0">
                              <a:latin typeface="Cambria Math" panose="02040503050406030204" pitchFamily="18" charset="0"/>
                              <a:cs typeface="Times New Roman" pitchFamily="18" charset="0"/>
                            </a:rPr>
                            <m:t>𝑃𝑟𝑖𝑐𝑒</m:t>
                          </m:r>
                          <m:r>
                            <a:rPr lang="en-US" b="0" i="1" smtClean="0">
                              <a:latin typeface="Cambria Math" panose="02040503050406030204" pitchFamily="18" charset="0"/>
                              <a:cs typeface="Times New Roman" pitchFamily="18" charset="0"/>
                            </a:rPr>
                            <m:t> </m:t>
                          </m:r>
                          <m:r>
                            <a:rPr lang="en-US" b="0" i="1" smtClean="0">
                              <a:latin typeface="Cambria Math" panose="02040503050406030204" pitchFamily="18" charset="0"/>
                              <a:cs typeface="Times New Roman" pitchFamily="18" charset="0"/>
                            </a:rPr>
                            <m:t>𝑃𝑒𝑟</m:t>
                          </m:r>
                          <m:r>
                            <a:rPr lang="en-US" b="0" i="1" smtClean="0">
                              <a:latin typeface="Cambria Math" panose="02040503050406030204" pitchFamily="18" charset="0"/>
                              <a:cs typeface="Times New Roman" pitchFamily="18" charset="0"/>
                            </a:rPr>
                            <m:t> </m:t>
                          </m:r>
                          <m:r>
                            <a:rPr lang="en-US" b="0" i="1" smtClean="0">
                              <a:latin typeface="Cambria Math" panose="02040503050406030204" pitchFamily="18" charset="0"/>
                              <a:cs typeface="Times New Roman" pitchFamily="18" charset="0"/>
                            </a:rPr>
                            <m:t>𝑆h𝑎𝑟𝑒</m:t>
                          </m:r>
                        </m:den>
                      </m:f>
                    </m:oMath>
                  </m:oMathPara>
                </a14:m>
                <a:endParaRPr lang="en-US" i="1" dirty="0">
                  <a:latin typeface="Times New Roman" pitchFamily="18" charset="0"/>
                </a:endParaRPr>
              </a:p>
              <a:p>
                <a:pPr marL="9144" indent="0">
                  <a:buNone/>
                </a:pPr>
                <a:r>
                  <a:rPr lang="en-US" dirty="0"/>
                  <a:t>Measures the percentage of return through dividends when compared to the price paid for the stock. A high yield is attractive to investors who are after dividends rather than long-term capital appreciation.</a:t>
                </a:r>
                <a:endParaRPr lang="en-US" altLang="en-US" dirty="0">
                  <a:solidFill>
                    <a:srgbClr val="000000"/>
                  </a:solidFill>
                  <a:latin typeface="Comic Sans MS" pitchFamily="66"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980728"/>
                <a:ext cx="8375904" cy="6768752"/>
              </a:xfrm>
              <a:blipFill>
                <a:blip r:embed="rId3"/>
                <a:stretch>
                  <a:fillRect l="-582" r="-582"/>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dirty="0"/>
              <a:t>Copyright © 2013 CFA Institute</a:t>
            </a:r>
          </a:p>
        </p:txBody>
      </p:sp>
      <p:sp>
        <p:nvSpPr>
          <p:cNvPr id="5" name="Slide Number Placeholder 4"/>
          <p:cNvSpPr>
            <a:spLocks noGrp="1"/>
          </p:cNvSpPr>
          <p:nvPr>
            <p:ph type="sldNum" sz="quarter" idx="12"/>
          </p:nvPr>
        </p:nvSpPr>
        <p:spPr/>
        <p:txBody>
          <a:bodyPr/>
          <a:lstStyle/>
          <a:p>
            <a:fld id="{4E4A4924-7CC3-4BF6-9C5C-A8E770D15754}" type="slidenum">
              <a:rPr lang="ar-EG" smtClean="0"/>
              <a:pPr/>
              <a:t>36</a:t>
            </a:fld>
            <a:endParaRPr lang="ar-EG"/>
          </a:p>
        </p:txBody>
      </p:sp>
    </p:spTree>
    <p:extLst>
      <p:ext uri="{BB962C8B-B14F-4D97-AF65-F5344CB8AC3E}">
        <p14:creationId xmlns:p14="http://schemas.microsoft.com/office/powerpoint/2010/main" val="7577018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5"/>
          <p:cNvSpPr>
            <a:spLocks noGrp="1" noChangeArrowheads="1"/>
          </p:cNvSpPr>
          <p:nvPr>
            <p:ph type="title"/>
          </p:nvPr>
        </p:nvSpPr>
        <p:spPr>
          <a:xfrm>
            <a:off x="585216" y="210312"/>
            <a:ext cx="7650843" cy="597315"/>
          </a:xfrm>
        </p:spPr>
        <p:txBody>
          <a:bodyPr>
            <a:normAutofit/>
          </a:bodyPr>
          <a:lstStyle/>
          <a:p>
            <a:r>
              <a:rPr lang="en-US" sz="2400" dirty="0"/>
              <a:t>Earnings per Share (EPS)</a:t>
            </a:r>
          </a:p>
        </p:txBody>
      </p:sp>
      <p:grpSp>
        <p:nvGrpSpPr>
          <p:cNvPr id="2" name="Group 15"/>
          <p:cNvGrpSpPr>
            <a:grpSpLocks/>
          </p:cNvGrpSpPr>
          <p:nvPr/>
        </p:nvGrpSpPr>
        <p:grpSpPr bwMode="auto">
          <a:xfrm>
            <a:off x="3093581" y="2814647"/>
            <a:ext cx="2906932" cy="809965"/>
            <a:chOff x="2336969" y="3239019"/>
            <a:chExt cx="2906933" cy="811036"/>
          </a:xfrm>
        </p:grpSpPr>
        <p:sp>
          <p:nvSpPr>
            <p:cNvPr id="24588" name="Rectangle 10"/>
            <p:cNvSpPr>
              <a:spLocks noChangeArrowheads="1"/>
            </p:cNvSpPr>
            <p:nvPr/>
          </p:nvSpPr>
          <p:spPr bwMode="auto">
            <a:xfrm>
              <a:off x="3138412" y="3239019"/>
              <a:ext cx="827151" cy="8110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$8,630</a:t>
              </a:r>
            </a:p>
            <a:p>
              <a:pPr>
                <a:lnSpc>
                  <a:spcPct val="120000"/>
                </a:lnSpc>
                <a:spcBef>
                  <a:spcPct val="20000"/>
                </a:spcBef>
              </a:pPr>
              <a:r>
                <a:rPr lang="en-US" b="1" dirty="0">
                  <a:latin typeface="+mn-lt"/>
                </a:rPr>
                <a:t> 1,178</a:t>
              </a:r>
            </a:p>
          </p:txBody>
        </p:sp>
        <p:sp>
          <p:nvSpPr>
            <p:cNvPr id="24589" name="Rectangle 11"/>
            <p:cNvSpPr>
              <a:spLocks noChangeArrowheads="1"/>
            </p:cNvSpPr>
            <p:nvPr/>
          </p:nvSpPr>
          <p:spPr bwMode="auto">
            <a:xfrm>
              <a:off x="2336969" y="3445893"/>
              <a:ext cx="298160" cy="367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24590" name="Rectangle 12"/>
            <p:cNvSpPr>
              <a:spLocks noChangeArrowheads="1"/>
            </p:cNvSpPr>
            <p:nvPr/>
          </p:nvSpPr>
          <p:spPr bwMode="auto">
            <a:xfrm>
              <a:off x="4179530" y="3457272"/>
              <a:ext cx="1064372" cy="367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squar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$7.33</a:t>
              </a:r>
            </a:p>
          </p:txBody>
        </p:sp>
        <p:sp>
          <p:nvSpPr>
            <p:cNvPr id="24591" name="Line 13"/>
            <p:cNvSpPr>
              <a:spLocks noChangeShapeType="1"/>
            </p:cNvSpPr>
            <p:nvPr/>
          </p:nvSpPr>
          <p:spPr bwMode="auto">
            <a:xfrm flipV="1">
              <a:off x="2924446" y="3640899"/>
              <a:ext cx="1091404"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22" name="Rectangle 11"/>
            <p:cNvSpPr>
              <a:spLocks noChangeArrowheads="1"/>
            </p:cNvSpPr>
            <p:nvPr/>
          </p:nvSpPr>
          <p:spPr bwMode="auto">
            <a:xfrm>
              <a:off x="2344721" y="3445894"/>
              <a:ext cx="298160" cy="367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grpSp>
      <p:sp>
        <p:nvSpPr>
          <p:cNvPr id="245774" name="Rectangle 14"/>
          <p:cNvSpPr>
            <a:spLocks noChangeArrowheads="1"/>
          </p:cNvSpPr>
          <p:nvPr/>
        </p:nvSpPr>
        <p:spPr bwMode="auto">
          <a:xfrm>
            <a:off x="827972" y="5062472"/>
            <a:ext cx="6816480" cy="643766"/>
          </a:xfrm>
          <a:prstGeom prst="rect">
            <a:avLst/>
          </a:prstGeom>
          <a:solidFill>
            <a:schemeClr val="accent1">
              <a:lumMod val="20000"/>
              <a:lumOff val="80000"/>
            </a:schemeClr>
          </a:solidFill>
          <a:ln w="28575" cmpd="thinThick">
            <a:solidFill>
              <a:schemeClr val="tx1"/>
            </a:solidFill>
            <a:miter lim="800000"/>
            <a:headEnd/>
            <a:tailEnd/>
          </a:ln>
          <a:effectLst>
            <a:outerShdw dist="71842" dir="2700000" algn="ctr" rotWithShape="0">
              <a:schemeClr val="tx1"/>
            </a:outerShdw>
          </a:effectLst>
        </p:spPr>
        <p:txBody>
          <a:bodyPr wrap="square" lIns="90488" tIns="44450" rIns="90488" bIns="44450">
            <a:spAutoFit/>
          </a:bodyPr>
          <a:lstStyle/>
          <a:p>
            <a:pPr algn="ctr" eaLnBrk="0" hangingPunct="0">
              <a:defRPr/>
            </a:pPr>
            <a:r>
              <a:rPr lang="en-US" b="1" dirty="0">
                <a:cs typeface="Arial" charset="0"/>
              </a:rPr>
              <a:t>Earnings per share is probably the single most widely reported financial ratio, and it is the only ratio required by GAAP</a:t>
            </a:r>
          </a:p>
        </p:txBody>
      </p:sp>
      <p:sp>
        <p:nvSpPr>
          <p:cNvPr id="34822" name="Text Box 17"/>
          <p:cNvSpPr txBox="1">
            <a:spLocks noChangeArrowheads="1"/>
          </p:cNvSpPr>
          <p:nvPr/>
        </p:nvSpPr>
        <p:spPr bwMode="auto">
          <a:xfrm>
            <a:off x="1390492" y="4072709"/>
            <a:ext cx="5606151" cy="646331"/>
          </a:xfrm>
          <a:prstGeom prst="rect">
            <a:avLst/>
          </a:prstGeom>
          <a:solidFill>
            <a:schemeClr val="accent3">
              <a:lumMod val="20000"/>
              <a:lumOff val="80000"/>
            </a:schemeClr>
          </a:solidFill>
          <a:ln w="76200" cmpd="tri">
            <a:solidFill>
              <a:schemeClr val="tx1"/>
            </a:solidFill>
            <a:miter lim="800000"/>
            <a:headEnd/>
            <a:tailEnd/>
          </a:ln>
        </p:spPr>
        <p:txBody>
          <a:bodyPr wrap="none">
            <a:spAutoFit/>
          </a:bodyPr>
          <a:lstStyle/>
          <a:p>
            <a:pPr algn="ctr">
              <a:defRPr/>
            </a:pPr>
            <a:r>
              <a:rPr lang="en-US" dirty="0">
                <a:cs typeface="Arial" charset="0"/>
              </a:rPr>
              <a:t>Average number of shares outstanding is reported on the </a:t>
            </a:r>
          </a:p>
          <a:p>
            <a:pPr algn="ctr">
              <a:defRPr/>
            </a:pPr>
            <a:r>
              <a:rPr lang="en-US" dirty="0">
                <a:cs typeface="Arial" charset="0"/>
              </a:rPr>
              <a:t>bottom of the income statement</a:t>
            </a:r>
          </a:p>
        </p:txBody>
      </p:sp>
      <p:grpSp>
        <p:nvGrpSpPr>
          <p:cNvPr id="24582" name="Group 3"/>
          <p:cNvGrpSpPr>
            <a:grpSpLocks/>
          </p:cNvGrpSpPr>
          <p:nvPr/>
        </p:nvGrpSpPr>
        <p:grpSpPr bwMode="auto">
          <a:xfrm>
            <a:off x="1536232" y="1668050"/>
            <a:ext cx="6324606" cy="698500"/>
            <a:chOff x="1149" y="1043"/>
            <a:chExt cx="3984" cy="440"/>
          </a:xfrm>
        </p:grpSpPr>
        <p:sp>
          <p:nvSpPr>
            <p:cNvPr id="24585" name="Rectangle 4"/>
            <p:cNvSpPr>
              <a:spLocks noChangeArrowheads="1"/>
            </p:cNvSpPr>
            <p:nvPr/>
          </p:nvSpPr>
          <p:spPr bwMode="auto">
            <a:xfrm>
              <a:off x="1430" y="1043"/>
              <a:ext cx="3703" cy="4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squar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Net Income     </a:t>
              </a:r>
            </a:p>
            <a:p>
              <a:r>
                <a:rPr lang="en-US" b="1" dirty="0">
                  <a:latin typeface="+mn-lt"/>
                </a:rPr>
                <a:t>             Weighted Average Number of Shares Outstanding </a:t>
              </a:r>
            </a:p>
          </p:txBody>
        </p:sp>
        <p:sp>
          <p:nvSpPr>
            <p:cNvPr id="24586" name="Rectangle 5"/>
            <p:cNvSpPr>
              <a:spLocks noChangeArrowheads="1"/>
            </p:cNvSpPr>
            <p:nvPr/>
          </p:nvSpPr>
          <p:spPr bwMode="auto">
            <a:xfrm>
              <a:off x="1149" y="1171"/>
              <a:ext cx="53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EPS    =</a:t>
              </a:r>
            </a:p>
          </p:txBody>
        </p:sp>
      </p:grpSp>
      <p:cxnSp>
        <p:nvCxnSpPr>
          <p:cNvPr id="27" name="Straight Connector 26"/>
          <p:cNvCxnSpPr>
            <a:endCxn id="24585" idx="3"/>
          </p:cNvCxnSpPr>
          <p:nvPr/>
        </p:nvCxnSpPr>
        <p:spPr>
          <a:xfrm flipV="1">
            <a:off x="2554895" y="2017300"/>
            <a:ext cx="5305943" cy="65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19" name="Rectangle 9"/>
          <p:cNvSpPr>
            <a:spLocks noChangeArrowheads="1"/>
          </p:cNvSpPr>
          <p:nvPr/>
        </p:nvSpPr>
        <p:spPr bwMode="auto">
          <a:xfrm>
            <a:off x="785313" y="856360"/>
            <a:ext cx="6901798" cy="643766"/>
          </a:xfrm>
          <a:prstGeom prst="rect">
            <a:avLst/>
          </a:prstGeom>
          <a:solidFill>
            <a:schemeClr val="accent2">
              <a:lumMod val="20000"/>
              <a:lumOff val="80000"/>
            </a:schemeClr>
          </a:solidFill>
          <a:ln w="28575" cmpd="thinThick">
            <a:solidFill>
              <a:schemeClr val="tx1"/>
            </a:solidFill>
            <a:miter lim="800000"/>
            <a:headEnd/>
            <a:tailEnd/>
          </a:ln>
          <a:effectLst>
            <a:outerShdw dist="107763" dir="2700000" algn="ctr" rotWithShape="0">
              <a:srgbClr val="000000"/>
            </a:outerShdw>
          </a:effectLst>
        </p:spPr>
        <p:txBody>
          <a:bodyPr wrap="square" lIns="90488" tIns="44450" rIns="90488" bIns="44450">
            <a:spAutoFit/>
          </a:bodyPr>
          <a:lstStyle/>
          <a:p>
            <a:pPr algn="ctr" eaLnBrk="0" hangingPunct="0">
              <a:defRPr/>
            </a:pPr>
            <a:r>
              <a:rPr lang="en-US" dirty="0"/>
              <a:t>The earnings per share ratio is a measure of return on investment that is based on the number of common shares outstanding. </a:t>
            </a:r>
            <a:endParaRPr lang="en-US" b="1" dirty="0">
              <a:solidFill>
                <a:srgbClr val="000000"/>
              </a:solidFill>
              <a:cs typeface="Arial" charset="0"/>
            </a:endParaRPr>
          </a:p>
        </p:txBody>
      </p:sp>
      <p:sp>
        <p:nvSpPr>
          <p:cNvPr id="23" name="Rectangle 5"/>
          <p:cNvSpPr>
            <a:spLocks noChangeArrowheads="1"/>
          </p:cNvSpPr>
          <p:nvPr/>
        </p:nvSpPr>
        <p:spPr bwMode="auto">
          <a:xfrm>
            <a:off x="1751068" y="2893732"/>
            <a:ext cx="1292226" cy="644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spTree>
    <p:extLst>
      <p:ext uri="{BB962C8B-B14F-4D97-AF65-F5344CB8AC3E}">
        <p14:creationId xmlns:p14="http://schemas.microsoft.com/office/powerpoint/2010/main" val="30495691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5" presetClass="entr" presetSubtype="10" fill="hold" grpId="0" nodeType="afterEffect">
                                  <p:stCondLst>
                                    <p:cond delay="0"/>
                                  </p:stCondLst>
                                  <p:childTnLst>
                                    <p:set>
                                      <p:cBhvr>
                                        <p:cTn id="10" dur="1" fill="hold">
                                          <p:stCondLst>
                                            <p:cond delay="0"/>
                                          </p:stCondLst>
                                        </p:cTn>
                                        <p:tgtEl>
                                          <p:spTgt spid="34822"/>
                                        </p:tgtEl>
                                        <p:attrNameLst>
                                          <p:attrName>style.visibility</p:attrName>
                                        </p:attrNameLst>
                                      </p:cBhvr>
                                      <p:to>
                                        <p:strVal val="visible"/>
                                      </p:to>
                                    </p:set>
                                    <p:animEffect transition="in" filter="checkerboard(across)">
                                      <p:cBhvr>
                                        <p:cTn id="11" dur="1000"/>
                                        <p:tgtEl>
                                          <p:spTgt spid="34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4"/>
          <p:cNvSpPr>
            <a:spLocks noGrp="1" noChangeArrowheads="1"/>
          </p:cNvSpPr>
          <p:nvPr>
            <p:ph type="title"/>
          </p:nvPr>
        </p:nvSpPr>
        <p:spPr>
          <a:xfrm>
            <a:off x="585216" y="210312"/>
            <a:ext cx="7650843" cy="530981"/>
          </a:xfrm>
        </p:spPr>
        <p:txBody>
          <a:bodyPr/>
          <a:lstStyle/>
          <a:p>
            <a:r>
              <a:rPr lang="en-US" sz="2400" dirty="0"/>
              <a:t>Price/Earnings (P/E) Ratio</a:t>
            </a:r>
          </a:p>
        </p:txBody>
      </p:sp>
      <p:grpSp>
        <p:nvGrpSpPr>
          <p:cNvPr id="38915" name="Group 3"/>
          <p:cNvGrpSpPr>
            <a:grpSpLocks/>
          </p:cNvGrpSpPr>
          <p:nvPr/>
        </p:nvGrpSpPr>
        <p:grpSpPr bwMode="auto">
          <a:xfrm>
            <a:off x="761207" y="2218422"/>
            <a:ext cx="5172075" cy="754063"/>
            <a:chOff x="902" y="923"/>
            <a:chExt cx="3258" cy="475"/>
          </a:xfrm>
        </p:grpSpPr>
        <p:sp>
          <p:nvSpPr>
            <p:cNvPr id="38924" name="Rectangle 4"/>
            <p:cNvSpPr>
              <a:spLocks noChangeArrowheads="1"/>
            </p:cNvSpPr>
            <p:nvPr/>
          </p:nvSpPr>
          <p:spPr bwMode="auto">
            <a:xfrm>
              <a:off x="902" y="1050"/>
              <a:ext cx="875"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P/E Ratio    =</a:t>
              </a:r>
            </a:p>
          </p:txBody>
        </p:sp>
        <p:sp>
          <p:nvSpPr>
            <p:cNvPr id="38925" name="Rectangle 5"/>
            <p:cNvSpPr>
              <a:spLocks noChangeArrowheads="1"/>
            </p:cNvSpPr>
            <p:nvPr/>
          </p:nvSpPr>
          <p:spPr bwMode="auto">
            <a:xfrm>
              <a:off x="2090" y="923"/>
              <a:ext cx="1980"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Current Market Price per Share</a:t>
              </a:r>
              <a:br>
                <a:rPr lang="en-US" b="1" dirty="0">
                  <a:latin typeface="+mn-lt"/>
                </a:rPr>
              </a:br>
              <a:r>
                <a:rPr lang="en-US" b="1" dirty="0">
                  <a:latin typeface="+mn-lt"/>
                </a:rPr>
                <a:t>Earnings per Share</a:t>
              </a:r>
            </a:p>
          </p:txBody>
        </p:sp>
        <p:sp>
          <p:nvSpPr>
            <p:cNvPr id="38926" name="Line 6"/>
            <p:cNvSpPr>
              <a:spLocks noChangeShapeType="1"/>
            </p:cNvSpPr>
            <p:nvPr/>
          </p:nvSpPr>
          <p:spPr bwMode="auto">
            <a:xfrm>
              <a:off x="2006" y="1194"/>
              <a:ext cx="2154"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 name="Group 7"/>
          <p:cNvGrpSpPr>
            <a:grpSpLocks/>
          </p:cNvGrpSpPr>
          <p:nvPr/>
        </p:nvGrpSpPr>
        <p:grpSpPr bwMode="auto">
          <a:xfrm>
            <a:off x="738982" y="3216668"/>
            <a:ext cx="5202238" cy="754063"/>
            <a:chOff x="828" y="1778"/>
            <a:chExt cx="3277" cy="475"/>
          </a:xfrm>
        </p:grpSpPr>
        <p:sp>
          <p:nvSpPr>
            <p:cNvPr id="38920" name="Rectangle 8"/>
            <p:cNvSpPr>
              <a:spLocks noChangeArrowheads="1"/>
            </p:cNvSpPr>
            <p:nvPr/>
          </p:nvSpPr>
          <p:spPr bwMode="auto">
            <a:xfrm>
              <a:off x="828" y="1805"/>
              <a:ext cx="881"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The Home</a:t>
              </a:r>
            </a:p>
            <a:p>
              <a:r>
                <a:rPr lang="en-US" b="1" dirty="0">
                  <a:latin typeface="+mn-lt"/>
                </a:rPr>
                <a:t>Depot 2017  </a:t>
              </a:r>
            </a:p>
          </p:txBody>
        </p:sp>
        <p:sp>
          <p:nvSpPr>
            <p:cNvPr id="38921" name="Rectangle 9"/>
            <p:cNvSpPr>
              <a:spLocks noChangeArrowheads="1"/>
            </p:cNvSpPr>
            <p:nvPr/>
          </p:nvSpPr>
          <p:spPr bwMode="auto">
            <a:xfrm>
              <a:off x="2305" y="1778"/>
              <a:ext cx="668"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$207.23*</a:t>
              </a:r>
            </a:p>
            <a:p>
              <a:pPr algn="ctr">
                <a:lnSpc>
                  <a:spcPct val="120000"/>
                </a:lnSpc>
              </a:pPr>
              <a:r>
                <a:rPr lang="en-US" b="1" dirty="0">
                  <a:latin typeface="+mn-lt"/>
                </a:rPr>
                <a:t>$7.33</a:t>
              </a:r>
            </a:p>
          </p:txBody>
        </p:sp>
        <p:sp>
          <p:nvSpPr>
            <p:cNvPr id="38922" name="Rectangle 10"/>
            <p:cNvSpPr>
              <a:spLocks noChangeArrowheads="1"/>
            </p:cNvSpPr>
            <p:nvPr/>
          </p:nvSpPr>
          <p:spPr bwMode="auto">
            <a:xfrm>
              <a:off x="3451" y="1892"/>
              <a:ext cx="654"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28.27</a:t>
              </a:r>
            </a:p>
          </p:txBody>
        </p:sp>
        <p:sp>
          <p:nvSpPr>
            <p:cNvPr id="38923" name="Line 11"/>
            <p:cNvSpPr>
              <a:spLocks noChangeShapeType="1"/>
            </p:cNvSpPr>
            <p:nvPr/>
          </p:nvSpPr>
          <p:spPr bwMode="auto">
            <a:xfrm flipV="1">
              <a:off x="1957" y="2016"/>
              <a:ext cx="1353" cy="5"/>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38918" name="Rectangle 13"/>
          <p:cNvSpPr>
            <a:spLocks noChangeArrowheads="1"/>
          </p:cNvSpPr>
          <p:nvPr/>
        </p:nvSpPr>
        <p:spPr bwMode="auto">
          <a:xfrm>
            <a:off x="4471426" y="3829289"/>
            <a:ext cx="3523093" cy="520655"/>
          </a:xfrm>
          <a:prstGeom prst="rect">
            <a:avLst/>
          </a:prstGeom>
          <a:solidFill>
            <a:srgbClr val="FFFFCC"/>
          </a:solidFill>
          <a:ln w="9525" cmpd="thinThick">
            <a:solidFill>
              <a:schemeClr val="tx1"/>
            </a:solidFill>
            <a:miter lim="800000"/>
            <a:headEnd/>
            <a:tailEnd/>
          </a:ln>
        </p:spPr>
        <p:txBody>
          <a:bodyPr wrap="squar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1400" dirty="0">
                <a:solidFill>
                  <a:srgbClr val="000000"/>
                </a:solidFill>
                <a:latin typeface="+mn-lt"/>
              </a:rPr>
              <a:t>* At the end of fiscal 2017, The Home Depot’s stock was trading at $207.23 per share.</a:t>
            </a: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16" name="Rectangle 13"/>
          <p:cNvSpPr>
            <a:spLocks noChangeArrowheads="1"/>
          </p:cNvSpPr>
          <p:nvPr/>
        </p:nvSpPr>
        <p:spPr bwMode="auto">
          <a:xfrm>
            <a:off x="2027238" y="3408754"/>
            <a:ext cx="2984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4" name="Rectangle 3"/>
          <p:cNvSpPr/>
          <p:nvPr/>
        </p:nvSpPr>
        <p:spPr>
          <a:xfrm>
            <a:off x="434898" y="4653063"/>
            <a:ext cx="7505323" cy="1754327"/>
          </a:xfrm>
          <a:prstGeom prst="rect">
            <a:avLst/>
          </a:prstGeom>
          <a:solidFill>
            <a:schemeClr val="accent1">
              <a:lumMod val="20000"/>
              <a:lumOff val="80000"/>
            </a:schemeClr>
          </a:solidFill>
          <a:ln>
            <a:solidFill>
              <a:schemeClr val="tx1"/>
            </a:solidFill>
          </a:ln>
        </p:spPr>
        <p:txBody>
          <a:bodyPr wrap="square">
            <a:spAutoFit/>
          </a:bodyPr>
          <a:lstStyle/>
          <a:p>
            <a:pPr algn="ctr">
              <a:spcBef>
                <a:spcPct val="0"/>
              </a:spcBef>
            </a:pPr>
            <a:r>
              <a:rPr lang="en-US" dirty="0"/>
              <a:t>The P/E ratio reflects the stock market’s assessment of a company’s future performance. A high ratio indicates that earnings are expected to grow rapidly. </a:t>
            </a:r>
          </a:p>
          <a:p>
            <a:pPr algn="ctr">
              <a:spcBef>
                <a:spcPct val="0"/>
              </a:spcBef>
            </a:pPr>
            <a:r>
              <a:rPr lang="en-US" dirty="0"/>
              <a:t>The P/E ratio for The Home Depot indicates that the market expects them to perform well in the future. This P/E ratio indicates that The Home Depot’s stock was selling at a price that was just over 28 times its earnings per share.</a:t>
            </a:r>
          </a:p>
        </p:txBody>
      </p:sp>
      <p:sp>
        <p:nvSpPr>
          <p:cNvPr id="19" name="Rectangle 14"/>
          <p:cNvSpPr>
            <a:spLocks noChangeArrowheads="1"/>
          </p:cNvSpPr>
          <p:nvPr/>
        </p:nvSpPr>
        <p:spPr bwMode="auto">
          <a:xfrm>
            <a:off x="660991" y="994842"/>
            <a:ext cx="7181849" cy="643766"/>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chemeClr val="tx1"/>
            </a:outerShdw>
          </a:effectLst>
        </p:spPr>
        <p:txBody>
          <a:bodyPr wrap="square" lIns="90488" tIns="44450" rIns="90488" bIns="44450">
            <a:spAutoFit/>
          </a:bodyPr>
          <a:lstStyle/>
          <a:p>
            <a:pPr algn="ctr">
              <a:defRPr/>
            </a:pPr>
            <a:r>
              <a:rPr lang="en-US" dirty="0"/>
              <a:t>This ratio measures the relationship between the current market price of a company’s stock and its earnings per share. </a:t>
            </a:r>
            <a:endParaRPr lang="en-US" dirty="0">
              <a:latin typeface="Arial" charset="0"/>
              <a:cs typeface="Arial" charset="0"/>
            </a:endParaRPr>
          </a:p>
        </p:txBody>
      </p:sp>
    </p:spTree>
    <p:extLst>
      <p:ext uri="{BB962C8B-B14F-4D97-AF65-F5344CB8AC3E}">
        <p14:creationId xmlns:p14="http://schemas.microsoft.com/office/powerpoint/2010/main" val="164159216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6"/>
          <p:cNvSpPr>
            <a:spLocks noGrp="1" noChangeArrowheads="1"/>
          </p:cNvSpPr>
          <p:nvPr>
            <p:ph type="title"/>
          </p:nvPr>
        </p:nvSpPr>
        <p:spPr>
          <a:xfrm>
            <a:off x="585216" y="210312"/>
            <a:ext cx="7650843" cy="530981"/>
          </a:xfrm>
        </p:spPr>
        <p:txBody>
          <a:bodyPr/>
          <a:lstStyle/>
          <a:p>
            <a:r>
              <a:rPr lang="en-US" sz="2400" dirty="0"/>
              <a:t>Dividend Yield Ratio</a:t>
            </a:r>
          </a:p>
        </p:txBody>
      </p:sp>
      <p:grpSp>
        <p:nvGrpSpPr>
          <p:cNvPr id="39939" name="Group 3"/>
          <p:cNvGrpSpPr>
            <a:grpSpLocks/>
          </p:cNvGrpSpPr>
          <p:nvPr/>
        </p:nvGrpSpPr>
        <p:grpSpPr bwMode="auto">
          <a:xfrm>
            <a:off x="1209068" y="1999341"/>
            <a:ext cx="4640264" cy="746125"/>
            <a:chOff x="1103" y="1057"/>
            <a:chExt cx="2923" cy="470"/>
          </a:xfrm>
        </p:grpSpPr>
        <p:sp>
          <p:nvSpPr>
            <p:cNvPr id="39948" name="Rectangle 4"/>
            <p:cNvSpPr>
              <a:spLocks noChangeArrowheads="1"/>
            </p:cNvSpPr>
            <p:nvPr/>
          </p:nvSpPr>
          <p:spPr bwMode="auto">
            <a:xfrm>
              <a:off x="1103" y="1106"/>
              <a:ext cx="761"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Dividend</a:t>
              </a:r>
            </a:p>
            <a:p>
              <a:pPr algn="ctr"/>
              <a:r>
                <a:rPr lang="en-US" b="1" dirty="0">
                  <a:latin typeface="+mn-lt"/>
                </a:rPr>
                <a:t>Yield Ratio</a:t>
              </a:r>
            </a:p>
          </p:txBody>
        </p:sp>
        <p:sp>
          <p:nvSpPr>
            <p:cNvPr id="39949" name="Rectangle 5"/>
            <p:cNvSpPr>
              <a:spLocks noChangeArrowheads="1"/>
            </p:cNvSpPr>
            <p:nvPr/>
          </p:nvSpPr>
          <p:spPr bwMode="auto">
            <a:xfrm>
              <a:off x="2294" y="1057"/>
              <a:ext cx="1628" cy="4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      Dividends per Share     </a:t>
              </a:r>
            </a:p>
            <a:p>
              <a:pPr>
                <a:lnSpc>
                  <a:spcPct val="120000"/>
                </a:lnSpc>
              </a:pPr>
              <a:r>
                <a:rPr lang="en-US" b="1" dirty="0">
                  <a:latin typeface="+mn-lt"/>
                </a:rPr>
                <a:t>    Market Price per Share</a:t>
              </a:r>
            </a:p>
          </p:txBody>
        </p:sp>
        <p:sp>
          <p:nvSpPr>
            <p:cNvPr id="39950" name="Rectangle 6"/>
            <p:cNvSpPr>
              <a:spLocks noChangeArrowheads="1"/>
            </p:cNvSpPr>
            <p:nvPr/>
          </p:nvSpPr>
          <p:spPr bwMode="auto">
            <a:xfrm>
              <a:off x="2004" y="1185"/>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a:t>
              </a:r>
            </a:p>
          </p:txBody>
        </p:sp>
        <p:sp>
          <p:nvSpPr>
            <p:cNvPr id="39951" name="Line 7"/>
            <p:cNvSpPr>
              <a:spLocks noChangeShapeType="1"/>
            </p:cNvSpPr>
            <p:nvPr/>
          </p:nvSpPr>
          <p:spPr bwMode="auto">
            <a:xfrm>
              <a:off x="2294" y="1310"/>
              <a:ext cx="1732"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 name="Group 8"/>
          <p:cNvGrpSpPr>
            <a:grpSpLocks/>
          </p:cNvGrpSpPr>
          <p:nvPr/>
        </p:nvGrpSpPr>
        <p:grpSpPr bwMode="auto">
          <a:xfrm>
            <a:off x="1190631" y="3021690"/>
            <a:ext cx="5972180" cy="754063"/>
            <a:chOff x="854" y="1777"/>
            <a:chExt cx="3762" cy="475"/>
          </a:xfrm>
        </p:grpSpPr>
        <p:sp>
          <p:nvSpPr>
            <p:cNvPr id="39943" name="Rectangle 9"/>
            <p:cNvSpPr>
              <a:spLocks noChangeArrowheads="1"/>
            </p:cNvSpPr>
            <p:nvPr/>
          </p:nvSpPr>
          <p:spPr bwMode="auto">
            <a:xfrm>
              <a:off x="854" y="1817"/>
              <a:ext cx="814"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b="1" dirty="0">
                  <a:latin typeface="+mn-lt"/>
                </a:rPr>
                <a:t>The Home</a:t>
              </a:r>
            </a:p>
            <a:p>
              <a:pPr algn="ctr"/>
              <a:r>
                <a:rPr lang="en-US" b="1" dirty="0">
                  <a:latin typeface="+mn-lt"/>
                </a:rPr>
                <a:t>Depot 2017</a:t>
              </a:r>
            </a:p>
          </p:txBody>
        </p:sp>
        <p:sp>
          <p:nvSpPr>
            <p:cNvPr id="39944" name="Rectangle 10"/>
            <p:cNvSpPr>
              <a:spLocks noChangeArrowheads="1"/>
            </p:cNvSpPr>
            <p:nvPr/>
          </p:nvSpPr>
          <p:spPr bwMode="auto">
            <a:xfrm>
              <a:off x="2648" y="1777"/>
              <a:ext cx="596" cy="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US" b="1" dirty="0">
                  <a:latin typeface="+mn-lt"/>
                </a:rPr>
                <a:t>$3.56</a:t>
              </a:r>
              <a:br>
                <a:rPr lang="en-US" b="1" dirty="0">
                  <a:latin typeface="+mn-lt"/>
                </a:rPr>
              </a:br>
              <a:r>
                <a:rPr lang="en-US" b="1" dirty="0">
                  <a:latin typeface="+mn-lt"/>
                </a:rPr>
                <a:t>$207.23</a:t>
              </a:r>
            </a:p>
          </p:txBody>
        </p:sp>
        <p:sp>
          <p:nvSpPr>
            <p:cNvPr id="39945" name="Rectangle 11"/>
            <p:cNvSpPr>
              <a:spLocks noChangeArrowheads="1"/>
            </p:cNvSpPr>
            <p:nvPr/>
          </p:nvSpPr>
          <p:spPr bwMode="auto">
            <a:xfrm>
              <a:off x="1780" y="1858"/>
              <a:ext cx="188" cy="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pPr>
              <a:r>
                <a:rPr lang="en-US" b="1" dirty="0">
                  <a:latin typeface="+mn-lt"/>
                </a:rPr>
                <a:t>=</a:t>
              </a:r>
            </a:p>
          </p:txBody>
        </p:sp>
        <p:sp>
          <p:nvSpPr>
            <p:cNvPr id="39946" name="Rectangle 12"/>
            <p:cNvSpPr>
              <a:spLocks noChangeArrowheads="1"/>
            </p:cNvSpPr>
            <p:nvPr/>
          </p:nvSpPr>
          <p:spPr bwMode="auto">
            <a:xfrm>
              <a:off x="3896" y="1867"/>
              <a:ext cx="720"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     1.72%</a:t>
              </a:r>
            </a:p>
          </p:txBody>
        </p:sp>
        <p:sp>
          <p:nvSpPr>
            <p:cNvPr id="39947" name="Line 13"/>
            <p:cNvSpPr>
              <a:spLocks noChangeShapeType="1"/>
            </p:cNvSpPr>
            <p:nvPr/>
          </p:nvSpPr>
          <p:spPr bwMode="auto">
            <a:xfrm>
              <a:off x="2103" y="2038"/>
              <a:ext cx="1649"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266254" name="Rectangle 14"/>
          <p:cNvSpPr>
            <a:spLocks noChangeArrowheads="1"/>
          </p:cNvSpPr>
          <p:nvPr/>
        </p:nvSpPr>
        <p:spPr bwMode="auto">
          <a:xfrm>
            <a:off x="801081" y="857733"/>
            <a:ext cx="7181849" cy="643766"/>
          </a:xfrm>
          <a:prstGeom prst="rect">
            <a:avLst/>
          </a:prstGeom>
          <a:solidFill>
            <a:schemeClr val="accent2">
              <a:lumMod val="20000"/>
              <a:lumOff val="80000"/>
            </a:schemeClr>
          </a:solidFill>
          <a:ln w="28575" cmpd="thinThick">
            <a:solidFill>
              <a:schemeClr val="tx1"/>
            </a:solidFill>
            <a:miter lim="800000"/>
            <a:headEnd/>
            <a:tailEnd/>
          </a:ln>
          <a:effectLst>
            <a:outerShdw dist="71842" dir="2700000" algn="ctr" rotWithShape="0">
              <a:schemeClr val="tx1"/>
            </a:outerShdw>
          </a:effectLst>
        </p:spPr>
        <p:txBody>
          <a:bodyPr wrap="square" lIns="90488" tIns="44450" rIns="90488" bIns="44450">
            <a:spAutoFit/>
          </a:bodyPr>
          <a:lstStyle/>
          <a:p>
            <a:pPr algn="ctr" eaLnBrk="0" hangingPunct="0">
              <a:defRPr/>
            </a:pPr>
            <a:r>
              <a:rPr lang="en-US" dirty="0">
                <a:cs typeface="Arial" charset="0"/>
              </a:rPr>
              <a:t>This ratio reflects the return on investment solely due to the dividends a company pays.</a:t>
            </a:r>
          </a:p>
        </p:txBody>
      </p:sp>
      <p:sp>
        <p:nvSpPr>
          <p:cNvPr id="2" name="Footer Placeholder 1"/>
          <p:cNvSpPr>
            <a:spLocks noGrp="1"/>
          </p:cNvSpPr>
          <p:nvPr>
            <p:ph type="ftr" sz="quarter" idx="3"/>
          </p:nvPr>
        </p:nvSpPr>
        <p:spPr/>
        <p:txBody>
          <a:bodyPr/>
          <a:lstStyle/>
          <a:p>
            <a:r>
              <a:rPr lang="en-US">
                <a:solidFill>
                  <a:prstClr val="black"/>
                </a:solidFill>
              </a:rPr>
              <a:t>Copyright ©2020 McGraw-Hill Education. All rights reserved. No reproduction or distribution without the prior written consent of McGraw-Hill Education.</a:t>
            </a:r>
            <a:endParaRPr lang="en-US" dirty="0">
              <a:solidFill>
                <a:prstClr val="black"/>
              </a:solidFill>
            </a:endParaRPr>
          </a:p>
        </p:txBody>
      </p:sp>
      <p:sp>
        <p:nvSpPr>
          <p:cNvPr id="4" name="Rectangle 3"/>
          <p:cNvSpPr/>
          <p:nvPr/>
        </p:nvSpPr>
        <p:spPr>
          <a:xfrm>
            <a:off x="585216" y="4566326"/>
            <a:ext cx="7097974" cy="1200329"/>
          </a:xfrm>
          <a:prstGeom prst="rect">
            <a:avLst/>
          </a:prstGeom>
          <a:solidFill>
            <a:schemeClr val="accent1">
              <a:lumMod val="20000"/>
              <a:lumOff val="80000"/>
            </a:schemeClr>
          </a:solidFill>
          <a:ln>
            <a:solidFill>
              <a:schemeClr val="tx1"/>
            </a:solidFill>
          </a:ln>
        </p:spPr>
        <p:txBody>
          <a:bodyPr wrap="square">
            <a:spAutoFit/>
          </a:bodyPr>
          <a:lstStyle/>
          <a:p>
            <a:pPr algn="ctr"/>
            <a:r>
              <a:rPr lang="en-US" dirty="0"/>
              <a:t>Investors are willing to accept low dividend yields if they expect that the price of a stock will increase while they own it. Stocks with high dividend yields often appeal to retired investors who need current income rather than future growth potential. </a:t>
            </a:r>
          </a:p>
        </p:txBody>
      </p:sp>
    </p:spTree>
    <p:extLst>
      <p:ext uri="{BB962C8B-B14F-4D97-AF65-F5344CB8AC3E}">
        <p14:creationId xmlns:p14="http://schemas.microsoft.com/office/powerpoint/2010/main" val="314970039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5"/>
          <p:cNvSpPr>
            <a:spLocks noGrp="1" noChangeArrowheads="1"/>
          </p:cNvSpPr>
          <p:nvPr>
            <p:ph type="title"/>
          </p:nvPr>
        </p:nvSpPr>
        <p:spPr>
          <a:xfrm>
            <a:off x="585216" y="210312"/>
            <a:ext cx="7650843" cy="585293"/>
          </a:xfrm>
        </p:spPr>
        <p:txBody>
          <a:bodyPr>
            <a:normAutofit/>
          </a:bodyPr>
          <a:lstStyle/>
          <a:p>
            <a:r>
              <a:rPr lang="en-US" sz="2400" dirty="0"/>
              <a:t>Quality of Income</a:t>
            </a:r>
          </a:p>
        </p:txBody>
      </p:sp>
      <p:sp>
        <p:nvSpPr>
          <p:cNvPr id="247822" name="Rectangle 14"/>
          <p:cNvSpPr>
            <a:spLocks noChangeArrowheads="1"/>
          </p:cNvSpPr>
          <p:nvPr/>
        </p:nvSpPr>
        <p:spPr bwMode="auto">
          <a:xfrm>
            <a:off x="507715" y="4372225"/>
            <a:ext cx="3230376" cy="1474763"/>
          </a:xfrm>
          <a:prstGeom prst="rect">
            <a:avLst/>
          </a:prstGeom>
          <a:solidFill>
            <a:schemeClr val="accent1">
              <a:lumMod val="20000"/>
              <a:lumOff val="80000"/>
            </a:schemeClr>
          </a:solidFill>
          <a:ln w="28575" cmpd="thinThick">
            <a:solidFill>
              <a:schemeClr val="tx1"/>
            </a:solidFill>
            <a:miter lim="800000"/>
            <a:headEnd/>
            <a:tailEnd/>
          </a:ln>
        </p:spPr>
        <p:txBody>
          <a:bodyPr wrap="squar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Arial" panose="020B0604020202020204" pitchFamily="34" charset="0"/>
              </a:rPr>
              <a:t>A ratio higher than 1 indicates high-quality income because each dollar of income is supported by one or more dollars of cash flows.</a:t>
            </a:r>
          </a:p>
        </p:txBody>
      </p:sp>
      <p:grpSp>
        <p:nvGrpSpPr>
          <p:cNvPr id="25604" name="Group 16"/>
          <p:cNvGrpSpPr>
            <a:grpSpLocks/>
          </p:cNvGrpSpPr>
          <p:nvPr/>
        </p:nvGrpSpPr>
        <p:grpSpPr bwMode="auto">
          <a:xfrm>
            <a:off x="773439" y="734783"/>
            <a:ext cx="7273930" cy="782638"/>
            <a:chOff x="838" y="1105"/>
            <a:chExt cx="4582" cy="493"/>
          </a:xfrm>
        </p:grpSpPr>
        <p:sp>
          <p:nvSpPr>
            <p:cNvPr id="25614" name="Rectangle 17"/>
            <p:cNvSpPr>
              <a:spLocks noChangeArrowheads="1"/>
            </p:cNvSpPr>
            <p:nvPr/>
          </p:nvSpPr>
          <p:spPr bwMode="auto">
            <a:xfrm>
              <a:off x="838" y="1166"/>
              <a:ext cx="745" cy="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Quality of </a:t>
              </a:r>
              <a:b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b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Income</a:t>
              </a:r>
            </a:p>
          </p:txBody>
        </p:sp>
        <p:sp>
          <p:nvSpPr>
            <p:cNvPr id="25615" name="Rectangle 18"/>
            <p:cNvSpPr>
              <a:spLocks noChangeArrowheads="1"/>
            </p:cNvSpPr>
            <p:nvPr/>
          </p:nvSpPr>
          <p:spPr bwMode="auto">
            <a:xfrm>
              <a:off x="1804" y="1105"/>
              <a:ext cx="3616" cy="4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auto" latinLnBrk="0" hangingPunct="0">
                <a:lnSpc>
                  <a:spcPct val="12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Cash Flows from Operating Activities    </a:t>
              </a:r>
            </a:p>
            <a:p>
              <a:pPr marL="0" marR="0" lvl="0" indent="0" algn="l" defTabSz="914400" rtl="0" eaLnBrk="0" fontAlgn="auto" latinLnBrk="0" hangingPunct="0">
                <a:lnSpc>
                  <a:spcPct val="120000"/>
                </a:lnSpc>
                <a:spcBef>
                  <a:spcPct val="1000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Net Income</a:t>
              </a:r>
            </a:p>
          </p:txBody>
        </p:sp>
        <p:sp>
          <p:nvSpPr>
            <p:cNvPr id="25616" name="Rectangle 19"/>
            <p:cNvSpPr>
              <a:spLocks noChangeArrowheads="1"/>
            </p:cNvSpPr>
            <p:nvPr/>
          </p:nvSpPr>
          <p:spPr bwMode="auto">
            <a:xfrm>
              <a:off x="1547" y="1283"/>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p:txBody>
        </p:sp>
        <p:sp>
          <p:nvSpPr>
            <p:cNvPr id="25617" name="Line 20"/>
            <p:cNvSpPr>
              <a:spLocks noChangeShapeType="1"/>
            </p:cNvSpPr>
            <p:nvPr/>
          </p:nvSpPr>
          <p:spPr bwMode="auto">
            <a:xfrm>
              <a:off x="1791" y="1385"/>
              <a:ext cx="2292" cy="3"/>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 name="Group 20"/>
          <p:cNvGrpSpPr>
            <a:grpSpLocks/>
          </p:cNvGrpSpPr>
          <p:nvPr/>
        </p:nvGrpSpPr>
        <p:grpSpPr bwMode="auto">
          <a:xfrm>
            <a:off x="232891" y="2211546"/>
            <a:ext cx="3886200" cy="1752600"/>
            <a:chOff x="76200" y="2743200"/>
            <a:chExt cx="3886200" cy="1752600"/>
          </a:xfrm>
        </p:grpSpPr>
        <p:sp>
          <p:nvSpPr>
            <p:cNvPr id="20" name="Rectangle 19"/>
            <p:cNvSpPr/>
            <p:nvPr/>
          </p:nvSpPr>
          <p:spPr>
            <a:xfrm>
              <a:off x="381000" y="2743200"/>
              <a:ext cx="3200400" cy="17526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610" name="Rectangle 10"/>
            <p:cNvSpPr>
              <a:spLocks noChangeArrowheads="1"/>
            </p:cNvSpPr>
            <p:nvPr/>
          </p:nvSpPr>
          <p:spPr bwMode="auto">
            <a:xfrm>
              <a:off x="762000" y="3482975"/>
              <a:ext cx="1473200" cy="7822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auto" latinLnBrk="0" hangingPunct="0">
                <a:lnSpc>
                  <a:spcPct val="12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$12,031          </a:t>
              </a:r>
            </a:p>
            <a:p>
              <a:pPr marL="0" marR="0" lvl="0" indent="0" algn="l" defTabSz="914400" rtl="0" eaLnBrk="0" fontAlgn="auto" latinLnBrk="0" hangingPunct="0">
                <a:lnSpc>
                  <a:spcPct val="120000"/>
                </a:lnSpc>
                <a:spcBef>
                  <a:spcPct val="1000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$8,630</a:t>
              </a:r>
            </a:p>
          </p:txBody>
        </p:sp>
        <p:sp>
          <p:nvSpPr>
            <p:cNvPr id="25611" name="Line 12"/>
            <p:cNvSpPr>
              <a:spLocks noChangeShapeType="1"/>
            </p:cNvSpPr>
            <p:nvPr/>
          </p:nvSpPr>
          <p:spPr bwMode="auto">
            <a:xfrm>
              <a:off x="757709" y="3919931"/>
              <a:ext cx="977900" cy="0"/>
            </a:xfrm>
            <a:prstGeom prst="line">
              <a:avLst/>
            </a:prstGeom>
            <a:noFill/>
            <a:ln w="25399">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612" name="Rectangle 13"/>
            <p:cNvSpPr>
              <a:spLocks noChangeArrowheads="1"/>
            </p:cNvSpPr>
            <p:nvPr/>
          </p:nvSpPr>
          <p:spPr bwMode="auto">
            <a:xfrm>
              <a:off x="1905320" y="3710816"/>
              <a:ext cx="814715" cy="3667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699">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1.39</a:t>
              </a:r>
            </a:p>
          </p:txBody>
        </p:sp>
        <p:sp>
          <p:nvSpPr>
            <p:cNvPr id="25613" name="TextBox 18"/>
            <p:cNvSpPr txBox="1">
              <a:spLocks noChangeArrowheads="1"/>
            </p:cNvSpPr>
            <p:nvPr/>
          </p:nvSpPr>
          <p:spPr bwMode="auto">
            <a:xfrm>
              <a:off x="76200" y="2743200"/>
              <a:ext cx="388620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The Home Depot 2017:</a:t>
              </a:r>
            </a:p>
          </p:txBody>
        </p:sp>
      </p:grpSp>
      <p:sp>
        <p:nvSpPr>
          <p:cNvPr id="5" name="Footer Placeholder 4"/>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a:ea typeface="+mn-ea"/>
                <a:cs typeface="+mn-cs"/>
              </a:rPr>
              <a:t>Copyright ©2020 McGraw-Hill Education. All rights reserved. No reproduction or distribution without the prior written consent of McGraw-Hill Education.</a:t>
            </a:r>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 name="Rounded Rectangle 20"/>
          <p:cNvSpPr/>
          <p:nvPr/>
        </p:nvSpPr>
        <p:spPr>
          <a:xfrm>
            <a:off x="3859190" y="1578110"/>
            <a:ext cx="4234698" cy="4869951"/>
          </a:xfrm>
          <a:prstGeom prst="roundRect">
            <a:avLst>
              <a:gd name="adj" fmla="val 0"/>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p:cNvSpPr txBox="1"/>
          <p:nvPr/>
        </p:nvSpPr>
        <p:spPr>
          <a:xfrm>
            <a:off x="3859179" y="2009773"/>
            <a:ext cx="3415322" cy="37548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Net Earnings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Reconciliation of Net Earnings to Net Cash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Provided by Operating Activities: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Depreciation and Amortization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Stock-Based Compensation Expense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Changes in Assets and Liabilities, net of the  </a:t>
            </a:r>
            <a:br>
              <a:rPr kumimoji="0" lang="en-US" sz="1400" b="0" i="0" u="none" strike="noStrike" kern="1200" cap="none" spc="0" normalizeH="0" baseline="0" noProof="0" dirty="0">
                <a:ln>
                  <a:noFill/>
                </a:ln>
                <a:solidFill>
                  <a:prstClr val="black"/>
                </a:solidFill>
                <a:effectLst/>
                <a:uLnTx/>
                <a:uFillTx/>
                <a:latin typeface="Calibri"/>
                <a:ea typeface="+mn-ea"/>
                <a:cs typeface="+mn-cs"/>
              </a:rPr>
            </a:br>
            <a:r>
              <a:rPr kumimoji="0" lang="en-US" sz="1400" b="0" i="0" u="none" strike="noStrike" kern="1200" cap="none" spc="0" normalizeH="0" baseline="0" noProof="0" dirty="0">
                <a:ln>
                  <a:noFill/>
                </a:ln>
                <a:solidFill>
                  <a:prstClr val="black"/>
                </a:solidFill>
                <a:effectLst/>
                <a:uLnTx/>
                <a:uFillTx/>
                <a:latin typeface="Calibri"/>
                <a:ea typeface="+mn-ea"/>
                <a:cs typeface="+mn-cs"/>
              </a:rPr>
              <a:t>   effects of acquisitions: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Receivables, net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Merchandise Inventories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Other Current Assets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Accounts Payable and Accrued Expenses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Deferred Revenue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Income Taxes Payable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Deferred Income Taxes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Other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Net Cash Provided by Operating Activities</a:t>
            </a:r>
          </a:p>
        </p:txBody>
      </p:sp>
      <p:sp>
        <p:nvSpPr>
          <p:cNvPr id="7" name="TextBox 6"/>
          <p:cNvSpPr txBox="1"/>
          <p:nvPr/>
        </p:nvSpPr>
        <p:spPr>
          <a:xfrm>
            <a:off x="7273555" y="2009626"/>
            <a:ext cx="813759" cy="375487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$8,630</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2,062</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273</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139</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 (84)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(10)</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352</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128</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29</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92</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420</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12,031</a:t>
            </a:r>
          </a:p>
        </p:txBody>
      </p:sp>
      <p:sp>
        <p:nvSpPr>
          <p:cNvPr id="18" name="Rounded Rectangle 17"/>
          <p:cNvSpPr/>
          <p:nvPr/>
        </p:nvSpPr>
        <p:spPr>
          <a:xfrm>
            <a:off x="3905194" y="2062198"/>
            <a:ext cx="4132873" cy="24066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4" name="Rounded Rectangle 23"/>
          <p:cNvSpPr/>
          <p:nvPr/>
        </p:nvSpPr>
        <p:spPr>
          <a:xfrm>
            <a:off x="3897308" y="5448224"/>
            <a:ext cx="4140759" cy="26991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26" name="Straight Connector 25"/>
          <p:cNvCxnSpPr/>
          <p:nvPr/>
        </p:nvCxnSpPr>
        <p:spPr>
          <a:xfrm flipV="1">
            <a:off x="7363404" y="5717062"/>
            <a:ext cx="643760" cy="76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flipV="1">
            <a:off x="7349423" y="5451899"/>
            <a:ext cx="643760" cy="76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784268" y="1589718"/>
            <a:ext cx="438326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CASH FLOWS FROM OPERATING ACTIVITIES:</a:t>
            </a:r>
          </a:p>
        </p:txBody>
      </p:sp>
    </p:spTree>
    <p:extLst>
      <p:ext uri="{BB962C8B-B14F-4D97-AF65-F5344CB8AC3E}">
        <p14:creationId xmlns:p14="http://schemas.microsoft.com/office/powerpoint/2010/main" val="405937014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47822"/>
                                        </p:tgtEl>
                                        <p:attrNameLst>
                                          <p:attrName>style.visibility</p:attrName>
                                        </p:attrNameLst>
                                      </p:cBhvr>
                                      <p:to>
                                        <p:strVal val="visible"/>
                                      </p:to>
                                    </p:set>
                                    <p:anim calcmode="lin" valueType="num">
                                      <p:cBhvr additive="base">
                                        <p:cTn id="16" dur="500" fill="hold"/>
                                        <p:tgtEl>
                                          <p:spTgt spid="247822"/>
                                        </p:tgtEl>
                                        <p:attrNameLst>
                                          <p:attrName>ppt_x</p:attrName>
                                        </p:attrNameLst>
                                      </p:cBhvr>
                                      <p:tavLst>
                                        <p:tav tm="0">
                                          <p:val>
                                            <p:strVal val="#ppt_x"/>
                                          </p:val>
                                        </p:tav>
                                        <p:tav tm="100000">
                                          <p:val>
                                            <p:strVal val="#ppt_x"/>
                                          </p:val>
                                        </p:tav>
                                      </p:tavLst>
                                    </p:anim>
                                    <p:anim calcmode="lin" valueType="num">
                                      <p:cBhvr additive="base">
                                        <p:cTn id="17" dur="500" fill="hold"/>
                                        <p:tgtEl>
                                          <p:spTgt spid="247822"/>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4"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22" grpId="0" animBg="1"/>
      <p:bldP spid="18" grpId="0" animBg="1"/>
      <p:bldP spid="24" grpId="0" animBg="1"/>
    </p:bldLst>
  </p:timing>
</p:sld>
</file>

<file path=ppt/theme/theme1.xml><?xml version="1.0" encoding="utf-8"?>
<a:theme xmlns:a="http://schemas.openxmlformats.org/drawingml/2006/main" name="CFA">
  <a:themeElements>
    <a:clrScheme name="CFA">
      <a:dk1>
        <a:srgbClr val="000000"/>
      </a:dk1>
      <a:lt1>
        <a:srgbClr val="FFFFFF"/>
      </a:lt1>
      <a:dk2>
        <a:srgbClr val="777777"/>
      </a:dk2>
      <a:lt2>
        <a:srgbClr val="008ED6"/>
      </a:lt2>
      <a:accent1>
        <a:srgbClr val="009966"/>
      </a:accent1>
      <a:accent2>
        <a:srgbClr val="00B5E2"/>
      </a:accent2>
      <a:accent3>
        <a:srgbClr val="5B77CC"/>
      </a:accent3>
      <a:accent4>
        <a:srgbClr val="5C068C"/>
      </a:accent4>
      <a:accent5>
        <a:srgbClr val="FFD100"/>
      </a:accent5>
      <a:accent6>
        <a:srgbClr val="5A4522"/>
      </a:accent6>
      <a:hlink>
        <a:srgbClr val="5B77CC"/>
      </a:hlink>
      <a:folHlink>
        <a:srgbClr val="5C068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FA">
      <a:fillStyleLst>
        <a:solidFill>
          <a:schemeClr val="phClr"/>
        </a:solidFill>
        <a:solidFill>
          <a:schemeClr val="phClr"/>
        </a:solidFill>
        <a:solidFill>
          <a:schemeClr val="phClr"/>
        </a:solidFill>
      </a:fillStyleLst>
      <a:lnStyleLst>
        <a:ln w="12700" cap="flat" cmpd="sng" algn="ctr">
          <a:solidFill>
            <a:schemeClr val="phClr"/>
          </a:solidFill>
          <a:miter lim="800000"/>
        </a:ln>
        <a:ln w="12700" cap="flat" cmpd="sng" algn="ctr">
          <a:solidFill>
            <a:schemeClr val="phClr"/>
          </a:solidFill>
          <a:miter lim="800000"/>
        </a:ln>
        <a:ln w="12700" cap="flat" cmpd="sng" algn="ctr">
          <a:solidFill>
            <a:schemeClr val="phClr"/>
          </a:solidFill>
          <a:miter lim="800000"/>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noAutofit/>
      </a:bodyPr>
      <a:lstStyle>
        <a:defPPr>
          <a:defRPr/>
        </a:defPPr>
      </a:lstStyle>
    </a:txDef>
  </a:objectDefaults>
  <a:extraClrSchemeLst/>
  <a:custClrLst>
    <a:custClr name="Cool Gray 6">
      <a:srgbClr val="A7A8AA"/>
    </a:custClr>
    <a:custClr name="Pantone 368">
      <a:srgbClr val="78BE20"/>
    </a:custClr>
    <a:custClr name="Pantone 293">
      <a:srgbClr val="003DA5"/>
    </a:custClr>
  </a:custClrLst>
</a:theme>
</file>

<file path=ppt/theme/theme2.xml><?xml version="1.0" encoding="utf-8"?>
<a:theme xmlns:a="http://schemas.openxmlformats.org/drawingml/2006/main" name="Alternate Title Slides, Dividers and TOC">
  <a:themeElements>
    <a:clrScheme name="CFA">
      <a:dk1>
        <a:srgbClr val="000000"/>
      </a:dk1>
      <a:lt1>
        <a:srgbClr val="FFFFFF"/>
      </a:lt1>
      <a:dk2>
        <a:srgbClr val="777777"/>
      </a:dk2>
      <a:lt2>
        <a:srgbClr val="008ED6"/>
      </a:lt2>
      <a:accent1>
        <a:srgbClr val="009966"/>
      </a:accent1>
      <a:accent2>
        <a:srgbClr val="00B5E2"/>
      </a:accent2>
      <a:accent3>
        <a:srgbClr val="5B77CC"/>
      </a:accent3>
      <a:accent4>
        <a:srgbClr val="5C068C"/>
      </a:accent4>
      <a:accent5>
        <a:srgbClr val="FFD100"/>
      </a:accent5>
      <a:accent6>
        <a:srgbClr val="5A4522"/>
      </a:accent6>
      <a:hlink>
        <a:srgbClr val="5B77CC"/>
      </a:hlink>
      <a:folHlink>
        <a:srgbClr val="5C068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FA">
      <a:fillStyleLst>
        <a:solidFill>
          <a:schemeClr val="phClr"/>
        </a:solidFill>
        <a:solidFill>
          <a:schemeClr val="phClr"/>
        </a:solidFill>
        <a:solidFill>
          <a:schemeClr val="phClr"/>
        </a:solidFill>
      </a:fillStyleLst>
      <a:lnStyleLst>
        <a:ln w="12700" cap="flat" cmpd="sng" algn="ctr">
          <a:solidFill>
            <a:schemeClr val="phClr"/>
          </a:solidFill>
          <a:miter lim="800000"/>
        </a:ln>
        <a:ln w="12700" cap="flat" cmpd="sng" algn="ctr">
          <a:solidFill>
            <a:schemeClr val="phClr"/>
          </a:solidFill>
          <a:miter lim="800000"/>
        </a:ln>
        <a:ln w="12700" cap="flat" cmpd="sng" algn="ctr">
          <a:solidFill>
            <a:schemeClr val="phClr"/>
          </a:solidFill>
          <a:miter lim="800000"/>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noAutofit/>
      </a:bodyPr>
      <a:lstStyle>
        <a:defPPr>
          <a:defRPr/>
        </a:defPPr>
      </a:lstStyle>
    </a:txDef>
  </a:objectDefaults>
  <a:extraClrSchemeLst/>
  <a:custClrLst>
    <a:custClr name="Cool Gray 6">
      <a:srgbClr val="A7A8AA"/>
    </a:custClr>
    <a:custClr name="Pantone 368">
      <a:srgbClr val="78BE20"/>
    </a:custClr>
    <a:custClr name="Pantone 293">
      <a:srgbClr val="003DA5"/>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CFA">
      <a:dk1>
        <a:srgbClr val="000000"/>
      </a:dk1>
      <a:lt1>
        <a:srgbClr val="FFFFFF"/>
      </a:lt1>
      <a:dk2>
        <a:srgbClr val="777777"/>
      </a:dk2>
      <a:lt2>
        <a:srgbClr val="A7A8AA"/>
      </a:lt2>
      <a:accent1>
        <a:srgbClr val="009966"/>
      </a:accent1>
      <a:accent2>
        <a:srgbClr val="00B5FF"/>
      </a:accent2>
      <a:accent3>
        <a:srgbClr val="5B77CC"/>
      </a:accent3>
      <a:accent4>
        <a:srgbClr val="5C068C"/>
      </a:accent4>
      <a:accent5>
        <a:srgbClr val="FFB81C"/>
      </a:accent5>
      <a:accent6>
        <a:srgbClr val="5A4522"/>
      </a:accent6>
      <a:hlink>
        <a:srgbClr val="5B77CC"/>
      </a:hlink>
      <a:folHlink>
        <a:srgbClr val="5C068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FA">
      <a:fillStyleLst>
        <a:solidFill>
          <a:schemeClr val="phClr"/>
        </a:solidFill>
        <a:solidFill>
          <a:schemeClr val="phClr"/>
        </a:solidFill>
        <a:solidFill>
          <a:schemeClr val="phClr"/>
        </a:solidFill>
      </a:fillStyleLst>
      <a:lnStyleLst>
        <a:ln w="12700" cap="flat" cmpd="sng" algn="ctr">
          <a:solidFill>
            <a:schemeClr val="phClr"/>
          </a:solidFill>
          <a:miter lim="800000"/>
        </a:ln>
        <a:ln w="12700" cap="flat" cmpd="sng" algn="ctr">
          <a:solidFill>
            <a:schemeClr val="phClr"/>
          </a:solidFill>
          <a:miter lim="800000"/>
        </a:ln>
        <a:ln w="12700" cap="flat" cmpd="sng" algn="ctr">
          <a:solidFill>
            <a:schemeClr val="phClr"/>
          </a:solidFill>
          <a:miter lim="800000"/>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noAutofit/>
      </a:bodyPr>
      <a:lstStyle>
        <a:defPPr>
          <a:defRPr/>
        </a:defPPr>
      </a:lstStyle>
    </a:txDef>
  </a:objectDefaults>
  <a:extraClrSchemeLst/>
  <a:custClrLst>
    <a:custClr name="Cool Gray 6">
      <a:srgbClr val="A7A8AA"/>
    </a:custClr>
    <a:custClr name="Pantone 368">
      <a:srgbClr val="78BE20"/>
    </a:custClr>
    <a:custClr name="Pantone 293">
      <a:srgbClr val="003DA5"/>
    </a:custClr>
  </a:custClrLst>
</a:theme>
</file>

<file path=ppt/theme/theme6.xml><?xml version="1.0" encoding="utf-8"?>
<a:theme xmlns:a="http://schemas.openxmlformats.org/drawingml/2006/main" name="Office Theme">
  <a:themeElements>
    <a:clrScheme name="CFA">
      <a:dk1>
        <a:srgbClr val="000000"/>
      </a:dk1>
      <a:lt1>
        <a:srgbClr val="FFFFFF"/>
      </a:lt1>
      <a:dk2>
        <a:srgbClr val="777777"/>
      </a:dk2>
      <a:lt2>
        <a:srgbClr val="A7A8AA"/>
      </a:lt2>
      <a:accent1>
        <a:srgbClr val="009966"/>
      </a:accent1>
      <a:accent2>
        <a:srgbClr val="00B5FF"/>
      </a:accent2>
      <a:accent3>
        <a:srgbClr val="5B77CC"/>
      </a:accent3>
      <a:accent4>
        <a:srgbClr val="5C068C"/>
      </a:accent4>
      <a:accent5>
        <a:srgbClr val="FFB81C"/>
      </a:accent5>
      <a:accent6>
        <a:srgbClr val="5A4522"/>
      </a:accent6>
      <a:hlink>
        <a:srgbClr val="5B77CC"/>
      </a:hlink>
      <a:folHlink>
        <a:srgbClr val="5C068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FA">
      <a:fillStyleLst>
        <a:solidFill>
          <a:schemeClr val="phClr"/>
        </a:solidFill>
        <a:solidFill>
          <a:schemeClr val="phClr"/>
        </a:solidFill>
        <a:solidFill>
          <a:schemeClr val="phClr"/>
        </a:solidFill>
      </a:fillStyleLst>
      <a:lnStyleLst>
        <a:ln w="12700" cap="flat" cmpd="sng" algn="ctr">
          <a:solidFill>
            <a:schemeClr val="phClr"/>
          </a:solidFill>
          <a:miter lim="800000"/>
        </a:ln>
        <a:ln w="12700" cap="flat" cmpd="sng" algn="ctr">
          <a:solidFill>
            <a:schemeClr val="phClr"/>
          </a:solidFill>
          <a:miter lim="800000"/>
        </a:ln>
        <a:ln w="12700" cap="flat" cmpd="sng" algn="ctr">
          <a:solidFill>
            <a:schemeClr val="phClr"/>
          </a:solidFill>
          <a:miter lim="800000"/>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noAutofit/>
      </a:bodyPr>
      <a:lstStyle>
        <a:defPPr>
          <a:defRPr/>
        </a:defPPr>
      </a:lstStyle>
    </a:txDef>
  </a:objectDefaults>
  <a:extraClrSchemeLst/>
  <a:custClrLst>
    <a:custClr name="Cool Gray 6">
      <a:srgbClr val="A7A8AA"/>
    </a:custClr>
    <a:custClr name="Pantone 368">
      <a:srgbClr val="78BE20"/>
    </a:custClr>
    <a:custClr name="Pantone 293">
      <a:srgbClr val="003DA5"/>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03A8E2D0F095B4E96780378BF441975" ma:contentTypeVersion="9" ma:contentTypeDescription="Create a new document." ma:contentTypeScope="" ma:versionID="40672621dec09ff14624ad68b08e31fb">
  <xsd:schema xmlns:xsd="http://www.w3.org/2001/XMLSchema" xmlns:xs="http://www.w3.org/2001/XMLSchema" xmlns:p="http://schemas.microsoft.com/office/2006/metadata/properties" xmlns:ns1="http://schemas.microsoft.com/sharepoint/v3" xmlns:ns2="cef37edc-38f4-4be1-b42b-d530856c8944" targetNamespace="http://schemas.microsoft.com/office/2006/metadata/properties" ma:root="true" ma:fieldsID="d87465e2be0173fadb0915f862e16471" ns1:_="" ns2:_="">
    <xsd:import namespace="http://schemas.microsoft.com/sharepoint/v3"/>
    <xsd:import namespace="cef37edc-38f4-4be1-b42b-d530856c8944"/>
    <xsd:element name="properties">
      <xsd:complexType>
        <xsd:sequence>
          <xsd:element name="documentManagement">
            <xsd:complexType>
              <xsd:all>
                <xsd:element ref="ns1:PublishingStartDate" minOccurs="0"/>
                <xsd:element ref="ns1:PublishingExpirationDate" minOccurs="0"/>
                <xsd:element ref="ns2:ContentID" minOccurs="0"/>
                <xsd:element ref="ns2:IsApprov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internalName="PublishingStartDate">
      <xsd:simpleType>
        <xsd:restriction base="dms:Unknown"/>
      </xsd:simpleType>
    </xsd:element>
    <xsd:element name="PublishingExpirationDate" ma:index="9" nillable="true" ma:displayName="Scheduling End Date" ma:description=""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ef37edc-38f4-4be1-b42b-d530856c8944" elementFormDefault="qualified">
    <xsd:import namespace="http://schemas.microsoft.com/office/2006/documentManagement/types"/>
    <xsd:import namespace="http://schemas.microsoft.com/office/infopath/2007/PartnerControls"/>
    <xsd:element name="ContentID" ma:index="10" nillable="true" ma:displayName="ContentID" ma:internalName="ContentID">
      <xsd:simpleType>
        <xsd:restriction base="dms:Text">
          <xsd:maxLength value="255"/>
        </xsd:restriction>
      </xsd:simpleType>
    </xsd:element>
    <xsd:element name="IsApproved" ma:index="11" nillable="true" ma:displayName="IsApproved" ma:decimals="0" ma:hidden="true" ma:internalName="IsApproved" ma:readOnly="false">
      <xsd:simpleType>
        <xsd:restriction base="dms:Number"/>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StartDate xmlns="http://schemas.microsoft.com/sharepoint/v3" xsi:nil="true"/>
    <PublishingExpirationDate xmlns="http://schemas.microsoft.com/sharepoint/v3" xsi:nil="true"/>
    <IsApproved xmlns="cef37edc-38f4-4be1-b42b-d530856c8944">1</IsApproved>
    <ContentID xmlns="cef37edc-38f4-4be1-b42b-d530856c894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3A0471-6356-46A6-BA96-8E7C8F0F42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f37edc-38f4-4be1-b42b-d530856c89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685F999-18C6-41CE-A086-F367EA4CF931}">
  <ds:schemaRefs>
    <ds:schemaRef ds:uri="http://schemas.microsoft.com/office/2006/documentManagement/types"/>
    <ds:schemaRef ds:uri="http://schemas.microsoft.com/office/infopath/2007/PartnerControls"/>
    <ds:schemaRef ds:uri="http://purl.org/dc/terms/"/>
    <ds:schemaRef ds:uri="http://purl.org/dc/dcmitype/"/>
    <ds:schemaRef ds:uri="http://schemas.openxmlformats.org/package/2006/metadata/core-properties"/>
    <ds:schemaRef ds:uri="http://schemas.microsoft.com/office/2006/metadata/properties"/>
    <ds:schemaRef ds:uri="http://purl.org/dc/elements/1.1/"/>
    <ds:schemaRef ds:uri="http://www.w3.org/XML/1998/namespace"/>
    <ds:schemaRef ds:uri="cef37edc-38f4-4be1-b42b-d530856c8944"/>
    <ds:schemaRef ds:uri="http://schemas.microsoft.com/sharepoint/v3"/>
  </ds:schemaRefs>
</ds:datastoreItem>
</file>

<file path=customXml/itemProps3.xml><?xml version="1.0" encoding="utf-8"?>
<ds:datastoreItem xmlns:ds="http://schemas.openxmlformats.org/officeDocument/2006/customXml" ds:itemID="{238468AF-6BAB-4967-B13D-D039B8038F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13379</TotalTime>
  <Words>8915</Words>
  <Application>Microsoft Office PowerPoint</Application>
  <PresentationFormat>On-screen Show (4:3)</PresentationFormat>
  <Paragraphs>777</Paragraphs>
  <Slides>40</Slides>
  <Notes>37</Notes>
  <HiddenSlides>0</HiddenSlides>
  <MMClips>0</MMClips>
  <ScaleCrop>false</ScaleCrop>
  <HeadingPairs>
    <vt:vector size="8" baseType="variant">
      <vt:variant>
        <vt:lpstr>Fonts Used</vt:lpstr>
      </vt:variant>
      <vt:variant>
        <vt:i4>10</vt:i4>
      </vt:variant>
      <vt:variant>
        <vt:lpstr>Theme</vt:lpstr>
      </vt:variant>
      <vt:variant>
        <vt:i4>4</vt:i4>
      </vt:variant>
      <vt:variant>
        <vt:lpstr>Embedded OLE Servers</vt:lpstr>
      </vt:variant>
      <vt:variant>
        <vt:i4>2</vt:i4>
      </vt:variant>
      <vt:variant>
        <vt:lpstr>Slide Titles</vt:lpstr>
      </vt:variant>
      <vt:variant>
        <vt:i4>40</vt:i4>
      </vt:variant>
    </vt:vector>
  </HeadingPairs>
  <TitlesOfParts>
    <vt:vector size="56" baseType="lpstr">
      <vt:lpstr>MS PGothic</vt:lpstr>
      <vt:lpstr>MS PGothic</vt:lpstr>
      <vt:lpstr>Arial</vt:lpstr>
      <vt:lpstr>Arial Narrow</vt:lpstr>
      <vt:lpstr>Book Antiqua</vt:lpstr>
      <vt:lpstr>Calibri</vt:lpstr>
      <vt:lpstr>Cambria Math</vt:lpstr>
      <vt:lpstr>Comic Sans MS</vt:lpstr>
      <vt:lpstr>Palatino Linotype</vt:lpstr>
      <vt:lpstr>Times New Roman</vt:lpstr>
      <vt:lpstr>CFA</vt:lpstr>
      <vt:lpstr>Alternate Title Slides, Dividers and TOC</vt:lpstr>
      <vt:lpstr>Office Theme</vt:lpstr>
      <vt:lpstr>Default Design</vt:lpstr>
      <vt:lpstr>Clip</vt:lpstr>
      <vt:lpstr>Worksheet</vt:lpstr>
      <vt:lpstr>Analysis of Financial Statements</vt:lpstr>
      <vt:lpstr>Purpose of Analysis</vt:lpstr>
      <vt:lpstr>Building Blocks of Analysis</vt:lpstr>
      <vt:lpstr>Standards for Comparison</vt:lpstr>
      <vt:lpstr>Financial Ratio Analysis</vt:lpstr>
      <vt:lpstr>PowerPoint Presentation</vt:lpstr>
      <vt:lpstr>PowerPoint Presentation</vt:lpstr>
      <vt:lpstr>PowerPoint Presentation</vt:lpstr>
      <vt:lpstr>Liquidity and Working Capital  </vt:lpstr>
      <vt:lpstr>First: Liquidity Analysis</vt:lpstr>
      <vt:lpstr>Current Ratio</vt:lpstr>
      <vt:lpstr>Quick Ratio </vt:lpstr>
      <vt:lpstr>Cash Ratio</vt:lpstr>
      <vt:lpstr>Second: Operating Cycle (Activity) Ratios</vt:lpstr>
      <vt:lpstr>PowerPoint Presentation</vt:lpstr>
      <vt:lpstr>Receivable Turnover Ratio</vt:lpstr>
      <vt:lpstr>Receivable Turnover Ratio – Converted to Days</vt:lpstr>
      <vt:lpstr>Inventory turnover Ratio</vt:lpstr>
      <vt:lpstr>Inventory Turnover Ratio</vt:lpstr>
      <vt:lpstr>Inventory Turnover Ratio – Converted to Days</vt:lpstr>
      <vt:lpstr>Accounts Payable Turnover</vt:lpstr>
      <vt:lpstr>Accounts Payable Turnover</vt:lpstr>
      <vt:lpstr>Operating and Cash Cycles</vt:lpstr>
      <vt:lpstr>PowerPoint Presentation</vt:lpstr>
      <vt:lpstr>Third: Solvency Analysis</vt:lpstr>
      <vt:lpstr>Solvency ratios</vt:lpstr>
      <vt:lpstr>Debt-to-Equity Ratio</vt:lpstr>
      <vt:lpstr>Times Interest Earned Ratio</vt:lpstr>
      <vt:lpstr>Forth: Profitability ratios</vt:lpstr>
      <vt:lpstr>Gross Profit Percentage</vt:lpstr>
      <vt:lpstr>Net Profit Margin</vt:lpstr>
      <vt:lpstr>Return on Assets (ROA)</vt:lpstr>
      <vt:lpstr>PowerPoint Presentation</vt:lpstr>
      <vt:lpstr>Return on Equity (ROE)</vt:lpstr>
      <vt:lpstr>The DuPont Model</vt:lpstr>
      <vt:lpstr>Fifth: Investor and Markets ANALYSIS)</vt:lpstr>
      <vt:lpstr>Earnings per Share (EPS)</vt:lpstr>
      <vt:lpstr>Price/Earnings (P/E) Ratio</vt:lpstr>
      <vt:lpstr>Dividend Yield Ratio</vt:lpstr>
      <vt:lpstr>Quality of Income</vt:lpstr>
    </vt:vector>
  </TitlesOfParts>
  <Company>CFA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Financial Statement Analysis</dc:title>
  <dc:creator>David Larrabee</dc:creator>
  <cp:lastModifiedBy>Maha Ramadan</cp:lastModifiedBy>
  <cp:revision>213</cp:revision>
  <dcterms:created xsi:type="dcterms:W3CDTF">2012-05-31T13:58:40Z</dcterms:created>
  <dcterms:modified xsi:type="dcterms:W3CDTF">2026-04-18T22:51:22Z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1213069</vt:lpwstr>
  </property>
  <property fmtid="{D5CDD505-2E9C-101B-9397-08002B2CF9AE}" pid="3" name="NXPowerLiteSettings">
    <vt:lpwstr>F7000400038000</vt:lpwstr>
  </property>
  <property fmtid="{D5CDD505-2E9C-101B-9397-08002B2CF9AE}" pid="4" name="NXPowerLiteVersion">
    <vt:lpwstr>D5.0.5</vt:lpwstr>
  </property>
  <property fmtid="{D5CDD505-2E9C-101B-9397-08002B2CF9AE}" pid="5" name="ContentTypeId">
    <vt:lpwstr>0x010100F03A8E2D0F095B4E96780378BF441975</vt:lpwstr>
  </property>
  <property fmtid="{D5CDD505-2E9C-101B-9397-08002B2CF9AE}" pid="6" name="Order">
    <vt:r8>3400</vt:r8>
  </property>
  <property fmtid="{D5CDD505-2E9C-101B-9397-08002B2CF9AE}" pid="7" name="TemplateUrl">
    <vt:lpwstr/>
  </property>
  <property fmtid="{D5CDD505-2E9C-101B-9397-08002B2CF9AE}" pid="8" name="xd_Signature">
    <vt:bool>false</vt:bool>
  </property>
  <property fmtid="{D5CDD505-2E9C-101B-9397-08002B2CF9AE}" pid="9" name="xd_ProgID">
    <vt:lpwstr/>
  </property>
  <property fmtid="{D5CDD505-2E9C-101B-9397-08002B2CF9AE}" pid="10" name="_dlc_Exempt">
    <vt:bool>false</vt:bool>
  </property>
  <property fmtid="{D5CDD505-2E9C-101B-9397-08002B2CF9AE}" pid="11" name="_dlc_policyId">
    <vt:lpwstr/>
  </property>
  <property fmtid="{D5CDD505-2E9C-101B-9397-08002B2CF9AE}" pid="12" name="ItemRetentionFormula">
    <vt:lpwstr/>
  </property>
</Properties>
</file>
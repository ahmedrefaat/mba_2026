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71" r:id="rId1"/>
  </p:sldMasterIdLst>
  <p:notesMasterIdLst>
    <p:notesMasterId r:id="rId27"/>
  </p:notesMasterIdLst>
  <p:handoutMasterIdLst>
    <p:handoutMasterId r:id="rId28"/>
  </p:handoutMasterIdLst>
  <p:sldIdLst>
    <p:sldId id="401" r:id="rId2"/>
    <p:sldId id="402" r:id="rId3"/>
    <p:sldId id="403" r:id="rId4"/>
    <p:sldId id="405" r:id="rId5"/>
    <p:sldId id="415" r:id="rId6"/>
    <p:sldId id="417" r:id="rId7"/>
    <p:sldId id="443" r:id="rId8"/>
    <p:sldId id="444" r:id="rId9"/>
    <p:sldId id="418" r:id="rId10"/>
    <p:sldId id="420" r:id="rId11"/>
    <p:sldId id="445" r:id="rId12"/>
    <p:sldId id="421" r:id="rId13"/>
    <p:sldId id="446" r:id="rId14"/>
    <p:sldId id="422" r:id="rId15"/>
    <p:sldId id="449" r:id="rId16"/>
    <p:sldId id="424" r:id="rId17"/>
    <p:sldId id="450" r:id="rId18"/>
    <p:sldId id="451" r:id="rId19"/>
    <p:sldId id="429" r:id="rId20"/>
    <p:sldId id="430" r:id="rId21"/>
    <p:sldId id="431" r:id="rId22"/>
    <p:sldId id="432" r:id="rId23"/>
    <p:sldId id="433" r:id="rId24"/>
    <p:sldId id="434" r:id="rId25"/>
    <p:sldId id="435" r:id="rId26"/>
  </p:sldIdLst>
  <p:sldSz cx="9144000" cy="6858000" type="screen4x3"/>
  <p:notesSz cx="6858000" cy="9144000"/>
  <p:custDataLst>
    <p:tags r:id="rId29"/>
  </p:custData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0"/>
        <a:cs typeface="MS PGothic" charset="0"/>
      </a:defRPr>
    </a:lvl1pPr>
    <a:lvl2pPr marL="457200" algn="l" rtl="0" eaLnBrk="0" fontAlgn="base" hangingPunct="0">
      <a:spcBef>
        <a:spcPct val="0"/>
      </a:spcBef>
      <a:spcAft>
        <a:spcPct val="0"/>
      </a:spcAft>
      <a:defRPr kern="1200">
        <a:solidFill>
          <a:schemeClr val="tx1"/>
        </a:solidFill>
        <a:latin typeface="Arial" charset="0"/>
        <a:ea typeface="ＭＳ Ｐゴシック" charset="0"/>
        <a:cs typeface="MS PGothic" charset="0"/>
      </a:defRPr>
    </a:lvl2pPr>
    <a:lvl3pPr marL="914400" algn="l" rtl="0" eaLnBrk="0" fontAlgn="base" hangingPunct="0">
      <a:spcBef>
        <a:spcPct val="0"/>
      </a:spcBef>
      <a:spcAft>
        <a:spcPct val="0"/>
      </a:spcAft>
      <a:defRPr kern="1200">
        <a:solidFill>
          <a:schemeClr val="tx1"/>
        </a:solidFill>
        <a:latin typeface="Arial" charset="0"/>
        <a:ea typeface="ＭＳ Ｐゴシック" charset="0"/>
        <a:cs typeface="MS PGothic" charset="0"/>
      </a:defRPr>
    </a:lvl3pPr>
    <a:lvl4pPr marL="1371600" algn="l" rtl="0" eaLnBrk="0" fontAlgn="base" hangingPunct="0">
      <a:spcBef>
        <a:spcPct val="0"/>
      </a:spcBef>
      <a:spcAft>
        <a:spcPct val="0"/>
      </a:spcAft>
      <a:defRPr kern="1200">
        <a:solidFill>
          <a:schemeClr val="tx1"/>
        </a:solidFill>
        <a:latin typeface="Arial" charset="0"/>
        <a:ea typeface="ＭＳ Ｐゴシック" charset="0"/>
        <a:cs typeface="MS PGothic" charset="0"/>
      </a:defRPr>
    </a:lvl4pPr>
    <a:lvl5pPr marL="1828800" algn="l" rtl="0" eaLnBrk="0" fontAlgn="base" hangingPunct="0">
      <a:spcBef>
        <a:spcPct val="0"/>
      </a:spcBef>
      <a:spcAft>
        <a:spcPct val="0"/>
      </a:spcAft>
      <a:defRPr kern="1200">
        <a:solidFill>
          <a:schemeClr val="tx1"/>
        </a:solidFill>
        <a:latin typeface="Arial" charset="0"/>
        <a:ea typeface="ＭＳ Ｐゴシック" charset="0"/>
        <a:cs typeface="MS PGothic" charset="0"/>
      </a:defRPr>
    </a:lvl5pPr>
    <a:lvl6pPr marL="2286000" algn="l" defTabSz="457200" rtl="0" eaLnBrk="1" latinLnBrk="0" hangingPunct="1">
      <a:defRPr kern="1200">
        <a:solidFill>
          <a:schemeClr val="tx1"/>
        </a:solidFill>
        <a:latin typeface="Arial" charset="0"/>
        <a:ea typeface="ＭＳ Ｐゴシック" charset="0"/>
        <a:cs typeface="MS PGothic" charset="0"/>
      </a:defRPr>
    </a:lvl6pPr>
    <a:lvl7pPr marL="2743200" algn="l" defTabSz="457200" rtl="0" eaLnBrk="1" latinLnBrk="0" hangingPunct="1">
      <a:defRPr kern="1200">
        <a:solidFill>
          <a:schemeClr val="tx1"/>
        </a:solidFill>
        <a:latin typeface="Arial" charset="0"/>
        <a:ea typeface="ＭＳ Ｐゴシック" charset="0"/>
        <a:cs typeface="MS PGothic" charset="0"/>
      </a:defRPr>
    </a:lvl7pPr>
    <a:lvl8pPr marL="3200400" algn="l" defTabSz="457200" rtl="0" eaLnBrk="1" latinLnBrk="0" hangingPunct="1">
      <a:defRPr kern="1200">
        <a:solidFill>
          <a:schemeClr val="tx1"/>
        </a:solidFill>
        <a:latin typeface="Arial" charset="0"/>
        <a:ea typeface="ＭＳ Ｐゴシック" charset="0"/>
        <a:cs typeface="MS PGothic" charset="0"/>
      </a:defRPr>
    </a:lvl8pPr>
    <a:lvl9pPr marL="3657600" algn="l" defTabSz="457200" rtl="0" eaLnBrk="1" latinLnBrk="0" hangingPunct="1">
      <a:defRPr kern="1200">
        <a:solidFill>
          <a:schemeClr val="tx1"/>
        </a:solidFill>
        <a:latin typeface="Arial" charset="0"/>
        <a:ea typeface="ＭＳ Ｐゴシック" charset="0"/>
        <a:cs typeface="MS PGothic" charset="0"/>
      </a:defRPr>
    </a:lvl9pPr>
  </p:defaultTextStyle>
  <p:extLst>
    <p:ext uri="{521415D9-36F7-43E2-AB2F-B90AF26B5E84}">
      <p14:sectionLst xmlns:p14="http://schemas.microsoft.com/office/powerpoint/2010/main">
        <p14:section name="Main Content" id="{B53C3740-E4D0-408F-B844-FBDB6ECAA50C}">
          <p14:sldIdLst>
            <p14:sldId id="401"/>
            <p14:sldId id="402"/>
            <p14:sldId id="403"/>
            <p14:sldId id="405"/>
            <p14:sldId id="415"/>
            <p14:sldId id="417"/>
            <p14:sldId id="443"/>
            <p14:sldId id="444"/>
            <p14:sldId id="418"/>
            <p14:sldId id="420"/>
            <p14:sldId id="445"/>
            <p14:sldId id="421"/>
            <p14:sldId id="446"/>
            <p14:sldId id="422"/>
            <p14:sldId id="449"/>
            <p14:sldId id="424"/>
            <p14:sldId id="450"/>
            <p14:sldId id="451"/>
            <p14:sldId id="429"/>
            <p14:sldId id="430"/>
            <p14:sldId id="431"/>
            <p14:sldId id="432"/>
            <p14:sldId id="433"/>
            <p14:sldId id="434"/>
            <p14:sldId id="435"/>
          </p14:sldIdLst>
        </p14:section>
        <p14:section name="Appendix: Image Descriptions for Unsighted Students" id="{8C2015DC-A74A-4730-A7FC-891559A54AC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ADE4"/>
    <a:srgbClr val="B80000"/>
    <a:srgbClr val="1C6293"/>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06" autoAdjust="0"/>
    <p:restoredTop sz="88497" autoAdjust="0"/>
  </p:normalViewPr>
  <p:slideViewPr>
    <p:cSldViewPr>
      <p:cViewPr varScale="1">
        <p:scale>
          <a:sx n="60" d="100"/>
          <a:sy n="60" d="100"/>
        </p:scale>
        <p:origin x="930" y="36"/>
      </p:cViewPr>
      <p:guideLst>
        <p:guide orient="horz" pos="2160"/>
        <p:guide pos="2880"/>
      </p:guideLst>
    </p:cSldViewPr>
  </p:slideViewPr>
  <p:outlineViewPr>
    <p:cViewPr>
      <p:scale>
        <a:sx n="66" d="100"/>
        <a:sy n="66" d="100"/>
      </p:scale>
      <p:origin x="0" y="0"/>
    </p:cViewPr>
  </p:outlineViewPr>
  <p:notesTextViewPr>
    <p:cViewPr>
      <p:scale>
        <a:sx n="100" d="100"/>
        <a:sy n="100" d="100"/>
      </p:scale>
      <p:origin x="0" y="0"/>
    </p:cViewPr>
  </p:notesTextViewPr>
  <p:sorterViewPr>
    <p:cViewPr>
      <p:scale>
        <a:sx n="66" d="100"/>
        <a:sy n="66" d="100"/>
      </p:scale>
      <p:origin x="0" y="4576"/>
    </p:cViewPr>
  </p:sorterViewPr>
  <p:notesViewPr>
    <p:cSldViewPr>
      <p:cViewPr varScale="1">
        <p:scale>
          <a:sx n="85" d="100"/>
          <a:sy n="85" d="100"/>
        </p:scale>
        <p:origin x="380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a Ramadan" userId="c0ecf777-ba1c-427e-9e8a-21cf1c8cb74e" providerId="ADAL" clId="{A62C7648-6038-43EF-9526-7AC95784EFEB}"/>
    <pc:docChg chg="undo custSel addSld delSld modSld modSection">
      <pc:chgData name="Maha Ramadan" userId="c0ecf777-ba1c-427e-9e8a-21cf1c8cb74e" providerId="ADAL" clId="{A62C7648-6038-43EF-9526-7AC95784EFEB}" dt="2026-04-18T14:40:43.416" v="28" actId="20577"/>
      <pc:docMkLst>
        <pc:docMk/>
      </pc:docMkLst>
      <pc:sldChg chg="modSp mod">
        <pc:chgData name="Maha Ramadan" userId="c0ecf777-ba1c-427e-9e8a-21cf1c8cb74e" providerId="ADAL" clId="{A62C7648-6038-43EF-9526-7AC95784EFEB}" dt="2026-04-18T14:40:43.416" v="28" actId="20577"/>
        <pc:sldMkLst>
          <pc:docMk/>
          <pc:sldMk cId="0" sldId="401"/>
        </pc:sldMkLst>
        <pc:spChg chg="mod">
          <ac:chgData name="Maha Ramadan" userId="c0ecf777-ba1c-427e-9e8a-21cf1c8cb74e" providerId="ADAL" clId="{A62C7648-6038-43EF-9526-7AC95784EFEB}" dt="2026-04-18T14:40:43.416" v="28" actId="20577"/>
          <ac:spMkLst>
            <pc:docMk/>
            <pc:sldMk cId="0" sldId="401"/>
            <ac:spMk id="3074" creationId="{00000000-0000-0000-0000-000000000000}"/>
          </ac:spMkLst>
        </pc:spChg>
      </pc:sldChg>
      <pc:sldChg chg="del">
        <pc:chgData name="Maha Ramadan" userId="c0ecf777-ba1c-427e-9e8a-21cf1c8cb74e" providerId="ADAL" clId="{A62C7648-6038-43EF-9526-7AC95784EFEB}" dt="2026-04-18T13:51:24.768" v="1" actId="47"/>
        <pc:sldMkLst>
          <pc:docMk/>
          <pc:sldMk cId="0" sldId="413"/>
        </pc:sldMkLst>
      </pc:sldChg>
      <pc:sldChg chg="del">
        <pc:chgData name="Maha Ramadan" userId="c0ecf777-ba1c-427e-9e8a-21cf1c8cb74e" providerId="ADAL" clId="{A62C7648-6038-43EF-9526-7AC95784EFEB}" dt="2026-04-18T13:51:37.258" v="4" actId="47"/>
        <pc:sldMkLst>
          <pc:docMk/>
          <pc:sldMk cId="0" sldId="414"/>
        </pc:sldMkLst>
      </pc:sldChg>
      <pc:sldChg chg="modSp add del mod">
        <pc:chgData name="Maha Ramadan" userId="c0ecf777-ba1c-427e-9e8a-21cf1c8cb74e" providerId="ADAL" clId="{A62C7648-6038-43EF-9526-7AC95784EFEB}" dt="2026-04-18T13:53:06.856" v="7" actId="20577"/>
        <pc:sldMkLst>
          <pc:docMk/>
          <pc:sldMk cId="2826137816" sldId="417"/>
        </pc:sldMkLst>
        <pc:spChg chg="mod">
          <ac:chgData name="Maha Ramadan" userId="c0ecf777-ba1c-427e-9e8a-21cf1c8cb74e" providerId="ADAL" clId="{A62C7648-6038-43EF-9526-7AC95784EFEB}" dt="2026-04-18T13:53:06.856" v="7" actId="20577"/>
          <ac:spMkLst>
            <pc:docMk/>
            <pc:sldMk cId="2826137816" sldId="417"/>
            <ac:spMk id="2" creationId="{00000000-0000-0000-0000-000000000000}"/>
          </ac:spMkLst>
        </pc:spChg>
      </pc:sldChg>
      <pc:sldChg chg="modSp mod">
        <pc:chgData name="Maha Ramadan" userId="c0ecf777-ba1c-427e-9e8a-21cf1c8cb74e" providerId="ADAL" clId="{A62C7648-6038-43EF-9526-7AC95784EFEB}" dt="2026-04-18T13:53:18.760" v="9" actId="113"/>
        <pc:sldMkLst>
          <pc:docMk/>
          <pc:sldMk cId="2870495777" sldId="443"/>
        </pc:sldMkLst>
        <pc:spChg chg="mod">
          <ac:chgData name="Maha Ramadan" userId="c0ecf777-ba1c-427e-9e8a-21cf1c8cb74e" providerId="ADAL" clId="{A62C7648-6038-43EF-9526-7AC95784EFEB}" dt="2026-04-18T13:53:18.760" v="9" actId="113"/>
          <ac:spMkLst>
            <pc:docMk/>
            <pc:sldMk cId="2870495777" sldId="443"/>
            <ac:spMk id="2" creationId="{00000000-0000-0000-0000-000000000000}"/>
          </ac:spMkLst>
        </pc:spChg>
      </pc:sldChg>
      <pc:sldChg chg="modSp mod">
        <pc:chgData name="Maha Ramadan" userId="c0ecf777-ba1c-427e-9e8a-21cf1c8cb74e" providerId="ADAL" clId="{A62C7648-6038-43EF-9526-7AC95784EFEB}" dt="2026-04-18T13:53:41.190" v="11" actId="27636"/>
        <pc:sldMkLst>
          <pc:docMk/>
          <pc:sldMk cId="1339544672" sldId="450"/>
        </pc:sldMkLst>
        <pc:spChg chg="mod">
          <ac:chgData name="Maha Ramadan" userId="c0ecf777-ba1c-427e-9e8a-21cf1c8cb74e" providerId="ADAL" clId="{A62C7648-6038-43EF-9526-7AC95784EFEB}" dt="2026-04-18T13:53:41.190" v="11" actId="27636"/>
          <ac:spMkLst>
            <pc:docMk/>
            <pc:sldMk cId="1339544672" sldId="450"/>
            <ac:spMk id="2" creationId="{00000000-0000-0000-0000-000000000000}"/>
          </ac:spMkLst>
        </pc:spChg>
      </pc:sldChg>
      <pc:sldChg chg="modSp mod">
        <pc:chgData name="Maha Ramadan" userId="c0ecf777-ba1c-427e-9e8a-21cf1c8cb74e" providerId="ADAL" clId="{A62C7648-6038-43EF-9526-7AC95784EFEB}" dt="2026-04-18T13:53:47.450" v="14" actId="27636"/>
        <pc:sldMkLst>
          <pc:docMk/>
          <pc:sldMk cId="773158930" sldId="451"/>
        </pc:sldMkLst>
        <pc:spChg chg="mod">
          <ac:chgData name="Maha Ramadan" userId="c0ecf777-ba1c-427e-9e8a-21cf1c8cb74e" providerId="ADAL" clId="{A62C7648-6038-43EF-9526-7AC95784EFEB}" dt="2026-04-18T13:53:47.450" v="14" actId="27636"/>
          <ac:spMkLst>
            <pc:docMk/>
            <pc:sldMk cId="773158930" sldId="451"/>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p:cNvSpPr txBox="1"/>
          <p:nvPr/>
        </p:nvSpPr>
        <p:spPr>
          <a:xfrm>
            <a:off x="3733800" y="0"/>
            <a:ext cx="3124200" cy="246063"/>
          </a:xfrm>
          <a:prstGeom prst="rect">
            <a:avLst/>
          </a:prstGeom>
          <a:noFill/>
        </p:spPr>
        <p:txBody>
          <a:bodyPr>
            <a:spAutoFit/>
          </a:bodyPr>
          <a:lstStyle>
            <a:lvl1pPr>
              <a:defRPr>
                <a:solidFill>
                  <a:schemeClr val="tx1"/>
                </a:solidFill>
                <a:latin typeface="Arial" charset="0"/>
                <a:ea typeface="ＭＳ Ｐゴシック"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pPr algn="r" eaLnBrk="1" hangingPunct="1"/>
            <a:r>
              <a:rPr lang="en-US" sz="1000"/>
              <a:t>2A-</a:t>
            </a:r>
            <a:fld id="{48F1AC41-446C-6042-89B7-036C73A900A9}" type="slidenum">
              <a:rPr lang="en-US" sz="1000"/>
              <a:pPr algn="r" eaLnBrk="1" hangingPunct="1"/>
              <a:t>‹#›</a:t>
            </a:fld>
            <a:endParaRPr lang="en-US" sz="1000"/>
          </a:p>
        </p:txBody>
      </p:sp>
    </p:spTree>
    <p:extLst>
      <p:ext uri="{BB962C8B-B14F-4D97-AF65-F5344CB8AC3E}">
        <p14:creationId xmlns:p14="http://schemas.microsoft.com/office/powerpoint/2010/main" val="3791125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Box 7"/>
          <p:cNvSpPr txBox="1"/>
          <p:nvPr/>
        </p:nvSpPr>
        <p:spPr>
          <a:xfrm>
            <a:off x="6019800" y="0"/>
            <a:ext cx="838200" cy="261938"/>
          </a:xfrm>
          <a:prstGeom prst="rect">
            <a:avLst/>
          </a:prstGeom>
          <a:noFill/>
        </p:spPr>
        <p:txBody>
          <a:bodyPr>
            <a:spAutoFit/>
          </a:bodyPr>
          <a:lstStyle>
            <a:lvl1pPr>
              <a:defRPr>
                <a:solidFill>
                  <a:schemeClr val="tx1"/>
                </a:solidFill>
                <a:latin typeface="Arial" charset="0"/>
                <a:ea typeface="ＭＳ Ｐゴシック"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pPr algn="r" eaLnBrk="1" hangingPunct="1"/>
            <a:r>
              <a:rPr lang="en-US" sz="1100"/>
              <a:t>2A-</a:t>
            </a:r>
            <a:fld id="{E1CA2CE4-E8B1-E843-912C-C28AF0CA117D}" type="slidenum">
              <a:rPr lang="en-US" sz="1100"/>
              <a:pPr algn="r" eaLnBrk="1" hangingPunct="1"/>
              <a:t>‹#›</a:t>
            </a:fld>
            <a:endParaRPr lang="en-US" sz="1100"/>
          </a:p>
        </p:txBody>
      </p:sp>
    </p:spTree>
    <p:extLst>
      <p:ext uri="{BB962C8B-B14F-4D97-AF65-F5344CB8AC3E}">
        <p14:creationId xmlns:p14="http://schemas.microsoft.com/office/powerpoint/2010/main" val="32594903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MS PGothic" charset="0"/>
      </a:defRPr>
    </a:lvl1pPr>
    <a:lvl2pPr marL="457200" algn="l"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Rot="1" noChangeAspect="1" noChangeArrowheads="1" noTextEdit="1"/>
          </p:cNvSpPr>
          <p:nvPr>
            <p:ph type="sldImg"/>
          </p:nvPr>
        </p:nvSpPr>
        <p:spPr bwMode="auto">
          <a:xfrm>
            <a:off x="1144588" y="685800"/>
            <a:ext cx="4570412" cy="3427413"/>
          </a:xfr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16386" name="Rectangle 3"/>
          <p:cNvSpPr>
            <a:spLocks noGrp="1" noChangeArrowheads="1"/>
          </p:cNvSpPr>
          <p:nvPr>
            <p:ph type="body" idx="1"/>
          </p:nvPr>
        </p:nvSpPr>
        <p:spPr bwMode="auto">
          <a:solidFill>
            <a:srgbClr val="FFFFFF"/>
          </a:solidFill>
          <a:extLs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lIns="90416" tIns="45208" rIns="90416" bIns="45208"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2951096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1843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dirty="0">
              <a:latin typeface="Calibri" charset="0"/>
            </a:endParaRPr>
          </a:p>
        </p:txBody>
      </p:sp>
    </p:spTree>
    <p:extLst>
      <p:ext uri="{BB962C8B-B14F-4D97-AF65-F5344CB8AC3E}">
        <p14:creationId xmlns:p14="http://schemas.microsoft.com/office/powerpoint/2010/main" val="3644630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20482" name="Rectangle 5"/>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3625920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3010" name="Rectangle 5"/>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1159041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Fixed Costs = 400,000</a:t>
            </a:r>
          </a:p>
          <a:p>
            <a:r>
              <a:rPr lang="en-US" dirty="0"/>
              <a:t>Avoidable  (Can be saved)                                    Non avoidable (cant be saved)</a:t>
            </a:r>
          </a:p>
          <a:p>
            <a:r>
              <a:rPr lang="en-US" dirty="0"/>
              <a:t>   = Traceable                                                        Common= Allocated=Shared</a:t>
            </a:r>
          </a:p>
          <a:p>
            <a:r>
              <a:rPr lang="en-US" dirty="0"/>
              <a:t>       260,000                                                              60,000 +30,000 +sunk 50,000=140,000</a:t>
            </a:r>
          </a:p>
          <a:p>
            <a:r>
              <a:rPr lang="en-US" dirty="0"/>
              <a:t>  </a:t>
            </a:r>
          </a:p>
          <a:p>
            <a:r>
              <a:rPr lang="en-US" sz="1400" dirty="0"/>
              <a:t>Sales                                   500,000</a:t>
            </a:r>
          </a:p>
          <a:p>
            <a:r>
              <a:rPr lang="en-US" sz="1400" dirty="0"/>
              <a:t>-TVC                                     200,000</a:t>
            </a:r>
          </a:p>
          <a:p>
            <a:r>
              <a:rPr lang="en-US" sz="1400" dirty="0"/>
              <a:t>= Contribution Margin         300,000</a:t>
            </a:r>
          </a:p>
          <a:p>
            <a:pPr marL="171450" indent="-171450">
              <a:buFontTx/>
              <a:buChar char="-"/>
            </a:pPr>
            <a:r>
              <a:rPr lang="en-US" sz="1400" dirty="0"/>
              <a:t>Traceable FC                    260,000</a:t>
            </a:r>
          </a:p>
          <a:p>
            <a:pPr marL="171450" indent="-171450">
              <a:buFontTx/>
              <a:buChar char="-"/>
            </a:pPr>
            <a:r>
              <a:rPr lang="en-US" sz="1400" b="1" dirty="0">
                <a:highlight>
                  <a:srgbClr val="FFFF00"/>
                </a:highlight>
              </a:rPr>
              <a:t>= Segment margin          =40,000</a:t>
            </a:r>
          </a:p>
          <a:p>
            <a:pPr marL="171450" indent="-171450">
              <a:buFontTx/>
              <a:buChar char="-"/>
            </a:pPr>
            <a:r>
              <a:rPr lang="en-US" sz="1400" dirty="0"/>
              <a:t>-Common costs               </a:t>
            </a:r>
            <a:r>
              <a:rPr lang="en-US" sz="1400" u="sng" dirty="0"/>
              <a:t>-140,000</a:t>
            </a:r>
          </a:p>
          <a:p>
            <a:pPr marL="171450" indent="-171450">
              <a:buFontTx/>
              <a:buChar char="-"/>
            </a:pPr>
            <a:r>
              <a:rPr lang="en-US" sz="1400" dirty="0"/>
              <a:t>Net </a:t>
            </a:r>
            <a:r>
              <a:rPr lang="en-US" sz="1400" u="sng" dirty="0"/>
              <a:t>income                       -100,000</a:t>
            </a:r>
          </a:p>
        </p:txBody>
      </p:sp>
    </p:spTree>
    <p:extLst>
      <p:ext uri="{BB962C8B-B14F-4D97-AF65-F5344CB8AC3E}">
        <p14:creationId xmlns:p14="http://schemas.microsoft.com/office/powerpoint/2010/main" val="12753751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75358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07942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56567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5498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Rectangle 3"/>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Rectangle 4"/>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userDrawn="1"/>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Rectangle 6"/>
          <p:cNvSpPr/>
          <p:nvPr userDrawn="1"/>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8" name="Straight Connector 7"/>
          <p:cNvCxnSpPr/>
          <p:nvPr userDrawn="1"/>
        </p:nvCxnSpPr>
        <p:spPr>
          <a:xfrm>
            <a:off x="581025" y="2514600"/>
            <a:ext cx="82042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TextBox 7"/>
          <p:cNvSpPr txBox="1">
            <a:spLocks noChangeArrowheads="1"/>
          </p:cNvSpPr>
          <p:nvPr userDrawn="1"/>
        </p:nvSpPr>
        <p:spPr bwMode="auto">
          <a:xfrm>
            <a:off x="457200" y="5105400"/>
            <a:ext cx="4724400" cy="1077913"/>
          </a:xfrm>
          <a:prstGeom prst="rect">
            <a:avLst/>
          </a:prstGeom>
          <a:noFill/>
          <a:ln>
            <a:noFill/>
          </a:ln>
        </p:spPr>
        <p:txBody>
          <a:bodyPr>
            <a:spAutoFit/>
          </a:bodyPr>
          <a:lstStyle>
            <a:lvl1pPr>
              <a:defRPr>
                <a:solidFill>
                  <a:schemeClr val="tx1"/>
                </a:solidFill>
                <a:latin typeface="Arial" charset="0"/>
                <a:ea typeface="MS PGothic" charset="-128"/>
              </a:defRPr>
            </a:lvl1pPr>
            <a:lvl2pPr marL="742950" indent="-285750">
              <a:defRPr>
                <a:solidFill>
                  <a:schemeClr val="tx1"/>
                </a:solidFill>
                <a:latin typeface="Arial" charset="0"/>
                <a:ea typeface="MS PGothic" charset="-128"/>
              </a:defRPr>
            </a:lvl2pPr>
            <a:lvl3pPr marL="1143000" indent="-228600">
              <a:defRPr>
                <a:solidFill>
                  <a:schemeClr val="tx1"/>
                </a:solidFill>
                <a:latin typeface="Arial" charset="0"/>
                <a:ea typeface="MS PGothic" charset="-128"/>
              </a:defRPr>
            </a:lvl3pPr>
            <a:lvl4pPr marL="1600200" indent="-228600">
              <a:defRPr>
                <a:solidFill>
                  <a:schemeClr val="tx1"/>
                </a:solidFill>
                <a:latin typeface="Arial" charset="0"/>
                <a:ea typeface="MS PGothic" charset="-128"/>
              </a:defRPr>
            </a:lvl4pPr>
            <a:lvl5pPr marL="2057400" indent="-228600">
              <a:defRPr>
                <a:solidFill>
                  <a:schemeClr val="tx1"/>
                </a:solidFill>
                <a:latin typeface="Arial" charset="0"/>
                <a:ea typeface="MS PGothic" charset="-128"/>
              </a:defRPr>
            </a:lvl5pPr>
            <a:lvl6pPr marL="2514600" indent="-228600" eaLnBrk="0" fontAlgn="base" hangingPunct="0">
              <a:spcBef>
                <a:spcPct val="0"/>
              </a:spcBef>
              <a:spcAft>
                <a:spcPct val="0"/>
              </a:spcAft>
              <a:defRPr>
                <a:solidFill>
                  <a:schemeClr val="tx1"/>
                </a:solidFill>
                <a:latin typeface="Arial" charset="0"/>
                <a:ea typeface="MS PGothic" charset="-128"/>
              </a:defRPr>
            </a:lvl6pPr>
            <a:lvl7pPr marL="2971800" indent="-228600" eaLnBrk="0" fontAlgn="base" hangingPunct="0">
              <a:spcBef>
                <a:spcPct val="0"/>
              </a:spcBef>
              <a:spcAft>
                <a:spcPct val="0"/>
              </a:spcAft>
              <a:defRPr>
                <a:solidFill>
                  <a:schemeClr val="tx1"/>
                </a:solidFill>
                <a:latin typeface="Arial" charset="0"/>
                <a:ea typeface="MS PGothic" charset="-128"/>
              </a:defRPr>
            </a:lvl7pPr>
            <a:lvl8pPr marL="3429000" indent="-228600" eaLnBrk="0" fontAlgn="base" hangingPunct="0">
              <a:spcBef>
                <a:spcPct val="0"/>
              </a:spcBef>
              <a:spcAft>
                <a:spcPct val="0"/>
              </a:spcAft>
              <a:defRPr>
                <a:solidFill>
                  <a:schemeClr val="tx1"/>
                </a:solidFill>
                <a:latin typeface="Arial" charset="0"/>
                <a:ea typeface="MS PGothic" charset="-128"/>
              </a:defRPr>
            </a:lvl8pPr>
            <a:lvl9pPr marL="3886200" indent="-228600" eaLnBrk="0" fontAlgn="base" hangingPunct="0">
              <a:spcBef>
                <a:spcPct val="0"/>
              </a:spcBef>
              <a:spcAft>
                <a:spcPct val="0"/>
              </a:spcAft>
              <a:defRPr>
                <a:solidFill>
                  <a:schemeClr val="tx1"/>
                </a:solidFill>
                <a:latin typeface="Arial" charset="0"/>
                <a:ea typeface="MS PGothic" charset="-128"/>
              </a:defRPr>
            </a:lvl9pPr>
          </a:lstStyle>
          <a:p>
            <a:pPr eaLnBrk="1" hangingPunct="1">
              <a:defRPr/>
            </a:pPr>
            <a:r>
              <a:rPr lang="en-US" altLang="en-US" sz="1600" dirty="0">
                <a:solidFill>
                  <a:schemeClr val="accent1">
                    <a:lumMod val="50000"/>
                  </a:schemeClr>
                </a:solidFill>
                <a:latin typeface="Calibri" panose="020F0502020204030204" pitchFamily="34" charset="0"/>
                <a:cs typeface="+mn-cs"/>
              </a:rPr>
              <a:t>PowerPoint Authors:</a:t>
            </a:r>
          </a:p>
          <a:p>
            <a:pPr eaLnBrk="1" hangingPunct="1">
              <a:defRPr/>
            </a:pPr>
            <a:r>
              <a:rPr lang="en-US" altLang="en-US" sz="1600" dirty="0">
                <a:solidFill>
                  <a:schemeClr val="accent1">
                    <a:lumMod val="50000"/>
                  </a:schemeClr>
                </a:solidFill>
                <a:latin typeface="Calibri" panose="020F0502020204030204" pitchFamily="34" charset="0"/>
                <a:cs typeface="+mn-cs"/>
              </a:rPr>
              <a:t>	Susan Coomer Galbreath, Ph.D., CPA</a:t>
            </a:r>
          </a:p>
          <a:p>
            <a:pPr eaLnBrk="1" hangingPunct="1">
              <a:defRPr/>
            </a:pPr>
            <a:r>
              <a:rPr lang="en-US" altLang="en-US" sz="1600" dirty="0">
                <a:solidFill>
                  <a:schemeClr val="accent1">
                    <a:lumMod val="50000"/>
                  </a:schemeClr>
                </a:solidFill>
                <a:latin typeface="Calibri" panose="020F0502020204030204" pitchFamily="34" charset="0"/>
                <a:cs typeface="+mn-cs"/>
              </a:rPr>
              <a:t>	Jon A. Booker, Ph.D., CPA, CIA</a:t>
            </a:r>
          </a:p>
          <a:p>
            <a:pPr eaLnBrk="1" hangingPunct="1">
              <a:defRPr/>
            </a:pPr>
            <a:r>
              <a:rPr lang="en-US" altLang="en-US" sz="1600" dirty="0">
                <a:solidFill>
                  <a:schemeClr val="accent1">
                    <a:lumMod val="50000"/>
                  </a:schemeClr>
                </a:solidFill>
                <a:latin typeface="Calibri" panose="020F0502020204030204" pitchFamily="34" charset="0"/>
                <a:cs typeface="+mn-cs"/>
              </a:rPr>
              <a:t>	Cynthia J. Rooney, Ph.D., CPA</a:t>
            </a:r>
          </a:p>
        </p:txBody>
      </p:sp>
      <p:sp>
        <p:nvSpPr>
          <p:cNvPr id="29" name="Title 1"/>
          <p:cNvSpPr>
            <a:spLocks noGrp="1"/>
          </p:cNvSpPr>
          <p:nvPr>
            <p:ph type="ctrTitle"/>
          </p:nvPr>
        </p:nvSpPr>
        <p:spPr>
          <a:xfrm>
            <a:off x="457338" y="755374"/>
            <a:ext cx="7543800" cy="1600200"/>
          </a:xfrm>
        </p:spPr>
        <p:txBody>
          <a:bodyPr/>
          <a:lstStyle>
            <a:lvl1pPr algn="l">
              <a:lnSpc>
                <a:spcPct val="85000"/>
              </a:lnSpc>
              <a:defRPr sz="5400" spc="-50" baseline="0">
                <a:solidFill>
                  <a:schemeClr val="tx1">
                    <a:lumMod val="85000"/>
                    <a:lumOff val="15000"/>
                  </a:schemeClr>
                </a:solidFill>
                <a:latin typeface="Calibri" panose="020F0502020204030204" pitchFamily="34" charset="0"/>
              </a:defRPr>
            </a:lvl1pPr>
          </a:lstStyle>
          <a:p>
            <a:r>
              <a:rPr lang="en-US" dirty="0"/>
              <a:t>Click to edit Master title style</a:t>
            </a:r>
          </a:p>
        </p:txBody>
      </p:sp>
      <p:sp>
        <p:nvSpPr>
          <p:cNvPr id="30" name="Subtitle 2"/>
          <p:cNvSpPr>
            <a:spLocks noGrp="1"/>
          </p:cNvSpPr>
          <p:nvPr>
            <p:ph type="subTitle" idx="1"/>
          </p:nvPr>
        </p:nvSpPr>
        <p:spPr>
          <a:xfrm>
            <a:off x="457200" y="2673627"/>
            <a:ext cx="7529354" cy="1143000"/>
          </a:xfrm>
        </p:spPr>
        <p:txBody>
          <a:bodyPr lIns="91440" rIns="91440">
            <a:normAutofit/>
          </a:bodyPr>
          <a:lstStyle>
            <a:lvl1pPr marL="0" indent="0" algn="l">
              <a:buNone/>
              <a:defRPr sz="2400" cap="all" spc="200" baseline="0">
                <a:solidFill>
                  <a:schemeClr val="tx2"/>
                </a:solidFill>
                <a:latin typeface="Calibri" panose="020F0502020204030204" pitchFamily="34" charset="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12" name="Date Placeholder 3"/>
          <p:cNvSpPr>
            <a:spLocks noGrp="1"/>
          </p:cNvSpPr>
          <p:nvPr>
            <p:ph type="dt" sz="half" idx="10"/>
          </p:nvPr>
        </p:nvSpPr>
        <p:spPr/>
        <p:txBody>
          <a:bodyPr/>
          <a:lstStyle>
            <a:lvl1pPr>
              <a:defRPr>
                <a:latin typeface="Calibri" panose="020F0502020204030204" pitchFamily="34" charset="0"/>
              </a:defRPr>
            </a:lvl1pPr>
          </a:lstStyle>
          <a:p>
            <a:fld id="{73F56687-60E4-A045-BB27-F3DE90C943C4}" type="datetimeFigureOut">
              <a:rPr lang="en-US" smtClean="0"/>
              <a:pPr/>
              <a:t>4/18/2026</a:t>
            </a:fld>
            <a:endParaRPr lang="en-US"/>
          </a:p>
        </p:txBody>
      </p:sp>
      <p:sp>
        <p:nvSpPr>
          <p:cNvPr id="10" name="Content Placeholder 9"/>
          <p:cNvSpPr>
            <a:spLocks noGrp="1"/>
          </p:cNvSpPr>
          <p:nvPr>
            <p:ph sz="quarter" idx="11" hasCustomPrompt="1"/>
          </p:nvPr>
        </p:nvSpPr>
        <p:spPr>
          <a:xfrm>
            <a:off x="3124200" y="6459538"/>
            <a:ext cx="5334000" cy="365125"/>
          </a:xfrm>
        </p:spPr>
        <p:txBody>
          <a:bodyPr/>
          <a:lstStyle>
            <a:lvl1pPr>
              <a:defRPr/>
            </a:lvl1pPr>
          </a:lstStyle>
          <a:p>
            <a:pPr lvl="0"/>
            <a:r>
              <a:rPr lang="en-IN" dirty="0"/>
              <a:t>Copyright</a:t>
            </a:r>
          </a:p>
        </p:txBody>
      </p:sp>
    </p:spTree>
    <p:extLst>
      <p:ext uri="{BB962C8B-B14F-4D97-AF65-F5344CB8AC3E}">
        <p14:creationId xmlns:p14="http://schemas.microsoft.com/office/powerpoint/2010/main" val="3596810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latin typeface="Calibri" panose="020F050202020403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Calibri" panose="020F0502020204030204" pitchFamily="34" charset="0"/>
              </a:defRPr>
            </a:lvl1pPr>
          </a:lstStyle>
          <a:p>
            <a:fld id="{DE0999FA-C2EB-D140-B11A-C80232B99DEB}" type="datetimeFigureOut">
              <a:rPr lang="en-US" smtClean="0"/>
              <a:pPr/>
              <a:t>4/18/2026</a:t>
            </a:fld>
            <a:endParaRPr lang="en-US"/>
          </a:p>
        </p:txBody>
      </p:sp>
      <p:sp>
        <p:nvSpPr>
          <p:cNvPr id="6" name="Slide Number Placeholder 5"/>
          <p:cNvSpPr>
            <a:spLocks noGrp="1"/>
          </p:cNvSpPr>
          <p:nvPr>
            <p:ph type="sldNum" sz="quarter" idx="12"/>
          </p:nvPr>
        </p:nvSpPr>
        <p:spPr/>
        <p:txBody>
          <a:bodyPr/>
          <a:lstStyle>
            <a:lvl1pPr>
              <a:defRPr>
                <a:latin typeface="Calibri" panose="020F0502020204030204" pitchFamily="34" charset="0"/>
              </a:defRPr>
            </a:lvl1pPr>
          </a:lstStyle>
          <a:p>
            <a:fld id="{D51440F3-3B39-9647-A6DD-9F351B41140B}" type="slidenum">
              <a:rPr lang="en-US" smtClean="0"/>
              <a:pPr/>
              <a:t>‹#›</a:t>
            </a:fld>
            <a:endParaRPr lang="en-US"/>
          </a:p>
        </p:txBody>
      </p:sp>
      <p:sp>
        <p:nvSpPr>
          <p:cNvPr id="8" name="Text Box 18"/>
          <p:cNvSpPr txBox="1">
            <a:spLocks noChangeArrowheads="1"/>
          </p:cNvSpPr>
          <p:nvPr userDrawn="1"/>
        </p:nvSpPr>
        <p:spPr bwMode="auto">
          <a:xfrm>
            <a:off x="3048000" y="6457950"/>
            <a:ext cx="1752600" cy="230832"/>
          </a:xfrm>
          <a:prstGeom prst="rect">
            <a:avLst/>
          </a:prstGeom>
          <a:noFill/>
          <a:ln>
            <a:noFill/>
          </a:ln>
        </p:spPr>
        <p:txBody>
          <a:bodyPr wrap="square">
            <a:spAutoFit/>
          </a:bodyPr>
          <a:lstStyle>
            <a:lvl1pPr>
              <a:defRPr>
                <a:solidFill>
                  <a:schemeClr val="tx1"/>
                </a:solidFill>
                <a:latin typeface="Arial" charset="0"/>
                <a:ea typeface="MS PGothic"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r>
              <a:rPr lang="en-IN" sz="900" kern="1200" dirty="0">
                <a:solidFill>
                  <a:schemeClr val="bg1"/>
                </a:solidFill>
                <a:effectLst/>
                <a:latin typeface="Calibri" panose="020F0502020204030204" pitchFamily="34" charset="0"/>
                <a:ea typeface="MS PGothic" charset="0"/>
                <a:cs typeface="MS PGothic" charset="0"/>
              </a:rPr>
              <a:t>©2020 McGraw-Hill Education.</a:t>
            </a:r>
            <a:endParaRPr lang="en-US" sz="900" i="1" dirty="0">
              <a:solidFill>
                <a:schemeClr val="bg1"/>
              </a:solidFill>
              <a:latin typeface="Calibri" panose="020F0502020204030204" pitchFamily="34" charset="0"/>
              <a:ea typeface="ＭＳ Ｐゴシック" charset="0"/>
            </a:endParaRPr>
          </a:p>
        </p:txBody>
      </p:sp>
    </p:spTree>
    <p:extLst>
      <p:ext uri="{BB962C8B-B14F-4D97-AF65-F5344CB8AC3E}">
        <p14:creationId xmlns:p14="http://schemas.microsoft.com/office/powerpoint/2010/main" val="2880485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latin typeface="Calibri" panose="020F0502020204030204" pitchFamily="34" charset="0"/>
              </a:defRPr>
            </a:lvl1pPr>
          </a:lstStyle>
          <a:p>
            <a:r>
              <a:rPr lang="en-US" dirty="0"/>
              <a:t>Click to edit Master title style</a:t>
            </a:r>
          </a:p>
        </p:txBody>
      </p:sp>
      <p:sp>
        <p:nvSpPr>
          <p:cNvPr id="3" name="Content Placeholder 2"/>
          <p:cNvSpPr>
            <a:spLocks noGrp="1"/>
          </p:cNvSpPr>
          <p:nvPr>
            <p:ph idx="1"/>
          </p:nvPr>
        </p:nvSpPr>
        <p:spPr>
          <a:xfrm>
            <a:off x="822325" y="1447800"/>
            <a:ext cx="7543800" cy="1828800"/>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Calibri" panose="020F0502020204030204" pitchFamily="34" charset="0"/>
              </a:defRPr>
            </a:lvl1pPr>
          </a:lstStyle>
          <a:p>
            <a:fld id="{DE0999FA-C2EB-D140-B11A-C80232B99DEB}" type="datetimeFigureOut">
              <a:rPr lang="en-US" smtClean="0"/>
              <a:pPr/>
              <a:t>4/18/2026</a:t>
            </a:fld>
            <a:endParaRPr lang="en-US"/>
          </a:p>
        </p:txBody>
      </p:sp>
      <p:sp>
        <p:nvSpPr>
          <p:cNvPr id="6" name="Slide Number Placeholder 5"/>
          <p:cNvSpPr>
            <a:spLocks noGrp="1"/>
          </p:cNvSpPr>
          <p:nvPr>
            <p:ph type="sldNum" sz="quarter" idx="12"/>
          </p:nvPr>
        </p:nvSpPr>
        <p:spPr/>
        <p:txBody>
          <a:bodyPr/>
          <a:lstStyle>
            <a:lvl1pPr>
              <a:defRPr>
                <a:latin typeface="Calibri" panose="020F0502020204030204" pitchFamily="34" charset="0"/>
              </a:defRPr>
            </a:lvl1pPr>
          </a:lstStyle>
          <a:p>
            <a:fld id="{D51440F3-3B39-9647-A6DD-9F351B41140B}" type="slidenum">
              <a:rPr lang="en-US" smtClean="0"/>
              <a:pPr/>
              <a:t>‹#›</a:t>
            </a:fld>
            <a:endParaRPr lang="en-US"/>
          </a:p>
        </p:txBody>
      </p:sp>
      <p:sp>
        <p:nvSpPr>
          <p:cNvPr id="8" name="Text Box 18"/>
          <p:cNvSpPr txBox="1">
            <a:spLocks noChangeArrowheads="1"/>
          </p:cNvSpPr>
          <p:nvPr userDrawn="1"/>
        </p:nvSpPr>
        <p:spPr bwMode="auto">
          <a:xfrm>
            <a:off x="3048000" y="6457950"/>
            <a:ext cx="1752600" cy="230832"/>
          </a:xfrm>
          <a:prstGeom prst="rect">
            <a:avLst/>
          </a:prstGeom>
          <a:noFill/>
          <a:ln>
            <a:noFill/>
          </a:ln>
        </p:spPr>
        <p:txBody>
          <a:bodyPr wrap="square">
            <a:spAutoFit/>
          </a:bodyPr>
          <a:lstStyle>
            <a:lvl1pPr>
              <a:defRPr>
                <a:solidFill>
                  <a:schemeClr val="tx1"/>
                </a:solidFill>
                <a:latin typeface="Arial" charset="0"/>
                <a:ea typeface="MS PGothic"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r>
              <a:rPr lang="en-IN" sz="900" kern="1200" dirty="0">
                <a:solidFill>
                  <a:schemeClr val="bg1"/>
                </a:solidFill>
                <a:effectLst/>
                <a:latin typeface="Calibri" panose="020F0502020204030204" pitchFamily="34" charset="0"/>
                <a:ea typeface="MS PGothic" charset="0"/>
                <a:cs typeface="MS PGothic" charset="0"/>
              </a:rPr>
              <a:t>©2020 McGraw-Hill Education.</a:t>
            </a:r>
            <a:endParaRPr lang="en-US" sz="900" i="1" dirty="0">
              <a:solidFill>
                <a:schemeClr val="bg1"/>
              </a:solidFill>
              <a:latin typeface="Calibri" panose="020F0502020204030204" pitchFamily="34" charset="0"/>
              <a:ea typeface="ＭＳ Ｐゴシック" charset="0"/>
            </a:endParaRPr>
          </a:p>
        </p:txBody>
      </p:sp>
      <p:sp>
        <p:nvSpPr>
          <p:cNvPr id="7" name="Content Placeholder 2"/>
          <p:cNvSpPr>
            <a:spLocks noGrp="1"/>
          </p:cNvSpPr>
          <p:nvPr>
            <p:ph idx="13"/>
          </p:nvPr>
        </p:nvSpPr>
        <p:spPr>
          <a:xfrm>
            <a:off x="822325" y="3334808"/>
            <a:ext cx="7543800" cy="1828800"/>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35741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latin typeface="Calibri" panose="020F0502020204030204" pitchFamily="34" charset="0"/>
              </a:defRPr>
            </a:lvl1pPr>
          </a:lstStyle>
          <a:p>
            <a:r>
              <a:rPr lang="en-US" dirty="0"/>
              <a:t>Click to edit Master title style</a:t>
            </a:r>
          </a:p>
        </p:txBody>
      </p:sp>
      <p:sp>
        <p:nvSpPr>
          <p:cNvPr id="3" name="Content Placeholder 2"/>
          <p:cNvSpPr>
            <a:spLocks noGrp="1"/>
          </p:cNvSpPr>
          <p:nvPr>
            <p:ph idx="1"/>
          </p:nvPr>
        </p:nvSpPr>
        <p:spPr>
          <a:xfrm>
            <a:off x="822325" y="1447800"/>
            <a:ext cx="7543800" cy="1828800"/>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Calibri" panose="020F0502020204030204" pitchFamily="34" charset="0"/>
              </a:defRPr>
            </a:lvl1pPr>
          </a:lstStyle>
          <a:p>
            <a:fld id="{DE0999FA-C2EB-D140-B11A-C80232B99DEB}" type="datetimeFigureOut">
              <a:rPr lang="en-US" smtClean="0"/>
              <a:pPr/>
              <a:t>4/18/2026</a:t>
            </a:fld>
            <a:endParaRPr lang="en-US"/>
          </a:p>
        </p:txBody>
      </p:sp>
      <p:sp>
        <p:nvSpPr>
          <p:cNvPr id="6" name="Slide Number Placeholder 5"/>
          <p:cNvSpPr>
            <a:spLocks noGrp="1"/>
          </p:cNvSpPr>
          <p:nvPr>
            <p:ph type="sldNum" sz="quarter" idx="12"/>
          </p:nvPr>
        </p:nvSpPr>
        <p:spPr/>
        <p:txBody>
          <a:bodyPr/>
          <a:lstStyle>
            <a:lvl1pPr>
              <a:defRPr>
                <a:latin typeface="Calibri" panose="020F0502020204030204" pitchFamily="34" charset="0"/>
              </a:defRPr>
            </a:lvl1pPr>
          </a:lstStyle>
          <a:p>
            <a:fld id="{D51440F3-3B39-9647-A6DD-9F351B41140B}" type="slidenum">
              <a:rPr lang="en-US" smtClean="0"/>
              <a:pPr/>
              <a:t>‹#›</a:t>
            </a:fld>
            <a:endParaRPr lang="en-US"/>
          </a:p>
        </p:txBody>
      </p:sp>
      <p:sp>
        <p:nvSpPr>
          <p:cNvPr id="8" name="Text Box 18"/>
          <p:cNvSpPr txBox="1">
            <a:spLocks noChangeArrowheads="1"/>
          </p:cNvSpPr>
          <p:nvPr userDrawn="1"/>
        </p:nvSpPr>
        <p:spPr bwMode="auto">
          <a:xfrm>
            <a:off x="3048000" y="6457950"/>
            <a:ext cx="1752600" cy="230832"/>
          </a:xfrm>
          <a:prstGeom prst="rect">
            <a:avLst/>
          </a:prstGeom>
          <a:noFill/>
          <a:ln>
            <a:noFill/>
          </a:ln>
        </p:spPr>
        <p:txBody>
          <a:bodyPr wrap="square">
            <a:spAutoFit/>
          </a:bodyPr>
          <a:lstStyle>
            <a:lvl1pPr>
              <a:defRPr>
                <a:solidFill>
                  <a:schemeClr val="tx1"/>
                </a:solidFill>
                <a:latin typeface="Arial" charset="0"/>
                <a:ea typeface="MS PGothic"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r>
              <a:rPr lang="en-IN" sz="900" kern="1200" dirty="0">
                <a:solidFill>
                  <a:schemeClr val="bg1"/>
                </a:solidFill>
                <a:effectLst/>
                <a:latin typeface="Calibri" panose="020F0502020204030204" pitchFamily="34" charset="0"/>
                <a:ea typeface="MS PGothic" charset="0"/>
                <a:cs typeface="MS PGothic" charset="0"/>
              </a:rPr>
              <a:t>©2020 McGraw-Hill Education.</a:t>
            </a:r>
            <a:endParaRPr lang="en-US" sz="900" i="1" dirty="0">
              <a:solidFill>
                <a:schemeClr val="bg1"/>
              </a:solidFill>
              <a:latin typeface="Calibri" panose="020F0502020204030204" pitchFamily="34" charset="0"/>
              <a:ea typeface="ＭＳ Ｐゴシック" charset="0"/>
            </a:endParaRPr>
          </a:p>
        </p:txBody>
      </p:sp>
      <p:sp>
        <p:nvSpPr>
          <p:cNvPr id="7" name="Content Placeholder 2"/>
          <p:cNvSpPr>
            <a:spLocks noGrp="1"/>
          </p:cNvSpPr>
          <p:nvPr>
            <p:ph idx="13"/>
          </p:nvPr>
        </p:nvSpPr>
        <p:spPr>
          <a:xfrm>
            <a:off x="822325" y="3334808"/>
            <a:ext cx="7543800" cy="1618192"/>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4"/>
          </p:nvPr>
        </p:nvSpPr>
        <p:spPr>
          <a:xfrm>
            <a:off x="822325" y="5029200"/>
            <a:ext cx="7543800" cy="1241013"/>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41544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latin typeface="Calibri" panose="020F0502020204030204" pitchFamily="34" charset="0"/>
              </a:defRPr>
            </a:lvl1pPr>
          </a:lstStyle>
          <a:p>
            <a:r>
              <a:rPr lang="en-US" dirty="0"/>
              <a:t>Click to edit Master title style</a:t>
            </a:r>
          </a:p>
        </p:txBody>
      </p:sp>
      <p:sp>
        <p:nvSpPr>
          <p:cNvPr id="3" name="Content Placeholder 2"/>
          <p:cNvSpPr>
            <a:spLocks noGrp="1"/>
          </p:cNvSpPr>
          <p:nvPr>
            <p:ph idx="1"/>
          </p:nvPr>
        </p:nvSpPr>
        <p:spPr>
          <a:xfrm>
            <a:off x="822325" y="1447800"/>
            <a:ext cx="7543800" cy="1828800"/>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Calibri" panose="020F0502020204030204" pitchFamily="34" charset="0"/>
              </a:defRPr>
            </a:lvl1pPr>
          </a:lstStyle>
          <a:p>
            <a:fld id="{DE0999FA-C2EB-D140-B11A-C80232B99DEB}" type="datetimeFigureOut">
              <a:rPr lang="en-US" smtClean="0"/>
              <a:pPr/>
              <a:t>4/18/2026</a:t>
            </a:fld>
            <a:endParaRPr lang="en-US"/>
          </a:p>
        </p:txBody>
      </p:sp>
      <p:sp>
        <p:nvSpPr>
          <p:cNvPr id="6" name="Slide Number Placeholder 5"/>
          <p:cNvSpPr>
            <a:spLocks noGrp="1"/>
          </p:cNvSpPr>
          <p:nvPr>
            <p:ph type="sldNum" sz="quarter" idx="12"/>
          </p:nvPr>
        </p:nvSpPr>
        <p:spPr/>
        <p:txBody>
          <a:bodyPr/>
          <a:lstStyle>
            <a:lvl1pPr>
              <a:defRPr>
                <a:latin typeface="Calibri" panose="020F0502020204030204" pitchFamily="34" charset="0"/>
              </a:defRPr>
            </a:lvl1pPr>
          </a:lstStyle>
          <a:p>
            <a:fld id="{D51440F3-3B39-9647-A6DD-9F351B41140B}" type="slidenum">
              <a:rPr lang="en-US" smtClean="0"/>
              <a:pPr/>
              <a:t>‹#›</a:t>
            </a:fld>
            <a:endParaRPr lang="en-US"/>
          </a:p>
        </p:txBody>
      </p:sp>
      <p:sp>
        <p:nvSpPr>
          <p:cNvPr id="8" name="Text Box 18"/>
          <p:cNvSpPr txBox="1">
            <a:spLocks noChangeArrowheads="1"/>
          </p:cNvSpPr>
          <p:nvPr userDrawn="1"/>
        </p:nvSpPr>
        <p:spPr bwMode="auto">
          <a:xfrm>
            <a:off x="3048000" y="6457950"/>
            <a:ext cx="1752600" cy="230832"/>
          </a:xfrm>
          <a:prstGeom prst="rect">
            <a:avLst/>
          </a:prstGeom>
          <a:noFill/>
          <a:ln>
            <a:noFill/>
          </a:ln>
        </p:spPr>
        <p:txBody>
          <a:bodyPr wrap="square">
            <a:spAutoFit/>
          </a:bodyPr>
          <a:lstStyle>
            <a:lvl1pPr>
              <a:defRPr>
                <a:solidFill>
                  <a:schemeClr val="tx1"/>
                </a:solidFill>
                <a:latin typeface="Arial" charset="0"/>
                <a:ea typeface="MS PGothic"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r>
              <a:rPr lang="en-IN" sz="900" kern="1200" dirty="0">
                <a:solidFill>
                  <a:schemeClr val="bg1"/>
                </a:solidFill>
                <a:effectLst/>
                <a:latin typeface="Calibri" panose="020F0502020204030204" pitchFamily="34" charset="0"/>
                <a:ea typeface="MS PGothic" charset="0"/>
                <a:cs typeface="MS PGothic" charset="0"/>
              </a:rPr>
              <a:t>©2020 McGraw-Hill Education.</a:t>
            </a:r>
            <a:endParaRPr lang="en-US" sz="900" i="1" dirty="0">
              <a:solidFill>
                <a:schemeClr val="bg1"/>
              </a:solidFill>
              <a:latin typeface="Calibri" panose="020F0502020204030204" pitchFamily="34" charset="0"/>
              <a:ea typeface="ＭＳ Ｐゴシック" charset="0"/>
            </a:endParaRPr>
          </a:p>
        </p:txBody>
      </p:sp>
      <p:sp>
        <p:nvSpPr>
          <p:cNvPr id="7" name="Content Placeholder 2"/>
          <p:cNvSpPr>
            <a:spLocks noGrp="1"/>
          </p:cNvSpPr>
          <p:nvPr>
            <p:ph idx="13"/>
          </p:nvPr>
        </p:nvSpPr>
        <p:spPr>
          <a:xfrm>
            <a:off x="822325" y="3334808"/>
            <a:ext cx="7543800" cy="1618192"/>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4"/>
          </p:nvPr>
        </p:nvSpPr>
        <p:spPr>
          <a:xfrm>
            <a:off x="822325" y="5029200"/>
            <a:ext cx="7543800" cy="1241013"/>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p:cNvSpPr>
            <a:spLocks noGrp="1"/>
          </p:cNvSpPr>
          <p:nvPr>
            <p:ph sz="quarter" idx="15"/>
          </p:nvPr>
        </p:nvSpPr>
        <p:spPr>
          <a:xfrm>
            <a:off x="3657600" y="6688138"/>
            <a:ext cx="2590800" cy="246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Content Placeholder 11"/>
          <p:cNvSpPr>
            <a:spLocks noGrp="1"/>
          </p:cNvSpPr>
          <p:nvPr>
            <p:ph sz="quarter" idx="16"/>
          </p:nvPr>
        </p:nvSpPr>
        <p:spPr>
          <a:xfrm>
            <a:off x="3657600" y="7086600"/>
            <a:ext cx="2590800" cy="228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Content Placeholder 13"/>
          <p:cNvSpPr>
            <a:spLocks noGrp="1"/>
          </p:cNvSpPr>
          <p:nvPr>
            <p:ph sz="quarter" idx="17"/>
          </p:nvPr>
        </p:nvSpPr>
        <p:spPr>
          <a:xfrm>
            <a:off x="3581400" y="7467600"/>
            <a:ext cx="2743200" cy="228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290745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22960" y="758952"/>
            <a:ext cx="7543800" cy="3566160"/>
          </a:xfrm>
        </p:spPr>
        <p:txBody>
          <a:bodyPr anchorCtr="0"/>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fld id="{285A95B1-1493-6F49-88EE-5EC7173141B9}" type="datetimeFigureOut">
              <a:rPr lang="en-US"/>
              <a:pPr/>
              <a:t>4/18/2026</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1564F91F-E677-F945-836D-B91D2D8C060D}" type="slidenum">
              <a:rPr lang="en-US"/>
              <a:pPr/>
              <a:t>‹#›</a:t>
            </a:fld>
            <a:endParaRPr lang="en-US"/>
          </a:p>
        </p:txBody>
      </p:sp>
    </p:spTree>
    <p:extLst>
      <p:ext uri="{BB962C8B-B14F-4D97-AF65-F5344CB8AC3E}">
        <p14:creationId xmlns:p14="http://schemas.microsoft.com/office/powerpoint/2010/main" val="213556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65584"/>
            <a:ext cx="7543800" cy="98970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524001"/>
            <a:ext cx="3703320" cy="4345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524001"/>
            <a:ext cx="3703320" cy="4345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fld id="{B0EFC4EF-8D77-134A-AF88-39350A4064C2}" type="datetimeFigureOut">
              <a:rPr lang="en-US"/>
              <a:pPr/>
              <a:t>4/18/2026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B0C328E0-297A-704B-8773-4E95CA2C5299}" type="slidenum">
              <a:rPr lang="en-US"/>
              <a:pPr/>
              <a:t>‹#›</a:t>
            </a:fld>
            <a:endParaRPr lang="en-US"/>
          </a:p>
        </p:txBody>
      </p:sp>
    </p:spTree>
    <p:extLst>
      <p:ext uri="{BB962C8B-B14F-4D97-AF65-F5344CB8AC3E}">
        <p14:creationId xmlns:p14="http://schemas.microsoft.com/office/powerpoint/2010/main" val="3073445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5"/>
            <a:ext cx="7543800" cy="9690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97318"/>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209800"/>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71600"/>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209800"/>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fld id="{8106006F-6549-374D-BD29-FA69B57BCD8D}" type="datetimeFigureOut">
              <a:rPr lang="en-US"/>
              <a:pPr/>
              <a:t>4/18/2026</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4806BB21-89E2-E045-A122-6DDBBF297C19}" type="slidenum">
              <a:rPr lang="en-US"/>
              <a:pPr/>
              <a:t>‹#›</a:t>
            </a:fld>
            <a:endParaRPr lang="en-US"/>
          </a:p>
        </p:txBody>
      </p:sp>
    </p:spTree>
    <p:extLst>
      <p:ext uri="{BB962C8B-B14F-4D97-AF65-F5344CB8AC3E}">
        <p14:creationId xmlns:p14="http://schemas.microsoft.com/office/powerpoint/2010/main" val="1264382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fld id="{5158731D-18D8-1F4E-AE2C-C2403BD3CC80}" type="datetimeFigureOut">
              <a:rPr lang="en-US"/>
              <a:pPr/>
              <a:t>4/18/2026</a:t>
            </a:fld>
            <a:endParaRPr lang="en-US"/>
          </a:p>
        </p:txBody>
      </p:sp>
      <p:sp>
        <p:nvSpPr>
          <p:cNvPr id="5" name="Slide Number Placeholder 5"/>
          <p:cNvSpPr>
            <a:spLocks noGrp="1"/>
          </p:cNvSpPr>
          <p:nvPr>
            <p:ph type="sldNum" sz="quarter" idx="12"/>
          </p:nvPr>
        </p:nvSpPr>
        <p:spPr/>
        <p:txBody>
          <a:bodyPr/>
          <a:lstStyle>
            <a:lvl1pPr>
              <a:defRPr/>
            </a:lvl1pPr>
          </a:lstStyle>
          <a:p>
            <a:fld id="{5108B336-9D7C-F640-B885-B7F4EB665CFC}" type="slidenum">
              <a:rPr lang="en-US"/>
              <a:pPr/>
              <a:t>‹#›</a:t>
            </a:fld>
            <a:endParaRPr lang="en-US"/>
          </a:p>
        </p:txBody>
      </p:sp>
      <p:sp>
        <p:nvSpPr>
          <p:cNvPr id="6" name="Text Box 18"/>
          <p:cNvSpPr txBox="1">
            <a:spLocks noChangeArrowheads="1"/>
          </p:cNvSpPr>
          <p:nvPr userDrawn="1"/>
        </p:nvSpPr>
        <p:spPr bwMode="auto">
          <a:xfrm>
            <a:off x="3048000" y="6488668"/>
            <a:ext cx="3276600" cy="230832"/>
          </a:xfrm>
          <a:prstGeom prst="rect">
            <a:avLst/>
          </a:prstGeom>
          <a:noFill/>
          <a:ln>
            <a:noFill/>
          </a:ln>
        </p:spPr>
        <p:txBody>
          <a:bodyPr wrap="square">
            <a:spAutoFit/>
          </a:bodyPr>
          <a:lstStyle>
            <a:lvl1pPr>
              <a:defRPr>
                <a:solidFill>
                  <a:schemeClr val="tx1"/>
                </a:solidFill>
                <a:latin typeface="Arial" charset="0"/>
                <a:ea typeface="MS PGothic"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r>
              <a:rPr lang="en-IN" sz="900" kern="1200" dirty="0">
                <a:solidFill>
                  <a:schemeClr val="bg1"/>
                </a:solidFill>
                <a:effectLst/>
                <a:latin typeface="Calibri" panose="020F0502020204030204" pitchFamily="34" charset="0"/>
                <a:ea typeface="MS PGothic" charset="0"/>
                <a:cs typeface="MS PGothic" charset="0"/>
              </a:rPr>
              <a:t>©2020 McGraw-Hill Education. </a:t>
            </a:r>
            <a:endParaRPr lang="en-US" sz="900" i="1" dirty="0">
              <a:solidFill>
                <a:schemeClr val="bg1"/>
              </a:solidFill>
              <a:latin typeface="Calibri" panose="020F0502020204030204" pitchFamily="34" charset="0"/>
              <a:ea typeface="ＭＳ Ｐゴシック" charset="0"/>
            </a:endParaRPr>
          </a:p>
        </p:txBody>
      </p:sp>
    </p:spTree>
    <p:extLst>
      <p:ext uri="{BB962C8B-B14F-4D97-AF65-F5344CB8AC3E}">
        <p14:creationId xmlns:p14="http://schemas.microsoft.com/office/powerpoint/2010/main" val="3259788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p:cNvSpPr>
            <a:spLocks noGrp="1"/>
          </p:cNvSpPr>
          <p:nvPr>
            <p:ph type="dt" sz="half" idx="10"/>
          </p:nvPr>
        </p:nvSpPr>
        <p:spPr/>
        <p:txBody>
          <a:bodyPr/>
          <a:lstStyle>
            <a:lvl1pPr>
              <a:defRPr/>
            </a:lvl1pPr>
          </a:lstStyle>
          <a:p>
            <a:fld id="{63BDFDAB-DB59-FF41-9F2F-2985F462765B}" type="datetimeFigureOut">
              <a:rPr lang="en-US"/>
              <a:pPr/>
              <a:t>4/18/2026</a:t>
            </a:fld>
            <a:endParaRPr lang="en-US"/>
          </a:p>
        </p:txBody>
      </p:sp>
      <p:sp>
        <p:nvSpPr>
          <p:cNvPr id="5" name="Footer Placeholder 7"/>
          <p:cNvSpPr>
            <a:spLocks noGrp="1"/>
          </p:cNvSpPr>
          <p:nvPr>
            <p:ph type="ftr" sz="quarter" idx="11"/>
          </p:nvPr>
        </p:nvSpPr>
        <p:spPr/>
        <p:txBody>
          <a:bodyPr/>
          <a:lstStyle>
            <a:lvl1pPr>
              <a:defRPr/>
            </a:lvl1pPr>
          </a:lstStyle>
          <a:p>
            <a:endParaRPr lang="en-US"/>
          </a:p>
        </p:txBody>
      </p:sp>
      <p:sp>
        <p:nvSpPr>
          <p:cNvPr id="6" name="Slide Number Placeholder 8"/>
          <p:cNvSpPr>
            <a:spLocks noGrp="1"/>
          </p:cNvSpPr>
          <p:nvPr>
            <p:ph type="sldNum" sz="quarter" idx="12"/>
          </p:nvPr>
        </p:nvSpPr>
        <p:spPr/>
        <p:txBody>
          <a:bodyPr/>
          <a:lstStyle>
            <a:lvl1pPr>
              <a:defRPr/>
            </a:lvl1pPr>
          </a:lstStyle>
          <a:p>
            <a:fld id="{DAABADB6-9C46-AB4E-BE66-FB8DFEAD4CC9}" type="slidenum">
              <a:rPr lang="en-US"/>
              <a:pPr/>
              <a:t>‹#›</a:t>
            </a:fld>
            <a:endParaRPr lang="en-US"/>
          </a:p>
        </p:txBody>
      </p:sp>
    </p:spTree>
    <p:extLst>
      <p:ext uri="{BB962C8B-B14F-4D97-AF65-F5344CB8AC3E}">
        <p14:creationId xmlns:p14="http://schemas.microsoft.com/office/powerpoint/2010/main" val="638546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303847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3030538" y="0"/>
            <a:ext cx="4762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a:xfrm>
            <a:off x="349250" y="6459538"/>
            <a:ext cx="1963738" cy="365125"/>
          </a:xfrm>
        </p:spPr>
        <p:txBody>
          <a:bodyPr/>
          <a:lstStyle>
            <a:lvl1pPr>
              <a:defRPr/>
            </a:lvl1pPr>
          </a:lstStyle>
          <a:p>
            <a:fld id="{30A70F52-CB93-204C-AAA7-408ED2EABE88}" type="datetimeFigureOut">
              <a:rPr lang="en-US"/>
              <a:pPr/>
              <a:t>4/18/2026</a:t>
            </a:fld>
            <a:endParaRPr lang="en-US"/>
          </a:p>
        </p:txBody>
      </p:sp>
      <p:sp>
        <p:nvSpPr>
          <p:cNvPr id="8" name="Footer Placeholder 5"/>
          <p:cNvSpPr>
            <a:spLocks noGrp="1"/>
          </p:cNvSpPr>
          <p:nvPr>
            <p:ph type="ftr" sz="quarter" idx="11"/>
          </p:nvPr>
        </p:nvSpPr>
        <p:spPr>
          <a:xfrm>
            <a:off x="3600450" y="6459538"/>
            <a:ext cx="3486150" cy="365125"/>
          </a:xfrm>
        </p:spPr>
        <p:txBody>
          <a:bodyPr/>
          <a:lstStyle>
            <a:lvl1pPr algn="l">
              <a:defRPr>
                <a:solidFill>
                  <a:schemeClr val="tx2"/>
                </a:solidFill>
              </a:defRPr>
            </a:lvl1pPr>
          </a:lstStyle>
          <a:p>
            <a:endParaRPr lang="en-US"/>
          </a:p>
        </p:txBody>
      </p:sp>
      <p:sp>
        <p:nvSpPr>
          <p:cNvPr id="9" name="Slide Number Placeholder 6"/>
          <p:cNvSpPr>
            <a:spLocks noGrp="1"/>
          </p:cNvSpPr>
          <p:nvPr>
            <p:ph type="sldNum" sz="quarter" idx="12"/>
          </p:nvPr>
        </p:nvSpPr>
        <p:spPr/>
        <p:txBody>
          <a:bodyPr/>
          <a:lstStyle>
            <a:lvl1pPr>
              <a:defRPr>
                <a:solidFill>
                  <a:schemeClr val="tx2"/>
                </a:solidFill>
              </a:defRPr>
            </a:lvl1pPr>
          </a:lstStyle>
          <a:p>
            <a:fld id="{730939F7-EF48-3243-B030-E1CC74C629A7}" type="slidenum">
              <a:rPr lang="en-US"/>
              <a:pPr/>
              <a:t>‹#›</a:t>
            </a:fld>
            <a:endParaRPr lang="en-US"/>
          </a:p>
        </p:txBody>
      </p:sp>
    </p:spTree>
    <p:extLst>
      <p:ext uri="{BB962C8B-B14F-4D97-AF65-F5344CB8AC3E}">
        <p14:creationId xmlns:p14="http://schemas.microsoft.com/office/powerpoint/2010/main" val="3410261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4953000"/>
            <a:ext cx="9142413"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0" y="4914900"/>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Drag picture to placeholder or click icon to add</a:t>
            </a:r>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lvl1pPr>
              <a:defRPr/>
            </a:lvl1pPr>
          </a:lstStyle>
          <a:p>
            <a:fld id="{DA9F0DC8-A36E-F945-9322-E040116FEA7D}" type="datetimeFigureOut">
              <a:rPr lang="en-US"/>
              <a:pPr/>
              <a:t>4/18/2026</a:t>
            </a:fld>
            <a:endParaRPr lang="en-US"/>
          </a:p>
        </p:txBody>
      </p:sp>
      <p:sp>
        <p:nvSpPr>
          <p:cNvPr id="8" name="Footer Placeholder 5"/>
          <p:cNvSpPr>
            <a:spLocks noGrp="1"/>
          </p:cNvSpPr>
          <p:nvPr>
            <p:ph type="ftr" sz="quarter" idx="11"/>
          </p:nvPr>
        </p:nvSpPr>
        <p:spPr/>
        <p:txBody>
          <a:bodyPr/>
          <a:lstStyle>
            <a:lvl1pPr>
              <a:defRPr/>
            </a:lvl1pPr>
          </a:lstStyle>
          <a:p>
            <a:endParaRPr lang="en-US"/>
          </a:p>
        </p:txBody>
      </p:sp>
      <p:sp>
        <p:nvSpPr>
          <p:cNvPr id="9" name="Slide Number Placeholder 6"/>
          <p:cNvSpPr>
            <a:spLocks noGrp="1"/>
          </p:cNvSpPr>
          <p:nvPr>
            <p:ph type="sldNum" sz="quarter" idx="12"/>
          </p:nvPr>
        </p:nvSpPr>
        <p:spPr/>
        <p:txBody>
          <a:bodyPr/>
          <a:lstStyle>
            <a:lvl1pPr>
              <a:defRPr/>
            </a:lvl1pPr>
          </a:lstStyle>
          <a:p>
            <a:fld id="{60F20BA0-EA89-AC44-BB48-9DAB06F5C984}" type="slidenum">
              <a:rPr lang="en-US"/>
              <a:pPr/>
              <a:t>‹#›</a:t>
            </a:fld>
            <a:endParaRPr lang="en-US"/>
          </a:p>
        </p:txBody>
      </p:sp>
    </p:spTree>
    <p:extLst>
      <p:ext uri="{BB962C8B-B14F-4D97-AF65-F5344CB8AC3E}">
        <p14:creationId xmlns:p14="http://schemas.microsoft.com/office/powerpoint/2010/main" val="18511234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17663361-333C-0C4A-AAE8-B3833BD0EF21}" type="datetimeFigureOut">
              <a:rPr lang="en-US"/>
              <a:pPr/>
              <a:t>4/18/2026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772C80D-A885-A440-968E-3415E0D2651C}" type="slidenum">
              <a:rPr lang="en-US"/>
              <a:pPr/>
              <a:t>‹#›</a:t>
            </a:fld>
            <a:endParaRPr lang="en-US"/>
          </a:p>
        </p:txBody>
      </p:sp>
    </p:spTree>
    <p:extLst>
      <p:ext uri="{BB962C8B-B14F-4D97-AF65-F5344CB8AC3E}">
        <p14:creationId xmlns:p14="http://schemas.microsoft.com/office/powerpoint/2010/main" val="9188320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p:cNvSpPr>
            <a:spLocks noGrp="1"/>
          </p:cNvSpPr>
          <p:nvPr>
            <p:ph type="dt" sz="half" idx="10"/>
          </p:nvPr>
        </p:nvSpPr>
        <p:spPr/>
        <p:txBody>
          <a:bodyPr/>
          <a:lstStyle>
            <a:lvl1pPr>
              <a:defRPr/>
            </a:lvl1pPr>
          </a:lstStyle>
          <a:p>
            <a:fld id="{8663580D-94A4-484E-A0AB-D1965CE88613}" type="datetimeFigureOut">
              <a:rPr lang="en-US"/>
              <a:pPr/>
              <a:t>4/18/2026</a:t>
            </a:fld>
            <a:endParaRPr lang="en-US"/>
          </a:p>
        </p:txBody>
      </p:sp>
      <p:sp>
        <p:nvSpPr>
          <p:cNvPr id="7" name="Footer Placeholder 4"/>
          <p:cNvSpPr>
            <a:spLocks noGrp="1"/>
          </p:cNvSpPr>
          <p:nvPr>
            <p:ph type="ftr" sz="quarter" idx="11"/>
          </p:nvPr>
        </p:nvSpPr>
        <p:spPr/>
        <p:txBody>
          <a:bodyPr/>
          <a:lstStyle>
            <a:lvl1pPr>
              <a:defRPr/>
            </a:lvl1pPr>
          </a:lstStyle>
          <a:p>
            <a:endParaRPr lang="en-US"/>
          </a:p>
        </p:txBody>
      </p:sp>
      <p:sp>
        <p:nvSpPr>
          <p:cNvPr id="8" name="Slide Number Placeholder 5"/>
          <p:cNvSpPr>
            <a:spLocks noGrp="1"/>
          </p:cNvSpPr>
          <p:nvPr>
            <p:ph type="sldNum" sz="quarter" idx="12"/>
          </p:nvPr>
        </p:nvSpPr>
        <p:spPr/>
        <p:txBody>
          <a:bodyPr/>
          <a:lstStyle>
            <a:lvl1pPr>
              <a:defRPr/>
            </a:lvl1pPr>
          </a:lstStyle>
          <a:p>
            <a:fld id="{3A041516-5138-DF45-B962-373F8CC7CEB9}" type="slidenum">
              <a:rPr lang="en-US"/>
              <a:pPr/>
              <a:t>‹#›</a:t>
            </a:fld>
            <a:endParaRPr lang="en-US"/>
          </a:p>
        </p:txBody>
      </p:sp>
    </p:spTree>
    <p:extLst>
      <p:ext uri="{BB962C8B-B14F-4D97-AF65-F5344CB8AC3E}">
        <p14:creationId xmlns:p14="http://schemas.microsoft.com/office/powerpoint/2010/main" val="25862618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8" name="Title 1"/>
          <p:cNvSpPr>
            <a:spLocks noGrp="1"/>
          </p:cNvSpPr>
          <p:nvPr>
            <p:ph type="title"/>
          </p:nvPr>
        </p:nvSpPr>
        <p:spPr>
          <a:xfrm>
            <a:off x="457200" y="304800"/>
            <a:ext cx="8229600" cy="914400"/>
          </a:xfrm>
        </p:spPr>
        <p:txBody>
          <a:bodyPr/>
          <a:lstStyle>
            <a:lvl1pPr>
              <a:defRPr sz="4000"/>
            </a:lvl1pPr>
          </a:lstStyle>
          <a:p>
            <a:r>
              <a:rPr lang="en-US" dirty="0"/>
              <a:t>Click to edit Master title style</a:t>
            </a:r>
          </a:p>
        </p:txBody>
      </p:sp>
    </p:spTree>
    <p:extLst>
      <p:ext uri="{BB962C8B-B14F-4D97-AF65-F5344CB8AC3E}">
        <p14:creationId xmlns:p14="http://schemas.microsoft.com/office/powerpoint/2010/main" val="696926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325" y="152400"/>
            <a:ext cx="7543800" cy="1025525"/>
          </a:xfrm>
          <a:prstGeom prst="rect">
            <a:avLst/>
          </a:prstGeom>
        </p:spPr>
        <p:txBody>
          <a:bodyPr vert="horz" lIns="91440" tIns="45720" rIns="91440" bIns="45720" rtlCol="0" anchor="b">
            <a:normAutofit/>
          </a:bodyPr>
          <a:lstStyle/>
          <a:p>
            <a:r>
              <a:rPr lang="en-US" dirty="0"/>
              <a:t>Click to edit Master title style</a:t>
            </a:r>
          </a:p>
        </p:txBody>
      </p:sp>
      <p:sp>
        <p:nvSpPr>
          <p:cNvPr id="1029" name="Text Placeholder 2"/>
          <p:cNvSpPr>
            <a:spLocks noGrp="1"/>
          </p:cNvSpPr>
          <p:nvPr>
            <p:ph type="body" idx="1"/>
          </p:nvPr>
        </p:nvSpPr>
        <p:spPr bwMode="auto">
          <a:xfrm>
            <a:off x="822325" y="1447800"/>
            <a:ext cx="7543800" cy="472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22325" y="6459538"/>
            <a:ext cx="1854200" cy="365125"/>
          </a:xfrm>
          <a:prstGeom prst="rect">
            <a:avLst/>
          </a:prstGeom>
        </p:spPr>
        <p:txBody>
          <a:bodyPr vert="horz" wrap="square" lIns="91440" tIns="45720" rIns="91440" bIns="45720" numCol="1" anchor="ctr" anchorCtr="0" compatLnSpc="1">
            <a:prstTxWarp prst="textNoShape">
              <a:avLst/>
            </a:prstTxWarp>
          </a:bodyPr>
          <a:lstStyle>
            <a:lvl1pPr>
              <a:defRPr sz="900">
                <a:solidFill>
                  <a:srgbClr val="FFFFFF"/>
                </a:solidFill>
              </a:defRPr>
            </a:lvl1pPr>
          </a:lstStyle>
          <a:p>
            <a:fld id="{72D044A1-7E6B-EA43-9EA7-3F2FE1090EEC}" type="datetimeFigureOut">
              <a:rPr lang="en-US"/>
              <a:pPr/>
              <a:t>4/18/2026</a:t>
            </a:fld>
            <a:endParaRPr lang="en-US"/>
          </a:p>
        </p:txBody>
      </p:sp>
      <p:sp>
        <p:nvSpPr>
          <p:cNvPr id="5" name="Footer Placeholder 4"/>
          <p:cNvSpPr>
            <a:spLocks noGrp="1"/>
          </p:cNvSpPr>
          <p:nvPr>
            <p:ph type="ftr" sz="quarter" idx="3"/>
          </p:nvPr>
        </p:nvSpPr>
        <p:spPr>
          <a:xfrm>
            <a:off x="2743200" y="6535738"/>
            <a:ext cx="6302375" cy="322262"/>
          </a:xfrm>
          <a:prstGeom prst="rect">
            <a:avLst/>
          </a:prstGeom>
        </p:spPr>
        <p:txBody>
          <a:bodyPr vert="horz" wrap="square" lIns="91440" tIns="45720" rIns="91440" bIns="45720" numCol="1" anchor="ctr" anchorCtr="0" compatLnSpc="1">
            <a:prstTxWarp prst="textNoShape">
              <a:avLst/>
            </a:prstTxWarp>
          </a:bodyPr>
          <a:lstStyle>
            <a:lvl1pPr algn="ctr">
              <a:defRPr sz="900">
                <a:solidFill>
                  <a:srgbClr val="FFFFFF"/>
                </a:solidFill>
              </a:defRPr>
            </a:lvl1pPr>
          </a:lstStyle>
          <a:p>
            <a:r>
              <a:rPr lang="en-US" sz="900" i="1" dirty="0">
                <a:solidFill>
                  <a:schemeClr val="bg1"/>
                </a:solidFill>
                <a:ea typeface="ＭＳ Ｐゴシック" charset="0"/>
              </a:rPr>
              <a:t>Copyright ©2020</a:t>
            </a:r>
            <a:r>
              <a:rPr lang="en-US" sz="900" i="1" baseline="0" dirty="0">
                <a:solidFill>
                  <a:schemeClr val="bg1"/>
                </a:solidFill>
                <a:ea typeface="ＭＳ Ｐゴシック" charset="0"/>
              </a:rPr>
              <a:t> McGraw-Hill Education. All rights reserved. No reproduction or distribution without the prior written consent of McGraw-Hill Education. </a:t>
            </a:r>
            <a:r>
              <a:rPr lang="en-US" sz="900" i="1" dirty="0">
                <a:solidFill>
                  <a:schemeClr val="bg1"/>
                </a:solidFill>
                <a:ea typeface="ＭＳ Ｐゴシック" charset="0"/>
              </a:rPr>
              <a:t> </a:t>
            </a:r>
          </a:p>
          <a:p>
            <a:endParaRPr lang="en-US" i="1" dirty="0"/>
          </a:p>
        </p:txBody>
      </p:sp>
      <p:sp>
        <p:nvSpPr>
          <p:cNvPr id="6" name="Slide Number Placeholder 5"/>
          <p:cNvSpPr>
            <a:spLocks noGrp="1"/>
          </p:cNvSpPr>
          <p:nvPr>
            <p:ph type="sldNum" sz="quarter" idx="4"/>
          </p:nvPr>
        </p:nvSpPr>
        <p:spPr>
          <a:xfrm>
            <a:off x="7424738" y="6459538"/>
            <a:ext cx="984250"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rgbClr val="FFFFFF"/>
                </a:solidFill>
              </a:defRPr>
            </a:lvl1pPr>
          </a:lstStyle>
          <a:p>
            <a:fld id="{90B35B00-E68E-BB40-8320-FFA9339AF092}" type="slidenum">
              <a:rPr lang="en-US"/>
              <a:pPr/>
              <a:t>‹#›</a:t>
            </a:fld>
            <a:endParaRPr lang="en-US"/>
          </a:p>
        </p:txBody>
      </p:sp>
      <p:cxnSp>
        <p:nvCxnSpPr>
          <p:cNvPr id="10" name="Straight Connector 9"/>
          <p:cNvCxnSpPr/>
          <p:nvPr/>
        </p:nvCxnSpPr>
        <p:spPr>
          <a:xfrm>
            <a:off x="895350" y="1219200"/>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7772400" y="0"/>
            <a:ext cx="1219200" cy="246063"/>
          </a:xfrm>
          <a:prstGeom prst="rect">
            <a:avLst/>
          </a:prstGeom>
          <a:noFill/>
        </p:spPr>
        <p:txBody>
          <a:bodyPr>
            <a:spAutoFit/>
          </a:bodyPr>
          <a:lstStyle>
            <a:lvl1pPr>
              <a:defRPr>
                <a:solidFill>
                  <a:schemeClr val="tx1"/>
                </a:solidFill>
                <a:latin typeface="Arial" charset="0"/>
                <a:ea typeface="ＭＳ Ｐゴシック"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pPr algn="r" eaLnBrk="1" hangingPunct="1"/>
            <a:r>
              <a:rPr lang="en-US" sz="1000" dirty="0"/>
              <a:t>6-</a:t>
            </a:r>
            <a:fld id="{DD301089-3D58-6841-B183-47AB8241EAA7}" type="slidenum">
              <a:rPr lang="en-US" sz="1000" smtClean="0"/>
              <a:pPr algn="r" eaLnBrk="1" hangingPunct="1"/>
              <a:t>‹#›</a:t>
            </a:fld>
            <a:endParaRPr lang="en-US" sz="1000" dirty="0"/>
          </a:p>
        </p:txBody>
      </p:sp>
    </p:spTree>
  </p:cSld>
  <p:clrMap bg1="lt1" tx1="dk1" bg2="lt2" tx2="dk2" accent1="accent1" accent2="accent2" accent3="accent3" accent4="accent4" accent5="accent5" accent6="accent6" hlink="hlink" folHlink="folHlink"/>
  <p:sldLayoutIdLst>
    <p:sldLayoutId id="2147484642" r:id="rId1"/>
    <p:sldLayoutId id="2147484637" r:id="rId2"/>
    <p:sldLayoutId id="2147484649" r:id="rId3"/>
    <p:sldLayoutId id="2147484650" r:id="rId4"/>
    <p:sldLayoutId id="2147484651" r:id="rId5"/>
    <p:sldLayoutId id="2147484643" r:id="rId6"/>
    <p:sldLayoutId id="2147484638" r:id="rId7"/>
    <p:sldLayoutId id="2147484639" r:id="rId8"/>
    <p:sldLayoutId id="2147484640" r:id="rId9"/>
    <p:sldLayoutId id="2147484644" r:id="rId10"/>
    <p:sldLayoutId id="2147484645" r:id="rId11"/>
    <p:sldLayoutId id="2147484646" r:id="rId12"/>
    <p:sldLayoutId id="2147484641" r:id="rId13"/>
    <p:sldLayoutId id="2147484647" r:id="rId14"/>
    <p:sldLayoutId id="2147484648" r:id="rId15"/>
  </p:sldLayoutIdLst>
  <p:txStyles>
    <p:titleStyle>
      <a:lvl1pPr algn="l" rtl="0" eaLnBrk="0" fontAlgn="base" hangingPunct="0">
        <a:lnSpc>
          <a:spcPct val="85000"/>
        </a:lnSpc>
        <a:spcBef>
          <a:spcPct val="0"/>
        </a:spcBef>
        <a:spcAft>
          <a:spcPct val="0"/>
        </a:spcAft>
        <a:defRPr sz="4000" kern="1200" spc="-50">
          <a:solidFill>
            <a:srgbClr val="404040"/>
          </a:solidFill>
          <a:latin typeface="+mj-lt"/>
          <a:ea typeface="ＭＳ Ｐゴシック" charset="0"/>
          <a:cs typeface="+mj-cs"/>
        </a:defRPr>
      </a:lvl1pPr>
      <a:lvl2pPr algn="l" rtl="0" eaLnBrk="0" fontAlgn="base" hangingPunct="0">
        <a:lnSpc>
          <a:spcPct val="85000"/>
        </a:lnSpc>
        <a:spcBef>
          <a:spcPct val="0"/>
        </a:spcBef>
        <a:spcAft>
          <a:spcPct val="0"/>
        </a:spcAft>
        <a:defRPr sz="4000">
          <a:solidFill>
            <a:srgbClr val="404040"/>
          </a:solidFill>
          <a:latin typeface="Calibri Light" panose="020F0302020204030204" pitchFamily="34" charset="0"/>
          <a:ea typeface="ＭＳ Ｐゴシック" charset="0"/>
        </a:defRPr>
      </a:lvl2pPr>
      <a:lvl3pPr algn="l" rtl="0" eaLnBrk="0" fontAlgn="base" hangingPunct="0">
        <a:lnSpc>
          <a:spcPct val="85000"/>
        </a:lnSpc>
        <a:spcBef>
          <a:spcPct val="0"/>
        </a:spcBef>
        <a:spcAft>
          <a:spcPct val="0"/>
        </a:spcAft>
        <a:defRPr sz="4000">
          <a:solidFill>
            <a:srgbClr val="404040"/>
          </a:solidFill>
          <a:latin typeface="Calibri Light" panose="020F0302020204030204" pitchFamily="34" charset="0"/>
          <a:ea typeface="ＭＳ Ｐゴシック" charset="0"/>
        </a:defRPr>
      </a:lvl3pPr>
      <a:lvl4pPr algn="l" rtl="0" eaLnBrk="0" fontAlgn="base" hangingPunct="0">
        <a:lnSpc>
          <a:spcPct val="85000"/>
        </a:lnSpc>
        <a:spcBef>
          <a:spcPct val="0"/>
        </a:spcBef>
        <a:spcAft>
          <a:spcPct val="0"/>
        </a:spcAft>
        <a:defRPr sz="4000">
          <a:solidFill>
            <a:srgbClr val="404040"/>
          </a:solidFill>
          <a:latin typeface="Calibri Light" panose="020F0302020204030204" pitchFamily="34" charset="0"/>
          <a:ea typeface="ＭＳ Ｐゴシック" charset="0"/>
        </a:defRPr>
      </a:lvl4pPr>
      <a:lvl5pPr algn="l" rtl="0" eaLnBrk="0" fontAlgn="base" hangingPunct="0">
        <a:lnSpc>
          <a:spcPct val="85000"/>
        </a:lnSpc>
        <a:spcBef>
          <a:spcPct val="0"/>
        </a:spcBef>
        <a:spcAft>
          <a:spcPct val="0"/>
        </a:spcAft>
        <a:defRPr sz="4000">
          <a:solidFill>
            <a:srgbClr val="404040"/>
          </a:solidFill>
          <a:latin typeface="Calibri Light" panose="020F0302020204030204" pitchFamily="34" charset="0"/>
          <a:ea typeface="ＭＳ Ｐゴシック"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charset="0"/>
        <a:buChar char=" "/>
        <a:defRPr sz="2000" kern="1200">
          <a:solidFill>
            <a:srgbClr val="404040"/>
          </a:solidFill>
          <a:latin typeface="+mn-lt"/>
          <a:ea typeface="ＭＳ Ｐゴシック" charset="0"/>
          <a:cs typeface="+mn-cs"/>
        </a:defRPr>
      </a:lvl1pPr>
      <a:lvl2pPr marL="382588" indent="-182563" algn="l" rtl="0" eaLnBrk="0" fontAlgn="base" hangingPunct="0">
        <a:lnSpc>
          <a:spcPct val="90000"/>
        </a:lnSpc>
        <a:spcBef>
          <a:spcPts val="200"/>
        </a:spcBef>
        <a:spcAft>
          <a:spcPts val="400"/>
        </a:spcAft>
        <a:buClr>
          <a:schemeClr val="accent1"/>
        </a:buClr>
        <a:buFont typeface="Calibri" charset="0"/>
        <a:buChar char="◦"/>
        <a:defRPr kern="1200">
          <a:solidFill>
            <a:srgbClr val="404040"/>
          </a:solidFill>
          <a:latin typeface="+mn-lt"/>
          <a:ea typeface="ＭＳ Ｐゴシック" charset="0"/>
          <a:cs typeface="+mn-cs"/>
        </a:defRPr>
      </a:lvl2pPr>
      <a:lvl3pPr marL="566738" indent="-182563" algn="l" rtl="0" eaLnBrk="0" fontAlgn="base" hangingPunct="0">
        <a:lnSpc>
          <a:spcPct val="90000"/>
        </a:lnSpc>
        <a:spcBef>
          <a:spcPts val="200"/>
        </a:spcBef>
        <a:spcAft>
          <a:spcPts val="400"/>
        </a:spcAft>
        <a:buClr>
          <a:schemeClr val="accent1"/>
        </a:buClr>
        <a:buFont typeface="Calibri" charset="0"/>
        <a:buChar char="◦"/>
        <a:defRPr sz="1400" kern="1200">
          <a:solidFill>
            <a:srgbClr val="404040"/>
          </a:solidFill>
          <a:latin typeface="+mn-lt"/>
          <a:ea typeface="ＭＳ Ｐゴシック" charset="0"/>
          <a:cs typeface="+mn-cs"/>
        </a:defRPr>
      </a:lvl3pPr>
      <a:lvl4pPr marL="749300" indent="-182563" algn="l" rtl="0" eaLnBrk="0" fontAlgn="base" hangingPunct="0">
        <a:lnSpc>
          <a:spcPct val="90000"/>
        </a:lnSpc>
        <a:spcBef>
          <a:spcPts val="200"/>
        </a:spcBef>
        <a:spcAft>
          <a:spcPts val="400"/>
        </a:spcAft>
        <a:buClr>
          <a:schemeClr val="accent1"/>
        </a:buClr>
        <a:buFont typeface="Calibri" charset="0"/>
        <a:buChar char="◦"/>
        <a:defRPr sz="1400" kern="1200">
          <a:solidFill>
            <a:srgbClr val="404040"/>
          </a:solidFill>
          <a:latin typeface="+mn-lt"/>
          <a:ea typeface="ＭＳ Ｐゴシック" charset="0"/>
          <a:cs typeface="+mn-cs"/>
        </a:defRPr>
      </a:lvl4pPr>
      <a:lvl5pPr marL="931863" indent="-182563" algn="l" rtl="0" eaLnBrk="0" fontAlgn="base" hangingPunct="0">
        <a:lnSpc>
          <a:spcPct val="90000"/>
        </a:lnSpc>
        <a:spcBef>
          <a:spcPts val="200"/>
        </a:spcBef>
        <a:spcAft>
          <a:spcPts val="400"/>
        </a:spcAft>
        <a:buClr>
          <a:schemeClr val="accent1"/>
        </a:buClr>
        <a:buFont typeface="Calibri" charset="0"/>
        <a:buChar char="◦"/>
        <a:defRPr sz="1400" kern="1200">
          <a:solidFill>
            <a:srgbClr val="404040"/>
          </a:solidFill>
          <a:latin typeface="+mn-lt"/>
          <a:ea typeface="ＭＳ Ｐゴシック" charset="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457338" y="755374"/>
            <a:ext cx="7772262" cy="3435626"/>
          </a:xfrm>
        </p:spPr>
        <p:txBody>
          <a:bodyPr>
            <a:noAutofit/>
          </a:bodyPr>
          <a:lstStyle/>
          <a:p>
            <a:pPr>
              <a:lnSpc>
                <a:spcPct val="90000"/>
              </a:lnSpc>
              <a:defRPr/>
            </a:pPr>
            <a:r>
              <a:rPr lang="en-US" altLang="en-US" sz="4900">
                <a:solidFill>
                  <a:srgbClr val="FF0000"/>
                </a:solidFill>
                <a:cs typeface="ＭＳ Ｐゴシック" charset="-128"/>
              </a:rPr>
              <a:t>L</a:t>
            </a:r>
            <a:r>
              <a:rPr lang="en-US" altLang="en-US" sz="4900" b="1">
                <a:solidFill>
                  <a:srgbClr val="FF0000"/>
                </a:solidFill>
                <a:cs typeface="ＭＳ Ｐゴシック" charset="-128"/>
              </a:rPr>
              <a:t>ECTURE THREE</a:t>
            </a:r>
            <a:br>
              <a:rPr lang="en-US" altLang="en-US" sz="4900" b="1" dirty="0">
                <a:solidFill>
                  <a:srgbClr val="FF0000"/>
                </a:solidFill>
                <a:cs typeface="ＭＳ Ｐゴシック" charset="-128"/>
              </a:rPr>
            </a:br>
            <a:r>
              <a:rPr lang="en-US" altLang="en-US" sz="4900" b="1" dirty="0">
                <a:solidFill>
                  <a:srgbClr val="FF0000"/>
                </a:solidFill>
                <a:cs typeface="ＭＳ Ｐゴシック" charset="-128"/>
              </a:rPr>
              <a:t>Differential Analysis: </a:t>
            </a:r>
            <a:br>
              <a:rPr lang="en-US" altLang="en-US" sz="4900" b="1" dirty="0">
                <a:cs typeface="ＭＳ Ｐゴシック" charset="-128"/>
              </a:rPr>
            </a:br>
            <a:r>
              <a:rPr lang="en-US" altLang="en-US" sz="4900" b="1" dirty="0">
                <a:cs typeface="ＭＳ Ｐゴシック" charset="-128"/>
              </a:rPr>
              <a:t>The Key to Decision Making</a:t>
            </a:r>
            <a:endParaRPr lang="en-US" altLang="en-US" sz="4900" b="1" dirty="0">
              <a:solidFill>
                <a:schemeClr val="tx1"/>
              </a:solidFill>
              <a:ea typeface="+mj-ea"/>
            </a:endParaRPr>
          </a:p>
        </p:txBody>
      </p:sp>
      <p:sp>
        <p:nvSpPr>
          <p:cNvPr id="2" name="Content Placeholder 1"/>
          <p:cNvSpPr>
            <a:spLocks noGrp="1"/>
          </p:cNvSpPr>
          <p:nvPr>
            <p:ph sz="quarter" idx="11"/>
          </p:nvPr>
        </p:nvSpPr>
        <p:spPr>
          <a:xfrm>
            <a:off x="457200" y="6459539"/>
            <a:ext cx="8001000" cy="322262"/>
          </a:xfrm>
        </p:spPr>
        <p:txBody>
          <a:bodyPr/>
          <a:lstStyle/>
          <a:p>
            <a:pPr marL="0" indent="0">
              <a:buNone/>
            </a:pPr>
            <a:r>
              <a:rPr lang="en-IN" sz="900" dirty="0">
                <a:solidFill>
                  <a:schemeClr val="bg1"/>
                </a:solidFill>
                <a:latin typeface="Calibri" panose="020F0502020204030204" pitchFamily="34" charset="0"/>
                <a:ea typeface="MS PGothic" charset="0"/>
                <a:cs typeface="MS PGothic" charset="0"/>
              </a:rPr>
              <a:t>©2020 McGraw-Hill Education. All rights reserved. Authorized only for instructor use in the classroom. No reproduction or further distribution permitted without the prior written consent of McGraw-Hill Education.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3"/>
          <p:cNvSpPr>
            <a:spLocks noGrp="1"/>
          </p:cNvSpPr>
          <p:nvPr>
            <p:ph type="title"/>
          </p:nvPr>
        </p:nvSpPr>
        <p:spPr/>
        <p:txBody>
          <a:bodyPr>
            <a:noAutofit/>
          </a:bodyPr>
          <a:lstStyle/>
          <a:p>
            <a:pPr eaLnBrk="1" hangingPunct="1">
              <a:lnSpc>
                <a:spcPct val="90000"/>
              </a:lnSpc>
              <a:defRPr/>
            </a:pPr>
            <a:r>
              <a:rPr lang="en-US" dirty="0">
                <a:cs typeface="ＭＳ Ｐゴシック" charset="-128"/>
              </a:rPr>
              <a:t>Decision Making</a:t>
            </a:r>
            <a:endParaRPr lang="en-US" altLang="en-US" dirty="0">
              <a:ea typeface="+mj-ea"/>
            </a:endParaRPr>
          </a:p>
        </p:txBody>
      </p:sp>
      <p:sp>
        <p:nvSpPr>
          <p:cNvPr id="6" name="Content Placeholder 5"/>
          <p:cNvSpPr>
            <a:spLocks noGrp="1"/>
          </p:cNvSpPr>
          <p:nvPr>
            <p:ph idx="13"/>
          </p:nvPr>
        </p:nvSpPr>
        <p:spPr>
          <a:xfrm>
            <a:off x="822325" y="1862328"/>
            <a:ext cx="7543800" cy="1033272"/>
          </a:xfrm>
        </p:spPr>
        <p:txBody>
          <a:bodyPr/>
          <a:lstStyle/>
          <a:p>
            <a:pPr marL="0" indent="0">
              <a:buNone/>
            </a:pPr>
            <a:r>
              <a:rPr lang="en-US" altLang="en-US" sz="2400" dirty="0">
                <a:solidFill>
                  <a:schemeClr val="tx1"/>
                </a:solidFill>
                <a:latin typeface="+mn-lt"/>
                <a:cs typeface="Times New Roman" panose="02020603050405020304" pitchFamily="18" charset="0"/>
              </a:rPr>
              <a:t>Every decision involves choosing from among at least two alternatives. Therefore, the </a:t>
            </a:r>
            <a:r>
              <a:rPr lang="en-US" altLang="en-US" sz="2400" b="1" dirty="0">
                <a:solidFill>
                  <a:schemeClr val="tx1"/>
                </a:solidFill>
                <a:latin typeface="+mn-lt"/>
                <a:cs typeface="Times New Roman" panose="02020603050405020304" pitchFamily="18" charset="0"/>
              </a:rPr>
              <a:t>first step</a:t>
            </a:r>
            <a:r>
              <a:rPr lang="en-US" altLang="en-US" sz="2400" dirty="0">
                <a:solidFill>
                  <a:schemeClr val="tx1"/>
                </a:solidFill>
                <a:latin typeface="+mn-lt"/>
                <a:cs typeface="Times New Roman" panose="02020603050405020304" pitchFamily="18" charset="0"/>
              </a:rPr>
              <a:t> in decision-making is to </a:t>
            </a:r>
            <a:r>
              <a:rPr lang="en-US" altLang="en-US" sz="2400" b="1" dirty="0">
                <a:solidFill>
                  <a:schemeClr val="tx1"/>
                </a:solidFill>
                <a:latin typeface="+mn-lt"/>
                <a:cs typeface="Times New Roman" panose="02020603050405020304" pitchFamily="18" charset="0"/>
              </a:rPr>
              <a:t>define the alternatives </a:t>
            </a:r>
            <a:r>
              <a:rPr lang="en-US" altLang="en-US" sz="2400" dirty="0">
                <a:solidFill>
                  <a:schemeClr val="tx1"/>
                </a:solidFill>
                <a:latin typeface="+mn-lt"/>
                <a:cs typeface="Times New Roman" panose="02020603050405020304" pitchFamily="18" charset="0"/>
              </a:rPr>
              <a:t>being considered</a:t>
            </a:r>
            <a:r>
              <a:rPr lang="en-US" altLang="en-US" sz="2400" b="1" dirty="0">
                <a:solidFill>
                  <a:schemeClr val="tx1"/>
                </a:solidFill>
                <a:latin typeface="+mn-lt"/>
                <a:cs typeface="Times New Roman" panose="02020603050405020304" pitchFamily="18" charset="0"/>
              </a:rPr>
              <a:t>.</a:t>
            </a:r>
            <a:endParaRPr lang="en-US" altLang="en-US" sz="2400" dirty="0">
              <a:solidFill>
                <a:schemeClr val="tx1"/>
              </a:solidFill>
              <a:latin typeface="+mn-lt"/>
              <a:cs typeface="Times New Roman" panose="02020603050405020304" pitchFamily="18" charset="0"/>
            </a:endParaRPr>
          </a:p>
        </p:txBody>
      </p:sp>
      <p:sp>
        <p:nvSpPr>
          <p:cNvPr id="8" name="Content Placeholder 7"/>
          <p:cNvSpPr>
            <a:spLocks noGrp="1"/>
          </p:cNvSpPr>
          <p:nvPr>
            <p:ph sz="quarter" idx="15"/>
          </p:nvPr>
        </p:nvSpPr>
        <p:spPr>
          <a:xfrm>
            <a:off x="822324" y="3580002"/>
            <a:ext cx="7712075" cy="2515998"/>
          </a:xfrm>
        </p:spPr>
        <p:txBody>
          <a:bodyPr/>
          <a:lstStyle/>
          <a:p>
            <a:pPr marL="0" indent="0">
              <a:buNone/>
              <a:tabLst>
                <a:tab pos="1943100" algn="l"/>
              </a:tabLst>
            </a:pPr>
            <a:r>
              <a:rPr lang="en-US" sz="2400" dirty="0">
                <a:solidFill>
                  <a:schemeClr val="tx1"/>
                </a:solidFill>
                <a:cs typeface="Times New Roman" charset="0"/>
              </a:rPr>
              <a:t>Once you have defined the alternatives, you need to </a:t>
            </a:r>
            <a:r>
              <a:rPr lang="en-US" sz="2400" b="1" dirty="0">
                <a:solidFill>
                  <a:schemeClr val="tx1"/>
                </a:solidFill>
                <a:cs typeface="Times New Roman" charset="0"/>
              </a:rPr>
              <a:t>identify the criteria </a:t>
            </a:r>
            <a:r>
              <a:rPr lang="en-US" sz="2400" dirty="0">
                <a:solidFill>
                  <a:schemeClr val="tx1"/>
                </a:solidFill>
                <a:cs typeface="Times New Roman" charset="0"/>
              </a:rPr>
              <a:t>for choosing among them.</a:t>
            </a:r>
          </a:p>
          <a:p>
            <a:pPr marL="291600" indent="-291600">
              <a:spcBef>
                <a:spcPts val="1500"/>
              </a:spcBef>
              <a:spcAft>
                <a:spcPts val="0"/>
              </a:spcAft>
              <a:buClrTx/>
              <a:buFont typeface="Arial" charset="0"/>
              <a:buChar char="•"/>
              <a:tabLst>
                <a:tab pos="1943100" algn="l"/>
              </a:tabLst>
            </a:pPr>
            <a:r>
              <a:rPr lang="en-US" sz="2400" b="1" dirty="0">
                <a:solidFill>
                  <a:schemeClr val="tx1"/>
                </a:solidFill>
                <a:cs typeface="Times New Roman" charset="0"/>
              </a:rPr>
              <a:t>Relevant costs</a:t>
            </a:r>
            <a:r>
              <a:rPr lang="en-US" sz="2400" dirty="0">
                <a:solidFill>
                  <a:schemeClr val="tx1"/>
                </a:solidFill>
                <a:cs typeface="Times New Roman" charset="0"/>
              </a:rPr>
              <a:t> and </a:t>
            </a:r>
            <a:r>
              <a:rPr lang="en-US" sz="2400" b="1" dirty="0">
                <a:solidFill>
                  <a:schemeClr val="tx1"/>
                </a:solidFill>
                <a:cs typeface="Times New Roman" charset="0"/>
              </a:rPr>
              <a:t>relevant benefits </a:t>
            </a:r>
            <a:r>
              <a:rPr lang="en-US" sz="2400" dirty="0">
                <a:solidFill>
                  <a:schemeClr val="tx1"/>
                </a:solidFill>
                <a:cs typeface="Times New Roman" charset="0"/>
              </a:rPr>
              <a:t>should be considered when making decisions.</a:t>
            </a:r>
          </a:p>
          <a:p>
            <a:pPr marL="291600" indent="-291600">
              <a:spcBef>
                <a:spcPts val="1500"/>
              </a:spcBef>
              <a:spcAft>
                <a:spcPts val="0"/>
              </a:spcAft>
              <a:buClrTx/>
              <a:buFont typeface="Arial" charset="0"/>
              <a:buChar char="•"/>
              <a:tabLst>
                <a:tab pos="1943100" algn="l"/>
              </a:tabLst>
            </a:pPr>
            <a:r>
              <a:rPr lang="en-US" sz="2400" b="1" dirty="0">
                <a:solidFill>
                  <a:schemeClr val="tx1"/>
                </a:solidFill>
                <a:cs typeface="Times New Roman" charset="0"/>
              </a:rPr>
              <a:t>Irrelevant costs</a:t>
            </a:r>
            <a:r>
              <a:rPr lang="en-US" sz="2400" dirty="0">
                <a:solidFill>
                  <a:schemeClr val="tx1"/>
                </a:solidFill>
                <a:cs typeface="Times New Roman" charset="0"/>
              </a:rPr>
              <a:t> and </a:t>
            </a:r>
            <a:r>
              <a:rPr lang="en-US" sz="2400" b="1" dirty="0">
                <a:solidFill>
                  <a:schemeClr val="tx1"/>
                </a:solidFill>
                <a:cs typeface="Times New Roman" charset="0"/>
              </a:rPr>
              <a:t>irrelevant benefits</a:t>
            </a:r>
            <a:r>
              <a:rPr lang="en-US" sz="2400" dirty="0">
                <a:solidFill>
                  <a:schemeClr val="tx1"/>
                </a:solidFill>
                <a:cs typeface="Times New Roman" charset="0"/>
              </a:rPr>
              <a:t> should be ignored when making decisions.</a:t>
            </a:r>
          </a:p>
        </p:txBody>
      </p:sp>
      <p:sp>
        <p:nvSpPr>
          <p:cNvPr id="4" name="Content Placeholder 3">
            <a:extLst>
              <a:ext uri="{FF2B5EF4-FFF2-40B4-BE49-F238E27FC236}">
                <a16:creationId xmlns:a16="http://schemas.microsoft.com/office/drawing/2014/main" id="{919620D8-521D-1D5A-7E3E-5B29A843E6CA}"/>
              </a:ext>
            </a:extLst>
          </p:cNvPr>
          <p:cNvSpPr>
            <a:spLocks noGrp="1"/>
          </p:cNvSpPr>
          <p:nvPr>
            <p:ph idx="1"/>
          </p:nvPr>
        </p:nvSpPr>
        <p:spPr/>
        <p:txBody>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3"/>
          <p:cNvSpPr>
            <a:spLocks noGrp="1" noChangeArrowheads="1"/>
          </p:cNvSpPr>
          <p:nvPr>
            <p:ph type="title"/>
          </p:nvPr>
        </p:nvSpPr>
        <p:spPr/>
        <p:txBody>
          <a:bodyPr>
            <a:noAutofit/>
          </a:bodyPr>
          <a:lstStyle/>
          <a:p>
            <a:pPr>
              <a:lnSpc>
                <a:spcPct val="90000"/>
              </a:lnSpc>
              <a:defRPr/>
            </a:pPr>
            <a:r>
              <a:rPr lang="en-US" sz="4800" b="1" dirty="0">
                <a:latin typeface="+mn-lt"/>
                <a:cs typeface="ＭＳ Ｐゴシック" charset="-128"/>
              </a:rPr>
              <a:t>Relevant and Irrelevant Costs</a:t>
            </a:r>
            <a:endParaRPr lang="en-US" altLang="en-US" sz="4800" b="1" dirty="0">
              <a:latin typeface="+mn-lt"/>
              <a:ea typeface="+mj-ea"/>
            </a:endParaRPr>
          </a:p>
        </p:txBody>
      </p:sp>
      <p:sp>
        <p:nvSpPr>
          <p:cNvPr id="3" name="Content Placeholder 2"/>
          <p:cNvSpPr>
            <a:spLocks noGrp="1"/>
          </p:cNvSpPr>
          <p:nvPr>
            <p:ph idx="13"/>
          </p:nvPr>
        </p:nvSpPr>
        <p:spPr>
          <a:xfrm>
            <a:off x="822324" y="1828800"/>
            <a:ext cx="7940675" cy="4495800"/>
          </a:xfrm>
        </p:spPr>
        <p:txBody>
          <a:bodyPr/>
          <a:lstStyle/>
          <a:p>
            <a:pPr marL="0" indent="0">
              <a:buNone/>
            </a:pPr>
            <a:r>
              <a:rPr lang="en-US" sz="2800" b="1" dirty="0">
                <a:solidFill>
                  <a:schemeClr val="tx1"/>
                </a:solidFill>
                <a:latin typeface="+mn-lt"/>
              </a:rPr>
              <a:t>Relevant Cost:</a:t>
            </a:r>
          </a:p>
          <a:p>
            <a:pPr>
              <a:buFont typeface="Wingdings" panose="05000000000000000000" pitchFamily="2" charset="2"/>
              <a:buChar char="q"/>
            </a:pPr>
            <a:r>
              <a:rPr lang="en-US" sz="2400" dirty="0">
                <a:solidFill>
                  <a:schemeClr val="tx1"/>
                </a:solidFill>
                <a:latin typeface="+mn-lt"/>
              </a:rPr>
              <a:t>An </a:t>
            </a:r>
            <a:r>
              <a:rPr lang="en-US" sz="2400" b="1" dirty="0">
                <a:solidFill>
                  <a:schemeClr val="tx1"/>
                </a:solidFill>
                <a:latin typeface="+mn-lt"/>
              </a:rPr>
              <a:t>incremental cost</a:t>
            </a:r>
            <a:r>
              <a:rPr lang="en-US" sz="2400" dirty="0">
                <a:solidFill>
                  <a:schemeClr val="tx1"/>
                </a:solidFill>
                <a:latin typeface="+mn-lt"/>
              </a:rPr>
              <a:t> is an increase in cost between two alternatives. </a:t>
            </a:r>
          </a:p>
          <a:p>
            <a:pPr>
              <a:spcBef>
                <a:spcPts val="1000"/>
              </a:spcBef>
              <a:spcAft>
                <a:spcPts val="0"/>
              </a:spcAft>
              <a:buClr>
                <a:schemeClr val="tx1"/>
              </a:buClr>
              <a:buFont typeface="Wingdings" panose="05000000000000000000" pitchFamily="2" charset="2"/>
              <a:buChar char="q"/>
              <a:tabLst>
                <a:tab pos="1943100" algn="l"/>
              </a:tabLst>
            </a:pPr>
            <a:r>
              <a:rPr lang="en-US" sz="2400" dirty="0">
                <a:solidFill>
                  <a:schemeClr val="tx1"/>
                </a:solidFill>
                <a:latin typeface="+mn-lt"/>
              </a:rPr>
              <a:t>An </a:t>
            </a:r>
            <a:r>
              <a:rPr lang="en-US" sz="2400" b="1" dirty="0">
                <a:solidFill>
                  <a:schemeClr val="tx1"/>
                </a:solidFill>
                <a:latin typeface="+mn-lt"/>
              </a:rPr>
              <a:t>avoidable cost</a:t>
            </a:r>
            <a:r>
              <a:rPr lang="en-US" sz="2400" dirty="0">
                <a:solidFill>
                  <a:schemeClr val="tx1"/>
                </a:solidFill>
                <a:latin typeface="+mn-lt"/>
              </a:rPr>
              <a:t> is a cost that can be eliminated by choosing one alternative over another.</a:t>
            </a:r>
          </a:p>
        </p:txBody>
      </p:sp>
      <p:sp>
        <p:nvSpPr>
          <p:cNvPr id="6" name="TextBox 5">
            <a:extLst>
              <a:ext uri="{FF2B5EF4-FFF2-40B4-BE49-F238E27FC236}">
                <a16:creationId xmlns:a16="http://schemas.microsoft.com/office/drawing/2014/main" id="{D2C5EACC-2677-9C98-71ED-A84357ED5EC2}"/>
              </a:ext>
            </a:extLst>
          </p:cNvPr>
          <p:cNvSpPr txBox="1"/>
          <p:nvPr/>
        </p:nvSpPr>
        <p:spPr>
          <a:xfrm>
            <a:off x="914399" y="4076700"/>
            <a:ext cx="7451725" cy="1631216"/>
          </a:xfrm>
          <a:prstGeom prst="rect">
            <a:avLst/>
          </a:prstGeom>
          <a:noFill/>
        </p:spPr>
        <p:txBody>
          <a:bodyPr wrap="square">
            <a:spAutoFit/>
          </a:bodyPr>
          <a:lstStyle/>
          <a:p>
            <a:pPr marL="0" indent="0">
              <a:buNone/>
            </a:pPr>
            <a:r>
              <a:rPr lang="en-US" sz="2800" b="1" dirty="0">
                <a:solidFill>
                  <a:schemeClr val="tx1"/>
                </a:solidFill>
                <a:latin typeface="+mn-lt"/>
              </a:rPr>
              <a:t>Irrelevant Costs</a:t>
            </a:r>
            <a:r>
              <a:rPr lang="en-US" sz="1800" b="1" dirty="0">
                <a:solidFill>
                  <a:schemeClr val="tx1"/>
                </a:solidFill>
                <a:latin typeface="+mn-lt"/>
              </a:rPr>
              <a:t>  </a:t>
            </a:r>
          </a:p>
          <a:p>
            <a:pPr marL="0" indent="0">
              <a:buNone/>
            </a:pPr>
            <a:r>
              <a:rPr lang="en-US" sz="1800" dirty="0">
                <a:solidFill>
                  <a:schemeClr val="tx1"/>
                </a:solidFill>
                <a:latin typeface="+mn-lt"/>
              </a:rPr>
              <a:t>A </a:t>
            </a:r>
            <a:r>
              <a:rPr lang="en-US" sz="1800" b="1" dirty="0">
                <a:solidFill>
                  <a:schemeClr val="tx1"/>
                </a:solidFill>
                <a:latin typeface="+mn-lt"/>
              </a:rPr>
              <a:t>sunk cost</a:t>
            </a:r>
            <a:r>
              <a:rPr lang="en-US" sz="1800" dirty="0">
                <a:solidFill>
                  <a:schemeClr val="tx1"/>
                </a:solidFill>
                <a:latin typeface="+mn-lt"/>
              </a:rPr>
              <a:t> is a cost that has already been incurred and cannot be changed regardless of what a manager decides to do</a:t>
            </a:r>
            <a:r>
              <a:rPr lang="en-US" sz="1800" b="1" dirty="0">
                <a:solidFill>
                  <a:schemeClr val="tx1"/>
                </a:solidFill>
                <a:latin typeface="+mn-lt"/>
              </a:rPr>
              <a:t>.</a:t>
            </a:r>
            <a:r>
              <a:rPr lang="en-US" altLang="en-US" sz="1800" b="1" dirty="0">
                <a:solidFill>
                  <a:schemeClr val="tx1"/>
                </a:solidFill>
                <a:latin typeface="Calibri Light" panose="020F0302020204030204" pitchFamily="34" charset="0"/>
              </a:rPr>
              <a:t> </a:t>
            </a:r>
          </a:p>
          <a:p>
            <a:pPr marL="0" indent="0">
              <a:buNone/>
            </a:pPr>
            <a:r>
              <a:rPr lang="en-US" altLang="en-US" sz="1800" b="1" dirty="0">
                <a:solidFill>
                  <a:schemeClr val="tx1"/>
                </a:solidFill>
                <a:latin typeface="Calibri Light" panose="020F0302020204030204" pitchFamily="34" charset="0"/>
              </a:rPr>
              <a:t>Future costs and benefits that do not differ between alternatives are irrelevant</a:t>
            </a:r>
            <a:r>
              <a:rPr lang="en-US" altLang="en-US" sz="1800" dirty="0">
                <a:solidFill>
                  <a:schemeClr val="tx1"/>
                </a:solidFill>
                <a:latin typeface="Calibri Light" panose="020F0302020204030204" pitchFamily="34" charset="0"/>
              </a:rPr>
              <a:t> to the decision-making process</a:t>
            </a:r>
            <a:endParaRPr lang="en-US" sz="1800" dirty="0">
              <a:solidFill>
                <a:schemeClr val="tx1"/>
              </a:solidFill>
              <a:latin typeface="+mn-lt"/>
              <a:cs typeface="Times New Roman"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3"/>
          </p:nvPr>
        </p:nvSpPr>
        <p:spPr>
          <a:xfrm>
            <a:off x="822325" y="2057400"/>
            <a:ext cx="7543800" cy="1447800"/>
          </a:xfrm>
        </p:spPr>
        <p:txBody>
          <a:bodyPr/>
          <a:lstStyle/>
          <a:p>
            <a:pPr marL="0" indent="0">
              <a:spcBef>
                <a:spcPts val="0"/>
              </a:spcBef>
              <a:spcAft>
                <a:spcPts val="0"/>
              </a:spcAft>
              <a:buNone/>
              <a:tabLst>
                <a:tab pos="1943100" algn="l"/>
              </a:tabLst>
              <a:defRPr/>
            </a:pPr>
            <a:r>
              <a:rPr lang="en-US" sz="2400" b="1" dirty="0">
                <a:solidFill>
                  <a:schemeClr val="tx1"/>
                </a:solidFill>
                <a:ea typeface="MS PGothic" panose="020B0600070205080204" pitchFamily="34" charset="-128"/>
              </a:rPr>
              <a:t>Opportunity costs also need to be considered </a:t>
            </a:r>
            <a:r>
              <a:rPr lang="en-US" sz="2400" dirty="0">
                <a:solidFill>
                  <a:schemeClr val="tx1"/>
                </a:solidFill>
                <a:ea typeface="MS PGothic" panose="020B0600070205080204" pitchFamily="34" charset="-128"/>
              </a:rPr>
              <a:t>when making decisions.</a:t>
            </a:r>
          </a:p>
          <a:p>
            <a:pPr marL="291600" indent="-291600">
              <a:spcBef>
                <a:spcPts val="1000"/>
              </a:spcBef>
              <a:spcAft>
                <a:spcPts val="0"/>
              </a:spcAft>
              <a:buClr>
                <a:schemeClr val="tx1"/>
              </a:buClr>
              <a:buFont typeface="Arial" panose="020B0604020202020204" pitchFamily="34" charset="0"/>
              <a:buChar char="•"/>
              <a:tabLst>
                <a:tab pos="1943100" algn="l"/>
              </a:tabLst>
              <a:defRPr/>
            </a:pPr>
            <a:r>
              <a:rPr lang="en-US" sz="2400" dirty="0">
                <a:solidFill>
                  <a:schemeClr val="tx1"/>
                </a:solidFill>
                <a:ea typeface="MS PGothic" panose="020B0600070205080204" pitchFamily="34" charset="-128"/>
              </a:rPr>
              <a:t>An </a:t>
            </a:r>
            <a:r>
              <a:rPr lang="en-US" sz="2400" b="1" dirty="0">
                <a:solidFill>
                  <a:schemeClr val="tx1"/>
                </a:solidFill>
                <a:ea typeface="MS PGothic" panose="020B0600070205080204" pitchFamily="34" charset="-128"/>
              </a:rPr>
              <a:t>opportunity cost</a:t>
            </a:r>
            <a:r>
              <a:rPr lang="en-US" sz="2400" dirty="0">
                <a:solidFill>
                  <a:schemeClr val="tx1"/>
                </a:solidFill>
                <a:ea typeface="MS PGothic" panose="020B0600070205080204" pitchFamily="34" charset="-128"/>
              </a:rPr>
              <a:t> is the potential benefit that is given up when one alternative is selected over another.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3"/>
          <p:cNvSpPr>
            <a:spLocks noGrp="1" noChangeArrowheads="1"/>
          </p:cNvSpPr>
          <p:nvPr>
            <p:ph type="title"/>
          </p:nvPr>
        </p:nvSpPr>
        <p:spPr/>
        <p:txBody>
          <a:bodyPr wrap="square" numCol="1" anchorCtr="0" compatLnSpc="1">
            <a:prstTxWarp prst="textNoShape">
              <a:avLst/>
            </a:prstTxWarp>
            <a:noAutofit/>
          </a:bodyPr>
          <a:lstStyle/>
          <a:p>
            <a:pPr>
              <a:lnSpc>
                <a:spcPct val="90000"/>
              </a:lnSpc>
            </a:pPr>
            <a:r>
              <a:rPr lang="en-US" altLang="en-US" sz="3600" dirty="0">
                <a:cs typeface="ＭＳ Ｐゴシック" charset="-128"/>
              </a:rPr>
              <a:t>Total and Differential Cost Approaches</a:t>
            </a:r>
            <a:endParaRPr lang="en-US" sz="3600" dirty="0"/>
          </a:p>
        </p:txBody>
      </p:sp>
      <p:sp>
        <p:nvSpPr>
          <p:cNvPr id="3" name="Content Placeholder 2"/>
          <p:cNvSpPr>
            <a:spLocks noGrp="1"/>
          </p:cNvSpPr>
          <p:nvPr>
            <p:ph idx="1"/>
          </p:nvPr>
        </p:nvSpPr>
        <p:spPr>
          <a:xfrm>
            <a:off x="822325" y="1676400"/>
            <a:ext cx="8016875" cy="3505200"/>
          </a:xfrm>
        </p:spPr>
        <p:txBody>
          <a:bodyPr/>
          <a:lstStyle/>
          <a:p>
            <a:pPr marL="0" indent="0" eaLnBrk="1" hangingPunct="1">
              <a:spcBef>
                <a:spcPct val="50000"/>
              </a:spcBef>
              <a:buNone/>
              <a:defRPr/>
            </a:pPr>
            <a:r>
              <a:rPr lang="en-US" altLang="en-US" sz="2800" b="1" dirty="0">
                <a:solidFill>
                  <a:schemeClr val="tx2"/>
                </a:solidFill>
              </a:rPr>
              <a:t>Using the differential approach is desirable for two reasons:</a:t>
            </a:r>
          </a:p>
          <a:p>
            <a:pPr marL="403200" indent="-403200" eaLnBrk="1" hangingPunct="1">
              <a:spcBef>
                <a:spcPts val="1000"/>
              </a:spcBef>
              <a:spcAft>
                <a:spcPts val="0"/>
              </a:spcAft>
              <a:buClr>
                <a:schemeClr val="tx1"/>
              </a:buClr>
              <a:buFont typeface="+mj-lt"/>
              <a:buAutoNum type="arabicPeriod"/>
              <a:defRPr/>
            </a:pPr>
            <a:r>
              <a:rPr lang="en-US" altLang="en-US" sz="2800" b="1" dirty="0">
                <a:solidFill>
                  <a:schemeClr val="tx2"/>
                </a:solidFill>
              </a:rPr>
              <a:t>Only rarely will enough information be available to prepare detailed income statements for both alternatives.</a:t>
            </a:r>
          </a:p>
          <a:p>
            <a:pPr marL="403200" indent="-403200" eaLnBrk="1" hangingPunct="1">
              <a:spcBef>
                <a:spcPts val="1000"/>
              </a:spcBef>
              <a:spcAft>
                <a:spcPts val="0"/>
              </a:spcAft>
              <a:buClr>
                <a:schemeClr val="tx1"/>
              </a:buClr>
              <a:buFont typeface="+mj-lt"/>
              <a:buAutoNum type="arabicPeriod"/>
              <a:defRPr/>
            </a:pPr>
            <a:r>
              <a:rPr lang="en-US" altLang="en-US" sz="2800" b="1" dirty="0">
                <a:solidFill>
                  <a:schemeClr val="tx2"/>
                </a:solidFill>
              </a:rPr>
              <a:t>Mingling irrelevant costs with relevant costs may cause confusion and distract attention away from the information that is really critical.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b="1" dirty="0">
                <a:solidFill>
                  <a:srgbClr val="FF0000"/>
                </a:solidFill>
                <a:cs typeface="ＭＳ Ｐゴシック" charset="-128"/>
              </a:rPr>
              <a:t>First :Keeping/Dropping Segments</a:t>
            </a:r>
            <a:r>
              <a:rPr lang="en-US" altLang="en-US" dirty="0">
                <a:cs typeface="ＭＳ Ｐゴシック" charset="-128"/>
              </a:rPr>
              <a:t> </a:t>
            </a:r>
            <a:endParaRPr lang="en-IN" dirty="0"/>
          </a:p>
        </p:txBody>
      </p:sp>
      <p:sp>
        <p:nvSpPr>
          <p:cNvPr id="6" name="Content Placeholder 5"/>
          <p:cNvSpPr>
            <a:spLocks noGrp="1"/>
          </p:cNvSpPr>
          <p:nvPr>
            <p:ph idx="1"/>
          </p:nvPr>
        </p:nvSpPr>
        <p:spPr/>
        <p:txBody>
          <a:bodyPr/>
          <a:lstStyle/>
          <a:p>
            <a:pPr marL="0" indent="0" algn="ctr">
              <a:buNone/>
            </a:pPr>
            <a:r>
              <a:rPr lang="en-US" altLang="en-US" sz="2600" b="1" dirty="0">
                <a:solidFill>
                  <a:schemeClr val="tx1"/>
                </a:solidFill>
              </a:rPr>
              <a:t>One of the most important decisions managers make is whether to keep or drop a business segment. Ultimately, a decision to drop an old segment or add a new one is going to hinge primarily on its financial impact.</a:t>
            </a:r>
            <a:endParaRPr lang="en-US" altLang="en-US" sz="2600" dirty="0">
              <a:solidFill>
                <a:schemeClr val="tx1"/>
              </a:solidFill>
            </a:endParaRPr>
          </a:p>
        </p:txBody>
      </p:sp>
      <p:sp>
        <p:nvSpPr>
          <p:cNvPr id="7" name="Content Placeholder 6"/>
          <p:cNvSpPr>
            <a:spLocks noGrp="1"/>
          </p:cNvSpPr>
          <p:nvPr>
            <p:ph idx="13"/>
          </p:nvPr>
        </p:nvSpPr>
        <p:spPr>
          <a:xfrm>
            <a:off x="1676400" y="3810000"/>
            <a:ext cx="5273675" cy="762000"/>
          </a:xfrm>
        </p:spPr>
        <p:txBody>
          <a:bodyPr/>
          <a:lstStyle/>
          <a:p>
            <a:pPr marL="0" indent="0" algn="ctr">
              <a:buNone/>
            </a:pPr>
            <a:r>
              <a:rPr lang="en-US" altLang="en-US" sz="2600" b="1" dirty="0">
                <a:solidFill>
                  <a:schemeClr val="tx1"/>
                </a:solidFill>
              </a:rPr>
              <a:t>To assess this impact, it is necessary to carefully analyze the costs.</a:t>
            </a:r>
            <a:endParaRPr lang="en-US" altLang="en-US" sz="2600" dirty="0">
              <a:solidFill>
                <a:schemeClr val="tx1"/>
              </a:solidFill>
            </a:endParaRPr>
          </a:p>
        </p:txBody>
      </p:sp>
    </p:spTree>
    <p:extLst>
      <p:ext uri="{BB962C8B-B14F-4D97-AF65-F5344CB8AC3E}">
        <p14:creationId xmlns:p14="http://schemas.microsoft.com/office/powerpoint/2010/main" val="2826137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solidFill>
                  <a:srgbClr val="FF0000"/>
                </a:solidFill>
                <a:cs typeface="ＭＳ Ｐゴシック" charset="-128"/>
              </a:rPr>
              <a:t>Keeping/Dropping Segments</a:t>
            </a:r>
            <a:endParaRPr lang="en-IN" b="1" dirty="0">
              <a:solidFill>
                <a:srgbClr val="FF0000"/>
              </a:solidFill>
            </a:endParaRPr>
          </a:p>
        </p:txBody>
      </p:sp>
      <p:sp>
        <p:nvSpPr>
          <p:cNvPr id="6" name="Content Placeholder 5"/>
          <p:cNvSpPr>
            <a:spLocks noGrp="1"/>
          </p:cNvSpPr>
          <p:nvPr>
            <p:ph idx="1"/>
          </p:nvPr>
        </p:nvSpPr>
        <p:spPr>
          <a:xfrm>
            <a:off x="822325" y="1447800"/>
            <a:ext cx="7543800" cy="2209800"/>
          </a:xfrm>
        </p:spPr>
        <p:txBody>
          <a:bodyPr/>
          <a:lstStyle/>
          <a:p>
            <a:pPr marL="0" indent="0" algn="ctr">
              <a:buFont typeface="Times" charset="0"/>
              <a:buNone/>
            </a:pPr>
            <a:r>
              <a:rPr lang="en-US" sz="3200" b="1" dirty="0">
                <a:solidFill>
                  <a:schemeClr val="tx2"/>
                </a:solidFill>
                <a:latin typeface="Calibri" charset="0"/>
                <a:ea typeface="MS PGothic" charset="0"/>
                <a:cs typeface="MS PGothic" charset="0"/>
              </a:rPr>
              <a:t>Due to the declining popularity of digital watches, Lovell Company’s digital watch line has not reported a profit for several years. Lovell is considering whether to keep this product line or drop it.</a:t>
            </a:r>
          </a:p>
        </p:txBody>
      </p:sp>
    </p:spTree>
    <p:extLst>
      <p:ext uri="{BB962C8B-B14F-4D97-AF65-F5344CB8AC3E}">
        <p14:creationId xmlns:p14="http://schemas.microsoft.com/office/powerpoint/2010/main" val="2870495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ＭＳ Ｐゴシック" charset="-128"/>
              </a:rPr>
              <a:t>A Contribution Margin Approach</a:t>
            </a:r>
            <a:endParaRPr lang="en-IN" dirty="0"/>
          </a:p>
        </p:txBody>
      </p:sp>
      <p:sp>
        <p:nvSpPr>
          <p:cNvPr id="5" name="Content Placeholder 4"/>
          <p:cNvSpPr>
            <a:spLocks noGrp="1"/>
          </p:cNvSpPr>
          <p:nvPr>
            <p:ph idx="1"/>
          </p:nvPr>
        </p:nvSpPr>
        <p:spPr>
          <a:xfrm>
            <a:off x="822325" y="1447800"/>
            <a:ext cx="7543800" cy="3886200"/>
          </a:xfrm>
        </p:spPr>
        <p:txBody>
          <a:bodyPr/>
          <a:lstStyle/>
          <a:p>
            <a:pPr algn="ctr">
              <a:buFont typeface="Times" panose="02020603050405020304" pitchFamily="18" charset="0"/>
              <a:buNone/>
              <a:defRPr/>
            </a:pPr>
            <a:r>
              <a:rPr lang="en-US" altLang="en-US" sz="3200" b="1" dirty="0">
                <a:solidFill>
                  <a:schemeClr val="accent5">
                    <a:lumMod val="50000"/>
                  </a:schemeClr>
                </a:solidFill>
              </a:rPr>
              <a:t>Decision Rule</a:t>
            </a:r>
          </a:p>
          <a:p>
            <a:pPr marL="0" indent="0" algn="ctr">
              <a:buFont typeface="Times" panose="02020603050405020304" pitchFamily="18" charset="0"/>
              <a:buNone/>
              <a:defRPr/>
            </a:pPr>
            <a:r>
              <a:rPr lang="en-US" altLang="en-US" sz="3200" b="1" dirty="0">
                <a:solidFill>
                  <a:schemeClr val="tx1"/>
                </a:solidFill>
              </a:rPr>
              <a:t>Lovell should drop the digital watch segment only if its profit would increase.</a:t>
            </a:r>
          </a:p>
          <a:p>
            <a:pPr marL="0" indent="0" algn="ctr">
              <a:buFont typeface="Times" panose="02020603050405020304" pitchFamily="18" charset="0"/>
              <a:buNone/>
              <a:defRPr/>
            </a:pPr>
            <a:r>
              <a:rPr lang="en-US" altLang="en-US" sz="3200" b="1" dirty="0">
                <a:solidFill>
                  <a:schemeClr val="tx1"/>
                </a:solidFill>
              </a:rPr>
              <a:t>Lovell will compare the contribution margin that would be lost if the digital watch line was discontinued to the fixed expenses that would be avoided if the line was discontinued.</a:t>
            </a:r>
          </a:p>
        </p:txBody>
      </p:sp>
    </p:spTree>
    <p:extLst>
      <p:ext uri="{BB962C8B-B14F-4D97-AF65-F5344CB8AC3E}">
        <p14:creationId xmlns:p14="http://schemas.microsoft.com/office/powerpoint/2010/main" val="2651724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4" y="152400"/>
            <a:ext cx="7940675" cy="1025525"/>
          </a:xfrm>
        </p:spPr>
        <p:txBody>
          <a:bodyPr>
            <a:noAutofit/>
          </a:bodyPr>
          <a:lstStyle/>
          <a:p>
            <a:r>
              <a:rPr lang="en-US" altLang="en-US" sz="3600" dirty="0">
                <a:cs typeface="ＭＳ Ｐゴシック" charset="-128"/>
              </a:rPr>
              <a:t>Adding/Dropping Segments</a:t>
            </a:r>
            <a:r>
              <a:rPr lang="en-US" sz="3600" dirty="0">
                <a:cs typeface="ＭＳ Ｐゴシック" charset="-128"/>
              </a:rPr>
              <a:t> – </a:t>
            </a:r>
            <a:r>
              <a:rPr lang="en-US" altLang="en-US" sz="3600" dirty="0">
                <a:cs typeface="ＭＳ Ｐゴシック" charset="-128"/>
              </a:rPr>
              <a:t>Example </a:t>
            </a:r>
            <a:r>
              <a:rPr lang="en-US" sz="3600" dirty="0">
                <a:cs typeface="ＭＳ Ｐゴシック" charset="-128"/>
              </a:rPr>
              <a:t>– </a:t>
            </a:r>
            <a:endParaRPr lang="en-IN" sz="3600" dirty="0"/>
          </a:p>
        </p:txBody>
      </p:sp>
      <p:pic>
        <p:nvPicPr>
          <p:cNvPr id="4" name="Picture 3" descr="Segment income statement for Digital Watches&#10;"/>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051559" y="1393629"/>
            <a:ext cx="7482203" cy="4405721"/>
          </a:xfrm>
          <a:prstGeom prst="rect">
            <a:avLst/>
          </a:prstGeom>
        </p:spPr>
      </p:pic>
      <p:sp>
        <p:nvSpPr>
          <p:cNvPr id="5" name="Content Placeholder 3"/>
          <p:cNvSpPr>
            <a:spLocks noGrp="1"/>
          </p:cNvSpPr>
          <p:nvPr>
            <p:ph idx="13"/>
          </p:nvPr>
        </p:nvSpPr>
        <p:spPr>
          <a:xfrm>
            <a:off x="822325" y="5973268"/>
            <a:ext cx="7543800" cy="237032"/>
          </a:xfrm>
        </p:spPr>
        <p:txBody>
          <a:bodyPr/>
          <a:lstStyle/>
          <a:p>
            <a:pPr algn="ctr"/>
            <a:r>
              <a:rPr lang="en-IN" sz="900" dirty="0">
                <a:solidFill>
                  <a:schemeClr val="tx1"/>
                </a:solidFill>
                <a:hlinkClick r:id="" action="ppaction://noaction"/>
              </a:rPr>
              <a:t>Access the text alternative for slide images.</a:t>
            </a:r>
          </a:p>
        </p:txBody>
      </p:sp>
    </p:spTree>
    <p:extLst>
      <p:ext uri="{BB962C8B-B14F-4D97-AF65-F5344CB8AC3E}">
        <p14:creationId xmlns:p14="http://schemas.microsoft.com/office/powerpoint/2010/main" val="824361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cs typeface="ＭＳ Ｐゴシック" charset="-128"/>
              </a:rPr>
              <a:t>Adding/Dropping Segments</a:t>
            </a:r>
            <a:r>
              <a:rPr lang="en-US" dirty="0">
                <a:cs typeface="ＭＳ Ｐゴシック" charset="-128"/>
              </a:rPr>
              <a:t> – </a:t>
            </a:r>
            <a:r>
              <a:rPr lang="en-US" altLang="en-US" dirty="0">
                <a:cs typeface="ＭＳ Ｐゴシック" charset="-128"/>
              </a:rPr>
              <a:t>Example</a:t>
            </a:r>
            <a:r>
              <a:rPr lang="en-US" dirty="0">
                <a:cs typeface="ＭＳ Ｐゴシック" charset="-128"/>
              </a:rPr>
              <a:t> –</a:t>
            </a:r>
            <a:endParaRPr lang="en-IN" dirty="0"/>
          </a:p>
        </p:txBody>
      </p:sp>
      <p:pic>
        <p:nvPicPr>
          <p:cNvPr id="3" name="Picture 2" descr="Previous slide's table with an explanation box overlaid that reads:&#10;An investigation has revealed that the fixed general factory overhead and fixed general administrative expenses will not be affected by dropping the digital watch line. The fixed general factory overhead and general administrative expenses assigned to this product would be reallocated to other product lines."/>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008750" y="1371600"/>
            <a:ext cx="7557025" cy="4449778"/>
          </a:xfrm>
          <a:prstGeom prst="rect">
            <a:avLst/>
          </a:prstGeom>
        </p:spPr>
      </p:pic>
    </p:spTree>
    <p:extLst>
      <p:ext uri="{BB962C8B-B14F-4D97-AF65-F5344CB8AC3E}">
        <p14:creationId xmlns:p14="http://schemas.microsoft.com/office/powerpoint/2010/main" val="3392096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cs typeface="ＭＳ Ｐゴシック" charset="-128"/>
              </a:rPr>
              <a:t>Adding/Dropping Segments</a:t>
            </a:r>
            <a:r>
              <a:rPr lang="en-US" dirty="0">
                <a:cs typeface="ＭＳ Ｐゴシック" charset="-128"/>
              </a:rPr>
              <a:t> – </a:t>
            </a:r>
            <a:r>
              <a:rPr lang="en-US" altLang="en-US" dirty="0">
                <a:cs typeface="ＭＳ Ｐゴシック" charset="-128"/>
              </a:rPr>
              <a:t>Example</a:t>
            </a:r>
            <a:r>
              <a:rPr lang="en-US" dirty="0">
                <a:cs typeface="ＭＳ Ｐゴシック" charset="-128"/>
              </a:rPr>
              <a:t> </a:t>
            </a:r>
            <a:endParaRPr lang="en-IN" dirty="0"/>
          </a:p>
        </p:txBody>
      </p:sp>
      <p:pic>
        <p:nvPicPr>
          <p:cNvPr id="3" name="Picture 2" descr="Same segment income statement as on previous two slides but two explanation boxes overlay it. They read as follows: The equipment used to manufacture digital watches has no resale value or alternative use. Should Lovell retain or drop the digital watch segment?"/>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90600" y="1417622"/>
            <a:ext cx="7557025" cy="4449778"/>
          </a:xfrm>
          <a:prstGeom prst="rect">
            <a:avLst/>
          </a:prstGeom>
        </p:spPr>
      </p:pic>
    </p:spTree>
    <p:extLst>
      <p:ext uri="{BB962C8B-B14F-4D97-AF65-F5344CB8AC3E}">
        <p14:creationId xmlns:p14="http://schemas.microsoft.com/office/powerpoint/2010/main" val="893447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cs typeface="ＭＳ Ｐゴシック" charset="-128"/>
              </a:rPr>
              <a:t>Contribution Margin Approach Solution</a:t>
            </a:r>
            <a:endParaRPr lang="en-IN" dirty="0"/>
          </a:p>
        </p:txBody>
      </p:sp>
      <p:pic>
        <p:nvPicPr>
          <p:cNvPr id="6" name="Picture 5" descr="Contribution margin solution is presented as a table.&#10;"/>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15637" y="1725266"/>
            <a:ext cx="8312727" cy="3407469"/>
          </a:xfrm>
          <a:prstGeom prst="rect">
            <a:avLst/>
          </a:prstGeom>
        </p:spPr>
      </p:pic>
      <p:sp>
        <p:nvSpPr>
          <p:cNvPr id="5" name="Content Placeholder 3"/>
          <p:cNvSpPr>
            <a:spLocks noGrp="1"/>
          </p:cNvSpPr>
          <p:nvPr>
            <p:ph idx="1"/>
          </p:nvPr>
        </p:nvSpPr>
        <p:spPr>
          <a:xfrm>
            <a:off x="822325" y="5943600"/>
            <a:ext cx="7543800" cy="228600"/>
          </a:xfrm>
          <a:prstGeom prst="rect">
            <a:avLst/>
          </a:prstGeom>
        </p:spPr>
        <p:txBody>
          <a:bodyPr/>
          <a:lstStyle/>
          <a:p>
            <a:pPr algn="ctr"/>
            <a:r>
              <a:rPr lang="en-IN" sz="900" dirty="0">
                <a:solidFill>
                  <a:schemeClr val="tx1"/>
                </a:solidFill>
                <a:hlinkClick r:id="" action="ppaction://noaction"/>
              </a:rPr>
              <a:t>Access the text alternative for slide images.</a:t>
            </a:r>
          </a:p>
        </p:txBody>
      </p:sp>
    </p:spTree>
    <p:extLst>
      <p:ext uri="{BB962C8B-B14F-4D97-AF65-F5344CB8AC3E}">
        <p14:creationId xmlns:p14="http://schemas.microsoft.com/office/powerpoint/2010/main" val="3287039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cs typeface="ＭＳ Ｐゴシック" charset="-128"/>
              </a:rPr>
              <a:t>Comparative Income Approach </a:t>
            </a:r>
            <a:endParaRPr lang="en-IN" dirty="0"/>
          </a:p>
        </p:txBody>
      </p:sp>
      <p:sp>
        <p:nvSpPr>
          <p:cNvPr id="3" name="Content Placeholder 2"/>
          <p:cNvSpPr>
            <a:spLocks noGrp="1"/>
          </p:cNvSpPr>
          <p:nvPr>
            <p:ph idx="1"/>
          </p:nvPr>
        </p:nvSpPr>
        <p:spPr>
          <a:xfrm>
            <a:off x="822325" y="1447800"/>
            <a:ext cx="7543800" cy="2438400"/>
          </a:xfrm>
        </p:spPr>
        <p:txBody>
          <a:bodyPr/>
          <a:lstStyle/>
          <a:p>
            <a:pPr marL="0" indent="0" algn="ctr">
              <a:buFont typeface="Times" charset="0"/>
              <a:buNone/>
            </a:pPr>
            <a:r>
              <a:rPr lang="en-US" sz="3200" b="1" dirty="0">
                <a:solidFill>
                  <a:srgbClr val="000000"/>
                </a:solidFill>
                <a:latin typeface="Calibri" charset="0"/>
                <a:ea typeface="MS PGothic" charset="0"/>
                <a:cs typeface="MS PGothic" charset="0"/>
              </a:rPr>
              <a:t>The Lovell solution can also be obtained by preparing comparative income statements showing results with and without the digital watch segment.</a:t>
            </a:r>
          </a:p>
          <a:p>
            <a:pPr algn="ctr">
              <a:buFont typeface="Times" charset="0"/>
              <a:buNone/>
            </a:pPr>
            <a:r>
              <a:rPr lang="en-US" sz="3200" b="1" dirty="0">
                <a:solidFill>
                  <a:srgbClr val="318B71"/>
                </a:solidFill>
                <a:latin typeface="Calibri" charset="0"/>
                <a:ea typeface="MS PGothic" charset="0"/>
                <a:cs typeface="MS PGothic" charset="0"/>
              </a:rPr>
              <a:t>Let’s look at this second approach.</a:t>
            </a:r>
          </a:p>
        </p:txBody>
      </p:sp>
    </p:spTree>
    <p:extLst>
      <p:ext uri="{BB962C8B-B14F-4D97-AF65-F5344CB8AC3E}">
        <p14:creationId xmlns:p14="http://schemas.microsoft.com/office/powerpoint/2010/main" val="184454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Comparative Income Approach </a:t>
            </a:r>
            <a:endParaRPr lang="en-IN" dirty="0"/>
          </a:p>
        </p:txBody>
      </p:sp>
      <p:pic>
        <p:nvPicPr>
          <p:cNvPr id="4" name="Picture 3" descr="Segmented income statement, digital watches, from slide 21 data appears here with two extra columns and an annotation."/>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22325" y="1532069"/>
            <a:ext cx="7557025" cy="4106731"/>
          </a:xfrm>
          <a:prstGeom prst="rect">
            <a:avLst/>
          </a:prstGeom>
        </p:spPr>
      </p:pic>
      <p:sp>
        <p:nvSpPr>
          <p:cNvPr id="5" name="Content Placeholder 3"/>
          <p:cNvSpPr>
            <a:spLocks noGrp="1"/>
          </p:cNvSpPr>
          <p:nvPr>
            <p:ph idx="1"/>
          </p:nvPr>
        </p:nvSpPr>
        <p:spPr>
          <a:xfrm>
            <a:off x="822325" y="5943600"/>
            <a:ext cx="7543800" cy="228600"/>
          </a:xfrm>
          <a:prstGeom prst="rect">
            <a:avLst/>
          </a:prstGeom>
        </p:spPr>
        <p:txBody>
          <a:bodyPr/>
          <a:lstStyle/>
          <a:p>
            <a:pPr algn="ctr"/>
            <a:r>
              <a:rPr lang="en-IN" sz="900" dirty="0">
                <a:solidFill>
                  <a:schemeClr val="tx1"/>
                </a:solidFill>
                <a:hlinkClick r:id="" action="ppaction://noaction"/>
              </a:rPr>
              <a:t>Access the text alternative for slide images.</a:t>
            </a:r>
          </a:p>
        </p:txBody>
      </p:sp>
    </p:spTree>
    <p:extLst>
      <p:ext uri="{BB962C8B-B14F-4D97-AF65-F5344CB8AC3E}">
        <p14:creationId xmlns:p14="http://schemas.microsoft.com/office/powerpoint/2010/main" val="1574067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Comparative Income Approach </a:t>
            </a:r>
            <a:endParaRPr lang="en-IN" dirty="0"/>
          </a:p>
        </p:txBody>
      </p:sp>
      <p:pic>
        <p:nvPicPr>
          <p:cNvPr id="5" name="Picture 4" descr="The rest of the rows are completed for the previous slides' comparative income approach table.&#10;"/>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33400" y="1663012"/>
            <a:ext cx="7190250" cy="4394888"/>
          </a:xfrm>
          <a:prstGeom prst="rect">
            <a:avLst/>
          </a:prstGeom>
        </p:spPr>
      </p:pic>
      <p:sp>
        <p:nvSpPr>
          <p:cNvPr id="4" name="Content Placeholder 3"/>
          <p:cNvSpPr>
            <a:spLocks noGrp="1"/>
          </p:cNvSpPr>
          <p:nvPr>
            <p:ph idx="1"/>
          </p:nvPr>
        </p:nvSpPr>
        <p:spPr>
          <a:xfrm>
            <a:off x="822325" y="5943600"/>
            <a:ext cx="7543800" cy="228600"/>
          </a:xfrm>
          <a:prstGeom prst="rect">
            <a:avLst/>
          </a:prstGeom>
        </p:spPr>
        <p:txBody>
          <a:bodyPr/>
          <a:lstStyle/>
          <a:p>
            <a:pPr algn="ctr"/>
            <a:r>
              <a:rPr lang="en-IN" sz="900" dirty="0">
                <a:solidFill>
                  <a:schemeClr val="tx1"/>
                </a:solidFill>
                <a:hlinkClick r:id="" action="ppaction://noaction"/>
              </a:rPr>
              <a:t>Access the text alternative for slide images.</a:t>
            </a:r>
          </a:p>
        </p:txBody>
      </p:sp>
    </p:spTree>
    <p:extLst>
      <p:ext uri="{BB962C8B-B14F-4D97-AF65-F5344CB8AC3E}">
        <p14:creationId xmlns:p14="http://schemas.microsoft.com/office/powerpoint/2010/main" val="1841627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b="1" dirty="0">
                <a:solidFill>
                  <a:srgbClr val="00B050"/>
                </a:solidFill>
                <a:cs typeface="ＭＳ Ｐゴシック" charset="-128"/>
              </a:rPr>
              <a:t>Beware of Allocated Fixed Costs</a:t>
            </a:r>
            <a:r>
              <a:rPr lang="en-US" altLang="en-US" dirty="0">
                <a:cs typeface="ＭＳ Ｐゴシック" charset="-128"/>
              </a:rPr>
              <a:t> </a:t>
            </a:r>
            <a:endParaRPr lang="en-IN" dirty="0">
              <a:latin typeface="+mn-lt"/>
            </a:endParaRPr>
          </a:p>
        </p:txBody>
      </p:sp>
      <p:sp>
        <p:nvSpPr>
          <p:cNvPr id="3" name="Content Placeholder 2"/>
          <p:cNvSpPr>
            <a:spLocks noGrp="1"/>
          </p:cNvSpPr>
          <p:nvPr>
            <p:ph idx="1"/>
          </p:nvPr>
        </p:nvSpPr>
        <p:spPr>
          <a:xfrm>
            <a:off x="822324" y="1447800"/>
            <a:ext cx="7788275" cy="685800"/>
          </a:xfrm>
        </p:spPr>
        <p:txBody>
          <a:bodyPr/>
          <a:lstStyle/>
          <a:p>
            <a:pPr marL="0" indent="0" algn="ctr">
              <a:buNone/>
            </a:pPr>
            <a:r>
              <a:rPr lang="en-US" sz="2400" b="1" dirty="0">
                <a:solidFill>
                  <a:schemeClr val="tx1"/>
                </a:solidFill>
                <a:effectLst>
                  <a:outerShdw blurRad="38100" dist="38100" dir="2700000" algn="tl">
                    <a:srgbClr val="FFFFFF"/>
                  </a:outerShdw>
                </a:effectLst>
                <a:latin typeface="Calibri" charset="0"/>
              </a:rPr>
              <a:t>Be aware that allocated fixed costs can distort the keep/drop decision.</a:t>
            </a:r>
          </a:p>
        </p:txBody>
      </p:sp>
      <p:sp>
        <p:nvSpPr>
          <p:cNvPr id="4" name="Content Placeholder 3"/>
          <p:cNvSpPr>
            <a:spLocks noGrp="1"/>
          </p:cNvSpPr>
          <p:nvPr>
            <p:ph idx="13"/>
          </p:nvPr>
        </p:nvSpPr>
        <p:spPr>
          <a:xfrm>
            <a:off x="822325" y="2433955"/>
            <a:ext cx="7543800" cy="685800"/>
          </a:xfrm>
        </p:spPr>
        <p:txBody>
          <a:bodyPr/>
          <a:lstStyle/>
          <a:p>
            <a:pPr marL="0" indent="0" algn="ctr">
              <a:buNone/>
            </a:pPr>
            <a:r>
              <a:rPr lang="en-US" sz="2400" b="1" dirty="0">
                <a:solidFill>
                  <a:schemeClr val="tx1"/>
                </a:solidFill>
                <a:effectLst>
                  <a:outerShdw blurRad="38100" dist="38100" dir="2700000" algn="tl">
                    <a:srgbClr val="FFFFFF"/>
                  </a:outerShdw>
                </a:effectLst>
                <a:latin typeface="+mn-lt"/>
              </a:rPr>
              <a:t>Lovell’s managers may ask: </a:t>
            </a:r>
            <a:r>
              <a:rPr lang="en-IN" sz="2400" b="1" dirty="0">
                <a:solidFill>
                  <a:schemeClr val="tx1"/>
                </a:solidFill>
                <a:effectLst>
                  <a:outerShdw blurRad="38100" dist="38100" dir="2700000" algn="tl">
                    <a:srgbClr val="FFFFFF"/>
                  </a:outerShdw>
                </a:effectLst>
                <a:latin typeface="+mn-lt"/>
              </a:rPr>
              <a:t>“</a:t>
            </a:r>
            <a:r>
              <a:rPr lang="en-US" sz="2400" b="1" dirty="0">
                <a:solidFill>
                  <a:schemeClr val="tx1"/>
                </a:solidFill>
                <a:effectLst>
                  <a:outerShdw blurRad="38100" dist="38100" dir="2700000" algn="tl">
                    <a:srgbClr val="FFFFFF"/>
                  </a:outerShdw>
                </a:effectLst>
                <a:latin typeface="+mn-lt"/>
              </a:rPr>
              <a:t>Why should we keep the digital watch segment when it’s showing a </a:t>
            </a:r>
            <a:r>
              <a:rPr lang="en-US" sz="2400" b="1" dirty="0">
                <a:solidFill>
                  <a:srgbClr val="C00000"/>
                </a:solidFill>
                <a:latin typeface="+mn-lt"/>
                <a:ea typeface="MS PGothic" charset="0"/>
                <a:cs typeface="MS PGothic" charset="0"/>
              </a:rPr>
              <a:t>$100,000 loss</a:t>
            </a:r>
            <a:r>
              <a:rPr lang="en-US" sz="2400" b="1" dirty="0">
                <a:solidFill>
                  <a:schemeClr val="tx1"/>
                </a:solidFill>
                <a:effectLst>
                  <a:outerShdw blurRad="38100" dist="38100" dir="2700000" algn="tl">
                    <a:srgbClr val="FFFFFF"/>
                  </a:outerShdw>
                </a:effectLst>
                <a:latin typeface="+mn-lt"/>
              </a:rPr>
              <a:t>?</a:t>
            </a:r>
            <a:r>
              <a:rPr lang="en-IN" sz="2400" b="1" dirty="0">
                <a:solidFill>
                  <a:schemeClr val="tx1"/>
                </a:solidFill>
                <a:effectLst>
                  <a:outerShdw blurRad="38100" dist="38100" dir="2700000" algn="tl">
                    <a:srgbClr val="FFFFFF"/>
                  </a:outerShdw>
                </a:effectLst>
                <a:latin typeface="+mn-lt"/>
              </a:rPr>
              <a:t>”</a:t>
            </a:r>
            <a:endParaRPr lang="en-US" sz="2400" b="1" dirty="0">
              <a:solidFill>
                <a:schemeClr val="tx1"/>
              </a:solidFill>
              <a:effectLst>
                <a:outerShdw blurRad="38100" dist="38100" dir="2700000" algn="tl">
                  <a:srgbClr val="FFFFFF"/>
                </a:outerShdw>
              </a:effectLst>
              <a:latin typeface="+mn-lt"/>
            </a:endParaRPr>
          </a:p>
        </p:txBody>
      </p:sp>
      <p:sp>
        <p:nvSpPr>
          <p:cNvPr id="5" name="Content Placeholder 2">
            <a:extLst>
              <a:ext uri="{FF2B5EF4-FFF2-40B4-BE49-F238E27FC236}">
                <a16:creationId xmlns:a16="http://schemas.microsoft.com/office/drawing/2014/main" id="{F51836B6-E860-4A40-9AA2-AD923A64D23F}"/>
              </a:ext>
            </a:extLst>
          </p:cNvPr>
          <p:cNvSpPr txBox="1">
            <a:spLocks/>
          </p:cNvSpPr>
          <p:nvPr/>
        </p:nvSpPr>
        <p:spPr bwMode="auto">
          <a:xfrm>
            <a:off x="800100" y="3754811"/>
            <a:ext cx="7543800" cy="83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0" bIns="45720" numCol="1" anchor="t" anchorCtr="0" compatLnSpc="1">
            <a:prstTxWarp prst="textNoShape">
              <a:avLst/>
            </a:prstTxWarp>
          </a:bodyPr>
          <a:lstStyle>
            <a:lvl1pPr marL="90488" indent="-90488" algn="l" rtl="0" eaLnBrk="0" fontAlgn="base" hangingPunct="0">
              <a:lnSpc>
                <a:spcPct val="90000"/>
              </a:lnSpc>
              <a:spcBef>
                <a:spcPts val="1200"/>
              </a:spcBef>
              <a:spcAft>
                <a:spcPts val="200"/>
              </a:spcAft>
              <a:buClr>
                <a:schemeClr val="accent1"/>
              </a:buClr>
              <a:buSzPct val="100000"/>
              <a:buFont typeface="Calibri" charset="0"/>
              <a:buChar char=" "/>
              <a:defRPr sz="2000" kern="1200">
                <a:solidFill>
                  <a:srgbClr val="404040"/>
                </a:solidFill>
                <a:latin typeface="Calibri" panose="020F0502020204030204" pitchFamily="34" charset="0"/>
                <a:ea typeface="ＭＳ Ｐゴシック" charset="0"/>
                <a:cs typeface="+mn-cs"/>
              </a:defRPr>
            </a:lvl1pPr>
            <a:lvl2pPr marL="382588" indent="-182563" algn="l" rtl="0" eaLnBrk="0" fontAlgn="base" hangingPunct="0">
              <a:lnSpc>
                <a:spcPct val="90000"/>
              </a:lnSpc>
              <a:spcBef>
                <a:spcPts val="200"/>
              </a:spcBef>
              <a:spcAft>
                <a:spcPts val="400"/>
              </a:spcAft>
              <a:buClr>
                <a:schemeClr val="accent1"/>
              </a:buClr>
              <a:buFont typeface="Calibri" charset="0"/>
              <a:buChar char="◦"/>
              <a:defRPr kern="1200">
                <a:solidFill>
                  <a:srgbClr val="404040"/>
                </a:solidFill>
                <a:latin typeface="Calibri" panose="020F0502020204030204" pitchFamily="34" charset="0"/>
                <a:ea typeface="ＭＳ Ｐゴシック" charset="0"/>
                <a:cs typeface="+mn-cs"/>
              </a:defRPr>
            </a:lvl2pPr>
            <a:lvl3pPr marL="566738" indent="-182563" algn="l" rtl="0" eaLnBrk="0" fontAlgn="base" hangingPunct="0">
              <a:lnSpc>
                <a:spcPct val="90000"/>
              </a:lnSpc>
              <a:spcBef>
                <a:spcPts val="200"/>
              </a:spcBef>
              <a:spcAft>
                <a:spcPts val="400"/>
              </a:spcAft>
              <a:buClr>
                <a:schemeClr val="accent1"/>
              </a:buClr>
              <a:buFont typeface="Calibri" charset="0"/>
              <a:buChar char="◦"/>
              <a:defRPr sz="1400" kern="1200">
                <a:solidFill>
                  <a:srgbClr val="404040"/>
                </a:solidFill>
                <a:latin typeface="Calibri" panose="020F0502020204030204" pitchFamily="34" charset="0"/>
                <a:ea typeface="ＭＳ Ｐゴシック" charset="0"/>
                <a:cs typeface="+mn-cs"/>
              </a:defRPr>
            </a:lvl3pPr>
            <a:lvl4pPr marL="749300" indent="-182563" algn="l" rtl="0" eaLnBrk="0" fontAlgn="base" hangingPunct="0">
              <a:lnSpc>
                <a:spcPct val="90000"/>
              </a:lnSpc>
              <a:spcBef>
                <a:spcPts val="200"/>
              </a:spcBef>
              <a:spcAft>
                <a:spcPts val="400"/>
              </a:spcAft>
              <a:buClr>
                <a:schemeClr val="accent1"/>
              </a:buClr>
              <a:buFont typeface="Calibri" charset="0"/>
              <a:buChar char="◦"/>
              <a:defRPr sz="1400" kern="1200">
                <a:solidFill>
                  <a:srgbClr val="404040"/>
                </a:solidFill>
                <a:latin typeface="Calibri" panose="020F0502020204030204" pitchFamily="34" charset="0"/>
                <a:ea typeface="ＭＳ Ｐゴシック" charset="0"/>
                <a:cs typeface="+mn-cs"/>
              </a:defRPr>
            </a:lvl4pPr>
            <a:lvl5pPr marL="931863" indent="-182563" algn="l" rtl="0" eaLnBrk="0" fontAlgn="base" hangingPunct="0">
              <a:lnSpc>
                <a:spcPct val="90000"/>
              </a:lnSpc>
              <a:spcBef>
                <a:spcPts val="200"/>
              </a:spcBef>
              <a:spcAft>
                <a:spcPts val="400"/>
              </a:spcAft>
              <a:buClr>
                <a:schemeClr val="accent1"/>
              </a:buClr>
              <a:buFont typeface="Calibri" charset="0"/>
              <a:buChar char="◦"/>
              <a:defRPr sz="1400" kern="1200">
                <a:solidFill>
                  <a:srgbClr val="404040"/>
                </a:solidFill>
                <a:latin typeface="Calibri" panose="020F0502020204030204" pitchFamily="34" charset="0"/>
                <a:ea typeface="ＭＳ Ｐゴシック" charset="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eaLnBrk="1" hangingPunct="1">
              <a:spcBef>
                <a:spcPts val="1000"/>
              </a:spcBef>
              <a:spcAft>
                <a:spcPts val="0"/>
              </a:spcAft>
              <a:buFont typeface="Calibri" charset="0"/>
              <a:buNone/>
              <a:defRPr/>
            </a:pPr>
            <a:r>
              <a:rPr lang="en-US" altLang="en-US" sz="2800" b="1">
                <a:solidFill>
                  <a:srgbClr val="0000CC"/>
                </a:solidFill>
              </a:rPr>
              <a:t>The answer lies in the way we allocate </a:t>
            </a:r>
            <a:r>
              <a:rPr lang="en-US" altLang="en-US" sz="2800" b="1">
                <a:solidFill>
                  <a:srgbClr val="C00000"/>
                </a:solidFill>
              </a:rPr>
              <a:t>common fixed costs</a:t>
            </a:r>
            <a:r>
              <a:rPr lang="en-US" altLang="en-US" sz="2800" b="1">
                <a:solidFill>
                  <a:srgbClr val="0000CC"/>
                </a:solidFill>
              </a:rPr>
              <a:t> to our products.</a:t>
            </a:r>
            <a:endParaRPr lang="en-US" altLang="en-US" sz="2800" b="1" dirty="0">
              <a:solidFill>
                <a:srgbClr val="0000CC"/>
              </a:solidFill>
            </a:endParaRPr>
          </a:p>
        </p:txBody>
      </p:sp>
    </p:spTree>
    <p:extLst>
      <p:ext uri="{BB962C8B-B14F-4D97-AF65-F5344CB8AC3E}">
        <p14:creationId xmlns:p14="http://schemas.microsoft.com/office/powerpoint/2010/main" val="3471869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cs typeface="ＭＳ Ｐゴシック" charset="-128"/>
              </a:rPr>
              <a:t>Beware of Allocated Fixed Costs</a:t>
            </a:r>
            <a:endParaRPr lang="en-IN" dirty="0">
              <a:latin typeface="+mn-lt"/>
            </a:endParaRPr>
          </a:p>
        </p:txBody>
      </p:sp>
      <p:sp>
        <p:nvSpPr>
          <p:cNvPr id="3" name="Content Placeholder 2"/>
          <p:cNvSpPr>
            <a:spLocks noGrp="1"/>
          </p:cNvSpPr>
          <p:nvPr>
            <p:ph idx="1"/>
          </p:nvPr>
        </p:nvSpPr>
        <p:spPr>
          <a:xfrm>
            <a:off x="822325" y="1447799"/>
            <a:ext cx="7543800" cy="1609725"/>
          </a:xfrm>
        </p:spPr>
        <p:txBody>
          <a:bodyPr/>
          <a:lstStyle/>
          <a:p>
            <a:pPr marL="0" indent="0" algn="ctr">
              <a:buNone/>
            </a:pPr>
            <a:r>
              <a:rPr lang="en-US" sz="2800" b="1" dirty="0">
                <a:solidFill>
                  <a:schemeClr val="tx1"/>
                </a:solidFill>
              </a:rPr>
              <a:t>Including</a:t>
            </a:r>
            <a:r>
              <a:rPr lang="en-US" sz="2800" b="1" dirty="0"/>
              <a:t> </a:t>
            </a:r>
            <a:r>
              <a:rPr lang="en-US" sz="2800" b="1" dirty="0">
                <a:solidFill>
                  <a:srgbClr val="C00000"/>
                </a:solidFill>
              </a:rPr>
              <a:t>unavoidable common fixed costs</a:t>
            </a:r>
            <a:r>
              <a:rPr lang="en-US" sz="2800" b="1" dirty="0"/>
              <a:t> </a:t>
            </a:r>
            <a:r>
              <a:rPr lang="en-US" sz="2800" b="1" dirty="0">
                <a:solidFill>
                  <a:schemeClr val="tx1"/>
                </a:solidFill>
              </a:rPr>
              <a:t>makes the product line</a:t>
            </a:r>
            <a:r>
              <a:rPr lang="en-US" sz="2800" b="1" dirty="0"/>
              <a:t> </a:t>
            </a:r>
            <a:r>
              <a:rPr lang="en-US" sz="2800" b="1" dirty="0">
                <a:solidFill>
                  <a:srgbClr val="C00000"/>
                </a:solidFill>
              </a:rPr>
              <a:t>appear to be unprofitable</a:t>
            </a:r>
            <a:r>
              <a:rPr lang="en-US" sz="2800" b="1" dirty="0">
                <a:solidFill>
                  <a:schemeClr val="tx1"/>
                </a:solidFill>
              </a:rPr>
              <a:t>, when in fact </a:t>
            </a:r>
            <a:r>
              <a:rPr lang="en-US" sz="2800" b="1" i="1" dirty="0">
                <a:solidFill>
                  <a:schemeClr val="tx1"/>
                </a:solidFill>
              </a:rPr>
              <a:t>dropping</a:t>
            </a:r>
            <a:r>
              <a:rPr lang="en-US" sz="2800" b="1" dirty="0">
                <a:solidFill>
                  <a:schemeClr val="tx1"/>
                </a:solidFill>
              </a:rPr>
              <a:t> the product line would </a:t>
            </a:r>
            <a:r>
              <a:rPr lang="en-US" sz="2800" b="1" dirty="0">
                <a:solidFill>
                  <a:srgbClr val="C00000"/>
                </a:solidFill>
              </a:rPr>
              <a:t>decrease the company’s overall net operating income.</a:t>
            </a:r>
          </a:p>
        </p:txBody>
      </p:sp>
    </p:spTree>
    <p:extLst>
      <p:ext uri="{BB962C8B-B14F-4D97-AF65-F5344CB8AC3E}">
        <p14:creationId xmlns:p14="http://schemas.microsoft.com/office/powerpoint/2010/main" val="1339544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b="1" dirty="0">
                <a:solidFill>
                  <a:srgbClr val="FF0000"/>
                </a:solidFill>
                <a:cs typeface="ＭＳ Ｐゴシック" charset="-128"/>
              </a:rPr>
              <a:t>Second:  Make or Buy Decision</a:t>
            </a:r>
            <a:endParaRPr lang="en-IN" b="1" dirty="0">
              <a:solidFill>
                <a:srgbClr val="FF0000"/>
              </a:solidFill>
            </a:endParaRPr>
          </a:p>
        </p:txBody>
      </p:sp>
      <p:sp>
        <p:nvSpPr>
          <p:cNvPr id="3" name="Content Placeholder 2"/>
          <p:cNvSpPr>
            <a:spLocks noGrp="1"/>
          </p:cNvSpPr>
          <p:nvPr>
            <p:ph idx="1"/>
          </p:nvPr>
        </p:nvSpPr>
        <p:spPr>
          <a:xfrm>
            <a:off x="822325" y="1447800"/>
            <a:ext cx="7543800" cy="2362200"/>
          </a:xfrm>
        </p:spPr>
        <p:txBody>
          <a:bodyPr/>
          <a:lstStyle/>
          <a:p>
            <a:pPr marL="0" indent="0">
              <a:buFont typeface="Times" charset="0"/>
              <a:buNone/>
            </a:pPr>
            <a:r>
              <a:rPr lang="en-US" sz="2800" b="1" dirty="0">
                <a:solidFill>
                  <a:schemeClr val="tx2"/>
                </a:solidFill>
                <a:latin typeface="+mn-lt"/>
                <a:ea typeface="MS PGothic" charset="0"/>
                <a:cs typeface="MS PGothic" charset="0"/>
              </a:rPr>
              <a:t>When a company is involved in more than one activity in the entire value chain, it is </a:t>
            </a:r>
            <a:r>
              <a:rPr lang="en-US" sz="2800" b="1" dirty="0">
                <a:solidFill>
                  <a:srgbClr val="C00000"/>
                </a:solidFill>
                <a:latin typeface="+mn-lt"/>
                <a:ea typeface="MS PGothic" charset="0"/>
                <a:cs typeface="MS PGothic" charset="0"/>
              </a:rPr>
              <a:t>vertically integrated</a:t>
            </a:r>
            <a:r>
              <a:rPr lang="en-US" sz="2800" b="1" dirty="0">
                <a:solidFill>
                  <a:schemeClr val="tx2"/>
                </a:solidFill>
                <a:latin typeface="+mn-lt"/>
                <a:ea typeface="MS PGothic" charset="0"/>
                <a:cs typeface="MS PGothic" charset="0"/>
              </a:rPr>
              <a:t>. A decision to carry out one of the activities in the value chain </a:t>
            </a:r>
            <a:r>
              <a:rPr lang="en-US" sz="2800" b="1" dirty="0">
                <a:solidFill>
                  <a:srgbClr val="C00000"/>
                </a:solidFill>
                <a:latin typeface="+mn-lt"/>
                <a:ea typeface="MS PGothic" charset="0"/>
                <a:cs typeface="MS PGothic" charset="0"/>
              </a:rPr>
              <a:t>internally</a:t>
            </a:r>
            <a:r>
              <a:rPr lang="en-US" sz="2800" b="1" dirty="0">
                <a:solidFill>
                  <a:schemeClr val="tx2"/>
                </a:solidFill>
                <a:latin typeface="+mn-lt"/>
                <a:ea typeface="MS PGothic" charset="0"/>
                <a:cs typeface="MS PGothic" charset="0"/>
              </a:rPr>
              <a:t>, rather than to buy </a:t>
            </a:r>
            <a:r>
              <a:rPr lang="en-US" sz="2800" b="1" dirty="0">
                <a:solidFill>
                  <a:srgbClr val="C00000"/>
                </a:solidFill>
                <a:latin typeface="+mn-lt"/>
                <a:ea typeface="MS PGothic" charset="0"/>
                <a:cs typeface="MS PGothic" charset="0"/>
              </a:rPr>
              <a:t>externally</a:t>
            </a:r>
            <a:r>
              <a:rPr lang="en-US" sz="2800" b="1" dirty="0">
                <a:solidFill>
                  <a:schemeClr val="tx2"/>
                </a:solidFill>
                <a:latin typeface="+mn-lt"/>
                <a:ea typeface="MS PGothic" charset="0"/>
                <a:cs typeface="MS PGothic" charset="0"/>
              </a:rPr>
              <a:t> from a supplier is called a </a:t>
            </a:r>
            <a:r>
              <a:rPr lang="en-IN" sz="2800" b="1" dirty="0">
                <a:solidFill>
                  <a:srgbClr val="C00000"/>
                </a:solidFill>
                <a:latin typeface="+mn-lt"/>
                <a:ea typeface="MS PGothic" charset="0"/>
                <a:cs typeface="MS PGothic" charset="0"/>
              </a:rPr>
              <a:t>“</a:t>
            </a:r>
            <a:r>
              <a:rPr lang="en-US" sz="2800" b="1" dirty="0">
                <a:solidFill>
                  <a:srgbClr val="C00000"/>
                </a:solidFill>
                <a:latin typeface="+mn-lt"/>
                <a:ea typeface="MS PGothic" charset="0"/>
                <a:cs typeface="MS PGothic" charset="0"/>
              </a:rPr>
              <a:t>make or buy</a:t>
            </a:r>
            <a:r>
              <a:rPr lang="en-IN" sz="2800" b="1" dirty="0">
                <a:solidFill>
                  <a:srgbClr val="C00000"/>
                </a:solidFill>
                <a:latin typeface="+mn-lt"/>
                <a:ea typeface="MS PGothic" charset="0"/>
                <a:cs typeface="MS PGothic" charset="0"/>
              </a:rPr>
              <a:t>”</a:t>
            </a:r>
            <a:r>
              <a:rPr lang="en-US" sz="2800" b="1" dirty="0">
                <a:solidFill>
                  <a:srgbClr val="C00000"/>
                </a:solidFill>
                <a:latin typeface="+mn-lt"/>
                <a:ea typeface="MS PGothic" charset="0"/>
                <a:cs typeface="MS PGothic" charset="0"/>
              </a:rPr>
              <a:t> decision</a:t>
            </a:r>
            <a:r>
              <a:rPr lang="en-US" sz="2800" b="1" dirty="0">
                <a:solidFill>
                  <a:schemeClr val="tx2"/>
                </a:solidFill>
                <a:latin typeface="+mn-lt"/>
                <a:ea typeface="MS PGothic" charset="0"/>
                <a:cs typeface="MS PGothic" charset="0"/>
              </a:rPr>
              <a:t>.</a:t>
            </a:r>
          </a:p>
        </p:txBody>
      </p:sp>
    </p:spTree>
    <p:extLst>
      <p:ext uri="{BB962C8B-B14F-4D97-AF65-F5344CB8AC3E}">
        <p14:creationId xmlns:p14="http://schemas.microsoft.com/office/powerpoint/2010/main" val="773158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cs typeface="ＭＳ Ｐゴシック" charset="-128"/>
              </a:rPr>
              <a:t>The Make or Buy Decision – An Example</a:t>
            </a:r>
            <a:endParaRPr lang="en-IN" dirty="0">
              <a:latin typeface="+mn-lt"/>
            </a:endParaRPr>
          </a:p>
        </p:txBody>
      </p:sp>
      <p:sp>
        <p:nvSpPr>
          <p:cNvPr id="3" name="Content Placeholder 2"/>
          <p:cNvSpPr>
            <a:spLocks noGrp="1"/>
          </p:cNvSpPr>
          <p:nvPr>
            <p:ph idx="1"/>
          </p:nvPr>
        </p:nvSpPr>
        <p:spPr>
          <a:xfrm>
            <a:off x="822325" y="1447800"/>
            <a:ext cx="7407275" cy="762000"/>
          </a:xfrm>
        </p:spPr>
        <p:txBody>
          <a:bodyPr/>
          <a:lstStyle/>
          <a:p>
            <a:pPr marL="0" indent="0">
              <a:buFont typeface="Georgia" charset="0"/>
              <a:buNone/>
            </a:pPr>
            <a:r>
              <a:rPr lang="en-US" sz="2400" dirty="0">
                <a:solidFill>
                  <a:schemeClr val="tx1"/>
                </a:solidFill>
                <a:latin typeface="Calibri" charset="0"/>
                <a:ea typeface="MS PGothic" charset="0"/>
                <a:cs typeface="MS PGothic" charset="0"/>
              </a:rPr>
              <a:t>Essex Company manufactures part 4A that is used in one of its products. The unit product cost of this part is:</a:t>
            </a:r>
          </a:p>
        </p:txBody>
      </p:sp>
      <p:graphicFrame>
        <p:nvGraphicFramePr>
          <p:cNvPr id="4" name="Table 3"/>
          <p:cNvGraphicFramePr>
            <a:graphicFrameLocks noGrp="1"/>
          </p:cNvGraphicFramePr>
          <p:nvPr>
            <p:extLst>
              <p:ext uri="{D42A27DB-BD31-4B8C-83A1-F6EECF244321}">
                <p14:modId xmlns:p14="http://schemas.microsoft.com/office/powerpoint/2010/main" val="1242692422"/>
              </p:ext>
            </p:extLst>
          </p:nvPr>
        </p:nvGraphicFramePr>
        <p:xfrm>
          <a:off x="2133600" y="2890520"/>
          <a:ext cx="4495800" cy="2595880"/>
        </p:xfrm>
        <a:graphic>
          <a:graphicData uri="http://schemas.openxmlformats.org/drawingml/2006/table">
            <a:tbl>
              <a:tblPr firstRow="1" bandRow="1">
                <a:tableStyleId>{2D5ABB26-0587-4C30-8999-92F81FD0307C}</a:tableStyleId>
              </a:tblPr>
              <a:tblGrid>
                <a:gridCol w="3429000">
                  <a:extLst>
                    <a:ext uri="{9D8B030D-6E8A-4147-A177-3AD203B41FA5}">
                      <a16:colId xmlns:a16="http://schemas.microsoft.com/office/drawing/2014/main" val="2306436960"/>
                    </a:ext>
                  </a:extLst>
                </a:gridCol>
                <a:gridCol w="1066800">
                  <a:extLst>
                    <a:ext uri="{9D8B030D-6E8A-4147-A177-3AD203B41FA5}">
                      <a16:colId xmlns:a16="http://schemas.microsoft.com/office/drawing/2014/main" val="858811357"/>
                    </a:ext>
                  </a:extLst>
                </a:gridCol>
              </a:tblGrid>
              <a:tr h="370840">
                <a:tc>
                  <a:txBody>
                    <a:bodyPr/>
                    <a:lstStyle/>
                    <a:p>
                      <a:r>
                        <a:rPr lang="en-IN" dirty="0"/>
                        <a:t>Direct materials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r"/>
                      <a:r>
                        <a:rPr lang="en-IN" dirty="0"/>
                        <a:t>$     9</a:t>
                      </a:r>
                    </a:p>
                  </a:txBody>
                  <a:tcPr marR="19800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45046572"/>
                  </a:ext>
                </a:extLst>
              </a:tr>
              <a:tr h="370840">
                <a:tc>
                  <a:txBody>
                    <a:bodyPr/>
                    <a:lstStyle/>
                    <a:p>
                      <a:r>
                        <a:rPr lang="en-IN" dirty="0"/>
                        <a:t>Direct labor</a:t>
                      </a:r>
                    </a:p>
                  </a:txBody>
                  <a:tcPr>
                    <a:lnL w="12700" cap="flat" cmpd="sng" algn="ctr">
                      <a:solidFill>
                        <a:schemeClr val="tx1"/>
                      </a:solidFill>
                      <a:prstDash val="solid"/>
                      <a:round/>
                      <a:headEnd type="none" w="med" len="med"/>
                      <a:tailEnd type="none" w="med" len="med"/>
                    </a:lnL>
                  </a:tcPr>
                </a:tc>
                <a:tc>
                  <a:txBody>
                    <a:bodyPr/>
                    <a:lstStyle/>
                    <a:p>
                      <a:pPr algn="r"/>
                      <a:r>
                        <a:rPr lang="en-IN" dirty="0"/>
                        <a:t>5</a:t>
                      </a:r>
                    </a:p>
                  </a:txBody>
                  <a:tcPr marR="19800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195991129"/>
                  </a:ext>
                </a:extLst>
              </a:tr>
              <a:tr h="370840">
                <a:tc>
                  <a:txBody>
                    <a:bodyPr/>
                    <a:lstStyle/>
                    <a:p>
                      <a:r>
                        <a:rPr lang="en-IN" dirty="0"/>
                        <a:t>Variable overhead</a:t>
                      </a:r>
                    </a:p>
                  </a:txBody>
                  <a:tcPr>
                    <a:lnL w="12700" cap="flat" cmpd="sng" algn="ctr">
                      <a:solidFill>
                        <a:schemeClr val="tx1"/>
                      </a:solidFill>
                      <a:prstDash val="solid"/>
                      <a:round/>
                      <a:headEnd type="none" w="med" len="med"/>
                      <a:tailEnd type="none" w="med" len="med"/>
                    </a:lnL>
                  </a:tcPr>
                </a:tc>
                <a:tc>
                  <a:txBody>
                    <a:bodyPr/>
                    <a:lstStyle/>
                    <a:p>
                      <a:pPr algn="r"/>
                      <a:r>
                        <a:rPr lang="en-IN" dirty="0"/>
                        <a:t>1</a:t>
                      </a:r>
                    </a:p>
                  </a:txBody>
                  <a:tcPr marR="19800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58223362"/>
                  </a:ext>
                </a:extLst>
              </a:tr>
              <a:tr h="370840">
                <a:tc>
                  <a:txBody>
                    <a:bodyPr/>
                    <a:lstStyle/>
                    <a:p>
                      <a:r>
                        <a:rPr lang="en-IN" dirty="0"/>
                        <a:t>Depreciation of special equipment</a:t>
                      </a:r>
                    </a:p>
                  </a:txBody>
                  <a:tcPr>
                    <a:lnL w="12700" cap="flat" cmpd="sng" algn="ctr">
                      <a:solidFill>
                        <a:schemeClr val="tx1"/>
                      </a:solidFill>
                      <a:prstDash val="solid"/>
                      <a:round/>
                      <a:headEnd type="none" w="med" len="med"/>
                      <a:tailEnd type="none" w="med" len="med"/>
                    </a:lnL>
                  </a:tcPr>
                </a:tc>
                <a:tc>
                  <a:txBody>
                    <a:bodyPr/>
                    <a:lstStyle/>
                    <a:p>
                      <a:pPr algn="r"/>
                      <a:r>
                        <a:rPr lang="en-IN" dirty="0"/>
                        <a:t>3</a:t>
                      </a:r>
                    </a:p>
                  </a:txBody>
                  <a:tcPr marR="19800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65817749"/>
                  </a:ext>
                </a:extLst>
              </a:tr>
              <a:tr h="370840">
                <a:tc>
                  <a:txBody>
                    <a:bodyPr/>
                    <a:lstStyle/>
                    <a:p>
                      <a:r>
                        <a:rPr lang="en-IN" dirty="0"/>
                        <a:t>Supervisor’s</a:t>
                      </a:r>
                      <a:r>
                        <a:rPr lang="en-IN" baseline="0" dirty="0"/>
                        <a:t> salary</a:t>
                      </a:r>
                      <a:endParaRPr lang="en-IN" dirty="0"/>
                    </a:p>
                  </a:txBody>
                  <a:tcPr>
                    <a:lnL w="12700" cap="flat" cmpd="sng" algn="ctr">
                      <a:solidFill>
                        <a:schemeClr val="tx1"/>
                      </a:solidFill>
                      <a:prstDash val="solid"/>
                      <a:round/>
                      <a:headEnd type="none" w="med" len="med"/>
                      <a:tailEnd type="none" w="med" len="med"/>
                    </a:lnL>
                  </a:tcPr>
                </a:tc>
                <a:tc>
                  <a:txBody>
                    <a:bodyPr/>
                    <a:lstStyle/>
                    <a:p>
                      <a:pPr algn="r"/>
                      <a:r>
                        <a:rPr lang="en-IN" dirty="0"/>
                        <a:t>2</a:t>
                      </a:r>
                    </a:p>
                  </a:txBody>
                  <a:tcPr marR="19800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735224528"/>
                  </a:ext>
                </a:extLst>
              </a:tr>
              <a:tr h="370840">
                <a:tc>
                  <a:txBody>
                    <a:bodyPr/>
                    <a:lstStyle/>
                    <a:p>
                      <a:r>
                        <a:rPr lang="en-IN" dirty="0"/>
                        <a:t>General factory</a:t>
                      </a:r>
                      <a:r>
                        <a:rPr lang="en-IN" baseline="0" dirty="0"/>
                        <a:t> overhead</a:t>
                      </a:r>
                      <a:endParaRPr lang="en-IN" dirty="0"/>
                    </a:p>
                  </a:txBody>
                  <a:tcPr>
                    <a:lnL w="12700" cap="flat" cmpd="sng" algn="ctr">
                      <a:solidFill>
                        <a:schemeClr val="tx1"/>
                      </a:solidFill>
                      <a:prstDash val="solid"/>
                      <a:round/>
                      <a:headEnd type="none" w="med" len="med"/>
                      <a:tailEnd type="none" w="med" len="med"/>
                    </a:lnL>
                  </a:tcPr>
                </a:tc>
                <a:tc>
                  <a:txBody>
                    <a:bodyPr/>
                    <a:lstStyle/>
                    <a:p>
                      <a:pPr algn="r"/>
                      <a:r>
                        <a:rPr lang="en-IN" u="sng" baseline="0" dirty="0"/>
                        <a:t>      10</a:t>
                      </a:r>
                    </a:p>
                  </a:txBody>
                  <a:tcPr marR="19800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79675161"/>
                  </a:ext>
                </a:extLst>
              </a:tr>
              <a:tr h="370840">
                <a:tc>
                  <a:txBody>
                    <a:bodyPr/>
                    <a:lstStyle/>
                    <a:p>
                      <a:r>
                        <a:rPr lang="en-IN" dirty="0"/>
                        <a:t>Unit product cost</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r"/>
                      <a:r>
                        <a:rPr lang="en-IN" u="dbl" baseline="0" dirty="0"/>
                        <a:t>$    30</a:t>
                      </a:r>
                    </a:p>
                  </a:txBody>
                  <a:tcPr marR="19800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7488274"/>
                  </a:ext>
                </a:extLst>
              </a:tr>
            </a:tbl>
          </a:graphicData>
        </a:graphic>
      </p:graphicFrame>
    </p:spTree>
    <p:extLst>
      <p:ext uri="{BB962C8B-B14F-4D97-AF65-F5344CB8AC3E}">
        <p14:creationId xmlns:p14="http://schemas.microsoft.com/office/powerpoint/2010/main" val="2389348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4" y="152400"/>
            <a:ext cx="7940675" cy="1025525"/>
          </a:xfrm>
        </p:spPr>
        <p:txBody>
          <a:bodyPr>
            <a:normAutofit/>
          </a:bodyPr>
          <a:lstStyle/>
          <a:p>
            <a:r>
              <a:rPr lang="en-US" altLang="en-US" dirty="0">
                <a:cs typeface="ＭＳ Ｐゴシック" charset="-128"/>
              </a:rPr>
              <a:t>The Make or Buy Decision </a:t>
            </a:r>
            <a:endParaRPr lang="en-IN" dirty="0">
              <a:latin typeface="+mn-lt"/>
            </a:endParaRPr>
          </a:p>
        </p:txBody>
      </p:sp>
      <p:sp>
        <p:nvSpPr>
          <p:cNvPr id="3" name="Content Placeholder 2"/>
          <p:cNvSpPr>
            <a:spLocks noGrp="1"/>
          </p:cNvSpPr>
          <p:nvPr>
            <p:ph idx="1"/>
          </p:nvPr>
        </p:nvSpPr>
        <p:spPr>
          <a:xfrm>
            <a:off x="822325" y="1447800"/>
            <a:ext cx="7940674" cy="4343400"/>
          </a:xfrm>
        </p:spPr>
        <p:txBody>
          <a:bodyPr/>
          <a:lstStyle/>
          <a:p>
            <a:pPr marL="0" indent="0">
              <a:buNone/>
              <a:defRPr/>
            </a:pPr>
            <a:r>
              <a:rPr lang="en-US" altLang="en-US" sz="2400" dirty="0">
                <a:solidFill>
                  <a:srgbClr val="000000"/>
                </a:solidFill>
              </a:rPr>
              <a:t>The special equipment used to manufacture part 4A has no resale value.</a:t>
            </a:r>
          </a:p>
          <a:p>
            <a:pPr marL="0" indent="0">
              <a:buNone/>
              <a:defRPr/>
            </a:pPr>
            <a:r>
              <a:rPr lang="en-US" altLang="en-US" sz="2400" dirty="0">
                <a:solidFill>
                  <a:srgbClr val="000000"/>
                </a:solidFill>
              </a:rPr>
              <a:t>The total amount of general factory overhead, which is allocated on the basis of direct labor hours, would be unaffected by this decision.</a:t>
            </a:r>
          </a:p>
          <a:p>
            <a:pPr marL="0" indent="0">
              <a:buNone/>
              <a:defRPr/>
            </a:pPr>
            <a:r>
              <a:rPr lang="en-US" altLang="en-US" sz="2400" dirty="0">
                <a:solidFill>
                  <a:srgbClr val="000000"/>
                </a:solidFill>
              </a:rPr>
              <a:t>The $30 unit product cost is based on 20,000 parts produced each year.</a:t>
            </a:r>
          </a:p>
          <a:p>
            <a:pPr marL="0" indent="0">
              <a:buNone/>
              <a:defRPr/>
            </a:pPr>
            <a:r>
              <a:rPr lang="en-US" altLang="en-US" sz="2400" dirty="0">
                <a:solidFill>
                  <a:srgbClr val="000000"/>
                </a:solidFill>
              </a:rPr>
              <a:t>An outside supplier has offered to provide the 20,000 parts at a cost of $25 per part.</a:t>
            </a:r>
          </a:p>
          <a:p>
            <a:pPr marL="0" indent="0">
              <a:buNone/>
              <a:defRPr/>
            </a:pPr>
            <a:r>
              <a:rPr lang="en-US" altLang="en-US" sz="2400" b="1" dirty="0">
                <a:solidFill>
                  <a:srgbClr val="C00000"/>
                </a:solidFill>
              </a:rPr>
              <a:t>Should the company stop making part 4A and buy it from an outside supplier?</a:t>
            </a:r>
          </a:p>
        </p:txBody>
      </p:sp>
    </p:spTree>
    <p:extLst>
      <p:ext uri="{BB962C8B-B14F-4D97-AF65-F5344CB8AC3E}">
        <p14:creationId xmlns:p14="http://schemas.microsoft.com/office/powerpoint/2010/main" val="206954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cs typeface="ＭＳ Ｐゴシック" charset="-128"/>
              </a:rPr>
              <a:t>The Make or Buy Decision </a:t>
            </a:r>
            <a:endParaRPr lang="en-IN" dirty="0">
              <a:latin typeface="+mn-lt"/>
            </a:endParaRPr>
          </a:p>
        </p:txBody>
      </p:sp>
      <p:pic>
        <p:nvPicPr>
          <p:cNvPr id="4" name="Picture 3" descr="Table illustrating the Make or Buy Decision."/>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91171" y="1624610"/>
            <a:ext cx="7557025" cy="3329941"/>
          </a:xfrm>
          <a:prstGeom prst="rect">
            <a:avLst/>
          </a:prstGeom>
        </p:spPr>
      </p:pic>
      <p:sp>
        <p:nvSpPr>
          <p:cNvPr id="3" name="Content Placeholder 2"/>
          <p:cNvSpPr>
            <a:spLocks noGrp="1"/>
          </p:cNvSpPr>
          <p:nvPr>
            <p:ph idx="1"/>
          </p:nvPr>
        </p:nvSpPr>
        <p:spPr>
          <a:xfrm>
            <a:off x="822325" y="5172075"/>
            <a:ext cx="7635875" cy="609600"/>
          </a:xfrm>
        </p:spPr>
        <p:txBody>
          <a:bodyPr/>
          <a:lstStyle/>
          <a:p>
            <a:pPr marL="0" indent="0">
              <a:buNone/>
            </a:pPr>
            <a:r>
              <a:rPr lang="en-US" sz="1900" b="1" dirty="0">
                <a:solidFill>
                  <a:srgbClr val="373D54"/>
                </a:solidFill>
              </a:rPr>
              <a:t>The </a:t>
            </a:r>
            <a:r>
              <a:rPr lang="en-US" sz="1900" b="1" dirty="0">
                <a:solidFill>
                  <a:srgbClr val="C00000"/>
                </a:solidFill>
              </a:rPr>
              <a:t>avoidable costs </a:t>
            </a:r>
            <a:r>
              <a:rPr lang="en-US" sz="1900" b="1" dirty="0">
                <a:solidFill>
                  <a:srgbClr val="373D54"/>
                </a:solidFill>
              </a:rPr>
              <a:t>associated with making part 4A include direct materials, direct labor, variable overhead, and the supervisor’s salary.</a:t>
            </a:r>
          </a:p>
        </p:txBody>
      </p:sp>
      <p:sp>
        <p:nvSpPr>
          <p:cNvPr id="5" name="Content Placeholder 3"/>
          <p:cNvSpPr>
            <a:spLocks noGrp="1"/>
          </p:cNvSpPr>
          <p:nvPr>
            <p:ph idx="1"/>
          </p:nvPr>
        </p:nvSpPr>
        <p:spPr>
          <a:xfrm>
            <a:off x="822325" y="5943600"/>
            <a:ext cx="7543800" cy="228600"/>
          </a:xfrm>
          <a:prstGeom prst="rect">
            <a:avLst/>
          </a:prstGeom>
        </p:spPr>
        <p:txBody>
          <a:bodyPr/>
          <a:lstStyle/>
          <a:p>
            <a:pPr algn="ctr"/>
            <a:r>
              <a:rPr lang="en-IN" sz="900" dirty="0">
                <a:solidFill>
                  <a:schemeClr val="tx1"/>
                </a:solidFill>
                <a:hlinkClick r:id="" action="ppaction://noaction"/>
              </a:rPr>
              <a:t>Access the text alternative for slide images.</a:t>
            </a:r>
          </a:p>
        </p:txBody>
      </p:sp>
    </p:spTree>
    <p:extLst>
      <p:ext uri="{BB962C8B-B14F-4D97-AF65-F5344CB8AC3E}">
        <p14:creationId xmlns:p14="http://schemas.microsoft.com/office/powerpoint/2010/main" val="34303508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cs typeface="ＭＳ Ｐゴシック" charset="-128"/>
              </a:rPr>
              <a:t>The Make or Buy Decision</a:t>
            </a:r>
            <a:endParaRPr lang="en-IN" dirty="0">
              <a:latin typeface="+mn-lt"/>
            </a:endParaRPr>
          </a:p>
        </p:txBody>
      </p:sp>
      <p:pic>
        <p:nvPicPr>
          <p:cNvPr id="3" name="Picture 2" descr="Same as previous slide's table but the dash under Make for the depreciation row carries an annotation: The cost incurred to buy the equipment is a sunk cost; the depreciation simply spreads this sunk cost over the equipment’s useful life. "/>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37861" y="1524000"/>
            <a:ext cx="8312727" cy="4303059"/>
          </a:xfrm>
          <a:prstGeom prst="rect">
            <a:avLst/>
          </a:prstGeom>
        </p:spPr>
      </p:pic>
    </p:spTree>
    <p:extLst>
      <p:ext uri="{BB962C8B-B14F-4D97-AF65-F5344CB8AC3E}">
        <p14:creationId xmlns:p14="http://schemas.microsoft.com/office/powerpoint/2010/main" val="1772297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cs typeface="ＭＳ Ｐゴシック" charset="-128"/>
              </a:rPr>
              <a:t>The Make or Buy Decision </a:t>
            </a:r>
            <a:endParaRPr lang="en-IN" dirty="0">
              <a:latin typeface="+mn-lt"/>
            </a:endParaRPr>
          </a:p>
        </p:txBody>
      </p:sp>
      <p:pic>
        <p:nvPicPr>
          <p:cNvPr id="3" name="Picture 2" descr="Same as previous table but now the allocated general factory overhead row has a callout. It reads: The allocated general factory overhead represents allocated costs common to all items produced in the factory and would continue unchanged. Thus, it is irrelevant to the decision."/>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22325" y="1447800"/>
            <a:ext cx="7557025" cy="4176250"/>
          </a:xfrm>
          <a:prstGeom prst="rect">
            <a:avLst/>
          </a:prstGeom>
        </p:spPr>
      </p:pic>
    </p:spTree>
    <p:extLst>
      <p:ext uri="{BB962C8B-B14F-4D97-AF65-F5344CB8AC3E}">
        <p14:creationId xmlns:p14="http://schemas.microsoft.com/office/powerpoint/2010/main" val="3186187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cs typeface="ＭＳ Ｐゴシック" charset="-128"/>
              </a:rPr>
              <a:t>The Make or Buy Decision </a:t>
            </a:r>
            <a:endParaRPr lang="en-IN" dirty="0"/>
          </a:p>
        </p:txBody>
      </p:sp>
      <p:pic>
        <p:nvPicPr>
          <p:cNvPr id="5" name="Picture 4" descr="Same as previous table but without callouts yet a final row is added below the table. It reads: Financial advantage of making part 4A, $160,000."/>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93488" y="1524000"/>
            <a:ext cx="7557025" cy="3338023"/>
          </a:xfrm>
          <a:prstGeom prst="rect">
            <a:avLst/>
          </a:prstGeom>
        </p:spPr>
      </p:pic>
      <p:sp>
        <p:nvSpPr>
          <p:cNvPr id="3" name="Content Placeholder 2"/>
          <p:cNvSpPr>
            <a:spLocks noGrp="1"/>
          </p:cNvSpPr>
          <p:nvPr>
            <p:ph idx="1"/>
          </p:nvPr>
        </p:nvSpPr>
        <p:spPr>
          <a:xfrm>
            <a:off x="800100" y="5222875"/>
            <a:ext cx="7543800" cy="914400"/>
          </a:xfrm>
        </p:spPr>
        <p:txBody>
          <a:bodyPr/>
          <a:lstStyle/>
          <a:p>
            <a:pPr algn="ctr"/>
            <a:r>
              <a:rPr lang="en-US" altLang="en-US" sz="2200" b="1" dirty="0">
                <a:solidFill>
                  <a:schemeClr val="tx1"/>
                </a:solidFill>
              </a:rPr>
              <a:t>Should we make or buy part 4A? Given that the total avoidable costs are less than the cost of buying the part, Essex should continue to make the part.</a:t>
            </a:r>
          </a:p>
        </p:txBody>
      </p:sp>
    </p:spTree>
    <p:extLst>
      <p:ext uri="{BB962C8B-B14F-4D97-AF65-F5344CB8AC3E}">
        <p14:creationId xmlns:p14="http://schemas.microsoft.com/office/powerpoint/2010/main" val="42917584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cs typeface="ＭＳ Ｐゴシック" charset="-128"/>
              </a:rPr>
              <a:t>Opportunity Cost</a:t>
            </a:r>
            <a:endParaRPr lang="en-IN" dirty="0">
              <a:latin typeface="+mn-lt"/>
            </a:endParaRPr>
          </a:p>
        </p:txBody>
      </p:sp>
      <p:sp>
        <p:nvSpPr>
          <p:cNvPr id="3" name="Content Placeholder 2"/>
          <p:cNvSpPr>
            <a:spLocks noGrp="1"/>
          </p:cNvSpPr>
          <p:nvPr>
            <p:ph idx="1"/>
          </p:nvPr>
        </p:nvSpPr>
        <p:spPr>
          <a:xfrm>
            <a:off x="822325" y="1447800"/>
            <a:ext cx="7543800" cy="3124200"/>
          </a:xfrm>
        </p:spPr>
        <p:txBody>
          <a:bodyPr/>
          <a:lstStyle/>
          <a:p>
            <a:pPr marL="0" indent="0" algn="ctr">
              <a:buFont typeface="Times"/>
              <a:buNone/>
              <a:defRPr/>
            </a:pPr>
            <a:r>
              <a:rPr lang="en-US" sz="2400" b="1" dirty="0">
                <a:solidFill>
                  <a:srgbClr val="C00000"/>
                </a:solidFill>
                <a:cs typeface="ＭＳ Ｐゴシック" charset="-128"/>
              </a:rPr>
              <a:t>Opportunity costs </a:t>
            </a:r>
            <a:r>
              <a:rPr lang="en-US" sz="2400" b="1" dirty="0">
                <a:solidFill>
                  <a:schemeClr val="tx2"/>
                </a:solidFill>
                <a:cs typeface="ＭＳ Ｐゴシック" charset="-128"/>
              </a:rPr>
              <a:t>are not actual cash outlays and are not recorded in the formal accounts of an organization.</a:t>
            </a:r>
          </a:p>
          <a:p>
            <a:pPr marL="0" indent="0" algn="ctr">
              <a:buFont typeface="Calibri" panose="020F0502020204030204" pitchFamily="34" charset="0"/>
              <a:buNone/>
              <a:defRPr/>
            </a:pPr>
            <a:r>
              <a:rPr lang="en-US" sz="2400" b="1" dirty="0">
                <a:solidFill>
                  <a:schemeClr val="tx2"/>
                </a:solidFill>
                <a:cs typeface="ＭＳ Ｐゴシック" charset="-128"/>
              </a:rPr>
              <a:t>An </a:t>
            </a:r>
            <a:r>
              <a:rPr lang="en-US" sz="2400" b="1" dirty="0">
                <a:solidFill>
                  <a:srgbClr val="C00000"/>
                </a:solidFill>
                <a:cs typeface="ＭＳ Ｐゴシック" charset="-128"/>
              </a:rPr>
              <a:t>opportunity cost</a:t>
            </a:r>
            <a:r>
              <a:rPr lang="en-US" sz="2400" b="1" dirty="0">
                <a:solidFill>
                  <a:srgbClr val="FF0000"/>
                </a:solidFill>
                <a:cs typeface="ＭＳ Ｐゴシック" charset="-128"/>
              </a:rPr>
              <a:t> </a:t>
            </a:r>
            <a:r>
              <a:rPr lang="en-US" sz="2400" b="1" dirty="0">
                <a:solidFill>
                  <a:schemeClr val="tx2"/>
                </a:solidFill>
                <a:cs typeface="ＭＳ Ｐゴシック" charset="-128"/>
              </a:rPr>
              <a:t>is the benefit that is foregone as a result of pursuing some course of action.</a:t>
            </a:r>
          </a:p>
          <a:p>
            <a:pPr marL="0" indent="0" algn="ctr">
              <a:buFont typeface="Times"/>
              <a:buNone/>
              <a:defRPr/>
            </a:pPr>
            <a:r>
              <a:rPr lang="en-US" sz="2400" b="1" dirty="0">
                <a:solidFill>
                  <a:schemeClr val="tx2"/>
                </a:solidFill>
                <a:cs typeface="ＭＳ Ｐゴシック" charset="-128"/>
              </a:rPr>
              <a:t>If the space to make Part 4A had an alternative use, the opportunity cost would have been equal to the segment margin that could have been derived from the best alternative use of the space.</a:t>
            </a:r>
          </a:p>
        </p:txBody>
      </p:sp>
    </p:spTree>
    <p:extLst>
      <p:ext uri="{BB962C8B-B14F-4D97-AF65-F5344CB8AC3E}">
        <p14:creationId xmlns:p14="http://schemas.microsoft.com/office/powerpoint/2010/main" val="32566523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337eaa141d36dfb6d075e843d4c7d2c2318f7b71"/>
</p:tagLst>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7788</TotalTime>
  <Words>1047</Words>
  <Application>Microsoft Office PowerPoint</Application>
  <PresentationFormat>On-screen Show (4:3)</PresentationFormat>
  <Paragraphs>95</Paragraphs>
  <Slides>25</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MS PGothic</vt:lpstr>
      <vt:lpstr>MS PGothic</vt:lpstr>
      <vt:lpstr>Arial</vt:lpstr>
      <vt:lpstr>Calibri</vt:lpstr>
      <vt:lpstr>Calibri Light</vt:lpstr>
      <vt:lpstr>Georgia</vt:lpstr>
      <vt:lpstr>Times</vt:lpstr>
      <vt:lpstr>Times New Roman</vt:lpstr>
      <vt:lpstr>Wingdings</vt:lpstr>
      <vt:lpstr>Retrospect</vt:lpstr>
      <vt:lpstr>LECTURE THREE Differential Analysis:  The Key to Decision Making</vt:lpstr>
      <vt:lpstr>Decision Making</vt:lpstr>
      <vt:lpstr>Relevant and Irrelevant Costs</vt:lpstr>
      <vt:lpstr>PowerPoint Presentation</vt:lpstr>
      <vt:lpstr>Total and Differential Cost Approaches</vt:lpstr>
      <vt:lpstr>First :Keeping/Dropping Segments </vt:lpstr>
      <vt:lpstr>Keeping/Dropping Segments</vt:lpstr>
      <vt:lpstr>A Contribution Margin Approach</vt:lpstr>
      <vt:lpstr>Adding/Dropping Segments – Example – </vt:lpstr>
      <vt:lpstr>Adding/Dropping Segments – Example –</vt:lpstr>
      <vt:lpstr>Adding/Dropping Segments – Example </vt:lpstr>
      <vt:lpstr>Contribution Margin Approach Solution</vt:lpstr>
      <vt:lpstr>Comparative Income Approach </vt:lpstr>
      <vt:lpstr>Comparative Income Approach </vt:lpstr>
      <vt:lpstr>Comparative Income Approach </vt:lpstr>
      <vt:lpstr>Beware of Allocated Fixed Costs </vt:lpstr>
      <vt:lpstr>Beware of Allocated Fixed Costs</vt:lpstr>
      <vt:lpstr>Second:  Make or Buy Decision</vt:lpstr>
      <vt:lpstr>The Make or Buy Decision – An Example</vt:lpstr>
      <vt:lpstr>The Make or Buy Decision </vt:lpstr>
      <vt:lpstr>The Make or Buy Decision </vt:lpstr>
      <vt:lpstr>The Make or Buy Decision</vt:lpstr>
      <vt:lpstr>The Make or Buy Decision </vt:lpstr>
      <vt:lpstr>The Make or Buy Decision </vt:lpstr>
      <vt:lpstr>Opportunity Cost</vt:lpstr>
    </vt:vector>
  </TitlesOfParts>
  <Company>Jon A. Booker, Ph.D., CPA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Title</dc:title>
  <dc:creator>Jon A. Booker</dc:creator>
  <cp:lastModifiedBy>Maha Ramadan</cp:lastModifiedBy>
  <cp:revision>726</cp:revision>
  <dcterms:created xsi:type="dcterms:W3CDTF">2008-08-28T13:55:57Z</dcterms:created>
  <dcterms:modified xsi:type="dcterms:W3CDTF">2026-04-18T14:40:45Z</dcterms:modified>
</cp:coreProperties>
</file>
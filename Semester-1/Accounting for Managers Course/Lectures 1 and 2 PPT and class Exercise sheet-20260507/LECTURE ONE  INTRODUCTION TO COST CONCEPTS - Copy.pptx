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1"/>
  </p:sldMasterIdLst>
  <p:notesMasterIdLst>
    <p:notesMasterId r:id="rId19"/>
  </p:notesMasterIdLst>
  <p:handoutMasterIdLst>
    <p:handoutMasterId r:id="rId20"/>
  </p:handoutMasterIdLst>
  <p:sldIdLst>
    <p:sldId id="495" r:id="rId2"/>
    <p:sldId id="493" r:id="rId3"/>
    <p:sldId id="258" r:id="rId4"/>
    <p:sldId id="653" r:id="rId5"/>
    <p:sldId id="395" r:id="rId6"/>
    <p:sldId id="396" r:id="rId7"/>
    <p:sldId id="397" r:id="rId8"/>
    <p:sldId id="399" r:id="rId9"/>
    <p:sldId id="267" r:id="rId10"/>
    <p:sldId id="268" r:id="rId11"/>
    <p:sldId id="260" r:id="rId12"/>
    <p:sldId id="392" r:id="rId13"/>
    <p:sldId id="393" r:id="rId14"/>
    <p:sldId id="458" r:id="rId15"/>
    <p:sldId id="459" r:id="rId16"/>
    <p:sldId id="461" r:id="rId17"/>
    <p:sldId id="293"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521415D9-36F7-43E2-AB2F-B90AF26B5E84}">
      <p14:sectionLst xmlns:p14="http://schemas.microsoft.com/office/powerpoint/2010/main">
        <p14:section name="Main Content" id="{7995FBA8-3521-42B5-8BB0-64551668C257}">
          <p14:sldIdLst>
            <p14:sldId id="495"/>
            <p14:sldId id="493"/>
            <p14:sldId id="258"/>
            <p14:sldId id="653"/>
            <p14:sldId id="395"/>
            <p14:sldId id="396"/>
            <p14:sldId id="397"/>
            <p14:sldId id="399"/>
            <p14:sldId id="267"/>
            <p14:sldId id="268"/>
            <p14:sldId id="260"/>
            <p14:sldId id="392"/>
            <p14:sldId id="393"/>
            <p14:sldId id="458"/>
            <p14:sldId id="459"/>
            <p14:sldId id="461"/>
            <p14:sldId id="293"/>
          </p14:sldIdLst>
        </p14:section>
      </p14:sectionLst>
    </p:ext>
    <p:ext uri="{EFAFB233-063F-42B5-8137-9DF3F51BA10A}">
      <p15:sldGuideLst xmlns:p15="http://schemas.microsoft.com/office/powerpoint/2012/main">
        <p15:guide id="1" orient="horz" pos="2736">
          <p15:clr>
            <a:srgbClr val="A4A3A4"/>
          </p15:clr>
        </p15:guide>
        <p15:guide id="2" pos="2880">
          <p15:clr>
            <a:srgbClr val="A4A3A4"/>
          </p15:clr>
        </p15:guide>
        <p15:guide id="3" pos="273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STeam" initials="C" lastIdx="13" clrIdx="0"/>
  <p:cmAuthor id="1" name="Ann K Brooks" initials="AKB" lastIdx="1" clrIdx="1"/>
  <p:cmAuthor id="2" name="Owner" initials="O" lastIdx="39" clrIdx="2"/>
  <p:cmAuthor id="3" name="Maha Ramadan" initials="MR" lastIdx="1" clrIdx="3">
    <p:extLst>
      <p:ext uri="{19B8F6BF-5375-455C-9EA6-DF929625EA0E}">
        <p15:presenceInfo xmlns:p15="http://schemas.microsoft.com/office/powerpoint/2012/main" userId="ba3cb1f6a7a9a46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F33CC"/>
    <a:srgbClr val="9900CC"/>
    <a:srgbClr val="0033CC"/>
    <a:srgbClr val="000000"/>
    <a:srgbClr val="E5E5FF"/>
    <a:srgbClr val="E1E1FF"/>
    <a:srgbClr val="E7A3FF"/>
    <a:srgbClr val="FFFFCC"/>
    <a:srgbClr val="FFE9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831F56-FFB8-4E77-A8E7-8E709B1E56FD}" v="3" dt="2026-04-04T20:41:13.3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960" autoAdjust="0"/>
    <p:restoredTop sz="71380" autoAdjust="0"/>
  </p:normalViewPr>
  <p:slideViewPr>
    <p:cSldViewPr>
      <p:cViewPr varScale="1">
        <p:scale>
          <a:sx n="48" d="100"/>
          <a:sy n="48" d="100"/>
        </p:scale>
        <p:origin x="798" y="33"/>
      </p:cViewPr>
      <p:guideLst>
        <p:guide orient="horz" pos="2736"/>
        <p:guide pos="2880"/>
        <p:guide pos="2736"/>
      </p:guideLst>
    </p:cSldViewPr>
  </p:slideViewPr>
  <p:outlineViewPr>
    <p:cViewPr>
      <p:scale>
        <a:sx n="33" d="100"/>
        <a:sy n="33" d="100"/>
      </p:scale>
      <p:origin x="0" y="-33090"/>
    </p:cViewPr>
  </p:outlineViewPr>
  <p:notesTextViewPr>
    <p:cViewPr>
      <p:scale>
        <a:sx n="100" d="100"/>
        <a:sy n="100" d="100"/>
      </p:scale>
      <p:origin x="0" y="0"/>
    </p:cViewPr>
  </p:notesTextViewPr>
  <p:sorterViewPr>
    <p:cViewPr>
      <p:scale>
        <a:sx n="50" d="100"/>
        <a:sy n="50" d="100"/>
      </p:scale>
      <p:origin x="0" y="0"/>
    </p:cViewPr>
  </p:sorterViewPr>
  <p:notesViewPr>
    <p:cSldViewPr>
      <p:cViewPr>
        <p:scale>
          <a:sx n="50" d="100"/>
          <a:sy n="50" d="100"/>
        </p:scale>
        <p:origin x="3672" y="64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 Ramadan" userId="c0ecf777-ba1c-427e-9e8a-21cf1c8cb74e" providerId="ADAL" clId="{A62C7648-6038-43EF-9526-7AC95784EFEB}"/>
    <pc:docChg chg="addSld delSld modSld modSection">
      <pc:chgData name="Maha Ramadan" userId="c0ecf777-ba1c-427e-9e8a-21cf1c8cb74e" providerId="ADAL" clId="{A62C7648-6038-43EF-9526-7AC95784EFEB}" dt="2026-04-04T20:41:13.318" v="4"/>
      <pc:docMkLst>
        <pc:docMk/>
      </pc:docMkLst>
      <pc:sldChg chg="del">
        <pc:chgData name="Maha Ramadan" userId="c0ecf777-ba1c-427e-9e8a-21cf1c8cb74e" providerId="ADAL" clId="{A62C7648-6038-43EF-9526-7AC95784EFEB}" dt="2026-04-04T20:26:23.604" v="0" actId="47"/>
        <pc:sldMkLst>
          <pc:docMk/>
          <pc:sldMk cId="1445601721" sldId="310"/>
        </pc:sldMkLst>
      </pc:sldChg>
      <pc:sldChg chg="add">
        <pc:chgData name="Maha Ramadan" userId="c0ecf777-ba1c-427e-9e8a-21cf1c8cb74e" providerId="ADAL" clId="{A62C7648-6038-43EF-9526-7AC95784EFEB}" dt="2026-04-04T20:39:57.974" v="1"/>
        <pc:sldMkLst>
          <pc:docMk/>
          <pc:sldMk cId="4223945358" sldId="458"/>
        </pc:sldMkLst>
      </pc:sldChg>
      <pc:sldChg chg="add">
        <pc:chgData name="Maha Ramadan" userId="c0ecf777-ba1c-427e-9e8a-21cf1c8cb74e" providerId="ADAL" clId="{A62C7648-6038-43EF-9526-7AC95784EFEB}" dt="2026-04-04T20:40:21.990" v="2"/>
        <pc:sldMkLst>
          <pc:docMk/>
          <pc:sldMk cId="2853727248" sldId="459"/>
        </pc:sldMkLst>
      </pc:sldChg>
      <pc:sldChg chg="add">
        <pc:chgData name="Maha Ramadan" userId="c0ecf777-ba1c-427e-9e8a-21cf1c8cb74e" providerId="ADAL" clId="{A62C7648-6038-43EF-9526-7AC95784EFEB}" dt="2026-04-04T20:41:13.318" v="4"/>
        <pc:sldMkLst>
          <pc:docMk/>
          <pc:sldMk cId="3029748925" sldId="461"/>
        </pc:sldMkLst>
      </pc:sldChg>
      <pc:sldChg chg="del">
        <pc:chgData name="Maha Ramadan" userId="c0ecf777-ba1c-427e-9e8a-21cf1c8cb74e" providerId="ADAL" clId="{A62C7648-6038-43EF-9526-7AC95784EFEB}" dt="2026-04-04T20:40:30.744" v="3" actId="47"/>
        <pc:sldMkLst>
          <pc:docMk/>
          <pc:sldMk cId="0" sldId="65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3782" name="Text Box 6"/>
          <p:cNvSpPr txBox="1">
            <a:spLocks noChangeArrowheads="1"/>
          </p:cNvSpPr>
          <p:nvPr/>
        </p:nvSpPr>
        <p:spPr bwMode="auto">
          <a:xfrm>
            <a:off x="5562600" y="0"/>
            <a:ext cx="1295400" cy="274638"/>
          </a:xfrm>
          <a:prstGeom prst="rect">
            <a:avLst/>
          </a:prstGeom>
          <a:noFill/>
          <a:ln w="9525">
            <a:noFill/>
            <a:miter lim="800000"/>
            <a:headEnd/>
            <a:tailEnd/>
          </a:ln>
          <a:effectLst/>
        </p:spPr>
        <p:txBody>
          <a:bodyPr>
            <a:spAutoFit/>
          </a:bodyPr>
          <a:lstStyle/>
          <a:p>
            <a:pPr algn="r">
              <a:spcBef>
                <a:spcPct val="50000"/>
              </a:spcBef>
              <a:defRPr/>
            </a:pPr>
            <a:r>
              <a:rPr lang="en-US" sz="1200" dirty="0">
                <a:latin typeface="Arial" charset="0"/>
              </a:rPr>
              <a:t>1-</a:t>
            </a:r>
            <a:fld id="{429F4DE8-97BF-4536-A244-5A17070E2E89}" type="slidenum">
              <a:rPr lang="en-US" sz="1200">
                <a:latin typeface="Arial" charset="0"/>
              </a:rPr>
              <a:pPr algn="r">
                <a:spcBef>
                  <a:spcPct val="50000"/>
                </a:spcBef>
                <a:defRPr/>
              </a:pPr>
              <a:t>‹#›</a:t>
            </a:fld>
            <a:endParaRPr lang="en-US" sz="1200" dirty="0">
              <a:latin typeface="Arial" charset="0"/>
            </a:endParaRPr>
          </a:p>
        </p:txBody>
      </p:sp>
    </p:spTree>
    <p:extLst>
      <p:ext uri="{BB962C8B-B14F-4D97-AF65-F5344CB8AC3E}">
        <p14:creationId xmlns:p14="http://schemas.microsoft.com/office/powerpoint/2010/main" val="11839409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Box 7"/>
          <p:cNvSpPr txBox="1"/>
          <p:nvPr/>
        </p:nvSpPr>
        <p:spPr>
          <a:xfrm>
            <a:off x="4495800" y="0"/>
            <a:ext cx="2362200" cy="276225"/>
          </a:xfrm>
          <a:prstGeom prst="rect">
            <a:avLst/>
          </a:prstGeom>
          <a:noFill/>
        </p:spPr>
        <p:txBody>
          <a:bodyPr>
            <a:spAutoFit/>
          </a:bodyPr>
          <a:lstStyle/>
          <a:p>
            <a:pPr algn="r">
              <a:defRPr/>
            </a:pPr>
            <a:r>
              <a:rPr lang="en-US" sz="1200" dirty="0">
                <a:latin typeface="Arial" charset="0"/>
              </a:rPr>
              <a:t>1-</a:t>
            </a:r>
            <a:fld id="{DE4925ED-ED51-4A01-B305-0FEFB3001D7C}" type="slidenum">
              <a:rPr lang="en-US" sz="1200">
                <a:latin typeface="Arial" charset="0"/>
              </a:rPr>
              <a:pPr algn="r">
                <a:defRPr/>
              </a:pPr>
              <a:t>‹#›</a:t>
            </a:fld>
            <a:endParaRPr lang="en-US" sz="1200" dirty="0">
              <a:latin typeface="Arial" charset="0"/>
            </a:endParaRPr>
          </a:p>
        </p:txBody>
      </p:sp>
    </p:spTree>
    <p:extLst>
      <p:ext uri="{BB962C8B-B14F-4D97-AF65-F5344CB8AC3E}">
        <p14:creationId xmlns:p14="http://schemas.microsoft.com/office/powerpoint/2010/main" val="352616123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sz="1200" dirty="0">
                <a:latin typeface="Arial" panose="020B0604020202020204" pitchFamily="34" charset="0"/>
                <a:ea typeface="ＭＳ Ｐゴシック"/>
                <a:cs typeface="Arial" panose="020B0604020202020204" pitchFamily="34" charset="0"/>
              </a:rPr>
              <a:t>Chapter 6: Cost-Volume-Profit Analysis</a:t>
            </a:r>
          </a:p>
          <a:p>
            <a:pPr eaLnBrk="1" hangingPunct="1">
              <a:spcBef>
                <a:spcPct val="0"/>
              </a:spcBef>
            </a:pPr>
            <a:endParaRPr lang="en-US" sz="1200" dirty="0">
              <a:latin typeface="Arial" panose="020B0604020202020204" pitchFamily="34" charset="0"/>
              <a:ea typeface="ＭＳ Ｐゴシック"/>
              <a:cs typeface="Arial" panose="020B0604020202020204" pitchFamily="34" charset="0"/>
            </a:endParaRPr>
          </a:p>
          <a:p>
            <a:pPr eaLnBrk="1" hangingPunct="1">
              <a:spcBef>
                <a:spcPct val="0"/>
              </a:spcBef>
            </a:pPr>
            <a:r>
              <a:rPr lang="en-US" sz="1200" dirty="0">
                <a:latin typeface="Arial" panose="020B0604020202020204" pitchFamily="34" charset="0"/>
                <a:cs typeface="Arial" panose="020B0604020202020204" pitchFamily="34" charset="0"/>
              </a:rPr>
              <a:t>Cost-volume-profit (CVP) analysis is a decision-making tool that focuses on the relationship among the volume and mix of units sold, prices, variable costs, fixed costs, and profit. The CVP framework allows managers to evaluate how changing one or more of these key variables will impact profitability, while holding everything else constant.</a:t>
            </a:r>
            <a:endParaRPr lang="en-US" sz="1200" dirty="0">
              <a:latin typeface="Arial" panose="020B0604020202020204" pitchFamily="34" charset="0"/>
              <a:ea typeface="ＭＳ Ｐゴシック"/>
              <a:cs typeface="Arial" panose="020B0604020202020204" pitchFamily="34" charset="0"/>
            </a:endParaRPr>
          </a:p>
        </p:txBody>
      </p:sp>
    </p:spTree>
    <p:extLst>
      <p:ext uri="{BB962C8B-B14F-4D97-AF65-F5344CB8AC3E}">
        <p14:creationId xmlns:p14="http://schemas.microsoft.com/office/powerpoint/2010/main" val="2789260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managerial accounting is to provide useful information to aid in three key managerial tasks:</a:t>
            </a:r>
            <a:r>
              <a:rPr lang="en-US" baseline="0" dirty="0"/>
              <a:t> </a:t>
            </a:r>
          </a:p>
          <a:p>
            <a:pPr marL="228600" indent="-228600">
              <a:buAutoNum type="arabicParenBoth"/>
            </a:pPr>
            <a:r>
              <a:rPr lang="en-US" dirty="0"/>
              <a:t>determining the costs of an organization’s products and services</a:t>
            </a:r>
          </a:p>
          <a:p>
            <a:pPr marL="228600" indent="-228600">
              <a:buAutoNum type="arabicParenBoth"/>
            </a:pPr>
            <a:r>
              <a:rPr lang="en-US" dirty="0"/>
              <a:t>planning future activities</a:t>
            </a:r>
          </a:p>
          <a:p>
            <a:pPr marL="228600" indent="-228600">
              <a:buAutoNum type="arabicParenBoth"/>
            </a:pPr>
            <a:r>
              <a:rPr lang="en-US" dirty="0"/>
              <a:t>comparing actual results to planned results</a:t>
            </a:r>
          </a:p>
          <a:p>
            <a:pPr marL="0" indent="0">
              <a:buNone/>
            </a:pPr>
            <a:endParaRPr lang="en-US" dirty="0"/>
          </a:p>
          <a:p>
            <a:pPr marL="0" indent="0">
              <a:buNone/>
            </a:pPr>
            <a:r>
              <a:rPr lang="en-US" b="1" dirty="0"/>
              <a:t>Planning </a:t>
            </a:r>
            <a:r>
              <a:rPr lang="en-US" b="0" i="0" dirty="0"/>
              <a:t>is the process of setting goals and making plans to achieve them. Long-term strategic plans usually span a 5-10</a:t>
            </a:r>
            <a:r>
              <a:rPr lang="en-US" b="0" i="0" baseline="0" dirty="0"/>
              <a:t> year horizon.</a:t>
            </a:r>
          </a:p>
          <a:p>
            <a:pPr marL="0" indent="0">
              <a:buNone/>
            </a:pPr>
            <a:endParaRPr lang="en-US" b="0" i="0" baseline="0" dirty="0"/>
          </a:p>
          <a:p>
            <a:pPr marL="0" indent="0">
              <a:buNone/>
            </a:pPr>
            <a:r>
              <a:rPr lang="en-US" b="1" i="0" baseline="0" dirty="0"/>
              <a:t>Control </a:t>
            </a:r>
            <a:r>
              <a:rPr lang="en-US" b="0" i="0" baseline="0" dirty="0"/>
              <a:t>is the process of monitoring planning decisions and evaluating an organization’s activities and employees. </a:t>
            </a:r>
            <a:r>
              <a:rPr lang="en-US" sz="1200" b="0" i="0" u="none" strike="noStrike" kern="1200" baseline="0" dirty="0">
                <a:solidFill>
                  <a:schemeClr val="tx1"/>
                </a:solidFill>
                <a:latin typeface="+mn-lt"/>
                <a:ea typeface="MS PGothic" pitchFamily="34" charset="-128"/>
                <a:cs typeface="ＭＳ Ｐゴシック" pitchFamily="-107" charset="-128"/>
              </a:rPr>
              <a:t>Feedback provided by the control function allows managers to revise their plans.</a:t>
            </a:r>
            <a:endParaRPr lang="en-US" b="1" dirty="0"/>
          </a:p>
        </p:txBody>
      </p:sp>
    </p:spTree>
    <p:extLst>
      <p:ext uri="{BB962C8B-B14F-4D97-AF65-F5344CB8AC3E}">
        <p14:creationId xmlns:p14="http://schemas.microsoft.com/office/powerpoint/2010/main" val="1275904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1" name="Rectangle 1"/>
          <p:cNvSpPr txBox="1">
            <a:spLocks noGrp="1" noRot="1" noChangeAspect="1" noChangeArrowheads="1"/>
          </p:cNvSpPr>
          <p:nvPr>
            <p:ph type="sldImg"/>
          </p:nvPr>
        </p:nvSpPr>
        <p:spPr bwMode="auto">
          <a:xfrm>
            <a:off x="1144588" y="685800"/>
            <a:ext cx="4570412" cy="3427413"/>
          </a:xfrm>
          <a:prstGeom prst="rect">
            <a:avLst/>
          </a:prstGeom>
          <a:solidFill>
            <a:srgbClr val="FFFFFF"/>
          </a:solidFill>
          <a:ln>
            <a:solidFill>
              <a:srgbClr val="000000"/>
            </a:solidFill>
            <a:miter lim="800000"/>
            <a:headEnd/>
            <a:tailEnd/>
          </a:ln>
        </p:spPr>
      </p:sp>
      <p:sp>
        <p:nvSpPr>
          <p:cNvPr id="61442" name="Text Box 2"/>
          <p:cNvSpPr txBox="1">
            <a:spLocks noGrp="1" noChangeArrowheads="1"/>
          </p:cNvSpPr>
          <p:nvPr>
            <p:ph type="body" idx="1"/>
          </p:nvPr>
        </p:nvSpPr>
        <p:spPr bwMode="auto">
          <a:xfrm>
            <a:off x="914400" y="4343400"/>
            <a:ext cx="5029200" cy="4114800"/>
          </a:xfrm>
          <a:prstGeom prst="rect">
            <a:avLst/>
          </a:prstGeom>
          <a:solidFill>
            <a:srgbClr val="FFFFFF"/>
          </a:solidFill>
          <a:ln cap="flat">
            <a:round/>
            <a:headEnd/>
            <a:tailEnd/>
          </a:ln>
        </p:spPr>
        <p:txBody>
          <a:bodyPr lIns="90360" tIns="45360" rIns="90360" bIns="45360"/>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latin typeface="Calibri" pitchFamily="32" charset="0"/>
                <a:ea typeface="WenQuanYi Micro Hei" charset="0"/>
                <a:cs typeface="WenQuanYi Micro Hei" charset="0"/>
              </a:rPr>
              <a:t>We have looked at the cost classifications used for financial reporting, predicting cost behavior, assigning costs to cost objects, and making business decisions. Now, let’s look at how to classify </a:t>
            </a:r>
            <a:r>
              <a:rPr lang="en-US" dirty="0">
                <a:latin typeface="Calibri" pitchFamily="32" charset="0"/>
                <a:cs typeface="Times New Roman" pitchFamily="16" charset="0"/>
              </a:rPr>
              <a:t>idle time, overtime, and fringe benefits</a:t>
            </a:r>
            <a:r>
              <a:rPr lang="en-US" dirty="0">
                <a:latin typeface="Calibri" pitchFamily="32" charset="0"/>
                <a:ea typeface="WenQuanYi Micro Hei" charset="0"/>
                <a:cs typeface="WenQuanYi Micro Hei" charset="0"/>
              </a:rPr>
              <a:t>.</a:t>
            </a:r>
          </a:p>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dirty="0">
              <a:latin typeface="Calibri" pitchFamily="32" charset="0"/>
              <a:ea typeface="WenQuanYi Micro Hei" charset="0"/>
              <a:cs typeface="WenQuanYi Micro Hei"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production (or factory) costs are product costs. </a:t>
            </a:r>
            <a:r>
              <a:rPr lang="en-US" b="1" dirty="0"/>
              <a:t>Product costs </a:t>
            </a:r>
            <a:r>
              <a:rPr lang="en-US" dirty="0"/>
              <a:t>are those production costs necessary to create a product and consist of: direct materials, direct labor, and factory overhead. Overhead refers to production costs other than direct materials and direct labor. Product costs are capitalized as inventory during and after completion of the products; they become cost of goods sold when those products are sold.</a:t>
            </a:r>
          </a:p>
          <a:p>
            <a:endParaRPr lang="en-US" dirty="0"/>
          </a:p>
          <a:p>
            <a:r>
              <a:rPr lang="en-US" b="1" dirty="0"/>
              <a:t>Period costs </a:t>
            </a:r>
            <a:r>
              <a:rPr lang="en-US" dirty="0"/>
              <a:t>are non-production costs and are usually more associated with activities linked to a time period than with completed products. Common examples of period costs include salaries of the sales staff, wages of maintenance workers, advertising expenses, and depreciation on office furniture and equipment. Period costs and are expensed in the period when incurred either as selling expenses or as general and administrative expenses.</a:t>
            </a:r>
            <a:endParaRPr lang="en-US" altLang="en-US" dirty="0"/>
          </a:p>
        </p:txBody>
      </p:sp>
    </p:spTree>
    <p:extLst>
      <p:ext uri="{BB962C8B-B14F-4D97-AF65-F5344CB8AC3E}">
        <p14:creationId xmlns:p14="http://schemas.microsoft.com/office/powerpoint/2010/main" val="1239702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a:lstStyle/>
          <a:p>
            <a:r>
              <a:rPr lang="en-US" b="1" dirty="0">
                <a:latin typeface="Arial" pitchFamily="34" charset="0"/>
                <a:ea typeface="ＭＳ Ｐゴシック" pitchFamily="34" charset="-128"/>
                <a:cs typeface="Arial" pitchFamily="34" charset="0"/>
              </a:rPr>
              <a:t>Direct materials </a:t>
            </a:r>
            <a:r>
              <a:rPr lang="en-US" dirty="0">
                <a:latin typeface="Arial" pitchFamily="34" charset="0"/>
                <a:ea typeface="ＭＳ Ｐゴシック" pitchFamily="34" charset="-128"/>
                <a:cs typeface="Arial" pitchFamily="34" charset="0"/>
              </a:rPr>
              <a:t>are an integral part of the finished product and can be physically and conveniently traced to it. </a:t>
            </a:r>
            <a:r>
              <a:rPr lang="en-US" dirty="0">
                <a:latin typeface="Arial" pitchFamily="34" charset="0"/>
                <a:cs typeface="Arial" pitchFamily="34" charset="0"/>
              </a:rPr>
              <a:t>For a frozen pizza manufacturer, direct materials include the major ingredients (e.g., dough, sauce, cheese, and meat), as well as packaging materials (e.g., plastic and cardboard).</a:t>
            </a:r>
            <a:endParaRPr lang="en-US"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2156624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a:lstStyle/>
          <a:p>
            <a:r>
              <a:rPr lang="en-US" b="1" dirty="0">
                <a:latin typeface="Arial" pitchFamily="34" charset="0"/>
                <a:ea typeface="ＭＳ Ｐゴシック" pitchFamily="34" charset="-128"/>
                <a:cs typeface="Arial" pitchFamily="34" charset="0"/>
              </a:rPr>
              <a:t>Direct labor </a:t>
            </a:r>
            <a:r>
              <a:rPr lang="en-US" dirty="0">
                <a:latin typeface="Arial" pitchFamily="34" charset="0"/>
                <a:ea typeface="ＭＳ Ｐゴシック" pitchFamily="34" charset="-128"/>
                <a:cs typeface="Arial" pitchFamily="34" charset="0"/>
              </a:rPr>
              <a:t>consists of that portion of labor cost that can be easily traced to a product. Direct labor is sometimes referred to as “touch labor” since it consists of the costs of workers who “touch” the product as it is being made. </a:t>
            </a:r>
            <a:r>
              <a:rPr lang="en-US" dirty="0">
                <a:latin typeface="Arial" pitchFamily="34" charset="0"/>
                <a:cs typeface="Arial" pitchFamily="34" charset="0"/>
              </a:rPr>
              <a:t>Examples include the wages of employees on the pizza production line and in the packaging department.</a:t>
            </a:r>
            <a:endParaRPr lang="en-US"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371679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a:lstStyle/>
          <a:p>
            <a:r>
              <a:rPr lang="en-US" b="1" dirty="0">
                <a:ea typeface="ＭＳ Ｐゴシック" pitchFamily="34" charset="-128"/>
                <a:cs typeface="Times New Roman" pitchFamily="18" charset="0"/>
              </a:rPr>
              <a:t>Manufacturing overhead</a:t>
            </a:r>
            <a:r>
              <a:rPr lang="en-US" dirty="0">
                <a:ea typeface="ＭＳ Ｐゴシック" pitchFamily="34" charset="-128"/>
                <a:cs typeface="Times New Roman" pitchFamily="18" charset="0"/>
              </a:rPr>
              <a:t> includes all manufacturing costs except direct materials and direct labor. These costs cannot be easily traced to specific units produced. </a:t>
            </a:r>
          </a:p>
          <a:p>
            <a:endParaRPr lang="en-US" dirty="0">
              <a:ea typeface="ＭＳ Ｐゴシック" pitchFamily="34" charset="-128"/>
              <a:cs typeface="Times New Roman" pitchFamily="18" charset="0"/>
            </a:endParaRPr>
          </a:p>
          <a:p>
            <a:r>
              <a:rPr lang="en-US" dirty="0">
                <a:ea typeface="ＭＳ Ｐゴシック" pitchFamily="34" charset="-128"/>
                <a:cs typeface="Times New Roman" pitchFamily="18" charset="0"/>
              </a:rPr>
              <a:t>Examples of manufacturing overhead costs include </a:t>
            </a:r>
            <a:r>
              <a:rPr lang="en-US" altLang="ja-JP" dirty="0">
                <a:ea typeface="+mn-ea"/>
              </a:rPr>
              <a:t>maintenance and repairs on production equipment, utilities, property taxes, depreciation, insurance, and </a:t>
            </a:r>
            <a:r>
              <a:rPr lang="en-US" dirty="0">
                <a:ea typeface="ＭＳ Ｐゴシック" pitchFamily="34" charset="-128"/>
                <a:cs typeface="Times New Roman" pitchFamily="18" charset="0"/>
              </a:rPr>
              <a:t>salaries for supervisors, janitors, and security guards at the manufacturing facility.</a:t>
            </a:r>
            <a:endParaRPr lang="en-US" dirty="0">
              <a:ea typeface="ＭＳ Ｐゴシック" pitchFamily="34" charset="-128"/>
            </a:endParaRPr>
          </a:p>
        </p:txBody>
      </p:sp>
    </p:spTree>
    <p:extLst>
      <p:ext uri="{BB962C8B-B14F-4D97-AF65-F5344CB8AC3E}">
        <p14:creationId xmlns:p14="http://schemas.microsoft.com/office/powerpoint/2010/main" val="398323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a:lstStyle/>
          <a:p>
            <a:pPr algn="just"/>
            <a:r>
              <a:rPr lang="en-US" dirty="0">
                <a:ea typeface="ＭＳ Ｐゴシック" pitchFamily="34" charset="-128"/>
                <a:cs typeface="Times New Roman" pitchFamily="18" charset="0"/>
              </a:rPr>
              <a:t>A manufacturing company incurs many other costs in addition to manufacturing costs. Nonmanufacturing costs are those costs associated with running the business and selling the product, as opposed to manufacturing the product.</a:t>
            </a:r>
          </a:p>
          <a:p>
            <a:pPr algn="just"/>
            <a:endParaRPr lang="en-US" dirty="0">
              <a:ea typeface="ＭＳ Ｐゴシック" pitchFamily="34" charset="-128"/>
              <a:cs typeface="Times New Roman" pitchFamily="18" charset="0"/>
            </a:endParaRPr>
          </a:p>
          <a:p>
            <a:pPr algn="just"/>
            <a:r>
              <a:rPr lang="en-US" dirty="0">
                <a:ea typeface="ＭＳ Ｐゴシック" pitchFamily="34" charset="-128"/>
                <a:cs typeface="Times New Roman" pitchFamily="18" charset="0"/>
              </a:rPr>
              <a:t>Selling costs include all costs necessary to secure customer orders and get the finished product into the hands of the customer. These costs are also referred to as order-getting and order-filling costs.</a:t>
            </a:r>
          </a:p>
          <a:p>
            <a:pPr algn="just"/>
            <a:endParaRPr lang="en-US" dirty="0">
              <a:ea typeface="ＭＳ Ｐゴシック" pitchFamily="34" charset="-128"/>
              <a:cs typeface="Times New Roman" pitchFamily="18" charset="0"/>
            </a:endParaRPr>
          </a:p>
          <a:p>
            <a:pPr algn="just"/>
            <a:r>
              <a:rPr lang="en-US" dirty="0">
                <a:ea typeface="ＭＳ Ｐゴシック" pitchFamily="34" charset="-128"/>
                <a:cs typeface="Times New Roman" pitchFamily="18" charset="0"/>
              </a:rPr>
              <a:t>Administrative costs include all executive, organizational, and clerical costs associated with the general management of an organization that are not classified as production or marketing costs.</a:t>
            </a:r>
          </a:p>
        </p:txBody>
      </p:sp>
    </p:spTree>
    <p:extLst>
      <p:ext uri="{BB962C8B-B14F-4D97-AF65-F5344CB8AC3E}">
        <p14:creationId xmlns:p14="http://schemas.microsoft.com/office/powerpoint/2010/main" val="2538985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7" name="Rectangle 1"/>
          <p:cNvSpPr txBox="1">
            <a:spLocks noGrp="1" noRot="1" noChangeAspect="1" noChangeArrowheads="1"/>
          </p:cNvSpPr>
          <p:nvPr>
            <p:ph type="sldImg"/>
          </p:nvPr>
        </p:nvSpPr>
        <p:spPr bwMode="auto">
          <a:xfrm>
            <a:off x="1144588" y="685800"/>
            <a:ext cx="4570412" cy="3427413"/>
          </a:xfrm>
          <a:prstGeom prst="rect">
            <a:avLst/>
          </a:prstGeom>
          <a:solidFill>
            <a:srgbClr val="FFFFFF"/>
          </a:solidFill>
          <a:ln>
            <a:solidFill>
              <a:srgbClr val="000000"/>
            </a:solidFill>
            <a:miter lim="800000"/>
            <a:headEnd/>
            <a:tailEnd/>
          </a:ln>
        </p:spPr>
      </p:sp>
      <p:sp>
        <p:nvSpPr>
          <p:cNvPr id="70658" name="Text Box 2"/>
          <p:cNvSpPr txBox="1">
            <a:spLocks noGrp="1" noChangeArrowheads="1"/>
          </p:cNvSpPr>
          <p:nvPr>
            <p:ph type="body" idx="1"/>
          </p:nvPr>
        </p:nvSpPr>
        <p:spPr bwMode="auto">
          <a:xfrm>
            <a:off x="914400" y="4343400"/>
            <a:ext cx="5029200" cy="4114800"/>
          </a:xfrm>
          <a:prstGeom prst="rect">
            <a:avLst/>
          </a:prstGeom>
          <a:solidFill>
            <a:srgbClr val="FFFFFF"/>
          </a:solidFill>
          <a:ln cap="flat">
            <a:round/>
            <a:headEnd/>
            <a:tailEnd/>
          </a:ln>
        </p:spPr>
        <p:txBody>
          <a:bodyPr lIns="90360" tIns="45360" rIns="90360" bIns="45360"/>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Calibri" pitchFamily="32" charset="0"/>
                <a:ea typeface="WenQuanYi Micro Hei" charset="0"/>
                <a:cs typeface="WenQuanYi Micro Hei" charset="0"/>
              </a:rPr>
              <a:t>Which of the following costs would be considered a period rather than a product cost in a manufacturing company?</a:t>
            </a:r>
          </a:p>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atin typeface="Calibri" pitchFamily="32" charset="0"/>
              <a:ea typeface="WenQuanYi Micro Hei" charset="0"/>
              <a:cs typeface="WenQuanYi Micro Hei" charset="0"/>
            </a:endParaRPr>
          </a:p>
        </p:txBody>
      </p:sp>
    </p:spTree>
    <p:extLst>
      <p:ext uri="{BB962C8B-B14F-4D97-AF65-F5344CB8AC3E}">
        <p14:creationId xmlns:p14="http://schemas.microsoft.com/office/powerpoint/2010/main" val="2127415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1" name="Rectangle 1"/>
          <p:cNvSpPr txBox="1">
            <a:spLocks noGrp="1" noRot="1" noChangeAspect="1" noChangeArrowheads="1"/>
          </p:cNvSpPr>
          <p:nvPr>
            <p:ph type="sldImg"/>
          </p:nvPr>
        </p:nvSpPr>
        <p:spPr bwMode="auto">
          <a:xfrm>
            <a:off x="1144588" y="685800"/>
            <a:ext cx="4570412" cy="3427413"/>
          </a:xfrm>
          <a:prstGeom prst="rect">
            <a:avLst/>
          </a:prstGeom>
          <a:solidFill>
            <a:srgbClr val="FFFFFF"/>
          </a:solidFill>
          <a:ln>
            <a:solidFill>
              <a:srgbClr val="000000"/>
            </a:solidFill>
            <a:miter lim="800000"/>
            <a:headEnd/>
            <a:tailEnd/>
          </a:ln>
        </p:spPr>
      </p:sp>
      <p:sp>
        <p:nvSpPr>
          <p:cNvPr id="71682" name="Text Box 2"/>
          <p:cNvSpPr txBox="1">
            <a:spLocks noGrp="1" noChangeArrowheads="1"/>
          </p:cNvSpPr>
          <p:nvPr>
            <p:ph type="body" idx="1"/>
          </p:nvPr>
        </p:nvSpPr>
        <p:spPr bwMode="auto">
          <a:xfrm>
            <a:off x="914400" y="4343400"/>
            <a:ext cx="5029200" cy="4114800"/>
          </a:xfrm>
          <a:prstGeom prst="rect">
            <a:avLst/>
          </a:prstGeom>
          <a:solidFill>
            <a:srgbClr val="FFFFFF"/>
          </a:solidFill>
          <a:ln cap="flat">
            <a:round/>
            <a:headEnd/>
            <a:tailEnd/>
          </a:ln>
        </p:spPr>
        <p:txBody>
          <a:bodyPr lIns="90360" tIns="45360" rIns="90360" bIns="45360"/>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Calibri" pitchFamily="32" charset="0"/>
                <a:ea typeface="WenQuanYi Micro Hei" charset="0"/>
                <a:cs typeface="WenQuanYi Micro Hei" charset="0"/>
              </a:rPr>
              <a:t>Property taxes on corporate headquarters and sales commissions are period costs.  All of the other costs listed are product costs.</a:t>
            </a:r>
          </a:p>
        </p:txBody>
      </p:sp>
    </p:spTree>
    <p:extLst>
      <p:ext uri="{BB962C8B-B14F-4D97-AF65-F5344CB8AC3E}">
        <p14:creationId xmlns:p14="http://schemas.microsoft.com/office/powerpoint/2010/main" val="3249427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363">
              <a:defRPr/>
            </a:pPr>
            <a:r>
              <a:rPr lang="en-US" dirty="0"/>
              <a:t>Period costs go directly to the current income statement as expenses. They are not reported as assets. </a:t>
            </a:r>
          </a:p>
          <a:p>
            <a:pPr defTabSz="939363">
              <a:defRPr/>
            </a:pPr>
            <a:endParaRPr lang="en-US" dirty="0"/>
          </a:p>
          <a:p>
            <a:pPr defTabSz="939363">
              <a:defRPr/>
            </a:pPr>
            <a:r>
              <a:rPr lang="en-US" dirty="0"/>
              <a:t>Product costs are first assigned to inventory. Their final treatment depends on when inventory is sold. Product costs assigned to inventory that is sold in 2021 are reported on the 2021 income statement as cost of goods sold. Product costs assigned to unsold inventory are reported on the 2021 balance sheet. If this inventory is sold in 2022, product costs assigned to it are reported as cost of goods sold in the 2022 income statement.</a:t>
            </a:r>
          </a:p>
        </p:txBody>
      </p:sp>
      <p:sp>
        <p:nvSpPr>
          <p:cNvPr id="4" name="Slide Number Placeholder 3"/>
          <p:cNvSpPr>
            <a:spLocks noGrp="1"/>
          </p:cNvSpPr>
          <p:nvPr>
            <p:ph type="sldNum" sz="quarter" idx="5"/>
          </p:nvPr>
        </p:nvSpPr>
        <p:spPr/>
        <p:txBody>
          <a:bodyPr/>
          <a:lstStyle/>
          <a:p>
            <a:fld id="{902C29D7-C9B7-4A56-9857-CE44867190C3}" type="slidenum">
              <a:rPr lang="en-IN" smtClean="0"/>
              <a:t>11</a:t>
            </a:fld>
            <a:endParaRPr lang="en-IN"/>
          </a:p>
        </p:txBody>
      </p:sp>
    </p:spTree>
    <p:extLst>
      <p:ext uri="{BB962C8B-B14F-4D97-AF65-F5344CB8AC3E}">
        <p14:creationId xmlns:p14="http://schemas.microsoft.com/office/powerpoint/2010/main" val="2431812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pitchFamily="34" charset="-128"/>
                <a:cs typeface="Times New Roman" pitchFamily="18" charset="0"/>
              </a:rPr>
              <a:t>Managers often need to be able to predict how costs will change in response to changes in activity. The activity might be the output of goods or services or it might be some measure of activity</a:t>
            </a:r>
            <a:r>
              <a:rPr lang="en-US" baseline="0" dirty="0">
                <a:ea typeface="ＭＳ Ｐゴシック" pitchFamily="34" charset="-128"/>
                <a:cs typeface="Times New Roman" pitchFamily="18" charset="0"/>
              </a:rPr>
              <a:t> </a:t>
            </a:r>
            <a:r>
              <a:rPr lang="en-US" dirty="0">
                <a:ea typeface="ＭＳ Ｐゴシック" pitchFamily="34" charset="-128"/>
                <a:cs typeface="Times New Roman" pitchFamily="18" charset="0"/>
              </a:rPr>
              <a:t>internal to the company, such as the number of purchase orders processed during a period. </a:t>
            </a:r>
          </a:p>
          <a:p>
            <a:pPr algn="just"/>
            <a:endParaRPr lang="en-US" dirty="0">
              <a:ea typeface="ＭＳ Ｐゴシック" pitchFamily="34" charset="-128"/>
              <a:cs typeface="Times New Roman" pitchFamily="18" charset="0"/>
            </a:endParaRPr>
          </a:p>
          <a:p>
            <a:r>
              <a:rPr lang="en-US" altLang="ja-JP" dirty="0">
                <a:ea typeface="+mn-ea"/>
              </a:rPr>
              <a:t>The most commonly used classifications of cost behavior are variable and fixed costs. Total v</a:t>
            </a:r>
            <a:r>
              <a:rPr lang="en-US" dirty="0">
                <a:ea typeface="ＭＳ Ｐゴシック" pitchFamily="34" charset="-128"/>
              </a:rPr>
              <a:t>ariable costs increase as activity increases. For example, your total gasoline cost (total amount of gallons</a:t>
            </a:r>
            <a:r>
              <a:rPr lang="en-US" baseline="0" dirty="0">
                <a:ea typeface="ＭＳ Ｐゴシック" pitchFamily="34" charset="-128"/>
              </a:rPr>
              <a:t> used) </a:t>
            </a:r>
            <a:r>
              <a:rPr lang="en-US" dirty="0">
                <a:ea typeface="ＭＳ Ｐゴシック" pitchFamily="34" charset="-128"/>
              </a:rPr>
              <a:t>increases as you drive more miles in your car,</a:t>
            </a:r>
            <a:r>
              <a:rPr lang="en-US" baseline="0" dirty="0">
                <a:ea typeface="ＭＳ Ｐゴシック" pitchFamily="34" charset="-128"/>
              </a:rPr>
              <a:t> but the cost per gallon remains the same.</a:t>
            </a:r>
            <a:endParaRPr lang="en-US" dirty="0">
              <a:ea typeface="ＭＳ Ｐゴシック" pitchFamily="34" charset="-128"/>
            </a:endParaRPr>
          </a:p>
        </p:txBody>
      </p:sp>
    </p:spTree>
    <p:extLst>
      <p:ext uri="{BB962C8B-B14F-4D97-AF65-F5344CB8AC3E}">
        <p14:creationId xmlns:p14="http://schemas.microsoft.com/office/powerpoint/2010/main" val="4111950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34" charset="0"/>
                <a:cs typeface="Arial" pitchFamily="34" charset="0"/>
              </a:rPr>
              <a:t>Fixed costs are those costs that stay the same, in total, regardless of activity level. Although total fixed costs are constant, average or per-unit fixed costs vary inversely with the number of units produced or the number of customers served. That is because spreading a constant amount over more units or customers drives down the average cost.</a:t>
            </a:r>
            <a:endParaRPr lang="en-US" b="0"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694124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7282" name="Text Box 2"/>
          <p:cNvSpPr txBox="1">
            <a:spLocks noGrp="1" noChangeArrowheads="1"/>
          </p:cNvSpPr>
          <p:nvPr>
            <p:ph type="body" idx="1"/>
          </p:nvPr>
        </p:nvSpPr>
        <p:spPr bwMode="auto">
          <a:xfrm>
            <a:off x="685800" y="4343400"/>
            <a:ext cx="5486400" cy="4114800"/>
          </a:xfrm>
          <a:prstGeom prst="rect">
            <a:avLst/>
          </a:prstGeom>
          <a:noFill/>
          <a:ln cap="flat">
            <a:round/>
            <a:headEnd/>
            <a:tailEnd/>
          </a:ln>
        </p:spPr>
        <p:txBody>
          <a:bodyP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Calibri" pitchFamily="32" charset="0"/>
                <a:ea typeface="WenQuanYi Micro Hei" charset="0"/>
                <a:cs typeface="WenQuanYi Micro Hei" charset="0"/>
              </a:rPr>
              <a:t>The contribution format allocates costs based on cost behavior. The contribution approach differs from the traditional approach illustrated in an earlier chapter. </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atin typeface="Calibri" pitchFamily="32" charset="0"/>
              <a:ea typeface="WenQuanYi Micro Hei" charset="0"/>
              <a:cs typeface="WenQuanYi Micro Hei"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Calibri" pitchFamily="32" charset="0"/>
                <a:ea typeface="WenQuanYi Micro Hei" charset="0"/>
                <a:cs typeface="WenQuanYi Micro Hei" charset="0"/>
              </a:rPr>
              <a:t>The traditional approach organizes costs in a functional format. Costs relating to production, administration, and sales are grouped together without regard to their cost behavior. </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atin typeface="Calibri" pitchFamily="32" charset="0"/>
              <a:ea typeface="WenQuanYi Micro Hei" charset="0"/>
              <a:cs typeface="WenQuanYi Micro Hei"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Calibri" pitchFamily="32" charset="0"/>
                <a:ea typeface="WenQuanYi Micro Hei" charset="0"/>
                <a:cs typeface="WenQuanYi Micro Hei" charset="0"/>
              </a:rPr>
              <a:t>The traditional approach is used primarily for external reporting purposes.</a:t>
            </a:r>
          </a:p>
        </p:txBody>
      </p:sp>
    </p:spTree>
    <p:extLst>
      <p:ext uri="{BB962C8B-B14F-4D97-AF65-F5344CB8AC3E}">
        <p14:creationId xmlns:p14="http://schemas.microsoft.com/office/powerpoint/2010/main" val="108035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Line 8"/>
          <p:cNvSpPr>
            <a:spLocks noChangeShapeType="1"/>
          </p:cNvSpPr>
          <p:nvPr/>
        </p:nvSpPr>
        <p:spPr bwMode="auto">
          <a:xfrm>
            <a:off x="1316038" y="3581400"/>
            <a:ext cx="6511925" cy="0"/>
          </a:xfrm>
          <a:prstGeom prst="line">
            <a:avLst/>
          </a:prstGeom>
          <a:noFill/>
          <a:ln w="19050">
            <a:solidFill>
              <a:schemeClr val="accent1"/>
            </a:solidFill>
            <a:round/>
            <a:headEnd/>
            <a:tailEnd/>
          </a:ln>
          <a:effectLst/>
        </p:spPr>
        <p:txBody>
          <a:bodyPr/>
          <a:lstStyle/>
          <a:p>
            <a:pPr>
              <a:defRPr/>
            </a:pPr>
            <a:endParaRPr lang="en-US" dirty="0">
              <a:latin typeface="Arial" charset="0"/>
            </a:endParaRPr>
          </a:p>
        </p:txBody>
      </p:sp>
      <p:sp>
        <p:nvSpPr>
          <p:cNvPr id="6" name="Rounded Rectangle 5"/>
          <p:cNvSpPr/>
          <p:nvPr/>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5042" name="Rectangle 2"/>
          <p:cNvSpPr>
            <a:spLocks noGrp="1" noChangeArrowheads="1"/>
          </p:cNvSpPr>
          <p:nvPr>
            <p:ph type="ctrTitle"/>
          </p:nvPr>
        </p:nvSpPr>
        <p:spPr>
          <a:xfrm>
            <a:off x="760413" y="2264645"/>
            <a:ext cx="7623175" cy="1316755"/>
          </a:xfrm>
        </p:spPr>
        <p:txBody>
          <a:bodyPr/>
          <a:lstStyle>
            <a:lvl1pPr>
              <a:defRPr sz="4000" b="1">
                <a:solidFill>
                  <a:schemeClr val="tx1"/>
                </a:solidFill>
              </a:defRPr>
            </a:lvl1pPr>
          </a:lstStyle>
          <a:p>
            <a:r>
              <a:rPr lang="en-US" altLang="en-US" dirty="0"/>
              <a:t>Click to edit Master title style</a:t>
            </a:r>
          </a:p>
        </p:txBody>
      </p:sp>
      <p:sp>
        <p:nvSpPr>
          <p:cNvPr id="215043" name="Rectangle 3"/>
          <p:cNvSpPr>
            <a:spLocks noGrp="1" noChangeArrowheads="1"/>
          </p:cNvSpPr>
          <p:nvPr>
            <p:ph type="subTitle" idx="1"/>
          </p:nvPr>
        </p:nvSpPr>
        <p:spPr>
          <a:xfrm>
            <a:off x="1295400" y="3657600"/>
            <a:ext cx="6553200" cy="1316755"/>
          </a:xfrm>
        </p:spPr>
        <p:txBody>
          <a:bodyPr anchor="ctr"/>
          <a:lstStyle>
            <a:lvl1pPr marL="0" indent="0" algn="ctr">
              <a:buFont typeface="Wingdings" pitchFamily="2" charset="2"/>
              <a:buNone/>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ltLang="en-US" dirty="0"/>
              <a:t>Click to edit Master subtitle style</a:t>
            </a:r>
          </a:p>
        </p:txBody>
      </p:sp>
      <p:sp>
        <p:nvSpPr>
          <p:cNvPr id="7" name="Rounded Rectangle 6"/>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2394230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marL="457200" indent="-457200">
              <a:buClr>
                <a:srgbClr val="000000"/>
              </a:buClr>
              <a:buFont typeface="Arial" panose="020B0604020202020204" pitchFamily="34" charset="0"/>
              <a:buChar char="•"/>
              <a:defRPr/>
            </a:lvl1pPr>
            <a:lvl3pPr marL="1014412" indent="-342900">
              <a:buFont typeface="Wingdings" panose="05000000000000000000" pitchFamily="2" charset="2"/>
              <a:buChar char="§"/>
              <a:defRPr/>
            </a:lvl3pPr>
            <a:lvl4pPr marL="1481137" indent="-457200">
              <a:buClr>
                <a:srgbClr val="000000"/>
              </a:buClr>
              <a:buSzPct val="100000"/>
              <a:buFont typeface="Courier New" panose="02070309020205020404" pitchFamily="49" charset="0"/>
              <a:buChar char="o"/>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 Placeholder 9"/>
          <p:cNvSpPr>
            <a:spLocks noGrp="1"/>
          </p:cNvSpPr>
          <p:nvPr>
            <p:ph type="body" sz="quarter" idx="13"/>
          </p:nvPr>
        </p:nvSpPr>
        <p:spPr>
          <a:xfrm>
            <a:off x="457200" y="5943600"/>
            <a:ext cx="8229600" cy="341416"/>
          </a:xfrm>
          <a:prstGeom prst="rect">
            <a:avLst/>
          </a:prstGeom>
        </p:spPr>
        <p:txBody>
          <a:bodyPr anchor="b"/>
          <a:lstStyle>
            <a:lvl1pPr marL="0" indent="0" algn="ctr">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edit Master text styles</a:t>
            </a:r>
          </a:p>
        </p:txBody>
      </p:sp>
    </p:spTree>
    <p:extLst>
      <p:ext uri="{BB962C8B-B14F-4D97-AF65-F5344CB8AC3E}">
        <p14:creationId xmlns:p14="http://schemas.microsoft.com/office/powerpoint/2010/main" val="1020087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10" name="Text Placeholder 9"/>
          <p:cNvSpPr>
            <a:spLocks noGrp="1"/>
          </p:cNvSpPr>
          <p:nvPr>
            <p:ph type="body" sz="quarter" idx="13"/>
          </p:nvPr>
        </p:nvSpPr>
        <p:spPr>
          <a:xfrm>
            <a:off x="457200" y="5791200"/>
            <a:ext cx="8153400" cy="493816"/>
          </a:xfrm>
          <a:prstGeom prst="rect">
            <a:avLst/>
          </a:prstGeom>
        </p:spPr>
        <p:txBody>
          <a:bodyPr anchor="b"/>
          <a:lstStyle>
            <a:lvl1pPr marL="0" indent="0" algn="ctr">
              <a:spcBef>
                <a:spcPts val="0"/>
              </a:spcBef>
              <a:buNone/>
              <a:defRPr sz="22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edit Master text styles</a:t>
            </a:r>
          </a:p>
        </p:txBody>
      </p:sp>
      <p:sp>
        <p:nvSpPr>
          <p:cNvPr id="9" name="Rounded Rectangle 8"/>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TextBox 10"/>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p:cNvSpPr>
            <a:spLocks noGrp="1"/>
          </p:cNvSpPr>
          <p:nvPr>
            <p:ph sz="quarter" idx="14"/>
          </p:nvPr>
        </p:nvSpPr>
        <p:spPr>
          <a:xfrm>
            <a:off x="457200" y="1524000"/>
            <a:ext cx="8229600" cy="426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
          <p:cNvSpPr>
            <a:spLocks noGrp="1"/>
          </p:cNvSpPr>
          <p:nvPr>
            <p:ph type="title"/>
          </p:nvPr>
        </p:nvSpPr>
        <p:spPr>
          <a:xfrm>
            <a:off x="457200" y="277813"/>
            <a:ext cx="8229600" cy="1139825"/>
          </a:xfrm>
        </p:spPr>
        <p:txBody>
          <a:bodyPr anchor="ctr"/>
          <a:lstStyle>
            <a:lvl1pPr>
              <a:defRPr sz="3600">
                <a:solidFill>
                  <a:schemeClr val="tx1"/>
                </a:solidFill>
              </a:defRPr>
            </a:lvl1pPr>
          </a:lstStyle>
          <a:p>
            <a:r>
              <a:rPr lang="en-US" dirty="0"/>
              <a:t>Click to edit Master title style</a:t>
            </a:r>
          </a:p>
        </p:txBody>
      </p:sp>
      <p:sp>
        <p:nvSpPr>
          <p:cNvPr id="13" name="Text Placeholder 3"/>
          <p:cNvSpPr txBox="1">
            <a:spLocks/>
          </p:cNvSpPr>
          <p:nvPr userDrawn="1"/>
        </p:nvSpPr>
        <p:spPr>
          <a:xfrm>
            <a:off x="685800" y="6644714"/>
            <a:ext cx="7404100" cy="213286"/>
          </a:xfrm>
          <a:prstGeom prst="rect">
            <a:avLst/>
          </a:prstGeom>
        </p:spPr>
        <p:txBody>
          <a:bodyPr anchor="ctr"/>
          <a:lstStyle>
            <a:lvl1pPr marL="0" indent="0" algn="l" defTabSz="914400" rtl="0" eaLnBrk="1" latinLnBrk="0" hangingPunct="1">
              <a:spcBef>
                <a:spcPct val="20000"/>
              </a:spcBef>
              <a:buFont typeface="Arial" pitchFamily="34" charset="0"/>
              <a:buNone/>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dirty="0">
                <a:solidFill>
                  <a:prstClr val="black"/>
                </a:solidFill>
                <a:latin typeface="Calibri" panose="020F0502020204030204" pitchFamily="34" charset="0"/>
                <a:cs typeface="Calibri" panose="020F0502020204030204" pitchFamily="34" charset="0"/>
              </a:rPr>
              <a:t>© 2020 McGraw-Hill Education.</a:t>
            </a:r>
          </a:p>
        </p:txBody>
      </p:sp>
    </p:spTree>
    <p:extLst>
      <p:ext uri="{BB962C8B-B14F-4D97-AF65-F5344CB8AC3E}">
        <p14:creationId xmlns:p14="http://schemas.microsoft.com/office/powerpoint/2010/main" val="2004451177"/>
      </p:ext>
    </p:extLst>
  </p:cSld>
  <p:clrMapOvr>
    <a:masterClrMapping/>
  </p:clrMapOvr>
  <p:transition spd="slow"/>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Appendix 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0"/>
            <a:ext cx="8229600" cy="1139825"/>
          </a:xfrm>
        </p:spPr>
        <p:txBody>
          <a:bodyPr anchor="ctr"/>
          <a:lstStyle>
            <a:lvl1pPr>
              <a:defRPr sz="3600">
                <a:solidFill>
                  <a:srgbClr val="000000"/>
                </a:solidFill>
              </a:defRPr>
            </a:lvl1pPr>
          </a:lstStyle>
          <a:p>
            <a:r>
              <a:rPr lang="en-US" dirty="0"/>
              <a:t>Click to edit Master title style</a:t>
            </a:r>
          </a:p>
        </p:txBody>
      </p:sp>
      <p:sp>
        <p:nvSpPr>
          <p:cNvPr id="3" name="TextBox 2"/>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71979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ection  Slide">
    <p:spTree>
      <p:nvGrpSpPr>
        <p:cNvPr id="1" name=""/>
        <p:cNvGrpSpPr/>
        <p:nvPr/>
      </p:nvGrpSpPr>
      <p:grpSpPr>
        <a:xfrm>
          <a:off x="0" y="0"/>
          <a:ext cx="0" cy="0"/>
          <a:chOff x="0" y="0"/>
          <a:chExt cx="0" cy="0"/>
        </a:xfrm>
      </p:grpSpPr>
      <p:sp>
        <p:nvSpPr>
          <p:cNvPr id="4" name="Line 8"/>
          <p:cNvSpPr>
            <a:spLocks noChangeShapeType="1"/>
          </p:cNvSpPr>
          <p:nvPr/>
        </p:nvSpPr>
        <p:spPr bwMode="auto">
          <a:xfrm>
            <a:off x="1316038" y="3581400"/>
            <a:ext cx="6511925" cy="0"/>
          </a:xfrm>
          <a:prstGeom prst="line">
            <a:avLst/>
          </a:prstGeom>
          <a:noFill/>
          <a:ln w="19050">
            <a:solidFill>
              <a:schemeClr val="accent1"/>
            </a:solidFill>
            <a:round/>
            <a:headEnd/>
            <a:tailEnd/>
          </a:ln>
          <a:effectLst/>
        </p:spPr>
        <p:txBody>
          <a:bodyPr/>
          <a:lstStyle/>
          <a:p>
            <a:pPr>
              <a:defRPr/>
            </a:pPr>
            <a:endParaRPr lang="en-US" dirty="0">
              <a:latin typeface="Arial" charset="0"/>
            </a:endParaRPr>
          </a:p>
        </p:txBody>
      </p:sp>
      <p:sp>
        <p:nvSpPr>
          <p:cNvPr id="6" name="Rounded Rectangle 5"/>
          <p:cNvSpPr/>
          <p:nvPr/>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5042" name="Rectangle 2"/>
          <p:cNvSpPr>
            <a:spLocks noGrp="1" noChangeArrowheads="1"/>
          </p:cNvSpPr>
          <p:nvPr>
            <p:ph type="ctrTitle"/>
          </p:nvPr>
        </p:nvSpPr>
        <p:spPr>
          <a:xfrm>
            <a:off x="760413" y="2264645"/>
            <a:ext cx="7623175" cy="1316755"/>
          </a:xfrm>
        </p:spPr>
        <p:txBody>
          <a:bodyPr/>
          <a:lstStyle>
            <a:lvl1pPr>
              <a:defRPr sz="4000" b="1">
                <a:solidFill>
                  <a:schemeClr val="tx1"/>
                </a:solidFill>
              </a:defRPr>
            </a:lvl1pPr>
          </a:lstStyle>
          <a:p>
            <a:r>
              <a:rPr lang="en-US" altLang="en-US" dirty="0"/>
              <a:t>Click to edit Master title style</a:t>
            </a:r>
          </a:p>
        </p:txBody>
      </p:sp>
      <p:sp>
        <p:nvSpPr>
          <p:cNvPr id="215043" name="Rectangle 3"/>
          <p:cNvSpPr>
            <a:spLocks noGrp="1" noChangeArrowheads="1"/>
          </p:cNvSpPr>
          <p:nvPr>
            <p:ph type="subTitle" idx="1"/>
          </p:nvPr>
        </p:nvSpPr>
        <p:spPr>
          <a:xfrm>
            <a:off x="1295400" y="3657600"/>
            <a:ext cx="6553200" cy="1316755"/>
          </a:xfrm>
        </p:spPr>
        <p:txBody>
          <a:bodyPr anchor="ctr"/>
          <a:lstStyle>
            <a:lvl1pPr marL="0" indent="0" algn="ctr">
              <a:buFont typeface="Wingdings" pitchFamily="2" charset="2"/>
              <a:buNone/>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ltLang="en-US" dirty="0"/>
              <a:t>Click to edit Master subtitle style</a:t>
            </a:r>
          </a:p>
        </p:txBody>
      </p:sp>
      <p:sp>
        <p:nvSpPr>
          <p:cNvPr id="7" name="Rounded Rectangle 6"/>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TextBox 8"/>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 Placeholder 3"/>
          <p:cNvSpPr txBox="1">
            <a:spLocks/>
          </p:cNvSpPr>
          <p:nvPr userDrawn="1"/>
        </p:nvSpPr>
        <p:spPr>
          <a:xfrm>
            <a:off x="685800" y="6644714"/>
            <a:ext cx="7404100" cy="213286"/>
          </a:xfrm>
          <a:prstGeom prst="rect">
            <a:avLst/>
          </a:prstGeom>
        </p:spPr>
        <p:txBody>
          <a:bodyPr anchor="ctr"/>
          <a:lstStyle>
            <a:lvl1pPr marL="0" indent="0" algn="l" defTabSz="914400" rtl="0" eaLnBrk="1" latinLnBrk="0" hangingPunct="1">
              <a:spcBef>
                <a:spcPct val="20000"/>
              </a:spcBef>
              <a:buFont typeface="Arial" pitchFamily="34" charset="0"/>
              <a:buNone/>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dirty="0">
                <a:solidFill>
                  <a:prstClr val="black"/>
                </a:solidFill>
                <a:latin typeface="Calibri" panose="020F0502020204030204" pitchFamily="34" charset="0"/>
                <a:cs typeface="Calibri" panose="020F0502020204030204" pitchFamily="34" charset="0"/>
              </a:rPr>
              <a:t>© 2020 McGraw-Hill Education.</a:t>
            </a:r>
          </a:p>
        </p:txBody>
      </p:sp>
    </p:spTree>
    <p:extLst>
      <p:ext uri="{BB962C8B-B14F-4D97-AF65-F5344CB8AC3E}">
        <p14:creationId xmlns:p14="http://schemas.microsoft.com/office/powerpoint/2010/main" val="4165537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bove title">
    <p:spTree>
      <p:nvGrpSpPr>
        <p:cNvPr id="1" name=""/>
        <p:cNvGrpSpPr/>
        <p:nvPr/>
      </p:nvGrpSpPr>
      <p:grpSpPr>
        <a:xfrm>
          <a:off x="0" y="0"/>
          <a:ext cx="0" cy="0"/>
          <a:chOff x="0" y="0"/>
          <a:chExt cx="0" cy="0"/>
        </a:xfrm>
      </p:grpSpPr>
      <p:sp>
        <p:nvSpPr>
          <p:cNvPr id="6" name="Title 1"/>
          <p:cNvSpPr>
            <a:spLocks noGrp="1"/>
          </p:cNvSpPr>
          <p:nvPr>
            <p:ph type="title"/>
          </p:nvPr>
        </p:nvSpPr>
        <p:spPr>
          <a:xfrm>
            <a:off x="457200" y="2667000"/>
            <a:ext cx="8229600" cy="1139825"/>
          </a:xfrm>
        </p:spPr>
        <p:txBody>
          <a:bodyPr anchor="ctr"/>
          <a:lstStyle>
            <a:lvl1pPr>
              <a:defRPr sz="3600">
                <a:solidFill>
                  <a:srgbClr val="000000"/>
                </a:solidFill>
              </a:defRPr>
            </a:lvl1pPr>
          </a:lstStyle>
          <a:p>
            <a:r>
              <a:rPr lang="en-US" dirty="0"/>
              <a:t>Click to edit Master title style</a:t>
            </a:r>
          </a:p>
        </p:txBody>
      </p:sp>
      <p:sp>
        <p:nvSpPr>
          <p:cNvPr id="7" name="TextBox 6"/>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72501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4" name="Line 8"/>
          <p:cNvSpPr>
            <a:spLocks noChangeShapeType="1"/>
          </p:cNvSpPr>
          <p:nvPr/>
        </p:nvSpPr>
        <p:spPr bwMode="auto">
          <a:xfrm>
            <a:off x="1371600" y="3581400"/>
            <a:ext cx="6511925" cy="0"/>
          </a:xfrm>
          <a:prstGeom prst="line">
            <a:avLst/>
          </a:prstGeom>
          <a:noFill/>
          <a:ln w="19050">
            <a:solidFill>
              <a:schemeClr val="accent1"/>
            </a:solidFill>
            <a:round/>
            <a:headEnd/>
            <a:tailEnd/>
          </a:ln>
          <a:effectLst/>
        </p:spPr>
        <p:txBody>
          <a:bodyPr/>
          <a:lstStyle/>
          <a:p>
            <a:pPr>
              <a:defRPr/>
            </a:pPr>
            <a:endParaRPr lang="en-US" dirty="0">
              <a:latin typeface="Arial" charset="0"/>
            </a:endParaRPr>
          </a:p>
        </p:txBody>
      </p:sp>
      <p:sp>
        <p:nvSpPr>
          <p:cNvPr id="6" name="Rounded Rectangle 5"/>
          <p:cNvSpPr/>
          <p:nvPr/>
        </p:nvSpPr>
        <p:spPr>
          <a:xfrm>
            <a:off x="228599" y="84138"/>
            <a:ext cx="8651299" cy="63928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5042" name="Rectangle 2"/>
          <p:cNvSpPr>
            <a:spLocks noGrp="1" noChangeArrowheads="1"/>
          </p:cNvSpPr>
          <p:nvPr>
            <p:ph type="ctrTitle"/>
          </p:nvPr>
        </p:nvSpPr>
        <p:spPr>
          <a:xfrm>
            <a:off x="838200" y="1447800"/>
            <a:ext cx="7623175" cy="1752600"/>
          </a:xfrm>
        </p:spPr>
        <p:txBody>
          <a:bodyPr/>
          <a:lstStyle>
            <a:lvl1pPr>
              <a:defRPr sz="5000">
                <a:solidFill>
                  <a:schemeClr val="tx1"/>
                </a:solidFill>
              </a:defRPr>
            </a:lvl1pPr>
          </a:lstStyle>
          <a:p>
            <a:r>
              <a:rPr lang="en-US" altLang="en-US" dirty="0"/>
              <a:t>Click to edit Master title style</a:t>
            </a:r>
          </a:p>
        </p:txBody>
      </p:sp>
      <p:sp>
        <p:nvSpPr>
          <p:cNvPr id="215043" name="Rectangle 3"/>
          <p:cNvSpPr>
            <a:spLocks noGrp="1" noChangeArrowheads="1"/>
          </p:cNvSpPr>
          <p:nvPr>
            <p:ph type="subTitle" idx="1"/>
          </p:nvPr>
        </p:nvSpPr>
        <p:spPr>
          <a:xfrm>
            <a:off x="1350962" y="3840842"/>
            <a:ext cx="6553200" cy="1752600"/>
          </a:xfrm>
        </p:spPr>
        <p:txBody>
          <a:bodyPr/>
          <a:lstStyle>
            <a:lvl1pPr marL="0" indent="0">
              <a:buFont typeface="Wingdings" pitchFamily="2" charset="2"/>
              <a:buNone/>
              <a:defRPr sz="2800">
                <a:solidFill>
                  <a:schemeClr val="tx1"/>
                </a:solidFill>
                <a:latin typeface="Arial Rounded MT Bold" pitchFamily="34" charset="0"/>
              </a:defRPr>
            </a:lvl1pPr>
          </a:lstStyle>
          <a:p>
            <a:r>
              <a:rPr lang="en-US" altLang="en-US"/>
              <a:t>Click to edit Master subtitle style</a:t>
            </a:r>
            <a:endParaRPr lang="en-US" altLang="en-US" dirty="0"/>
          </a:p>
        </p:txBody>
      </p:sp>
      <p:sp>
        <p:nvSpPr>
          <p:cNvPr id="7" name="Rounded Rectangle 6"/>
          <p:cNvSpPr/>
          <p:nvPr userDrawn="1"/>
        </p:nvSpPr>
        <p:spPr>
          <a:xfrm>
            <a:off x="228600" y="84138"/>
            <a:ext cx="8651298" cy="63928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 name="Text Placeholder 2"/>
          <p:cNvSpPr>
            <a:spLocks noGrp="1"/>
          </p:cNvSpPr>
          <p:nvPr>
            <p:ph type="body" sz="quarter" idx="10"/>
          </p:nvPr>
        </p:nvSpPr>
        <p:spPr>
          <a:xfrm>
            <a:off x="2743200" y="5943600"/>
            <a:ext cx="2362200" cy="304800"/>
          </a:xfrm>
        </p:spPr>
        <p:txBody>
          <a:bodyPr/>
          <a:lstStyle>
            <a:lvl1pPr marL="0" indent="0">
              <a:buNone/>
              <a:defRPr/>
            </a:lvl1pPr>
          </a:lstStyle>
          <a:p>
            <a:pPr lvl="0"/>
            <a:endParaRPr lang="en-US" dirty="0"/>
          </a:p>
        </p:txBody>
      </p:sp>
    </p:spTree>
    <p:extLst>
      <p:ext uri="{BB962C8B-B14F-4D97-AF65-F5344CB8AC3E}">
        <p14:creationId xmlns:p14="http://schemas.microsoft.com/office/powerpoint/2010/main" val="694234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955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4/4/2026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376823348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838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4/4/2026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11"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
        <p:nvSpPr>
          <p:cNvPr id="8" name="Content Placeholder 2"/>
          <p:cNvSpPr>
            <a:spLocks noGrp="1"/>
          </p:cNvSpPr>
          <p:nvPr>
            <p:ph idx="15"/>
          </p:nvPr>
        </p:nvSpPr>
        <p:spPr>
          <a:xfrm>
            <a:off x="457200" y="2514601"/>
            <a:ext cx="8229600" cy="685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idx="16"/>
          </p:nvPr>
        </p:nvSpPr>
        <p:spPr>
          <a:xfrm>
            <a:off x="457200" y="3352801"/>
            <a:ext cx="8229600" cy="685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7"/>
          </p:nvPr>
        </p:nvSpPr>
        <p:spPr>
          <a:xfrm>
            <a:off x="457200" y="4191001"/>
            <a:ext cx="8229600" cy="685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idx="18"/>
          </p:nvPr>
        </p:nvSpPr>
        <p:spPr>
          <a:xfrm>
            <a:off x="457200" y="5029200"/>
            <a:ext cx="8229600" cy="685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p:cNvSpPr>
            <a:spLocks noGrp="1"/>
          </p:cNvSpPr>
          <p:nvPr>
            <p:ph idx="19"/>
          </p:nvPr>
        </p:nvSpPr>
        <p:spPr>
          <a:xfrm>
            <a:off x="457200" y="5372099"/>
            <a:ext cx="8229600" cy="685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238770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64820"/>
            <a:ext cx="8229600" cy="1097280"/>
          </a:xfrm>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94590" y="6283715"/>
            <a:ext cx="6400800" cy="228600"/>
          </a:xfrm>
          <a:prstGeom prst="roundRect">
            <a:avLst/>
          </a:prstGeom>
          <a:solidFill>
            <a:srgbClr val="FFFFCC"/>
          </a:solidFill>
          <a:ln>
            <a:solidFill>
              <a:srgbClr val="385D8A"/>
            </a:solidFill>
          </a:ln>
        </p:spPr>
        <p:txBody>
          <a:bodyPr anchor="ctr">
            <a:noAutofit/>
          </a:bodyPr>
          <a:lstStyle>
            <a:lvl1pPr marL="0" indent="0">
              <a:buNone/>
              <a:defRPr sz="1100">
                <a:latin typeface="Arial" panose="020B0604020202020204" pitchFamily="34" charset="0"/>
                <a:cs typeface="Arial" panose="020B0604020202020204" pitchFamily="34" charset="0"/>
              </a:defRPr>
            </a:lvl1pPr>
          </a:lstStyle>
          <a:p>
            <a:pPr lvl="0"/>
            <a:r>
              <a:rPr lang="en-US" dirty="0"/>
              <a:t>Edit Master text styles</a:t>
            </a:r>
          </a:p>
        </p:txBody>
      </p:sp>
      <p:sp>
        <p:nvSpPr>
          <p:cNvPr id="9" name="Content Placeholder 3">
            <a:extLst>
              <a:ext uri="{FF2B5EF4-FFF2-40B4-BE49-F238E27FC236}">
                <a16:creationId xmlns:a16="http://schemas.microsoft.com/office/drawing/2014/main" id="{73C9AAB1-1F55-4D9D-AB5F-ABC39EA73DD6}"/>
              </a:ext>
            </a:extLst>
          </p:cNvPr>
          <p:cNvSpPr>
            <a:spLocks noGrp="1"/>
          </p:cNvSpPr>
          <p:nvPr>
            <p:ph idx="15"/>
          </p:nvPr>
        </p:nvSpPr>
        <p:spPr>
          <a:xfrm>
            <a:off x="7372640" y="1842932"/>
            <a:ext cx="1088187" cy="669040"/>
          </a:xfrm>
          <a:solidFill>
            <a:srgbClr val="FFFF99"/>
          </a:solidFill>
        </p:spPr>
        <p:txBody>
          <a:bodyPr>
            <a:noAutofit/>
          </a:bodyPr>
          <a:lstStyle>
            <a:lvl1pPr marL="0" indent="0" algn="ctr">
              <a:buNone/>
              <a:defRPr sz="1800"/>
            </a:lvl1pPr>
          </a:lstStyle>
          <a:p>
            <a:pPr lvl="0"/>
            <a:r>
              <a:rPr lang="en-US" dirty="0"/>
              <a:t>Edit Master text styles</a:t>
            </a:r>
          </a:p>
        </p:txBody>
      </p:sp>
      <p:sp>
        <p:nvSpPr>
          <p:cNvPr id="7" name="Content Placeholder 4">
            <a:extLst>
              <a:ext uri="{FF2B5EF4-FFF2-40B4-BE49-F238E27FC236}">
                <a16:creationId xmlns:a16="http://schemas.microsoft.com/office/drawing/2014/main" id="{5ECC0792-B157-4B27-9892-85462B7C4466}"/>
              </a:ext>
            </a:extLst>
          </p:cNvPr>
          <p:cNvSpPr>
            <a:spLocks noGrp="1"/>
          </p:cNvSpPr>
          <p:nvPr>
            <p:ph idx="13"/>
          </p:nvPr>
        </p:nvSpPr>
        <p:spPr>
          <a:xfrm>
            <a:off x="457200" y="2994996"/>
            <a:ext cx="8229600" cy="273835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Appendix Link">
            <a:extLst>
              <a:ext uri="{FF2B5EF4-FFF2-40B4-BE49-F238E27FC236}">
                <a16:creationId xmlns:a16="http://schemas.microsoft.com/office/drawing/2014/main" id="{E5FE5932-CE3E-429D-99D9-9F14501D5D1A}"/>
              </a:ext>
            </a:extLst>
          </p:cNvPr>
          <p:cNvSpPr>
            <a:spLocks noGrp="1"/>
          </p:cNvSpPr>
          <p:nvPr>
            <p:ph type="body" sz="quarter" idx="40" hasCustomPrompt="1"/>
          </p:nvPr>
        </p:nvSpPr>
        <p:spPr>
          <a:xfrm>
            <a:off x="3200400" y="6626787"/>
            <a:ext cx="2743200" cy="192024"/>
          </a:xfrm>
        </p:spPr>
        <p:txBody>
          <a:bodyPr anchor="ctr">
            <a:noAutofit/>
          </a:bodyPr>
          <a:lstStyle>
            <a:lvl1pPr marL="0" indent="0" algn="ctr">
              <a:buNone/>
              <a:defRPr sz="1200"/>
            </a:lvl1pPr>
          </a:lstStyle>
          <a:p>
            <a:pPr lvl="0"/>
            <a:r>
              <a:rPr lang="en-US" dirty="0"/>
              <a:t>Add text alternative link, if needed.</a:t>
            </a:r>
          </a:p>
        </p:txBody>
      </p:sp>
      <p:sp>
        <p:nvSpPr>
          <p:cNvPr id="6" name="Slide Number Placeholder 5"/>
          <p:cNvSpPr>
            <a:spLocks noGrp="1"/>
          </p:cNvSpPr>
          <p:nvPr>
            <p:ph type="sldNum" sz="quarter" idx="12"/>
          </p:nvPr>
        </p:nvSpPr>
        <p:spPr/>
        <p:txBody>
          <a:bodyPr/>
          <a:lstStyle/>
          <a:p>
            <a:r>
              <a:rPr lang="en-IN" dirty="0"/>
              <a:t>3-</a:t>
            </a:r>
            <a:fld id="{EA2AA6B4-85BE-4F94-8943-E615592FD67D}" type="slidenum">
              <a:rPr lang="en-IN" smtClean="0"/>
              <a:pPr/>
              <a:t>‹#›</a:t>
            </a:fld>
            <a:endParaRPr lang="en-IN" dirty="0"/>
          </a:p>
        </p:txBody>
      </p:sp>
    </p:spTree>
    <p:extLst>
      <p:ext uri="{BB962C8B-B14F-4D97-AF65-F5344CB8AC3E}">
        <p14:creationId xmlns:p14="http://schemas.microsoft.com/office/powerpoint/2010/main" val="159677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22325" y="1447800"/>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4/4/2026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
        <p:nvSpPr>
          <p:cNvPr id="7" name="Content Placeholder 2"/>
          <p:cNvSpPr>
            <a:spLocks noGrp="1"/>
          </p:cNvSpPr>
          <p:nvPr>
            <p:ph idx="13"/>
          </p:nvPr>
        </p:nvSpPr>
        <p:spPr>
          <a:xfrm>
            <a:off x="822325" y="3334808"/>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08400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4/4/2026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Tree>
    <p:extLst>
      <p:ext uri="{BB962C8B-B14F-4D97-AF65-F5344CB8AC3E}">
        <p14:creationId xmlns:p14="http://schemas.microsoft.com/office/powerpoint/2010/main" val="2920774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20483" name="Rectangle 3"/>
          <p:cNvSpPr>
            <a:spLocks noGrp="1" noChangeArrowheads="1"/>
          </p:cNvSpPr>
          <p:nvPr>
            <p:ph type="body" idx="1"/>
          </p:nvPr>
        </p:nvSpPr>
        <p:spPr bwMode="auto">
          <a:xfrm>
            <a:off x="457200" y="1600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8" name="Rounded Rectangle 7"/>
          <p:cNvSpPr/>
          <p:nvPr/>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Rounded Rectangle 8"/>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Text Placeholder 3"/>
          <p:cNvSpPr txBox="1">
            <a:spLocks/>
          </p:cNvSpPr>
          <p:nvPr userDrawn="1"/>
        </p:nvSpPr>
        <p:spPr>
          <a:xfrm>
            <a:off x="685800" y="6644714"/>
            <a:ext cx="7404100" cy="213286"/>
          </a:xfrm>
          <a:prstGeom prst="rect">
            <a:avLst/>
          </a:prstGeom>
        </p:spPr>
        <p:txBody>
          <a:bodyPr anchor="ctr"/>
          <a:lstStyle>
            <a:lvl1pPr marL="0" indent="0" algn="l" defTabSz="914400" rtl="0" eaLnBrk="1" latinLnBrk="0" hangingPunct="1">
              <a:spcBef>
                <a:spcPct val="20000"/>
              </a:spcBef>
              <a:buFont typeface="Arial" pitchFamily="34" charset="0"/>
              <a:buNone/>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dirty="0">
                <a:solidFill>
                  <a:prstClr val="black"/>
                </a:solidFill>
                <a:latin typeface="Calibri" panose="020F0502020204030204" pitchFamily="34" charset="0"/>
                <a:cs typeface="Calibri" panose="020F0502020204030204" pitchFamily="34" charset="0"/>
              </a:rPr>
              <a:t>© 2020 McGraw-Hill Education.</a:t>
            </a:r>
          </a:p>
        </p:txBody>
      </p:sp>
    </p:spTree>
    <p:extLst>
      <p:ext uri="{BB962C8B-B14F-4D97-AF65-F5344CB8AC3E}">
        <p14:creationId xmlns:p14="http://schemas.microsoft.com/office/powerpoint/2010/main" val="2438234396"/>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65" r:id="rId9"/>
    <p:sldLayoutId id="2147483966" r:id="rId10"/>
    <p:sldLayoutId id="2147483971" r:id="rId11"/>
    <p:sldLayoutId id="2147483972" r:id="rId12"/>
    <p:sldLayoutId id="2147483973" r:id="rId13"/>
  </p:sldLayoutIdLst>
  <p:hf hdr="0" dt="0"/>
  <p:txStyles>
    <p:titleStyle>
      <a:lvl1pPr algn="ctr" rtl="0" eaLnBrk="1" fontAlgn="base" hangingPunct="1">
        <a:spcBef>
          <a:spcPct val="0"/>
        </a:spcBef>
        <a:spcAft>
          <a:spcPct val="0"/>
        </a:spcAft>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rtl="0" eaLnBrk="1" fontAlgn="base" hangingPunct="1">
        <a:spcBef>
          <a:spcPct val="0"/>
        </a:spcBef>
        <a:spcAft>
          <a:spcPct val="0"/>
        </a:spcAft>
        <a:defRPr sz="4200">
          <a:solidFill>
            <a:schemeClr val="tx2"/>
          </a:solidFill>
          <a:latin typeface="Arial" charset="0"/>
        </a:defRPr>
      </a:lvl2pPr>
      <a:lvl3pPr algn="l" rtl="0" eaLnBrk="1" fontAlgn="base" hangingPunct="1">
        <a:spcBef>
          <a:spcPct val="0"/>
        </a:spcBef>
        <a:spcAft>
          <a:spcPct val="0"/>
        </a:spcAft>
        <a:defRPr sz="4200">
          <a:solidFill>
            <a:schemeClr val="tx2"/>
          </a:solidFill>
          <a:latin typeface="Arial" charset="0"/>
        </a:defRPr>
      </a:lvl3pPr>
      <a:lvl4pPr algn="l" rtl="0" eaLnBrk="1" fontAlgn="base" hangingPunct="1">
        <a:spcBef>
          <a:spcPct val="0"/>
        </a:spcBef>
        <a:spcAft>
          <a:spcPct val="0"/>
        </a:spcAft>
        <a:defRPr sz="4200">
          <a:solidFill>
            <a:schemeClr val="tx2"/>
          </a:solidFill>
          <a:latin typeface="Arial" charset="0"/>
        </a:defRPr>
      </a:lvl4pPr>
      <a:lvl5pPr algn="l" rtl="0" eaLnBrk="1" fontAlgn="base" hangingPunct="1">
        <a:spcBef>
          <a:spcPct val="0"/>
        </a:spcBef>
        <a:spcAft>
          <a:spcPct val="0"/>
        </a:spcAft>
        <a:defRPr sz="4200">
          <a:solidFill>
            <a:schemeClr val="tx2"/>
          </a:solidFill>
          <a:latin typeface="Arial" charset="0"/>
        </a:defRPr>
      </a:lvl5pPr>
      <a:lvl6pPr marL="457200" algn="l" rtl="0" eaLnBrk="1" fontAlgn="base" hangingPunct="1">
        <a:spcBef>
          <a:spcPct val="0"/>
        </a:spcBef>
        <a:spcAft>
          <a:spcPct val="0"/>
        </a:spcAft>
        <a:defRPr sz="4200">
          <a:solidFill>
            <a:schemeClr val="tx2"/>
          </a:solidFill>
          <a:latin typeface="Arial" charset="0"/>
        </a:defRPr>
      </a:lvl6pPr>
      <a:lvl7pPr marL="914400" algn="l" rtl="0" eaLnBrk="1" fontAlgn="base" hangingPunct="1">
        <a:spcBef>
          <a:spcPct val="0"/>
        </a:spcBef>
        <a:spcAft>
          <a:spcPct val="0"/>
        </a:spcAft>
        <a:defRPr sz="4200">
          <a:solidFill>
            <a:schemeClr val="tx2"/>
          </a:solidFill>
          <a:latin typeface="Arial" charset="0"/>
        </a:defRPr>
      </a:lvl7pPr>
      <a:lvl8pPr marL="1371600" algn="l" rtl="0" eaLnBrk="1" fontAlgn="base" hangingPunct="1">
        <a:spcBef>
          <a:spcPct val="0"/>
        </a:spcBef>
        <a:spcAft>
          <a:spcPct val="0"/>
        </a:spcAft>
        <a:defRPr sz="4200">
          <a:solidFill>
            <a:schemeClr val="tx2"/>
          </a:solidFill>
          <a:latin typeface="Arial" charset="0"/>
        </a:defRPr>
      </a:lvl8pPr>
      <a:lvl9pPr marL="1828800" algn="l" rtl="0" eaLnBrk="1" fontAlgn="base" hangingPunct="1">
        <a:spcBef>
          <a:spcPct val="0"/>
        </a:spcBef>
        <a:spcAft>
          <a:spcPct val="0"/>
        </a:spcAft>
        <a:defRPr sz="4200">
          <a:solidFill>
            <a:schemeClr val="tx2"/>
          </a:solidFill>
          <a:latin typeface="Arial" charset="0"/>
        </a:defRPr>
      </a:lvl9pPr>
    </p:titleStyle>
    <p:bodyStyle>
      <a:lvl1pPr marL="457200" indent="-457200" algn="l" rtl="0" eaLnBrk="1" fontAlgn="base" hangingPunct="1">
        <a:spcBef>
          <a:spcPct val="20000"/>
        </a:spcBef>
        <a:spcAft>
          <a:spcPct val="0"/>
        </a:spcAft>
        <a:buClrTx/>
        <a:buSzPct val="100000"/>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69925" indent="-325438" algn="l" rtl="0" eaLnBrk="1" fontAlgn="base" hangingPunct="1">
        <a:spcBef>
          <a:spcPct val="20000"/>
        </a:spcBef>
        <a:spcAft>
          <a:spcPct val="0"/>
        </a:spcAft>
        <a:buClrTx/>
        <a:buSzPct val="100000"/>
        <a:buFont typeface="Verdana" panose="020B0604030504040204" pitchFamily="34" charset="0"/>
        <a:buChar char="–"/>
        <a:defRPr sz="24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014412" indent="-342900" algn="l" rtl="0" eaLnBrk="1" fontAlgn="base" hangingPunct="1">
        <a:spcBef>
          <a:spcPct val="20000"/>
        </a:spcBef>
        <a:spcAft>
          <a:spcPct val="0"/>
        </a:spcAft>
        <a:buClrTx/>
        <a:buSzPct val="100000"/>
        <a:buFont typeface="Wingdings" panose="05000000000000000000" pitchFamily="2" charset="2"/>
        <a:buChar char="§"/>
        <a:defRPr sz="2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66837" indent="-342900" algn="l" rtl="0" eaLnBrk="1" fontAlgn="base" hangingPunct="1">
        <a:spcBef>
          <a:spcPct val="20000"/>
        </a:spcBef>
        <a:spcAft>
          <a:spcPct val="0"/>
        </a:spcAft>
        <a:buClr>
          <a:schemeClr val="accent2"/>
        </a:buClr>
        <a:buSzPct val="70000"/>
        <a:buFont typeface="Courier New" panose="02070309020205020404" pitchFamily="49" charset="0"/>
        <a:buChar char="o"/>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676400" y="4191000"/>
            <a:ext cx="6553200" cy="989297"/>
          </a:xfrm>
        </p:spPr>
        <p:txBody>
          <a:bodyPr anchor="ctr"/>
          <a:lstStyle/>
          <a:p>
            <a:pPr algn="ctr"/>
            <a:r>
              <a:rPr lang="en-US" sz="4800" b="1" dirty="0">
                <a:solidFill>
                  <a:srgbClr val="0070C0"/>
                </a:solidFill>
                <a:latin typeface="Calibri" panose="020F0502020204030204" pitchFamily="34" charset="0"/>
                <a:cs typeface="Calibri" panose="020F0502020204030204" pitchFamily="34" charset="0"/>
              </a:rPr>
              <a:t>INTRODUCTION TO COST CONCEPTS </a:t>
            </a:r>
          </a:p>
        </p:txBody>
      </p:sp>
      <p:sp>
        <p:nvSpPr>
          <p:cNvPr id="8" name="Text Placeholder 4"/>
          <p:cNvSpPr>
            <a:spLocks noGrp="1"/>
          </p:cNvSpPr>
          <p:nvPr>
            <p:ph type="body" sz="quarter" idx="4294967295"/>
          </p:nvPr>
        </p:nvSpPr>
        <p:spPr>
          <a:xfrm>
            <a:off x="304800" y="6456530"/>
            <a:ext cx="8700655" cy="401470"/>
          </a:xfrm>
          <a:prstGeom prst="rect">
            <a:avLst/>
          </a:prstGeom>
        </p:spPr>
        <p:txBody>
          <a:bodyPr/>
          <a:lstStyle/>
          <a:p>
            <a:pPr marL="0" indent="0" algn="ctr">
              <a:buNone/>
            </a:pPr>
            <a:r>
              <a:rPr lang="en-US" sz="1200" dirty="0"/>
              <a:t>© 2020 McGraw-Hill Education. All rights reserved. Authorized only for instructor use in the classroom. No reproduction or further distribution permitted without the prior written consent of McGraw-Hill Education.</a:t>
            </a:r>
          </a:p>
        </p:txBody>
      </p:sp>
      <p:sp>
        <p:nvSpPr>
          <p:cNvPr id="2" name="Title 1">
            <a:extLst>
              <a:ext uri="{FF2B5EF4-FFF2-40B4-BE49-F238E27FC236}">
                <a16:creationId xmlns:a16="http://schemas.microsoft.com/office/drawing/2014/main" id="{A1318B0D-B127-011A-4388-390CD35125ED}"/>
              </a:ext>
            </a:extLst>
          </p:cNvPr>
          <p:cNvSpPr>
            <a:spLocks noGrp="1"/>
          </p:cNvSpPr>
          <p:nvPr>
            <p:ph type="ctrTitle"/>
          </p:nvPr>
        </p:nvSpPr>
        <p:spPr/>
        <p:txBody>
          <a:bodyPr/>
          <a:lstStyle/>
          <a:p>
            <a:r>
              <a:rPr lang="en-US" b="1" dirty="0">
                <a:solidFill>
                  <a:srgbClr val="FF0000"/>
                </a:solidFill>
                <a:latin typeface="Calibri" panose="020F0502020204030204" pitchFamily="34" charset="0"/>
                <a:cs typeface="Calibri" panose="020F0502020204030204" pitchFamily="34" charset="0"/>
              </a:rPr>
              <a:t>LECTURE ONE</a:t>
            </a:r>
          </a:p>
        </p:txBody>
      </p:sp>
    </p:spTree>
    <p:extLst>
      <p:ext uri="{BB962C8B-B14F-4D97-AF65-F5344CB8AC3E}">
        <p14:creationId xmlns:p14="http://schemas.microsoft.com/office/powerpoint/2010/main" val="2804274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Purpose of Managerial Accounting</a:t>
            </a:r>
            <a:endParaRPr lang="en-US" dirty="0"/>
          </a:p>
        </p:txBody>
      </p:sp>
      <p:sp>
        <p:nvSpPr>
          <p:cNvPr id="3" name="Content Placeholder 2"/>
          <p:cNvSpPr>
            <a:spLocks noGrp="1"/>
          </p:cNvSpPr>
          <p:nvPr>
            <p:ph idx="1"/>
          </p:nvPr>
        </p:nvSpPr>
        <p:spPr>
          <a:xfrm>
            <a:off x="7341194" y="1600201"/>
            <a:ext cx="1345606" cy="380999"/>
          </a:xfrm>
        </p:spPr>
        <p:txBody>
          <a:bodyPr/>
          <a:lstStyle/>
          <a:p>
            <a:pPr marL="0" indent="0">
              <a:buNone/>
            </a:pPr>
            <a:r>
              <a:rPr lang="en-US" sz="1800" kern="0" dirty="0">
                <a:latin typeface="+mj-lt"/>
              </a:rPr>
              <a:t>Exhibit 18.1</a:t>
            </a:r>
            <a:endParaRPr lang="en-US" sz="1800" dirty="0">
              <a:latin typeface="+mj-lt"/>
            </a:endParaRPr>
          </a:p>
        </p:txBody>
      </p:sp>
      <p:pic>
        <p:nvPicPr>
          <p:cNvPr id="14" name="Picture 13" descr="Drawing illustrates the circular nature of planning and control with graphic of three people looking at computer on left and female working at desk on the right. One arrow points from left to right and is labeled Monitoring, the other points right to left and is labeled Feedback."/>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4591" y="2173041"/>
            <a:ext cx="5191919" cy="1560759"/>
          </a:xfrm>
          <a:prstGeom prst="rect">
            <a:avLst/>
          </a:prstGeom>
        </p:spPr>
      </p:pic>
      <p:sp>
        <p:nvSpPr>
          <p:cNvPr id="7" name="Content Placeholder 6"/>
          <p:cNvSpPr>
            <a:spLocks noGrp="1"/>
          </p:cNvSpPr>
          <p:nvPr>
            <p:ph idx="16"/>
          </p:nvPr>
        </p:nvSpPr>
        <p:spPr>
          <a:xfrm>
            <a:off x="457200" y="4178370"/>
            <a:ext cx="3810000" cy="1447799"/>
          </a:xfrm>
        </p:spPr>
        <p:txBody>
          <a:bodyPr/>
          <a:lstStyle/>
          <a:p>
            <a:pPr marL="0" indent="0" algn="ctr">
              <a:buNone/>
            </a:pPr>
            <a:r>
              <a:rPr lang="en-US" sz="1800" b="1" dirty="0">
                <a:latin typeface="+mj-lt"/>
              </a:rPr>
              <a:t>Planning</a:t>
            </a:r>
          </a:p>
          <a:p>
            <a:pPr marL="292608" indent="-292608">
              <a:lnSpc>
                <a:spcPct val="90000"/>
              </a:lnSpc>
              <a:buFont typeface="Arial" panose="020B0604020202020204" pitchFamily="34" charset="0"/>
              <a:buChar char="•"/>
            </a:pPr>
            <a:r>
              <a:rPr lang="en-US" sz="1800" dirty="0"/>
              <a:t>Develop new products?</a:t>
            </a:r>
          </a:p>
          <a:p>
            <a:pPr marL="292608" indent="-292608">
              <a:lnSpc>
                <a:spcPct val="90000"/>
              </a:lnSpc>
              <a:buFont typeface="Arial" panose="020B0604020202020204" pitchFamily="34" charset="0"/>
              <a:buChar char="•"/>
            </a:pPr>
            <a:r>
              <a:rPr lang="en-US" sz="1800" dirty="0"/>
              <a:t>Expand into new markets?</a:t>
            </a:r>
          </a:p>
          <a:p>
            <a:pPr marL="292608" indent="-292608">
              <a:lnSpc>
                <a:spcPct val="90000"/>
              </a:lnSpc>
              <a:buFont typeface="Arial" panose="020B0604020202020204" pitchFamily="34" charset="0"/>
              <a:buChar char="•"/>
            </a:pPr>
            <a:r>
              <a:rPr lang="en-US" sz="1800" dirty="0"/>
              <a:t>Build a new factory?</a:t>
            </a:r>
          </a:p>
        </p:txBody>
      </p:sp>
      <p:sp>
        <p:nvSpPr>
          <p:cNvPr id="8" name="Content Placeholder 7"/>
          <p:cNvSpPr>
            <a:spLocks noGrp="1"/>
          </p:cNvSpPr>
          <p:nvPr>
            <p:ph idx="17"/>
          </p:nvPr>
        </p:nvSpPr>
        <p:spPr>
          <a:xfrm>
            <a:off x="4648200" y="4082291"/>
            <a:ext cx="3276600" cy="1251709"/>
          </a:xfrm>
        </p:spPr>
        <p:txBody>
          <a:bodyPr/>
          <a:lstStyle/>
          <a:p>
            <a:pPr marL="0" indent="0" algn="ctr">
              <a:buNone/>
            </a:pPr>
            <a:r>
              <a:rPr lang="en-US" sz="1800" b="1" dirty="0"/>
              <a:t>Control</a:t>
            </a:r>
          </a:p>
          <a:p>
            <a:pPr marL="292608" indent="-292608">
              <a:lnSpc>
                <a:spcPct val="90000"/>
              </a:lnSpc>
              <a:buFont typeface="Arial" panose="020B0604020202020204" pitchFamily="34" charset="0"/>
              <a:buChar char="•"/>
            </a:pPr>
            <a:r>
              <a:rPr lang="en-US" sz="1800" dirty="0"/>
              <a:t>Are costs too high?</a:t>
            </a:r>
          </a:p>
          <a:p>
            <a:pPr marL="292608" indent="-292608">
              <a:lnSpc>
                <a:spcPct val="90000"/>
              </a:lnSpc>
              <a:buFont typeface="Arial" panose="020B0604020202020204" pitchFamily="34" charset="0"/>
              <a:buChar char="•"/>
            </a:pPr>
            <a:r>
              <a:rPr lang="en-US" sz="1800" dirty="0"/>
              <a:t>Are services profitable?</a:t>
            </a:r>
          </a:p>
          <a:p>
            <a:pPr marL="292608" indent="-292608">
              <a:lnSpc>
                <a:spcPct val="90000"/>
              </a:lnSpc>
              <a:buFont typeface="Arial" panose="020B0604020202020204" pitchFamily="34" charset="0"/>
              <a:buChar char="•"/>
            </a:pPr>
            <a:r>
              <a:rPr lang="en-US" sz="1800" dirty="0"/>
              <a:t>Are customers satisfied?</a:t>
            </a:r>
          </a:p>
        </p:txBody>
      </p:sp>
      <p:sp>
        <p:nvSpPr>
          <p:cNvPr id="5" name="Content Placeholder 4"/>
          <p:cNvSpPr>
            <a:spLocks noGrp="1"/>
          </p:cNvSpPr>
          <p:nvPr>
            <p:ph sz="quarter" idx="14"/>
          </p:nvPr>
        </p:nvSpPr>
        <p:spPr>
          <a:xfrm>
            <a:off x="76200" y="6553200"/>
            <a:ext cx="6400800" cy="273050"/>
          </a:xfrm>
        </p:spPr>
        <p:txBody>
          <a:bodyPr/>
          <a:lstStyle/>
          <a:p>
            <a:r>
              <a:rPr lang="en-US" altLang="en-US" sz="1100" b="1" kern="0" dirty="0">
                <a:solidFill>
                  <a:prstClr val="black"/>
                </a:solidFill>
              </a:rPr>
              <a:t>Learning Objective C1: </a:t>
            </a:r>
            <a:r>
              <a:rPr lang="en-US" sz="1100" dirty="0">
                <a:solidFill>
                  <a:prstClr val="black"/>
                </a:solidFill>
                <a:cs typeface="Arial" charset="0"/>
              </a:rPr>
              <a:t>Explain the purpose and nature of, and the role of ethics in, managerial accounting.</a:t>
            </a:r>
            <a:endParaRPr lang="en-US" sz="1100" dirty="0"/>
          </a:p>
        </p:txBody>
      </p:sp>
      <p:sp>
        <p:nvSpPr>
          <p:cNvPr id="4" name="Slide Number Placeholder 3"/>
          <p:cNvSpPr>
            <a:spLocks noGrp="1"/>
          </p:cNvSpPr>
          <p:nvPr>
            <p:ph type="sldNum" sz="quarter" idx="12"/>
          </p:nvPr>
        </p:nvSpPr>
        <p:spPr/>
        <p:txBody>
          <a:bodyPr/>
          <a:lstStyle/>
          <a:p>
            <a:pPr>
              <a:defRPr/>
            </a:pPr>
            <a:fld id="{7A12E07D-6177-4BA4-8EF4-EE0B0B1559AA}" type="slidenum">
              <a:rPr lang="en-US" smtClean="0"/>
              <a:pPr>
                <a:defRPr/>
              </a:pPr>
              <a:t>2</a:t>
            </a:fld>
            <a:endParaRPr lang="en-US" dirty="0"/>
          </a:p>
        </p:txBody>
      </p:sp>
    </p:spTree>
    <p:extLst>
      <p:ext uri="{BB962C8B-B14F-4D97-AF65-F5344CB8AC3E}">
        <p14:creationId xmlns:p14="http://schemas.microsoft.com/office/powerpoint/2010/main" val="4019107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457200" y="457200"/>
            <a:ext cx="8229600" cy="1066800"/>
          </a:xfrm>
          <a:prstGeom prst="rect">
            <a:avLst/>
          </a:prstGeom>
          <a:noFill/>
          <a:ln w="9525" cap="flat">
            <a:noFill/>
            <a:round/>
            <a:headEnd/>
            <a:tailEnd/>
          </a:ln>
          <a:effectLst/>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4E3B30"/>
                </a:solidFill>
                <a:latin typeface="Trebuchet MS" pitchFamily="32" charset="0"/>
                <a:cs typeface="Arial" charset="0"/>
              </a:rPr>
              <a:t>Topics to be Discussed</a:t>
            </a:r>
          </a:p>
        </p:txBody>
      </p:sp>
      <p:sp>
        <p:nvSpPr>
          <p:cNvPr id="6146" name="AutoShape 2"/>
          <p:cNvSpPr>
            <a:spLocks noChangeArrowheads="1"/>
          </p:cNvSpPr>
          <p:nvPr/>
        </p:nvSpPr>
        <p:spPr bwMode="auto">
          <a:xfrm>
            <a:off x="457200" y="1752600"/>
            <a:ext cx="3810000" cy="1676400"/>
          </a:xfrm>
          <a:prstGeom prst="roundRect">
            <a:avLst>
              <a:gd name="adj" fmla="val 16667"/>
            </a:avLst>
          </a:prstGeom>
          <a:solidFill>
            <a:srgbClr val="C87D0E"/>
          </a:solidFill>
          <a:ln w="19080" cap="sq">
            <a:solidFill>
              <a:srgbClr val="B0761F"/>
            </a:solidFill>
            <a:miter lim="800000"/>
            <a:headEnd/>
            <a:tailEnd/>
          </a:ln>
          <a:effectLst/>
        </p:spPr>
        <p:txBody>
          <a:bodyPr lIns="90000" tIns="46800" rIns="90000" bIns="46800" anchor="ctr"/>
          <a:lstStyle/>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a:solidFill>
                  <a:srgbClr val="FFFFFF"/>
                </a:solidFill>
                <a:cs typeface="Arial" charset="0"/>
              </a:rPr>
              <a:t>Financial Reporting</a:t>
            </a:r>
          </a:p>
        </p:txBody>
      </p:sp>
      <p:sp>
        <p:nvSpPr>
          <p:cNvPr id="6147" name="AutoShape 3"/>
          <p:cNvSpPr>
            <a:spLocks noChangeArrowheads="1"/>
          </p:cNvSpPr>
          <p:nvPr/>
        </p:nvSpPr>
        <p:spPr bwMode="auto">
          <a:xfrm>
            <a:off x="4800600" y="1752600"/>
            <a:ext cx="3810000" cy="1676400"/>
          </a:xfrm>
          <a:prstGeom prst="roundRect">
            <a:avLst>
              <a:gd name="adj" fmla="val 16667"/>
            </a:avLst>
          </a:prstGeom>
          <a:solidFill>
            <a:srgbClr val="C87D0E"/>
          </a:solidFill>
          <a:ln w="19080" cap="sq">
            <a:solidFill>
              <a:srgbClr val="B0761F"/>
            </a:solidFill>
            <a:miter lim="800000"/>
            <a:headEnd/>
            <a:tailEnd/>
          </a:ln>
          <a:effectLst/>
        </p:spPr>
        <p:txBody>
          <a:bodyPr lIns="90000" tIns="46800" rIns="90000" bIns="46800" anchor="ctr"/>
          <a:lstStyle/>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dirty="0">
                <a:solidFill>
                  <a:srgbClr val="FFFFFF"/>
                </a:solidFill>
                <a:cs typeface="Arial" charset="0"/>
              </a:rPr>
              <a:t>Planning</a:t>
            </a:r>
          </a:p>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dirty="0">
                <a:solidFill>
                  <a:srgbClr val="FFFFFF"/>
                </a:solidFill>
                <a:cs typeface="Arial" charset="0"/>
              </a:rPr>
              <a:t>Cost-Volume-Profit Analysis and Budgeting</a:t>
            </a:r>
          </a:p>
        </p:txBody>
      </p:sp>
      <p:sp>
        <p:nvSpPr>
          <p:cNvPr id="6148" name="AutoShape 4"/>
          <p:cNvSpPr>
            <a:spLocks noChangeArrowheads="1"/>
          </p:cNvSpPr>
          <p:nvPr/>
        </p:nvSpPr>
        <p:spPr bwMode="auto">
          <a:xfrm>
            <a:off x="457200" y="4381500"/>
            <a:ext cx="3810000" cy="1676400"/>
          </a:xfrm>
          <a:prstGeom prst="roundRect">
            <a:avLst>
              <a:gd name="adj" fmla="val 16667"/>
            </a:avLst>
          </a:prstGeom>
          <a:solidFill>
            <a:srgbClr val="C87D0E"/>
          </a:solidFill>
          <a:ln w="19080" cap="sq">
            <a:solidFill>
              <a:srgbClr val="B0761F"/>
            </a:solidFill>
            <a:miter lim="800000"/>
            <a:headEnd/>
            <a:tailEnd/>
          </a:ln>
          <a:effectLst/>
        </p:spPr>
        <p:txBody>
          <a:bodyPr lIns="90000" tIns="46800" rIns="90000" bIns="46800" anchor="ctr"/>
          <a:lstStyle/>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dirty="0">
                <a:solidFill>
                  <a:srgbClr val="FFFFFF"/>
                </a:solidFill>
                <a:cs typeface="Arial" charset="0"/>
              </a:rPr>
              <a:t>Assigning Costs to Cost Objects</a:t>
            </a:r>
          </a:p>
        </p:txBody>
      </p:sp>
      <p:sp>
        <p:nvSpPr>
          <p:cNvPr id="6149" name="AutoShape 5"/>
          <p:cNvSpPr>
            <a:spLocks noChangeArrowheads="1"/>
          </p:cNvSpPr>
          <p:nvPr/>
        </p:nvSpPr>
        <p:spPr bwMode="auto">
          <a:xfrm>
            <a:off x="4800600" y="4381500"/>
            <a:ext cx="3810000" cy="1676400"/>
          </a:xfrm>
          <a:prstGeom prst="roundRect">
            <a:avLst>
              <a:gd name="adj" fmla="val 16667"/>
            </a:avLst>
          </a:prstGeom>
          <a:solidFill>
            <a:srgbClr val="C87D0E"/>
          </a:solidFill>
          <a:ln w="19080" cap="sq">
            <a:solidFill>
              <a:srgbClr val="B0761F"/>
            </a:solidFill>
            <a:miter lim="800000"/>
            <a:headEnd/>
            <a:tailEnd/>
          </a:ln>
          <a:effectLst/>
        </p:spPr>
        <p:txBody>
          <a:bodyPr lIns="90000" tIns="46800" rIns="90000" bIns="46800" anchor="ctr"/>
          <a:lstStyle/>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a:solidFill>
                  <a:srgbClr val="FFFFFF"/>
                </a:solidFill>
                <a:cs typeface="Arial" charset="0"/>
              </a:rPr>
              <a:t>Making Business Decisions</a:t>
            </a:r>
          </a:p>
        </p:txBody>
      </p:sp>
    </p:spTree>
  </p:cSld>
  <p:clrMapOvr>
    <a:masterClrMapping/>
  </p:clrMapOvr>
  <p:transition>
    <p:wipe di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219200"/>
          </a:xfrm>
        </p:spPr>
        <p:txBody>
          <a:bodyPr/>
          <a:lstStyle/>
          <a:p>
            <a:r>
              <a:rPr lang="en-US" altLang="en-US" b="1" dirty="0"/>
              <a:t>Cost Classifications for Financial Reporting</a:t>
            </a:r>
            <a:br>
              <a:rPr lang="en-US" altLang="en-US" b="1" dirty="0"/>
            </a:br>
            <a:r>
              <a:rPr lang="en-US" altLang="en-US" b="1" dirty="0"/>
              <a:t>Product Vs Period Costs</a:t>
            </a:r>
            <a:endParaRPr lang="en-US" dirty="0"/>
          </a:p>
        </p:txBody>
      </p:sp>
      <p:pic>
        <p:nvPicPr>
          <p:cNvPr id="5" name="Picture 4" descr="Illustration of product and period costs.&#10;&#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006" y="2406021"/>
            <a:ext cx="6851985" cy="3448482"/>
          </a:xfrm>
          <a:prstGeom prst="rect">
            <a:avLst/>
          </a:prstGeom>
        </p:spPr>
      </p:pic>
      <p:sp>
        <p:nvSpPr>
          <p:cNvPr id="11" name="Content Placeholder 4"/>
          <p:cNvSpPr>
            <a:spLocks noGrp="1"/>
          </p:cNvSpPr>
          <p:nvPr>
            <p:ph idx="13"/>
          </p:nvPr>
        </p:nvSpPr>
        <p:spPr>
          <a:xfrm>
            <a:off x="457199" y="6150914"/>
            <a:ext cx="8229600" cy="304799"/>
          </a:xfrm>
        </p:spPr>
        <p:txBody>
          <a:bodyPr/>
          <a:lstStyle/>
          <a:p>
            <a:pPr marL="0" indent="0" algn="ctr">
              <a:buNone/>
            </a:pPr>
            <a:r>
              <a:rPr lang="en-US" sz="1000" dirty="0">
                <a:hlinkClick r:id="" action="ppaction://noaction"/>
              </a:rPr>
              <a:t>Access the text alternative for slide images.</a:t>
            </a:r>
            <a:endParaRPr lang="en-IN" sz="1000" dirty="0"/>
          </a:p>
        </p:txBody>
      </p:sp>
      <p:sp>
        <p:nvSpPr>
          <p:cNvPr id="6" name="Content Placeholder 5"/>
          <p:cNvSpPr>
            <a:spLocks noGrp="1"/>
          </p:cNvSpPr>
          <p:nvPr>
            <p:ph sz="quarter" idx="14"/>
          </p:nvPr>
        </p:nvSpPr>
        <p:spPr>
          <a:xfrm>
            <a:off x="76200" y="6527802"/>
            <a:ext cx="6400800" cy="228600"/>
          </a:xfrm>
        </p:spPr>
        <p:txBody>
          <a:bodyPr/>
          <a:lstStyle/>
          <a:p>
            <a:r>
              <a:rPr lang="en-US" altLang="en-US" sz="1100" b="1" kern="0" dirty="0">
                <a:solidFill>
                  <a:prstClr val="black"/>
                </a:solidFill>
              </a:rPr>
              <a:t>Learning Objective C3: </a:t>
            </a:r>
            <a:r>
              <a:rPr lang="en-US" sz="1100" dirty="0">
                <a:solidFill>
                  <a:prstClr val="black"/>
                </a:solidFill>
                <a:cs typeface="Arial" charset="0"/>
              </a:rPr>
              <a:t>Define product and period costs and explain how they impact financial statements.</a:t>
            </a:r>
            <a:endParaRPr lang="en-US" sz="1100" dirty="0"/>
          </a:p>
        </p:txBody>
      </p:sp>
      <p:sp>
        <p:nvSpPr>
          <p:cNvPr id="4" name="Slide Number Placeholder 3"/>
          <p:cNvSpPr>
            <a:spLocks noGrp="1"/>
          </p:cNvSpPr>
          <p:nvPr>
            <p:ph type="sldNum" sz="quarter" idx="12"/>
          </p:nvPr>
        </p:nvSpPr>
        <p:spPr/>
        <p:txBody>
          <a:bodyPr/>
          <a:lstStyle/>
          <a:p>
            <a:pPr>
              <a:defRPr/>
            </a:pPr>
            <a:fld id="{7A12E07D-6177-4BA4-8EF4-EE0B0B1559AA}" type="slidenum">
              <a:rPr lang="en-US" smtClean="0"/>
              <a:pPr>
                <a:defRPr/>
              </a:pPr>
              <a:t>4</a:t>
            </a:fld>
            <a:endParaRPr lang="en-US" dirty="0"/>
          </a:p>
        </p:txBody>
      </p:sp>
    </p:spTree>
    <p:extLst>
      <p:ext uri="{BB962C8B-B14F-4D97-AF65-F5344CB8AC3E}">
        <p14:creationId xmlns:p14="http://schemas.microsoft.com/office/powerpoint/2010/main" val="566046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800" b="1" dirty="0">
                <a:solidFill>
                  <a:srgbClr val="C00000"/>
                </a:solidFill>
              </a:rPr>
              <a:t>Direct Material</a:t>
            </a:r>
            <a:endParaRPr lang="en-US" dirty="0">
              <a:solidFill>
                <a:srgbClr val="C00000"/>
              </a:solidFill>
            </a:endParaRPr>
          </a:p>
          <a:p>
            <a:pPr marL="0" indent="0">
              <a:buNone/>
            </a:pPr>
            <a:r>
              <a:rPr lang="en-US" dirty="0"/>
              <a:t>Major material inputs that can be physically and conveniently traced directly to the final product.</a:t>
            </a:r>
          </a:p>
          <a:p>
            <a:pPr marL="0" indent="0">
              <a:buNone/>
            </a:pPr>
            <a:r>
              <a:rPr lang="en-US" b="1" dirty="0">
                <a:ea typeface="ＭＳ Ｐゴシック" pitchFamily="-110" charset="-128"/>
              </a:rPr>
              <a:t>Examples:</a:t>
            </a:r>
            <a:r>
              <a:rPr lang="en-US" dirty="0">
                <a:ea typeface="ＭＳ Ｐゴシック" pitchFamily="-110" charset="-128"/>
              </a:rPr>
              <a:t> </a:t>
            </a:r>
          </a:p>
          <a:p>
            <a:pPr marL="0" indent="0">
              <a:buNone/>
            </a:pPr>
            <a:r>
              <a:rPr lang="en-US" dirty="0">
                <a:ea typeface="ＭＳ Ｐゴシック" pitchFamily="-110" charset="-128"/>
              </a:rPr>
              <a:t>Glass windows installed in an automobile</a:t>
            </a:r>
          </a:p>
          <a:p>
            <a:pPr marL="0" indent="0">
              <a:buNone/>
            </a:pPr>
            <a:r>
              <a:rPr lang="en-US" dirty="0">
                <a:ea typeface="ＭＳ Ｐゴシック" pitchFamily="-110" charset="-128"/>
              </a:rPr>
              <a:t>Sauce, cheese, and meat for a pizza</a:t>
            </a:r>
            <a:endParaRPr lang="en-US" dirty="0"/>
          </a:p>
        </p:txBody>
      </p:sp>
    </p:spTree>
    <p:extLst>
      <p:ext uri="{BB962C8B-B14F-4D97-AF65-F5344CB8AC3E}">
        <p14:creationId xmlns:p14="http://schemas.microsoft.com/office/powerpoint/2010/main" val="251647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l"/>
            <a:r>
              <a:rPr lang="en-US" b="1" dirty="0">
                <a:solidFill>
                  <a:srgbClr val="C00000"/>
                </a:solidFill>
              </a:rPr>
              <a:t>Direct Labor</a:t>
            </a:r>
          </a:p>
        </p:txBody>
      </p:sp>
      <p:sp>
        <p:nvSpPr>
          <p:cNvPr id="3" name="Content Placeholder 2"/>
          <p:cNvSpPr>
            <a:spLocks noGrp="1"/>
          </p:cNvSpPr>
          <p:nvPr>
            <p:ph idx="1"/>
          </p:nvPr>
        </p:nvSpPr>
        <p:spPr/>
        <p:txBody>
          <a:bodyPr/>
          <a:lstStyle/>
          <a:p>
            <a:pPr marL="0" indent="0">
              <a:buNone/>
            </a:pPr>
            <a:r>
              <a:rPr lang="en-US" dirty="0">
                <a:ea typeface="ＭＳ Ｐゴシック" pitchFamily="-110" charset="-128"/>
                <a:cs typeface="Arial" pitchFamily="34" charset="0"/>
              </a:rPr>
              <a:t>Is the cost of labor that can be physically and conveniently traced to the final product.</a:t>
            </a:r>
          </a:p>
          <a:p>
            <a:pPr marL="0" indent="0">
              <a:buNone/>
            </a:pPr>
            <a:r>
              <a:rPr lang="en-US" b="1" dirty="0">
                <a:ea typeface="ＭＳ Ｐゴシック" pitchFamily="-110" charset="-128"/>
              </a:rPr>
              <a:t>Examples: </a:t>
            </a:r>
          </a:p>
          <a:p>
            <a:pPr marL="0" indent="0">
              <a:buNone/>
            </a:pPr>
            <a:r>
              <a:rPr lang="en-US" dirty="0">
                <a:ea typeface="ＭＳ Ｐゴシック" pitchFamily="-110" charset="-128"/>
              </a:rPr>
              <a:t>Wages paid to automobile assembly workers</a:t>
            </a:r>
          </a:p>
          <a:p>
            <a:pPr marL="0" indent="0">
              <a:buNone/>
            </a:pPr>
            <a:r>
              <a:rPr lang="en-US" dirty="0">
                <a:ea typeface="ＭＳ Ｐゴシック" pitchFamily="-110" charset="-128"/>
              </a:rPr>
              <a:t>Wages paid to employees on the pizza production line</a:t>
            </a:r>
            <a:endParaRPr lang="en-US" dirty="0"/>
          </a:p>
        </p:txBody>
      </p:sp>
    </p:spTree>
    <p:extLst>
      <p:ext uri="{BB962C8B-B14F-4D97-AF65-F5344CB8AC3E}">
        <p14:creationId xmlns:p14="http://schemas.microsoft.com/office/powerpoint/2010/main" val="3432691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l"/>
            <a:r>
              <a:rPr lang="en-US" b="1" dirty="0">
                <a:solidFill>
                  <a:srgbClr val="C00000"/>
                </a:solidFill>
              </a:rPr>
              <a:t>Manufacturing Overhead</a:t>
            </a:r>
          </a:p>
        </p:txBody>
      </p:sp>
      <p:sp>
        <p:nvSpPr>
          <p:cNvPr id="3" name="Content Placeholder 2"/>
          <p:cNvSpPr>
            <a:spLocks noGrp="1"/>
          </p:cNvSpPr>
          <p:nvPr>
            <p:ph idx="1"/>
          </p:nvPr>
        </p:nvSpPr>
        <p:spPr/>
        <p:txBody>
          <a:bodyPr/>
          <a:lstStyle/>
          <a:p>
            <a:pPr marL="0" indent="0" algn="just">
              <a:buNone/>
            </a:pPr>
            <a:r>
              <a:rPr lang="en-US" dirty="0"/>
              <a:t>Includes all costs other than direct materials and direct labor that must be incurred to manufacture a product.</a:t>
            </a:r>
          </a:p>
          <a:p>
            <a:pPr marL="0" indent="0" algn="just">
              <a:buNone/>
            </a:pPr>
            <a:r>
              <a:rPr lang="en-US" dirty="0"/>
              <a:t>Manufacturing overhead costs include the following costs at the manufacturing facility: maintenance and repairs on production equipment, utilities, property taxes, depreciation, insurance, and salaries for supervisors, janitors, and security guards.</a:t>
            </a:r>
          </a:p>
        </p:txBody>
      </p:sp>
    </p:spTree>
    <p:extLst>
      <p:ext uri="{BB962C8B-B14F-4D97-AF65-F5344CB8AC3E}">
        <p14:creationId xmlns:p14="http://schemas.microsoft.com/office/powerpoint/2010/main" val="159330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85800" y="0"/>
            <a:ext cx="8229600" cy="1379189"/>
          </a:xfrm>
        </p:spPr>
        <p:txBody>
          <a:bodyPr/>
          <a:lstStyle/>
          <a:p>
            <a:pPr algn="l"/>
            <a:r>
              <a:rPr lang="en-US" sz="2400" b="1" dirty="0">
                <a:solidFill>
                  <a:srgbClr val="9900CC"/>
                </a:solidFill>
              </a:rPr>
              <a:t>Period Costs (Non manufacturing Costs)</a:t>
            </a:r>
          </a:p>
        </p:txBody>
      </p:sp>
      <p:sp>
        <p:nvSpPr>
          <p:cNvPr id="3" name="Content Placeholder 2"/>
          <p:cNvSpPr>
            <a:spLocks noGrp="1"/>
          </p:cNvSpPr>
          <p:nvPr>
            <p:ph idx="1"/>
          </p:nvPr>
        </p:nvSpPr>
        <p:spPr/>
        <p:txBody>
          <a:bodyPr/>
          <a:lstStyle/>
          <a:p>
            <a:pPr marL="0" indent="0">
              <a:buNone/>
            </a:pPr>
            <a:r>
              <a:rPr lang="en-US" b="1" dirty="0">
                <a:solidFill>
                  <a:srgbClr val="C00000"/>
                </a:solidFill>
              </a:rPr>
              <a:t>Marketing or Selling Costs</a:t>
            </a:r>
          </a:p>
          <a:p>
            <a:pPr marL="465137" lvl="1" indent="0">
              <a:buNone/>
            </a:pPr>
            <a:r>
              <a:rPr lang="en-US" dirty="0"/>
              <a:t>Costs necessary to get the order and deliver the product</a:t>
            </a:r>
          </a:p>
          <a:p>
            <a:pPr marL="0" indent="0">
              <a:buNone/>
            </a:pPr>
            <a:r>
              <a:rPr lang="en-US" b="1" dirty="0">
                <a:solidFill>
                  <a:srgbClr val="C00000"/>
                </a:solidFill>
              </a:rPr>
              <a:t>General and Administrative Costs</a:t>
            </a:r>
          </a:p>
          <a:p>
            <a:pPr marL="465137" lvl="1" indent="0">
              <a:buNone/>
            </a:pPr>
            <a:r>
              <a:rPr lang="en-US" dirty="0"/>
              <a:t>All executive, organizational, and clerical costs</a:t>
            </a:r>
          </a:p>
          <a:p>
            <a:pPr marL="465137" lvl="1" indent="0">
              <a:buNone/>
            </a:pPr>
            <a:endParaRPr lang="en-US" b="1" dirty="0">
              <a:solidFill>
                <a:srgbClr val="1102D0"/>
              </a:solidFill>
            </a:endParaRPr>
          </a:p>
          <a:p>
            <a:pPr marL="465137" lvl="1" indent="0">
              <a:buNone/>
            </a:pPr>
            <a:r>
              <a:rPr lang="en-US" b="1" dirty="0">
                <a:solidFill>
                  <a:srgbClr val="1102D0"/>
                </a:solidFill>
              </a:rPr>
              <a:t>Not part of Factory Overhead because they are not incurred in manufacturing products.</a:t>
            </a:r>
          </a:p>
          <a:p>
            <a:pPr marL="465137" lvl="1" indent="0">
              <a:buNone/>
            </a:pPr>
            <a:endParaRPr lang="en-US" dirty="0"/>
          </a:p>
        </p:txBody>
      </p:sp>
    </p:spTree>
    <p:extLst>
      <p:ext uri="{BB962C8B-B14F-4D97-AF65-F5344CB8AC3E}">
        <p14:creationId xmlns:p14="http://schemas.microsoft.com/office/powerpoint/2010/main" val="1217825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p:cNvSpPr txBox="1">
            <a:spLocks noChangeArrowheads="1"/>
          </p:cNvSpPr>
          <p:nvPr/>
        </p:nvSpPr>
        <p:spPr bwMode="auto">
          <a:xfrm>
            <a:off x="457200" y="457200"/>
            <a:ext cx="8229600" cy="1066800"/>
          </a:xfrm>
          <a:prstGeom prst="rect">
            <a:avLst/>
          </a:prstGeom>
          <a:noFill/>
          <a:ln w="9525" cap="flat">
            <a:noFill/>
            <a:round/>
            <a:headEnd/>
            <a:tailEnd/>
          </a:ln>
          <a:effectLst/>
        </p:spPr>
        <p:txBody>
          <a:bodyPr lIns="90360" tIns="44280" rIns="90360" bIns="44280" anchor="ctr"/>
          <a:lstStyle/>
          <a:p>
            <a:pPr marL="0" marR="0" lvl="0" indent="0" algn="l" defTabSz="457200" rtl="0" eaLnBrk="0" fontAlgn="base" latinLnBrk="0" hangingPunct="0">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3600" b="0" i="0" u="none" strike="noStrike" kern="1200" cap="none" spc="0" normalizeH="0" baseline="0" noProof="0">
                <a:ln>
                  <a:noFill/>
                </a:ln>
                <a:solidFill>
                  <a:srgbClr val="4E3B30"/>
                </a:solidFill>
                <a:effectLst/>
                <a:uLnTx/>
                <a:uFillTx/>
                <a:latin typeface="Trebuchet MS" pitchFamily="32" charset="0"/>
                <a:cs typeface="Arial" charset="0"/>
              </a:rPr>
              <a:t>Quick Check </a:t>
            </a:r>
            <a:r>
              <a:rPr kumimoji="0" lang="en-US" sz="2800" b="0" i="0" u="none" strike="noStrike" kern="1200" cap="none" spc="0" normalizeH="0" baseline="0" noProof="0">
                <a:ln>
                  <a:noFill/>
                </a:ln>
                <a:solidFill>
                  <a:srgbClr val="4E3B30"/>
                </a:solidFill>
                <a:effectLst/>
                <a:uLnTx/>
                <a:uFillTx/>
                <a:latin typeface="Wingdings" charset="2"/>
                <a:ea typeface="Wingdings" charset="2"/>
                <a:cs typeface="Wingdings" charset="2"/>
              </a:rPr>
              <a:t></a:t>
            </a:r>
          </a:p>
        </p:txBody>
      </p:sp>
      <p:sp>
        <p:nvSpPr>
          <p:cNvPr id="15362" name="Text Box 2"/>
          <p:cNvSpPr txBox="1">
            <a:spLocks noChangeArrowheads="1"/>
          </p:cNvSpPr>
          <p:nvPr/>
        </p:nvSpPr>
        <p:spPr bwMode="auto">
          <a:xfrm>
            <a:off x="485775" y="1600200"/>
            <a:ext cx="8153400" cy="4686300"/>
          </a:xfrm>
          <a:prstGeom prst="rect">
            <a:avLst/>
          </a:prstGeom>
          <a:solidFill>
            <a:srgbClr val="EDEDD3"/>
          </a:solidFill>
          <a:ln w="12600" cap="sq">
            <a:solidFill>
              <a:srgbClr val="0000CC"/>
            </a:solidFill>
            <a:miter lim="800000"/>
            <a:headEnd/>
            <a:tailEnd/>
          </a:ln>
          <a:effectLst/>
        </p:spPr>
        <p:txBody>
          <a:bodyPr lIns="90360" tIns="44280" rIns="90360" bIns="44280"/>
          <a:lstStyle/>
          <a:p>
            <a:pPr marL="365125" marR="0" lvl="0" indent="-254000"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800" b="0" i="0" u="none" strike="noStrike" kern="1200" cap="none" spc="0" normalizeH="0" baseline="0" noProof="0">
                <a:ln>
                  <a:noFill/>
                </a:ln>
                <a:solidFill>
                  <a:srgbClr val="000000"/>
                </a:solidFill>
                <a:effectLst/>
                <a:uLnTx/>
                <a:uFillTx/>
                <a:latin typeface="Arial" charset="0"/>
                <a:cs typeface="Arial" charset="0"/>
              </a:rPr>
              <a:t> 	Which of the following costs would be considered a period rather than a product cost in a manufacturing company?</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A. Manufacturing equipment depreciation.</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B. Property taxes on corporate headquarters.</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C. Direct materials costs.</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D. Electrical costs to light the production     </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     facility.</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E. Sales commissions.</a:t>
            </a:r>
          </a:p>
        </p:txBody>
      </p:sp>
    </p:spTree>
    <p:extLst>
      <p:ext uri="{BB962C8B-B14F-4D97-AF65-F5344CB8AC3E}">
        <p14:creationId xmlns:p14="http://schemas.microsoft.com/office/powerpoint/2010/main" val="963012278"/>
      </p:ext>
    </p:extLst>
  </p:cSld>
  <p:clrMapOvr>
    <a:masterClrMapping/>
  </p:clrMapOvr>
  <p:transition spd="med">
    <p:blinds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1"/>
          <p:cNvSpPr txBox="1">
            <a:spLocks noChangeArrowheads="1"/>
          </p:cNvSpPr>
          <p:nvPr/>
        </p:nvSpPr>
        <p:spPr bwMode="auto">
          <a:xfrm>
            <a:off x="457200" y="457200"/>
            <a:ext cx="8229600" cy="1066800"/>
          </a:xfrm>
          <a:prstGeom prst="rect">
            <a:avLst/>
          </a:prstGeom>
          <a:noFill/>
          <a:ln w="9525" cap="flat">
            <a:noFill/>
            <a:round/>
            <a:headEnd/>
            <a:tailEnd/>
          </a:ln>
          <a:effectLst/>
        </p:spPr>
        <p:txBody>
          <a:bodyPr lIns="90360" tIns="44280" rIns="90360" bIns="44280" anchor="ctr"/>
          <a:lstStyle/>
          <a:p>
            <a:pPr marL="0" marR="0" lvl="0" indent="0" algn="l" defTabSz="457200" rtl="0" eaLnBrk="0" fontAlgn="base" latinLnBrk="0" hangingPunct="0">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3600" b="0" i="0" u="none" strike="noStrike" kern="1200" cap="none" spc="0" normalizeH="0" baseline="0" noProof="0">
                <a:ln>
                  <a:noFill/>
                </a:ln>
                <a:solidFill>
                  <a:srgbClr val="4E3B30"/>
                </a:solidFill>
                <a:effectLst/>
                <a:uLnTx/>
                <a:uFillTx/>
                <a:latin typeface="Trebuchet MS" pitchFamily="32" charset="0"/>
                <a:cs typeface="Arial" charset="0"/>
              </a:rPr>
              <a:t>Quick Check </a:t>
            </a:r>
            <a:r>
              <a:rPr kumimoji="0" lang="en-US" sz="2800" b="0" i="0" u="none" strike="noStrike" kern="1200" cap="none" spc="0" normalizeH="0" baseline="0" noProof="0">
                <a:ln>
                  <a:noFill/>
                </a:ln>
                <a:solidFill>
                  <a:srgbClr val="4E3B30"/>
                </a:solidFill>
                <a:effectLst/>
                <a:uLnTx/>
                <a:uFillTx/>
                <a:latin typeface="Wingdings" charset="2"/>
                <a:ea typeface="Wingdings" charset="2"/>
                <a:cs typeface="Wingdings" charset="2"/>
              </a:rPr>
              <a:t></a:t>
            </a:r>
          </a:p>
        </p:txBody>
      </p:sp>
      <p:sp>
        <p:nvSpPr>
          <p:cNvPr id="16386" name="Text Box 2"/>
          <p:cNvSpPr txBox="1">
            <a:spLocks noChangeArrowheads="1"/>
          </p:cNvSpPr>
          <p:nvPr/>
        </p:nvSpPr>
        <p:spPr bwMode="auto">
          <a:xfrm>
            <a:off x="485775" y="1600200"/>
            <a:ext cx="8153400" cy="4686300"/>
          </a:xfrm>
          <a:prstGeom prst="rect">
            <a:avLst/>
          </a:prstGeom>
          <a:solidFill>
            <a:srgbClr val="EDECD2"/>
          </a:solidFill>
          <a:ln w="12600" cap="sq">
            <a:solidFill>
              <a:srgbClr val="0000CC"/>
            </a:solidFill>
            <a:miter lim="800000"/>
            <a:headEnd/>
            <a:tailEnd/>
          </a:ln>
          <a:effectLst/>
        </p:spPr>
        <p:txBody>
          <a:bodyPr lIns="90360" tIns="44280" rIns="90360" bIns="44280"/>
          <a:lstStyle/>
          <a:p>
            <a:pPr marL="365125" marR="0" lvl="0" indent="-254000"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800" b="0" i="0" u="none" strike="noStrike" kern="1200" cap="none" spc="0" normalizeH="0" baseline="0" noProof="0">
                <a:ln>
                  <a:noFill/>
                </a:ln>
                <a:solidFill>
                  <a:srgbClr val="000000"/>
                </a:solidFill>
                <a:effectLst/>
                <a:uLnTx/>
                <a:uFillTx/>
                <a:latin typeface="Arial" charset="0"/>
                <a:cs typeface="Arial" charset="0"/>
              </a:rPr>
              <a:t> 	Which of the following costs would be considered a period rather than a product cost in a manufacturing company?</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F0A22E"/>
                </a:solidFill>
                <a:effectLst/>
                <a:uLnTx/>
                <a:uFillTx/>
                <a:latin typeface="Arial" charset="0"/>
                <a:cs typeface="Arial" charset="0"/>
              </a:rPr>
              <a:t>A. Manufacturing equipment depreciation.</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B. Property taxes on corporate headquarters.</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F0A22E"/>
                </a:solidFill>
                <a:effectLst/>
                <a:uLnTx/>
                <a:uFillTx/>
                <a:latin typeface="Arial" charset="0"/>
                <a:cs typeface="Arial" charset="0"/>
              </a:rPr>
              <a:t>C. Direct materials costs.</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F0A22E"/>
                </a:solidFill>
                <a:effectLst/>
                <a:uLnTx/>
                <a:uFillTx/>
                <a:latin typeface="Arial" charset="0"/>
                <a:cs typeface="Arial" charset="0"/>
              </a:rPr>
              <a:t>D. Electrical costs to light the production     </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F0A22E"/>
                </a:solidFill>
                <a:effectLst/>
                <a:uLnTx/>
                <a:uFillTx/>
                <a:latin typeface="Arial" charset="0"/>
                <a:cs typeface="Arial" charset="0"/>
              </a:rPr>
              <a:t>     facility.</a:t>
            </a:r>
          </a:p>
          <a:p>
            <a:pPr marL="657225" marR="0" lvl="1" indent="-244475" algn="l" defTabSz="457200" rtl="0" eaLnBrk="0" fontAlgn="base" latinLnBrk="0" hangingPunct="0">
              <a:lnSpc>
                <a:spcPct val="100000"/>
              </a:lnSpc>
              <a:spcBef>
                <a:spcPts val="300"/>
              </a:spcBef>
              <a:spcAft>
                <a:spcPct val="0"/>
              </a:spcAft>
              <a:buClrTx/>
              <a:buSzPct val="100000"/>
              <a:buFontTx/>
              <a:buNone/>
              <a:tabLst>
                <a:tab pos="365125" algn="l"/>
                <a:tab pos="912813" algn="l"/>
                <a:tab pos="1827213" algn="l"/>
                <a:tab pos="2741613" algn="l"/>
                <a:tab pos="3656013" algn="l"/>
                <a:tab pos="4570413" algn="l"/>
                <a:tab pos="5484813" algn="l"/>
                <a:tab pos="6399213" algn="l"/>
                <a:tab pos="7313613" algn="l"/>
                <a:tab pos="8228013" algn="l"/>
                <a:tab pos="9142413" algn="l"/>
                <a:tab pos="10056813" algn="l"/>
              </a:tabLst>
              <a:defRPr/>
            </a:pPr>
            <a:r>
              <a:rPr kumimoji="0" lang="en-US" sz="2600" b="0" i="0" u="none" strike="noStrike" kern="1200" cap="none" spc="0" normalizeH="0" baseline="0" noProof="0">
                <a:ln>
                  <a:noFill/>
                </a:ln>
                <a:solidFill>
                  <a:srgbClr val="000000"/>
                </a:solidFill>
                <a:effectLst/>
                <a:uLnTx/>
                <a:uFillTx/>
                <a:latin typeface="Arial" charset="0"/>
                <a:cs typeface="Arial" charset="0"/>
              </a:rPr>
              <a:t>E. Sales commissions.</a:t>
            </a:r>
          </a:p>
        </p:txBody>
      </p:sp>
      <p:sp>
        <p:nvSpPr>
          <p:cNvPr id="16387" name="Oval 3"/>
          <p:cNvSpPr>
            <a:spLocks noChangeArrowheads="1"/>
          </p:cNvSpPr>
          <p:nvPr/>
        </p:nvSpPr>
        <p:spPr bwMode="auto">
          <a:xfrm>
            <a:off x="736600" y="3276600"/>
            <a:ext cx="635000" cy="635000"/>
          </a:xfrm>
          <a:prstGeom prst="ellipse">
            <a:avLst/>
          </a:prstGeom>
          <a:noFill/>
          <a:ln w="50760" cap="sq">
            <a:solidFill>
              <a:srgbClr val="FF0000"/>
            </a:solidFill>
            <a:miter lim="800000"/>
            <a:headEnd/>
            <a:tailEnd/>
          </a:ln>
          <a:effectLst/>
        </p:spPr>
        <p:txBody>
          <a:bodyPr wrap="none" anchor="ctr"/>
          <a:lstStyle/>
          <a:p>
            <a:pPr marL="0" marR="0" lvl="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US" sz="1800" b="0" i="0" u="none" strike="noStrike" kern="1200" cap="none" spc="0" normalizeH="0" baseline="0" noProof="0">
              <a:ln>
                <a:noFill/>
              </a:ln>
              <a:solidFill>
                <a:srgbClr val="FFFFFF"/>
              </a:solidFill>
              <a:effectLst/>
              <a:uLnTx/>
              <a:uFillTx/>
              <a:latin typeface="Arial" charset="0"/>
            </a:endParaRPr>
          </a:p>
        </p:txBody>
      </p:sp>
      <p:sp>
        <p:nvSpPr>
          <p:cNvPr id="16388" name="Oval 4"/>
          <p:cNvSpPr>
            <a:spLocks noChangeArrowheads="1"/>
          </p:cNvSpPr>
          <p:nvPr/>
        </p:nvSpPr>
        <p:spPr bwMode="auto">
          <a:xfrm>
            <a:off x="747713" y="5003800"/>
            <a:ext cx="635000" cy="635000"/>
          </a:xfrm>
          <a:prstGeom prst="ellipse">
            <a:avLst/>
          </a:prstGeom>
          <a:noFill/>
          <a:ln w="50760" cap="sq">
            <a:solidFill>
              <a:srgbClr val="FF0000"/>
            </a:solidFill>
            <a:miter lim="800000"/>
            <a:headEnd/>
            <a:tailEnd/>
          </a:ln>
          <a:effectLst/>
        </p:spPr>
        <p:txBody>
          <a:bodyPr wrap="none" anchor="ctr"/>
          <a:lstStyle/>
          <a:p>
            <a:pPr marL="0" marR="0" lvl="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US" sz="1800" b="0" i="0" u="none" strike="noStrike" kern="1200" cap="none" spc="0" normalizeH="0" baseline="0" noProof="0">
              <a:ln>
                <a:noFill/>
              </a:ln>
              <a:solidFill>
                <a:srgbClr val="FFFFFF"/>
              </a:solidFill>
              <a:effectLst/>
              <a:uLnTx/>
              <a:uFillTx/>
              <a:latin typeface="Arial" charset="0"/>
            </a:endParaRPr>
          </a:p>
        </p:txBody>
      </p:sp>
    </p:spTree>
    <p:extLst>
      <p:ext uri="{BB962C8B-B14F-4D97-AF65-F5344CB8AC3E}">
        <p14:creationId xmlns:p14="http://schemas.microsoft.com/office/powerpoint/2010/main" val="1258208634"/>
      </p:ext>
    </p:extLst>
  </p:cSld>
  <p:clrMapOvr>
    <a:masterClrMapping/>
  </p:clrMapOvr>
  <p:transition spd="med">
    <p:blinds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B0126D3-4A3A-49E1-9B46-0DF1D5DD5482}"/>
              </a:ext>
            </a:extLst>
          </p:cNvPr>
          <p:cNvSpPr>
            <a:spLocks noGrp="1"/>
          </p:cNvSpPr>
          <p:nvPr>
            <p:ph type="title"/>
          </p:nvPr>
        </p:nvSpPr>
        <p:spPr/>
        <p:txBody>
          <a:bodyPr>
            <a:normAutofit fontScale="90000"/>
          </a:bodyPr>
          <a:lstStyle/>
          <a:p>
            <a:r>
              <a:rPr lang="en-IN" altLang="en-US" b="1" dirty="0"/>
              <a:t>Reporting Product and Period Costs in Financial Statements</a:t>
            </a:r>
            <a:endParaRPr lang="en-IN" dirty="0"/>
          </a:p>
        </p:txBody>
      </p:sp>
      <p:sp>
        <p:nvSpPr>
          <p:cNvPr id="6" name="Content Placeholder 2">
            <a:extLst>
              <a:ext uri="{FF2B5EF4-FFF2-40B4-BE49-F238E27FC236}">
                <a16:creationId xmlns:a16="http://schemas.microsoft.com/office/drawing/2014/main" id="{F2D00B36-E92A-44D1-B470-48EA646A324C}"/>
              </a:ext>
            </a:extLst>
          </p:cNvPr>
          <p:cNvSpPr>
            <a:spLocks noGrp="1"/>
          </p:cNvSpPr>
          <p:nvPr>
            <p:ph idx="1"/>
          </p:nvPr>
        </p:nvSpPr>
        <p:spPr/>
        <p:txBody>
          <a:bodyPr/>
          <a:lstStyle/>
          <a:p>
            <a:pPr>
              <a:lnSpc>
                <a:spcPct val="100000"/>
              </a:lnSpc>
              <a:spcBef>
                <a:spcPts val="600"/>
              </a:spcBef>
              <a:spcAft>
                <a:spcPts val="600"/>
              </a:spcAft>
            </a:pPr>
            <a:r>
              <a:rPr lang="en-IN" altLang="en-US" b="1" kern="0" dirty="0">
                <a:solidFill>
                  <a:prstClr val="black"/>
                </a:solidFill>
              </a:rPr>
              <a:t>Learning Objective C2: </a:t>
            </a:r>
            <a:r>
              <a:rPr lang="en-IN" altLang="en-US" kern="0" dirty="0">
                <a:solidFill>
                  <a:prstClr val="black"/>
                </a:solidFill>
              </a:rPr>
              <a:t>Describe accounting concepts useful in classifying costs.</a:t>
            </a:r>
          </a:p>
        </p:txBody>
      </p:sp>
      <p:pic>
        <p:nvPicPr>
          <p:cNvPr id="10" name="Picture 4" descr="Diagram illustrates flow of costs to income statement and balance sheet over two years.">
            <a:extLst>
              <a:ext uri="{FF2B5EF4-FFF2-40B4-BE49-F238E27FC236}">
                <a16:creationId xmlns:a16="http://schemas.microsoft.com/office/drawing/2014/main" id="{E61AB28C-2A90-4FA6-95FE-E331C1E07250}"/>
              </a:ext>
            </a:extLst>
          </p:cNvPr>
          <p:cNvPicPr>
            <a:picLocks noChangeAspect="1"/>
          </p:cNvPicPr>
          <p:nvPr/>
        </p:nvPicPr>
        <p:blipFill>
          <a:blip r:embed="rId3"/>
          <a:stretch>
            <a:fillRect/>
          </a:stretch>
        </p:blipFill>
        <p:spPr>
          <a:xfrm>
            <a:off x="475297" y="2639017"/>
            <a:ext cx="8193407" cy="3108960"/>
          </a:xfrm>
          <a:prstGeom prst="rect">
            <a:avLst/>
          </a:prstGeom>
        </p:spPr>
      </p:pic>
      <p:sp>
        <p:nvSpPr>
          <p:cNvPr id="8" name="Text Placeholder 5">
            <a:extLst>
              <a:ext uri="{FF2B5EF4-FFF2-40B4-BE49-F238E27FC236}">
                <a16:creationId xmlns:a16="http://schemas.microsoft.com/office/drawing/2014/main" id="{C542FB87-DC05-4C62-9B65-477D26359253}"/>
              </a:ext>
            </a:extLst>
          </p:cNvPr>
          <p:cNvSpPr>
            <a:spLocks noGrp="1"/>
          </p:cNvSpPr>
          <p:nvPr>
            <p:ph type="body" sz="quarter" idx="40"/>
          </p:nvPr>
        </p:nvSpPr>
        <p:spPr>
          <a:xfrm>
            <a:off x="3200400" y="6626225"/>
            <a:ext cx="2743200" cy="192088"/>
          </a:xfrm>
        </p:spPr>
        <p:txBody>
          <a:bodyPr/>
          <a:lstStyle/>
          <a:p>
            <a:r>
              <a:rPr lang="en-US" sz="1100" dirty="0">
                <a:hlinkClick r:id="" action="ppaction://noaction"/>
              </a:rPr>
              <a:t>Access the text alternative for slide images.</a:t>
            </a:r>
            <a:endParaRPr lang="en-IN" sz="1100" dirty="0">
              <a:hlinkClick r:id="" action="ppaction://noaction"/>
            </a:endParaRPr>
          </a:p>
        </p:txBody>
      </p:sp>
      <p:sp>
        <p:nvSpPr>
          <p:cNvPr id="4" name="Slide Number Placeholder 6">
            <a:extLst>
              <a:ext uri="{FF2B5EF4-FFF2-40B4-BE49-F238E27FC236}">
                <a16:creationId xmlns:a16="http://schemas.microsoft.com/office/drawing/2014/main" id="{FFE8BC3E-EEAD-447C-A234-641FAFD0BAF7}"/>
              </a:ext>
            </a:extLst>
          </p:cNvPr>
          <p:cNvSpPr>
            <a:spLocks noGrp="1"/>
          </p:cNvSpPr>
          <p:nvPr>
            <p:ph type="sldNum" sz="quarter" idx="12"/>
          </p:nvPr>
        </p:nvSpPr>
        <p:spPr/>
        <p:txBody>
          <a:bodyPr/>
          <a:lstStyle/>
          <a:p>
            <a:r>
              <a:rPr lang="en-IN" dirty="0"/>
              <a:t>18-</a:t>
            </a:r>
            <a:fld id="{EA2AA6B4-85BE-4F94-8943-E615592FD67D}" type="slidenum">
              <a:rPr lang="en-IN" smtClean="0"/>
              <a:pPr/>
              <a:t>11</a:t>
            </a:fld>
            <a:endParaRPr lang="en-IN" dirty="0"/>
          </a:p>
        </p:txBody>
      </p:sp>
    </p:spTree>
    <p:extLst>
      <p:ext uri="{BB962C8B-B14F-4D97-AF65-F5344CB8AC3E}">
        <p14:creationId xmlns:p14="http://schemas.microsoft.com/office/powerpoint/2010/main" val="3388283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p:cNvSpPr>
            <a:spLocks noGrp="1"/>
          </p:cNvSpPr>
          <p:nvPr>
            <p:ph type="title"/>
          </p:nvPr>
        </p:nvSpPr>
        <p:spPr>
          <a:xfrm>
            <a:off x="304800" y="228600"/>
            <a:ext cx="8534400" cy="1246187"/>
          </a:xfrm>
        </p:spPr>
        <p:txBody>
          <a:bodyPr/>
          <a:lstStyle/>
          <a:p>
            <a:r>
              <a:rPr lang="en-US" b="1" dirty="0">
                <a:solidFill>
                  <a:srgbClr val="9900CC"/>
                </a:solidFill>
              </a:rPr>
              <a:t>Cost Classifications For Predicting Cost Behavior </a:t>
            </a:r>
          </a:p>
        </p:txBody>
      </p:sp>
      <p:sp>
        <p:nvSpPr>
          <p:cNvPr id="13" name="Content Placeholder 12"/>
          <p:cNvSpPr>
            <a:spLocks noGrp="1"/>
          </p:cNvSpPr>
          <p:nvPr>
            <p:ph type="body" sz="quarter" idx="13"/>
          </p:nvPr>
        </p:nvSpPr>
        <p:spPr>
          <a:xfrm>
            <a:off x="457200" y="1479954"/>
            <a:ext cx="8305800" cy="1234266"/>
          </a:xfrm>
        </p:spPr>
        <p:txBody>
          <a:bodyPr anchor="ctr"/>
          <a:lstStyle/>
          <a:p>
            <a:pPr>
              <a:spcBef>
                <a:spcPts val="624"/>
              </a:spcBef>
            </a:pPr>
            <a:r>
              <a:rPr lang="en-US" sz="2400" b="1" i="1" dirty="0">
                <a:solidFill>
                  <a:srgbClr val="C00000"/>
                </a:solidFill>
              </a:rPr>
              <a:t>1- </a:t>
            </a:r>
            <a:r>
              <a:rPr lang="en-US" sz="2400" b="1" dirty="0">
                <a:solidFill>
                  <a:srgbClr val="C00000"/>
                </a:solidFill>
              </a:rPr>
              <a:t>Variable Costs</a:t>
            </a:r>
            <a:r>
              <a:rPr lang="en-US" sz="2400" b="1" dirty="0"/>
              <a:t>:</a:t>
            </a:r>
            <a:r>
              <a:rPr lang="en-US" sz="2400" i="1" dirty="0"/>
              <a:t> </a:t>
            </a:r>
            <a:r>
              <a:rPr lang="en-US" sz="2400" dirty="0"/>
              <a:t>Change, in total, in direct proportion to changes in activity level.</a:t>
            </a:r>
          </a:p>
          <a:p>
            <a:pPr>
              <a:spcBef>
                <a:spcPts val="624"/>
              </a:spcBef>
            </a:pPr>
            <a:r>
              <a:rPr lang="en-US" sz="2400" dirty="0"/>
              <a:t>Variable Cost Behavior</a:t>
            </a:r>
          </a:p>
        </p:txBody>
      </p:sp>
      <p:pic>
        <p:nvPicPr>
          <p:cNvPr id="7" name="Picture 6" descr="Two line graphs depict the relationship of total variable costs and unit variable costs for customers served.">
            <a:extLst>
              <a:ext uri="{FF2B5EF4-FFF2-40B4-BE49-F238E27FC236}">
                <a16:creationId xmlns:a16="http://schemas.microsoft.com/office/drawing/2014/main" id="{2AB7D5DF-FB53-4E31-B255-770A6C7F2F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9442" y="2895600"/>
            <a:ext cx="6225117" cy="3148209"/>
          </a:xfrm>
          <a:prstGeom prst="rect">
            <a:avLst/>
          </a:prstGeom>
        </p:spPr>
      </p:pic>
      <p:sp>
        <p:nvSpPr>
          <p:cNvPr id="2" name="Content Placeholder 1">
            <a:extLst>
              <a:ext uri="{FF2B5EF4-FFF2-40B4-BE49-F238E27FC236}">
                <a16:creationId xmlns:a16="http://schemas.microsoft.com/office/drawing/2014/main" id="{825901A9-7A57-4441-9340-04568883CBA3}"/>
              </a:ext>
            </a:extLst>
          </p:cNvPr>
          <p:cNvSpPr>
            <a:spLocks noGrp="1"/>
          </p:cNvSpPr>
          <p:nvPr>
            <p:ph sz="quarter" idx="14"/>
          </p:nvPr>
        </p:nvSpPr>
        <p:spPr>
          <a:xfrm>
            <a:off x="609600" y="6172200"/>
            <a:ext cx="7924800" cy="457200"/>
          </a:xfrm>
        </p:spPr>
        <p:txBody>
          <a:bodyPr/>
          <a:lstStyle/>
          <a:p>
            <a:pPr marL="0" indent="0" algn="ctr">
              <a:buNone/>
            </a:pPr>
            <a:r>
              <a:rPr lang="en-US" sz="1800" dirty="0">
                <a:hlinkClick r:id="" action="ppaction://noaction"/>
              </a:rPr>
              <a:t>Access the text alternative for slide images</a:t>
            </a:r>
            <a:endParaRPr lang="en-US" sz="1800" dirty="0"/>
          </a:p>
        </p:txBody>
      </p:sp>
    </p:spTree>
    <p:extLst>
      <p:ext uri="{BB962C8B-B14F-4D97-AF65-F5344CB8AC3E}">
        <p14:creationId xmlns:p14="http://schemas.microsoft.com/office/powerpoint/2010/main" val="2055533225"/>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type="body" sz="quarter" idx="13"/>
          </p:nvPr>
        </p:nvSpPr>
        <p:spPr>
          <a:xfrm>
            <a:off x="549166" y="1447800"/>
            <a:ext cx="8153400" cy="1828800"/>
          </a:xfrm>
        </p:spPr>
        <p:txBody>
          <a:bodyPr anchor="ctr"/>
          <a:lstStyle/>
          <a:p>
            <a:pPr algn="l">
              <a:spcBef>
                <a:spcPts val="624"/>
              </a:spcBef>
            </a:pPr>
            <a:r>
              <a:rPr lang="en-US" sz="2400" b="1" dirty="0">
                <a:solidFill>
                  <a:srgbClr val="C00000"/>
                </a:solidFill>
              </a:rPr>
              <a:t>2-Fixed costs </a:t>
            </a:r>
            <a:r>
              <a:rPr lang="en-US" sz="2400" dirty="0"/>
              <a:t>do not change in total, regardless of the activity level, at least within some reasonable range of activity. Average or per-unit fixed costs vary inversely with the number of units produced or the number of customers served.</a:t>
            </a:r>
            <a:endParaRPr lang="en-US" sz="2400" b="1" dirty="0"/>
          </a:p>
        </p:txBody>
      </p:sp>
      <p:pic>
        <p:nvPicPr>
          <p:cNvPr id="6" name="Picture 5" descr="Two line graphs depict the relationship of total fixed costs and unit fixed costs for customers served.">
            <a:extLst>
              <a:ext uri="{FF2B5EF4-FFF2-40B4-BE49-F238E27FC236}">
                <a16:creationId xmlns:a16="http://schemas.microsoft.com/office/drawing/2014/main" id="{FB823138-334B-47E6-BCB3-16AC6A35FC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7183" y="3384176"/>
            <a:ext cx="5261817" cy="2635624"/>
          </a:xfrm>
          <a:prstGeom prst="rect">
            <a:avLst/>
          </a:prstGeom>
        </p:spPr>
      </p:pic>
      <p:sp>
        <p:nvSpPr>
          <p:cNvPr id="2" name="Content Placeholder 1">
            <a:extLst>
              <a:ext uri="{FF2B5EF4-FFF2-40B4-BE49-F238E27FC236}">
                <a16:creationId xmlns:a16="http://schemas.microsoft.com/office/drawing/2014/main" id="{825901A9-7A57-4441-9340-04568883CBA3}"/>
              </a:ext>
            </a:extLst>
          </p:cNvPr>
          <p:cNvSpPr>
            <a:spLocks noGrp="1"/>
          </p:cNvSpPr>
          <p:nvPr>
            <p:ph sz="quarter" idx="14"/>
          </p:nvPr>
        </p:nvSpPr>
        <p:spPr>
          <a:xfrm>
            <a:off x="457200" y="6096000"/>
            <a:ext cx="8245366" cy="381000"/>
          </a:xfrm>
        </p:spPr>
        <p:txBody>
          <a:bodyPr/>
          <a:lstStyle/>
          <a:p>
            <a:pPr marL="0" indent="0" algn="ctr">
              <a:buNone/>
            </a:pPr>
            <a:r>
              <a:rPr lang="en-US" sz="1800" dirty="0">
                <a:hlinkClick r:id="" action="ppaction://noaction"/>
              </a:rPr>
              <a:t>Access the text alternative for slide images</a:t>
            </a:r>
            <a:endParaRPr lang="en-US" sz="1800" dirty="0"/>
          </a:p>
        </p:txBody>
      </p:sp>
    </p:spTree>
    <p:extLst>
      <p:ext uri="{BB962C8B-B14F-4D97-AF65-F5344CB8AC3E}">
        <p14:creationId xmlns:p14="http://schemas.microsoft.com/office/powerpoint/2010/main" val="3538364901"/>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a typeface="MS PGothic" charset="0"/>
                <a:cs typeface="Calibri" panose="020F0502020204030204" pitchFamily="34" charset="0"/>
              </a:rPr>
              <a:t>Relevant Range: Graphic</a:t>
            </a:r>
            <a:endParaRPr lang="en-IN" dirty="0">
              <a:cs typeface="Calibri" panose="020F0502020204030204" pitchFamily="34" charset="0"/>
            </a:endParaRPr>
          </a:p>
        </p:txBody>
      </p:sp>
      <p:pic>
        <p:nvPicPr>
          <p:cNvPr id="4" name="Picture 3" descr="Graph illustrating fixed costs and the relevant range."/>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62141" y="1695231"/>
            <a:ext cx="7419718" cy="3770412"/>
          </a:xfrm>
          <a:prstGeom prst="rect">
            <a:avLst/>
          </a:prstGeom>
        </p:spPr>
      </p:pic>
      <p:sp>
        <p:nvSpPr>
          <p:cNvPr id="5" name="Content Placeholder 4"/>
          <p:cNvSpPr>
            <a:spLocks noGrp="1"/>
          </p:cNvSpPr>
          <p:nvPr>
            <p:ph idx="4294967295"/>
          </p:nvPr>
        </p:nvSpPr>
        <p:spPr>
          <a:xfrm>
            <a:off x="838200"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endParaRPr lang="en-IN" sz="900" dirty="0">
              <a:solidFill>
                <a:schemeClr val="tx1"/>
              </a:solidFill>
            </a:endParaRPr>
          </a:p>
        </p:txBody>
      </p:sp>
    </p:spTree>
    <p:extLst>
      <p:ext uri="{BB962C8B-B14F-4D97-AF65-F5344CB8AC3E}">
        <p14:creationId xmlns:p14="http://schemas.microsoft.com/office/powerpoint/2010/main" val="4223945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cs typeface="ＭＳ Ｐゴシック" charset="-128"/>
              </a:rPr>
              <a:t>Comparison of Cost Classifications for Predicting Cost Behavior</a:t>
            </a:r>
            <a:endParaRPr lang="en-IN" dirty="0">
              <a:cs typeface="Calibri" panose="020F0502020204030204" pitchFamily="34" charset="0"/>
            </a:endParaRPr>
          </a:p>
        </p:txBody>
      </p:sp>
      <p:sp>
        <p:nvSpPr>
          <p:cNvPr id="6" name="Content Placeholder 3"/>
          <p:cNvSpPr>
            <a:spLocks noGrp="1"/>
          </p:cNvSpPr>
          <p:nvPr>
            <p:ph idx="13"/>
          </p:nvPr>
        </p:nvSpPr>
        <p:spPr>
          <a:xfrm>
            <a:off x="822325" y="1524000"/>
            <a:ext cx="7543800" cy="533400"/>
          </a:xfrm>
        </p:spPr>
        <p:txBody>
          <a:bodyPr/>
          <a:lstStyle/>
          <a:p>
            <a:r>
              <a:rPr lang="en-US" sz="2400" b="1" dirty="0">
                <a:solidFill>
                  <a:schemeClr val="tx1"/>
                </a:solidFill>
              </a:rPr>
              <a:t>Behavior of Cost (within the relevant range)</a:t>
            </a:r>
          </a:p>
        </p:txBody>
      </p:sp>
      <p:graphicFrame>
        <p:nvGraphicFramePr>
          <p:cNvPr id="4" name="Table 3"/>
          <p:cNvGraphicFramePr>
            <a:graphicFrameLocks noGrp="1"/>
          </p:cNvGraphicFramePr>
          <p:nvPr/>
        </p:nvGraphicFramePr>
        <p:xfrm>
          <a:off x="806049" y="2403475"/>
          <a:ext cx="7772400" cy="246888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1635152279"/>
                    </a:ext>
                  </a:extLst>
                </a:gridCol>
                <a:gridCol w="3232551">
                  <a:extLst>
                    <a:ext uri="{9D8B030D-6E8A-4147-A177-3AD203B41FA5}">
                      <a16:colId xmlns:a16="http://schemas.microsoft.com/office/drawing/2014/main" val="2655675477"/>
                    </a:ext>
                  </a:extLst>
                </a:gridCol>
                <a:gridCol w="3473049">
                  <a:extLst>
                    <a:ext uri="{9D8B030D-6E8A-4147-A177-3AD203B41FA5}">
                      <a16:colId xmlns:a16="http://schemas.microsoft.com/office/drawing/2014/main" val="667623684"/>
                    </a:ext>
                  </a:extLst>
                </a:gridCol>
              </a:tblGrid>
              <a:tr h="263525">
                <a:tc>
                  <a:txBody>
                    <a:bodyPr/>
                    <a:lstStyle/>
                    <a:p>
                      <a:r>
                        <a:rPr lang="en-US" dirty="0">
                          <a:solidFill>
                            <a:schemeClr val="tx1"/>
                          </a:solidFill>
                        </a:rPr>
                        <a:t>Cost</a:t>
                      </a:r>
                    </a:p>
                  </a:txBody>
                  <a:tcPr/>
                </a:tc>
                <a:tc>
                  <a:txBody>
                    <a:bodyPr/>
                    <a:lstStyle/>
                    <a:p>
                      <a:r>
                        <a:rPr lang="en-US" dirty="0">
                          <a:solidFill>
                            <a:schemeClr val="tx1"/>
                          </a:solidFill>
                        </a:rPr>
                        <a:t>In Total</a:t>
                      </a:r>
                    </a:p>
                  </a:txBody>
                  <a:tcPr/>
                </a:tc>
                <a:tc>
                  <a:txBody>
                    <a:bodyPr/>
                    <a:lstStyle/>
                    <a:p>
                      <a:r>
                        <a:rPr lang="en-US" dirty="0">
                          <a:solidFill>
                            <a:schemeClr val="tx1"/>
                          </a:solidFill>
                        </a:rPr>
                        <a:t>Per Unit</a:t>
                      </a:r>
                    </a:p>
                  </a:txBody>
                  <a:tcPr/>
                </a:tc>
                <a:extLst>
                  <a:ext uri="{0D108BD9-81ED-4DB2-BD59-A6C34878D82A}">
                    <a16:rowId xmlns:a16="http://schemas.microsoft.com/office/drawing/2014/main" val="3623620627"/>
                  </a:ext>
                </a:extLst>
              </a:tr>
              <a:tr h="370840">
                <a:tc>
                  <a:txBody>
                    <a:bodyPr/>
                    <a:lstStyle/>
                    <a:p>
                      <a:r>
                        <a:rPr lang="en-US" dirty="0"/>
                        <a:t>Variable</a:t>
                      </a:r>
                    </a:p>
                  </a:txBody>
                  <a:tcPr/>
                </a:tc>
                <a:tc>
                  <a:txBody>
                    <a:bodyPr/>
                    <a:lstStyle/>
                    <a:p>
                      <a:r>
                        <a:rPr lang="en-US" dirty="0"/>
                        <a:t>Total variable costs</a:t>
                      </a:r>
                      <a:r>
                        <a:rPr lang="en-US" baseline="0" dirty="0"/>
                        <a:t> increase and decrease in proportion to changes in the activity level.</a:t>
                      </a:r>
                      <a:endParaRPr lang="en-US" dirty="0"/>
                    </a:p>
                  </a:txBody>
                  <a:tcPr/>
                </a:tc>
                <a:tc>
                  <a:txBody>
                    <a:bodyPr/>
                    <a:lstStyle/>
                    <a:p>
                      <a:r>
                        <a:rPr lang="en-US" dirty="0"/>
                        <a:t>Variable</a:t>
                      </a:r>
                      <a:r>
                        <a:rPr lang="en-US" baseline="0" dirty="0"/>
                        <a:t> cost per unit remains constant.</a:t>
                      </a:r>
                      <a:endParaRPr lang="en-US" dirty="0"/>
                    </a:p>
                  </a:txBody>
                  <a:tcPr/>
                </a:tc>
                <a:extLst>
                  <a:ext uri="{0D108BD9-81ED-4DB2-BD59-A6C34878D82A}">
                    <a16:rowId xmlns:a16="http://schemas.microsoft.com/office/drawing/2014/main" val="4125216592"/>
                  </a:ext>
                </a:extLst>
              </a:tr>
              <a:tr h="370840">
                <a:tc>
                  <a:txBody>
                    <a:bodyPr/>
                    <a:lstStyle/>
                    <a:p>
                      <a:r>
                        <a:rPr lang="en-US" dirty="0"/>
                        <a:t>Fixed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Total fixed cost</a:t>
                      </a:r>
                      <a:r>
                        <a:rPr lang="en-US" baseline="0" dirty="0"/>
                        <a:t> is not affected by changes in the activity level within the relevant range.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Fixed cost</a:t>
                      </a:r>
                      <a:r>
                        <a:rPr lang="en-US" baseline="0" dirty="0"/>
                        <a:t> per unit decreases as the activity level rises and increases as the activity level falls.</a:t>
                      </a:r>
                      <a:endParaRPr lang="en-US" dirty="0"/>
                    </a:p>
                  </a:txBody>
                  <a:tcPr/>
                </a:tc>
                <a:extLst>
                  <a:ext uri="{0D108BD9-81ED-4DB2-BD59-A6C34878D82A}">
                    <a16:rowId xmlns:a16="http://schemas.microsoft.com/office/drawing/2014/main" val="3955389463"/>
                  </a:ext>
                </a:extLst>
              </a:tr>
            </a:tbl>
          </a:graphicData>
        </a:graphic>
      </p:graphicFrame>
    </p:spTree>
    <p:extLst>
      <p:ext uri="{BB962C8B-B14F-4D97-AF65-F5344CB8AC3E}">
        <p14:creationId xmlns:p14="http://schemas.microsoft.com/office/powerpoint/2010/main" val="2853727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Quick Check 2</a:t>
            </a:r>
            <a:endParaRPr lang="en-IN" sz="1000" dirty="0"/>
          </a:p>
        </p:txBody>
      </p:sp>
      <p:sp>
        <p:nvSpPr>
          <p:cNvPr id="3" name="Content Placeholder 2"/>
          <p:cNvSpPr>
            <a:spLocks noGrp="1"/>
          </p:cNvSpPr>
          <p:nvPr>
            <p:ph idx="1"/>
          </p:nvPr>
        </p:nvSpPr>
        <p:spPr/>
        <p:txBody>
          <a:bodyPr/>
          <a:lstStyle/>
          <a:p>
            <a:pPr marL="0" indent="0">
              <a:buFont typeface="Times" charset="0"/>
              <a:buNone/>
            </a:pPr>
            <a:r>
              <a:rPr lang="en-US" sz="2800" dirty="0">
                <a:solidFill>
                  <a:schemeClr val="tx1"/>
                </a:solidFill>
                <a:latin typeface="+mn-lt"/>
                <a:ea typeface="MS PGothic" charset="0"/>
                <a:cs typeface="MS PGothic" charset="0"/>
              </a:rPr>
              <a:t>Which of the following costs would be variable with respect to the number of ice cream cones sold at a Baskin &amp; Robbins? (There may be more than one correct answer.)</a:t>
            </a:r>
          </a:p>
          <a:p>
            <a:pPr lvl="1">
              <a:buFont typeface="Wingdings" charset="0"/>
              <a:buNone/>
            </a:pPr>
            <a:r>
              <a:rPr lang="en-US" sz="2800" dirty="0">
                <a:solidFill>
                  <a:schemeClr val="tx1"/>
                </a:solidFill>
                <a:latin typeface="+mn-lt"/>
                <a:ea typeface="MS PGothic" charset="0"/>
                <a:cs typeface="MS PGothic" charset="0"/>
              </a:rPr>
              <a:t>A. The cost of lighting the store.</a:t>
            </a:r>
          </a:p>
          <a:p>
            <a:pPr lvl="1">
              <a:buFont typeface="Wingdings" charset="0"/>
              <a:buNone/>
            </a:pPr>
            <a:r>
              <a:rPr lang="en-US" sz="2800" dirty="0">
                <a:solidFill>
                  <a:schemeClr val="tx1"/>
                </a:solidFill>
                <a:latin typeface="+mn-lt"/>
                <a:ea typeface="MS PGothic" charset="0"/>
                <a:cs typeface="MS PGothic" charset="0"/>
              </a:rPr>
              <a:t>B. The wages of the store manager.</a:t>
            </a:r>
          </a:p>
          <a:p>
            <a:pPr lvl="1">
              <a:buFont typeface="Wingdings" charset="0"/>
              <a:buNone/>
            </a:pPr>
            <a:r>
              <a:rPr lang="en-US" sz="2800" dirty="0">
                <a:solidFill>
                  <a:schemeClr val="tx1"/>
                </a:solidFill>
                <a:latin typeface="+mn-lt"/>
                <a:ea typeface="MS PGothic" charset="0"/>
                <a:cs typeface="MS PGothic" charset="0"/>
              </a:rPr>
              <a:t>C. The cost of ice cream.</a:t>
            </a:r>
          </a:p>
          <a:p>
            <a:pPr lvl="1">
              <a:buFont typeface="Wingdings" charset="0"/>
              <a:buNone/>
            </a:pPr>
            <a:r>
              <a:rPr lang="en-US" sz="2800" dirty="0">
                <a:solidFill>
                  <a:schemeClr val="tx1"/>
                </a:solidFill>
                <a:latin typeface="+mn-lt"/>
                <a:ea typeface="MS PGothic" charset="0"/>
                <a:cs typeface="MS PGothic" charset="0"/>
              </a:rPr>
              <a:t>D. The cost of napkins for customers.</a:t>
            </a:r>
          </a:p>
        </p:txBody>
      </p:sp>
    </p:spTree>
    <p:extLst>
      <p:ext uri="{BB962C8B-B14F-4D97-AF65-F5344CB8AC3E}">
        <p14:creationId xmlns:p14="http://schemas.microsoft.com/office/powerpoint/2010/main" val="3029748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1"/>
          <p:cNvSpPr txBox="1">
            <a:spLocks noChangeArrowheads="1"/>
          </p:cNvSpPr>
          <p:nvPr/>
        </p:nvSpPr>
        <p:spPr bwMode="auto">
          <a:xfrm>
            <a:off x="457200" y="457200"/>
            <a:ext cx="8229600" cy="1066800"/>
          </a:xfrm>
          <a:prstGeom prst="rect">
            <a:avLst/>
          </a:prstGeom>
          <a:noFill/>
          <a:ln w="9525" cap="flat">
            <a:noFill/>
            <a:round/>
            <a:headEnd/>
            <a:tailEnd/>
          </a:ln>
          <a:effectLst/>
        </p:spPr>
        <p:txBody>
          <a:bodyPr lIns="90360" tIns="44280" rIns="90360" bIns="44280" anchor="ct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a:solidFill>
                  <a:srgbClr val="4E3B30"/>
                </a:solidFill>
                <a:latin typeface="Trebuchet MS" pitchFamily="32" charset="0"/>
                <a:cs typeface="Arial" charset="0"/>
              </a:rPr>
              <a:t>The Traditional and Contribution Formats</a:t>
            </a:r>
          </a:p>
        </p:txBody>
      </p:sp>
      <p:graphicFrame>
        <p:nvGraphicFramePr>
          <p:cNvPr id="41986" name="Object 2"/>
          <p:cNvGraphicFramePr>
            <a:graphicFrameLocks noChangeAspect="1"/>
          </p:cNvGraphicFramePr>
          <p:nvPr/>
        </p:nvGraphicFramePr>
        <p:xfrm>
          <a:off x="228600" y="1819275"/>
          <a:ext cx="8586788" cy="3003550"/>
        </p:xfrm>
        <a:graphic>
          <a:graphicData uri="http://schemas.openxmlformats.org/presentationml/2006/ole">
            <mc:AlternateContent xmlns:mc="http://schemas.openxmlformats.org/markup-compatibility/2006">
              <mc:Choice xmlns:v="urn:schemas-microsoft-com:vml" Requires="v">
                <p:oleObj r:id="rId3" imgW="0" imgH="0" progId="">
                  <p:embed/>
                </p:oleObj>
              </mc:Choice>
              <mc:Fallback>
                <p:oleObj r:id="rId3" imgW="0" imgH="0" progId="">
                  <p:embed/>
                  <p:pic>
                    <p:nvPicPr>
                      <p:cNvPr id="419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819275"/>
                        <a:ext cx="8586788" cy="30035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pSp>
        <p:nvGrpSpPr>
          <p:cNvPr id="41987" name="Group 3"/>
          <p:cNvGrpSpPr>
            <a:grpSpLocks/>
          </p:cNvGrpSpPr>
          <p:nvPr/>
        </p:nvGrpSpPr>
        <p:grpSpPr bwMode="auto">
          <a:xfrm>
            <a:off x="1273175" y="5029200"/>
            <a:ext cx="2635250" cy="1285875"/>
            <a:chOff x="802" y="3168"/>
            <a:chExt cx="1660" cy="810"/>
          </a:xfrm>
        </p:grpSpPr>
        <p:sp>
          <p:nvSpPr>
            <p:cNvPr id="41988" name="Line 4"/>
            <p:cNvSpPr>
              <a:spLocks noChangeShapeType="1"/>
            </p:cNvSpPr>
            <p:nvPr/>
          </p:nvSpPr>
          <p:spPr bwMode="auto">
            <a:xfrm flipV="1">
              <a:off x="1632" y="3167"/>
              <a:ext cx="0" cy="289"/>
            </a:xfrm>
            <a:prstGeom prst="line">
              <a:avLst/>
            </a:prstGeom>
            <a:noFill/>
            <a:ln w="38160" cap="sq">
              <a:solidFill>
                <a:srgbClr val="FF0000"/>
              </a:solidFill>
              <a:miter lim="800000"/>
              <a:headEnd/>
              <a:tailEnd type="triangle" w="med" len="med"/>
            </a:ln>
            <a:effectLst>
              <a:outerShdw dist="38184" dir="2700000" algn="ctr" rotWithShape="0">
                <a:srgbClr val="000000">
                  <a:alpha val="40033"/>
                </a:srgbClr>
              </a:outerShdw>
            </a:effectLst>
          </p:spPr>
          <p:txBody>
            <a:bodyPr/>
            <a:lstStyle/>
            <a:p>
              <a:endParaRPr lang="en-US"/>
            </a:p>
          </p:txBody>
        </p:sp>
        <p:sp>
          <p:nvSpPr>
            <p:cNvPr id="41989" name="Text Box 5"/>
            <p:cNvSpPr txBox="1">
              <a:spLocks noChangeArrowheads="1"/>
            </p:cNvSpPr>
            <p:nvPr/>
          </p:nvSpPr>
          <p:spPr bwMode="auto">
            <a:xfrm>
              <a:off x="802" y="3459"/>
              <a:ext cx="1660" cy="519"/>
            </a:xfrm>
            <a:prstGeom prst="rect">
              <a:avLst/>
            </a:prstGeom>
            <a:solidFill>
              <a:srgbClr val="A5644E"/>
            </a:solidFill>
            <a:ln w="38160" cap="sq">
              <a:solidFill>
                <a:srgbClr val="000000"/>
              </a:solidFill>
              <a:miter lim="800000"/>
              <a:headEnd/>
              <a:tailEnd/>
            </a:ln>
            <a:effectLst/>
          </p:spPr>
          <p:txBody>
            <a:bodyPr wrap="none" lIns="90000" tIns="46800" rIns="90000" bIns="46800" anchor="ctr">
              <a:spAutoFit/>
            </a:bodyPr>
            <a:lstStyle/>
            <a:p>
              <a:pPr algn="ctr" eaLnBrk="1" hangingPunct="1">
                <a:spcBef>
                  <a:spcPts val="1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a:solidFill>
                    <a:srgbClr val="FFFFFF"/>
                  </a:solidFill>
                  <a:effectLst>
                    <a:outerShdw blurRad="38100" dist="38100" dir="2700000" algn="tl">
                      <a:srgbClr val="000000"/>
                    </a:outerShdw>
                  </a:effectLst>
                  <a:ea typeface="WenQuanYi Micro Hei" charset="0"/>
                  <a:cs typeface="WenQuanYi Micro Hei" charset="0"/>
                </a:rPr>
                <a:t>Used primarily for</a:t>
              </a:r>
              <a:br>
                <a:rPr lang="en-US" sz="2400">
                  <a:solidFill>
                    <a:srgbClr val="FFFFFF"/>
                  </a:solidFill>
                  <a:effectLst>
                    <a:outerShdw blurRad="38100" dist="38100" dir="2700000" algn="tl">
                      <a:srgbClr val="000000"/>
                    </a:outerShdw>
                  </a:effectLst>
                  <a:ea typeface="WenQuanYi Micro Hei" charset="0"/>
                  <a:cs typeface="WenQuanYi Micro Hei" charset="0"/>
                </a:rPr>
              </a:br>
              <a:r>
                <a:rPr lang="en-US" sz="2400">
                  <a:solidFill>
                    <a:srgbClr val="FFFFFF"/>
                  </a:solidFill>
                  <a:effectLst>
                    <a:outerShdw blurRad="38100" dist="38100" dir="2700000" algn="tl">
                      <a:srgbClr val="000000"/>
                    </a:outerShdw>
                  </a:effectLst>
                  <a:ea typeface="WenQuanYi Micro Hei" charset="0"/>
                  <a:cs typeface="WenQuanYi Micro Hei" charset="0"/>
                </a:rPr>
                <a:t>external reporting.</a:t>
              </a:r>
            </a:p>
          </p:txBody>
        </p:sp>
      </p:grpSp>
      <p:pic>
        <p:nvPicPr>
          <p:cNvPr id="41990" name="Picture 6"/>
          <p:cNvPicPr>
            <a:picLocks noChangeAspect="1" noChangeArrowheads="1"/>
          </p:cNvPicPr>
          <p:nvPr/>
        </p:nvPicPr>
        <p:blipFill>
          <a:blip r:embed="rId5"/>
          <a:srcRect/>
          <a:stretch>
            <a:fillRect/>
          </a:stretch>
        </p:blipFill>
        <p:spPr bwMode="auto">
          <a:xfrm>
            <a:off x="5694363" y="4833938"/>
            <a:ext cx="2767012" cy="1524000"/>
          </a:xfrm>
          <a:prstGeom prst="rect">
            <a:avLst/>
          </a:prstGeom>
          <a:noFill/>
          <a:ln w="9525" cap="flat">
            <a:noFill/>
            <a:round/>
            <a:headEnd/>
            <a:tailEnd/>
          </a:ln>
          <a:effectLst/>
        </p:spPr>
      </p:pic>
    </p:spTree>
    <p:extLst>
      <p:ext uri="{BB962C8B-B14F-4D97-AF65-F5344CB8AC3E}">
        <p14:creationId xmlns:p14="http://schemas.microsoft.com/office/powerpoint/2010/main" val="820827175"/>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4" fill="hold" nodeType="afterEffect">
                                  <p:stCondLst>
                                    <p:cond delay="0"/>
                                  </p:stCondLst>
                                  <p:childTnLst>
                                    <p:set>
                                      <p:cBhvr additive="repl">
                                        <p:cTn id="6" dur="1" fill="hold">
                                          <p:stCondLst>
                                            <p:cond delay="0"/>
                                          </p:stCondLst>
                                        </p:cTn>
                                        <p:tgtEl>
                                          <p:spTgt spid="41987"/>
                                        </p:tgtEl>
                                        <p:attrNameLst>
                                          <p:attrName>style.visibility</p:attrName>
                                        </p:attrNameLst>
                                      </p:cBhvr>
                                      <p:to>
                                        <p:strVal val="visible"/>
                                      </p:to>
                                    </p:set>
                                    <p:animEffect transition="in" filter="wipe(down)">
                                      <p:cBhvr additive="repl">
                                        <p:cTn id="7" dur="500"/>
                                        <p:tgtEl>
                                          <p:spTgt spid="41987"/>
                                        </p:tgtEl>
                                      </p:cBhvr>
                                    </p:animEffect>
                                  </p:childTnLst>
                                </p:cTn>
                              </p:par>
                            </p:childTnLst>
                          </p:cTn>
                        </p:par>
                        <p:par>
                          <p:cTn id="8" fill="hold" nodeType="afterEffect">
                            <p:stCondLst>
                              <p:cond delay="500"/>
                            </p:stCondLst>
                            <p:childTnLst>
                              <p:par>
                                <p:cTn id="9" presetID="22" presetClass="entr" presetSubtype="4" fill="hold" nodeType="afterEffect">
                                  <p:stCondLst>
                                    <p:cond delay="0"/>
                                  </p:stCondLst>
                                  <p:childTnLst>
                                    <p:set>
                                      <p:cBhvr additive="repl">
                                        <p:cTn id="10" dur="1" fill="hold">
                                          <p:stCondLst>
                                            <p:cond delay="0"/>
                                          </p:stCondLst>
                                        </p:cTn>
                                        <p:tgtEl>
                                          <p:spTgt spid="41990"/>
                                        </p:tgtEl>
                                        <p:attrNameLst>
                                          <p:attrName>style.visibility</p:attrName>
                                        </p:attrNameLst>
                                      </p:cBhvr>
                                      <p:to>
                                        <p:strVal val="visible"/>
                                      </p:to>
                                    </p:set>
                                    <p:animEffect transition="in" filter="wipe(down)">
                                      <p:cBhvr additive="repl">
                                        <p:cTn id="11" dur="500"/>
                                        <p:tgtEl>
                                          <p:spTgt spid="4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Theme1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d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1414236</TotalTime>
  <Words>1749</Words>
  <Application>Microsoft Office PowerPoint</Application>
  <PresentationFormat>On-screen Show (4:3)</PresentationFormat>
  <Paragraphs>132</Paragraphs>
  <Slides>17</Slides>
  <Notes>14</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0</vt:i4>
      </vt:variant>
      <vt:variant>
        <vt:lpstr>Slide Titles</vt:lpstr>
      </vt:variant>
      <vt:variant>
        <vt:i4>17</vt:i4>
      </vt:variant>
    </vt:vector>
  </HeadingPairs>
  <TitlesOfParts>
    <vt:vector size="30" baseType="lpstr">
      <vt:lpstr>MS PGothic</vt:lpstr>
      <vt:lpstr>MS PGothic</vt:lpstr>
      <vt:lpstr>Arial</vt:lpstr>
      <vt:lpstr>Arial Rounded MT Bold</vt:lpstr>
      <vt:lpstr>Calibri</vt:lpstr>
      <vt:lpstr>Courier New</vt:lpstr>
      <vt:lpstr>Times</vt:lpstr>
      <vt:lpstr>Times New Roman</vt:lpstr>
      <vt:lpstr>Trebuchet MS</vt:lpstr>
      <vt:lpstr>Verdana</vt:lpstr>
      <vt:lpstr>WenQuanYi Micro Hei</vt:lpstr>
      <vt:lpstr>Wingdings</vt:lpstr>
      <vt:lpstr>1_Theme1r</vt:lpstr>
      <vt:lpstr>LECTURE ONE</vt:lpstr>
      <vt:lpstr>Purpose of Managerial Accounting</vt:lpstr>
      <vt:lpstr>PowerPoint Presentation</vt:lpstr>
      <vt:lpstr>Cost Classifications for Financial Reporting Product Vs Period Costs</vt:lpstr>
      <vt:lpstr>PowerPoint Presentation</vt:lpstr>
      <vt:lpstr>Direct Labor</vt:lpstr>
      <vt:lpstr>Manufacturing Overhead</vt:lpstr>
      <vt:lpstr>Period Costs (Non manufacturing Costs)</vt:lpstr>
      <vt:lpstr>PowerPoint Presentation</vt:lpstr>
      <vt:lpstr>PowerPoint Presentation</vt:lpstr>
      <vt:lpstr>Reporting Product and Period Costs in Financial Statements</vt:lpstr>
      <vt:lpstr>Cost Classifications For Predicting Cost Behavior </vt:lpstr>
      <vt:lpstr>PowerPoint Presentation</vt:lpstr>
      <vt:lpstr>Relevant Range: Graphic</vt:lpstr>
      <vt:lpstr>Comparison of Cost Classifications for Predicting Cost Behavior</vt:lpstr>
      <vt:lpstr>Quick Check 2</vt:lpstr>
      <vt:lpstr>PowerPoint Presentation</vt:lpstr>
    </vt:vector>
  </TitlesOfParts>
  <Company>Jon A. Booker, Ph.D., CPA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Cost-Volume-Profit Analysis</dc:title>
  <dc:creator>Whitecotton</dc:creator>
  <cp:lastModifiedBy>Maha Ramadan</cp:lastModifiedBy>
  <cp:revision>1344</cp:revision>
  <dcterms:created xsi:type="dcterms:W3CDTF">2004-06-28T16:23:55Z</dcterms:created>
  <dcterms:modified xsi:type="dcterms:W3CDTF">2026-04-04T20:41:22Z</dcterms:modified>
</cp:coreProperties>
</file>
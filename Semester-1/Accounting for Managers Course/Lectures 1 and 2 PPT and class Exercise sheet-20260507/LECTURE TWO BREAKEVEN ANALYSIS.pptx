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1"/>
  </p:sldMasterIdLst>
  <p:notesMasterIdLst>
    <p:notesMasterId r:id="rId33"/>
  </p:notesMasterIdLst>
  <p:handoutMasterIdLst>
    <p:handoutMasterId r:id="rId34"/>
  </p:handoutMasterIdLst>
  <p:sldIdLst>
    <p:sldId id="495" r:id="rId2"/>
    <p:sldId id="436" r:id="rId3"/>
    <p:sldId id="449" r:id="rId4"/>
    <p:sldId id="452" r:id="rId5"/>
    <p:sldId id="380" r:id="rId6"/>
    <p:sldId id="381" r:id="rId7"/>
    <p:sldId id="382" r:id="rId8"/>
    <p:sldId id="383" r:id="rId9"/>
    <p:sldId id="384" r:id="rId10"/>
    <p:sldId id="455" r:id="rId11"/>
    <p:sldId id="655" r:id="rId12"/>
    <p:sldId id="656" r:id="rId13"/>
    <p:sldId id="657" r:id="rId14"/>
    <p:sldId id="398" r:id="rId15"/>
    <p:sldId id="658" r:id="rId16"/>
    <p:sldId id="400" r:id="rId17"/>
    <p:sldId id="401" r:id="rId18"/>
    <p:sldId id="464" r:id="rId19"/>
    <p:sldId id="465" r:id="rId20"/>
    <p:sldId id="483" r:id="rId21"/>
    <p:sldId id="489" r:id="rId22"/>
    <p:sldId id="490" r:id="rId23"/>
    <p:sldId id="491" r:id="rId24"/>
    <p:sldId id="496" r:id="rId25"/>
    <p:sldId id="497" r:id="rId26"/>
    <p:sldId id="476" r:id="rId27"/>
    <p:sldId id="479" r:id="rId28"/>
    <p:sldId id="480" r:id="rId29"/>
    <p:sldId id="482" r:id="rId30"/>
    <p:sldId id="481" r:id="rId31"/>
    <p:sldId id="478"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521415D9-36F7-43E2-AB2F-B90AF26B5E84}">
      <p14:sectionLst xmlns:p14="http://schemas.microsoft.com/office/powerpoint/2010/main">
        <p14:section name="Main Content" id="{7995FBA8-3521-42B5-8BB0-64551668C257}">
          <p14:sldIdLst>
            <p14:sldId id="495"/>
            <p14:sldId id="436"/>
            <p14:sldId id="449"/>
            <p14:sldId id="452"/>
            <p14:sldId id="380"/>
            <p14:sldId id="381"/>
            <p14:sldId id="382"/>
            <p14:sldId id="383"/>
            <p14:sldId id="384"/>
            <p14:sldId id="455"/>
            <p14:sldId id="655"/>
            <p14:sldId id="656"/>
            <p14:sldId id="657"/>
            <p14:sldId id="398"/>
            <p14:sldId id="658"/>
            <p14:sldId id="400"/>
            <p14:sldId id="401"/>
            <p14:sldId id="464"/>
            <p14:sldId id="465"/>
            <p14:sldId id="483"/>
            <p14:sldId id="489"/>
            <p14:sldId id="490"/>
            <p14:sldId id="491"/>
            <p14:sldId id="496"/>
            <p14:sldId id="497"/>
            <p14:sldId id="476"/>
            <p14:sldId id="479"/>
            <p14:sldId id="480"/>
            <p14:sldId id="482"/>
            <p14:sldId id="481"/>
            <p14:sldId id="478"/>
          </p14:sldIdLst>
        </p14:section>
      </p14:sectionLst>
    </p:ext>
    <p:ext uri="{EFAFB233-063F-42B5-8137-9DF3F51BA10A}">
      <p15:sldGuideLst xmlns:p15="http://schemas.microsoft.com/office/powerpoint/2012/main">
        <p15:guide id="1" orient="horz" pos="2736">
          <p15:clr>
            <a:srgbClr val="A4A3A4"/>
          </p15:clr>
        </p15:guide>
        <p15:guide id="2" pos="2880">
          <p15:clr>
            <a:srgbClr val="A4A3A4"/>
          </p15:clr>
        </p15:guide>
        <p15:guide id="3" pos="273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STeam" initials="C" lastIdx="13" clrIdx="0"/>
  <p:cmAuthor id="1" name="Ann K Brooks" initials="AKB" lastIdx="1" clrIdx="1"/>
  <p:cmAuthor id="2" name="Owner" initials="O" lastIdx="39" clrIdx="2"/>
  <p:cmAuthor id="3" name="Maha Ramadan" initials="MR" lastIdx="1" clrIdx="3">
    <p:extLst>
      <p:ext uri="{19B8F6BF-5375-455C-9EA6-DF929625EA0E}">
        <p15:presenceInfo xmlns:p15="http://schemas.microsoft.com/office/powerpoint/2012/main" userId="ba3cb1f6a7a9a46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C00000"/>
    <a:srgbClr val="FF33CC"/>
    <a:srgbClr val="9900CC"/>
    <a:srgbClr val="000000"/>
    <a:srgbClr val="E5E5FF"/>
    <a:srgbClr val="E1E1FF"/>
    <a:srgbClr val="E7A3FF"/>
    <a:srgbClr val="FFFFCC"/>
    <a:srgbClr val="FFE9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3AAFA8-8DFF-476C-A057-B7CF6F30F582}" v="1" dt="2026-04-04T20:43:25.7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960" autoAdjust="0"/>
    <p:restoredTop sz="71380" autoAdjust="0"/>
  </p:normalViewPr>
  <p:slideViewPr>
    <p:cSldViewPr>
      <p:cViewPr varScale="1">
        <p:scale>
          <a:sx n="48" d="100"/>
          <a:sy n="48" d="100"/>
        </p:scale>
        <p:origin x="798" y="33"/>
      </p:cViewPr>
      <p:guideLst>
        <p:guide orient="horz" pos="2736"/>
        <p:guide pos="2880"/>
        <p:guide pos="2736"/>
      </p:guideLst>
    </p:cSldViewPr>
  </p:slideViewPr>
  <p:outlineViewPr>
    <p:cViewPr>
      <p:scale>
        <a:sx n="33" d="100"/>
        <a:sy n="33" d="100"/>
      </p:scale>
      <p:origin x="0" y="-33090"/>
    </p:cViewPr>
  </p:outlineViewPr>
  <p:notesTextViewPr>
    <p:cViewPr>
      <p:scale>
        <a:sx n="100" d="100"/>
        <a:sy n="100" d="100"/>
      </p:scale>
      <p:origin x="0" y="0"/>
    </p:cViewPr>
  </p:notesTextViewPr>
  <p:sorterViewPr>
    <p:cViewPr>
      <p:scale>
        <a:sx n="50" d="100"/>
        <a:sy n="50" d="100"/>
      </p:scale>
      <p:origin x="0" y="0"/>
    </p:cViewPr>
  </p:sorterViewPr>
  <p:notesViewPr>
    <p:cSldViewPr>
      <p:cViewPr>
        <p:scale>
          <a:sx n="50" d="100"/>
          <a:sy n="50" d="100"/>
        </p:scale>
        <p:origin x="3672" y="64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a Ramadan" userId="c0ecf777-ba1c-427e-9e8a-21cf1c8cb74e" providerId="ADAL" clId="{A62C7648-6038-43EF-9526-7AC95784EFEB}"/>
    <pc:docChg chg="addSld modSld">
      <pc:chgData name="Maha Ramadan" userId="c0ecf777-ba1c-427e-9e8a-21cf1c8cb74e" providerId="ADAL" clId="{A62C7648-6038-43EF-9526-7AC95784EFEB}" dt="2026-04-04T20:43:25.740" v="145"/>
      <pc:docMkLst>
        <pc:docMk/>
      </pc:docMkLst>
      <pc:sldChg chg="add">
        <pc:chgData name="Maha Ramadan" userId="c0ecf777-ba1c-427e-9e8a-21cf1c8cb74e" providerId="ADAL" clId="{A62C7648-6038-43EF-9526-7AC95784EFEB}" dt="2026-04-04T20:43:25.740" v="145"/>
        <pc:sldMkLst>
          <pc:docMk/>
          <pc:sldMk cId="0" sldId="496"/>
        </pc:sldMkLst>
      </pc:sldChg>
      <pc:sldChg chg="add">
        <pc:chgData name="Maha Ramadan" userId="c0ecf777-ba1c-427e-9e8a-21cf1c8cb74e" providerId="ADAL" clId="{A62C7648-6038-43EF-9526-7AC95784EFEB}" dt="2026-04-04T20:43:25.740" v="145"/>
        <pc:sldMkLst>
          <pc:docMk/>
          <pc:sldMk cId="0" sldId="49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3782" name="Text Box 6"/>
          <p:cNvSpPr txBox="1">
            <a:spLocks noChangeArrowheads="1"/>
          </p:cNvSpPr>
          <p:nvPr/>
        </p:nvSpPr>
        <p:spPr bwMode="auto">
          <a:xfrm>
            <a:off x="5562600" y="0"/>
            <a:ext cx="1295400" cy="274638"/>
          </a:xfrm>
          <a:prstGeom prst="rect">
            <a:avLst/>
          </a:prstGeom>
          <a:noFill/>
          <a:ln w="9525">
            <a:noFill/>
            <a:miter lim="800000"/>
            <a:headEnd/>
            <a:tailEnd/>
          </a:ln>
          <a:effectLst/>
        </p:spPr>
        <p:txBody>
          <a:bodyPr>
            <a:spAutoFit/>
          </a:bodyPr>
          <a:lstStyle/>
          <a:p>
            <a:pPr algn="r">
              <a:spcBef>
                <a:spcPct val="50000"/>
              </a:spcBef>
              <a:defRPr/>
            </a:pPr>
            <a:r>
              <a:rPr lang="en-US" sz="1200" dirty="0">
                <a:latin typeface="Arial" charset="0"/>
              </a:rPr>
              <a:t>1-</a:t>
            </a:r>
            <a:fld id="{429F4DE8-97BF-4536-A244-5A17070E2E89}" type="slidenum">
              <a:rPr lang="en-US" sz="1200">
                <a:latin typeface="Arial" charset="0"/>
              </a:rPr>
              <a:pPr algn="r">
                <a:spcBef>
                  <a:spcPct val="50000"/>
                </a:spcBef>
                <a:defRPr/>
              </a:pPr>
              <a:t>‹#›</a:t>
            </a:fld>
            <a:endParaRPr lang="en-US" sz="1200" dirty="0">
              <a:latin typeface="Arial" charset="0"/>
            </a:endParaRPr>
          </a:p>
        </p:txBody>
      </p:sp>
    </p:spTree>
    <p:extLst>
      <p:ext uri="{BB962C8B-B14F-4D97-AF65-F5344CB8AC3E}">
        <p14:creationId xmlns:p14="http://schemas.microsoft.com/office/powerpoint/2010/main" val="11839409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Box 7"/>
          <p:cNvSpPr txBox="1"/>
          <p:nvPr/>
        </p:nvSpPr>
        <p:spPr>
          <a:xfrm>
            <a:off x="4495800" y="0"/>
            <a:ext cx="2362200" cy="276225"/>
          </a:xfrm>
          <a:prstGeom prst="rect">
            <a:avLst/>
          </a:prstGeom>
          <a:noFill/>
        </p:spPr>
        <p:txBody>
          <a:bodyPr>
            <a:spAutoFit/>
          </a:bodyPr>
          <a:lstStyle/>
          <a:p>
            <a:pPr algn="r">
              <a:defRPr/>
            </a:pPr>
            <a:r>
              <a:rPr lang="en-US" sz="1200" dirty="0">
                <a:latin typeface="Arial" charset="0"/>
              </a:rPr>
              <a:t>1-</a:t>
            </a:r>
            <a:fld id="{DE4925ED-ED51-4A01-B305-0FEFB3001D7C}" type="slidenum">
              <a:rPr lang="en-US" sz="1200">
                <a:latin typeface="Arial" charset="0"/>
              </a:rPr>
              <a:pPr algn="r">
                <a:defRPr/>
              </a:pPr>
              <a:t>‹#›</a:t>
            </a:fld>
            <a:endParaRPr lang="en-US" sz="1200" dirty="0">
              <a:latin typeface="Arial" charset="0"/>
            </a:endParaRPr>
          </a:p>
        </p:txBody>
      </p:sp>
    </p:spTree>
    <p:extLst>
      <p:ext uri="{BB962C8B-B14F-4D97-AF65-F5344CB8AC3E}">
        <p14:creationId xmlns:p14="http://schemas.microsoft.com/office/powerpoint/2010/main" val="352616123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sz="1200" dirty="0">
                <a:latin typeface="Arial" panose="020B0604020202020204" pitchFamily="34" charset="0"/>
                <a:ea typeface="ＭＳ Ｐゴシック"/>
                <a:cs typeface="Arial" panose="020B0604020202020204" pitchFamily="34" charset="0"/>
              </a:rPr>
              <a:t>Chapter 6: Cost-Volume-Profit Analysis</a:t>
            </a:r>
          </a:p>
          <a:p>
            <a:pPr eaLnBrk="1" hangingPunct="1">
              <a:spcBef>
                <a:spcPct val="0"/>
              </a:spcBef>
            </a:pPr>
            <a:endParaRPr lang="en-US" sz="1200" dirty="0">
              <a:latin typeface="Arial" panose="020B0604020202020204" pitchFamily="34" charset="0"/>
              <a:ea typeface="ＭＳ Ｐゴシック"/>
              <a:cs typeface="Arial" panose="020B0604020202020204" pitchFamily="34" charset="0"/>
            </a:endParaRPr>
          </a:p>
          <a:p>
            <a:pPr eaLnBrk="1" hangingPunct="1">
              <a:spcBef>
                <a:spcPct val="0"/>
              </a:spcBef>
            </a:pPr>
            <a:r>
              <a:rPr lang="en-US" sz="1200" dirty="0">
                <a:latin typeface="Arial" panose="020B0604020202020204" pitchFamily="34" charset="0"/>
                <a:cs typeface="Arial" panose="020B0604020202020204" pitchFamily="34" charset="0"/>
              </a:rPr>
              <a:t>Cost-volume-profit (CVP) analysis is a decision-making tool that focuses on the relationship among the volume and mix of units sold, prices, variable costs, fixed costs, and profit. The CVP framework allows managers to evaluate how changing one or more of these key variables will impact profitability, while holding everything else constant.</a:t>
            </a:r>
            <a:endParaRPr lang="en-US" sz="1200" dirty="0">
              <a:latin typeface="Arial" panose="020B0604020202020204" pitchFamily="34" charset="0"/>
              <a:ea typeface="ＭＳ Ｐゴシック"/>
              <a:cs typeface="Arial" panose="020B0604020202020204" pitchFamily="34" charset="0"/>
            </a:endParaRPr>
          </a:p>
        </p:txBody>
      </p:sp>
    </p:spTree>
    <p:extLst>
      <p:ext uri="{BB962C8B-B14F-4D97-AF65-F5344CB8AC3E}">
        <p14:creationId xmlns:p14="http://schemas.microsoft.com/office/powerpoint/2010/main" val="2789260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r>
              <a:rPr lang="en-US" dirty="0">
                <a:ea typeface="ＭＳ Ｐゴシック"/>
                <a:cs typeface="ＭＳ Ｐゴシック"/>
              </a:rPr>
              <a:t>A contribution margin income statement categorizes costs based on whether they are variable or fixed.  Unlike financial statements meant for external users, which are prepared according to GAAP, a contribution margin income statement is used only for internal purposes.</a:t>
            </a:r>
          </a:p>
          <a:p>
            <a:pPr>
              <a:spcBef>
                <a:spcPct val="0"/>
              </a:spcBef>
            </a:pPr>
            <a:endParaRPr lang="en-US" dirty="0">
              <a:ea typeface="ＭＳ Ｐゴシック"/>
              <a:cs typeface="ＭＳ Ｐゴシック"/>
            </a:endParaRPr>
          </a:p>
          <a:p>
            <a:pPr>
              <a:spcBef>
                <a:spcPct val="0"/>
              </a:spcBef>
            </a:pPr>
            <a:r>
              <a:rPr lang="en-US" dirty="0"/>
              <a:t>The contribution margin represents the amount of sales revenue left to contribute toward fixed costs and profit after variable costs have been covered. In this example, the total contribution margin earned on 15,000 units sold is $22,500 ($37,500 sales</a:t>
            </a:r>
            <a:r>
              <a:rPr lang="en-US" baseline="0" dirty="0"/>
              <a:t> revenue</a:t>
            </a:r>
            <a:r>
              <a:rPr lang="en-US" dirty="0"/>
              <a:t> – $15,000</a:t>
            </a:r>
            <a:r>
              <a:rPr lang="en-US" baseline="0" dirty="0"/>
              <a:t> variable costs</a:t>
            </a:r>
            <a:r>
              <a:rPr lang="en-US" dirty="0"/>
              <a:t>). When the fixed costs of $12,000 are subtracted, the net operating income is $10,500. </a:t>
            </a:r>
            <a:endParaRPr lang="en-US" dirty="0">
              <a:ea typeface="ＭＳ Ｐゴシック"/>
              <a:cs typeface="ＭＳ Ｐゴシック"/>
            </a:endParaRPr>
          </a:p>
          <a:p>
            <a:endParaRPr lang="en-US" dirty="0"/>
          </a:p>
          <a:p>
            <a:endParaRPr lang="en-US" dirty="0"/>
          </a:p>
        </p:txBody>
      </p:sp>
    </p:spTree>
    <p:extLst>
      <p:ext uri="{BB962C8B-B14F-4D97-AF65-F5344CB8AC3E}">
        <p14:creationId xmlns:p14="http://schemas.microsoft.com/office/powerpoint/2010/main" val="2525590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Below the break-even point, we see losses, and above the break-even point, we see profits.   </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If Starbucks sells 20,000 cups of coffee, it will earn a target profit of $18,000. Total revenue will be $50,000 (20,000 cups times $2.50 per cup), total variable costs will be $20,000 (20,000 cups times $1.00 per cup), and fixed costs will be $12,000. So total revenue will be $50,000 and total costs will be $32,000 ($20,000 plus $12,000) resulting in a target profit of $18,000.</a:t>
            </a:r>
          </a:p>
          <a:p>
            <a:pPr eaLnBrk="1" hangingPunct="1">
              <a:spcBef>
                <a:spcPct val="0"/>
              </a:spcBef>
            </a:pPr>
            <a:endParaRPr lang="en-US" dirty="0"/>
          </a:p>
          <a:p>
            <a:pPr eaLnBrk="1" hangingPunct="1">
              <a:spcBef>
                <a:spcPct val="0"/>
              </a:spcBef>
            </a:pPr>
            <a:endParaRPr lang="en-US" dirty="0"/>
          </a:p>
        </p:txBody>
      </p:sp>
    </p:spTree>
    <p:extLst>
      <p:ext uri="{BB962C8B-B14F-4D97-AF65-F5344CB8AC3E}">
        <p14:creationId xmlns:p14="http://schemas.microsoft.com/office/powerpoint/2010/main" val="2636730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Sales  8000 x 2.5 =20000</a:t>
            </a:r>
          </a:p>
          <a:p>
            <a:pPr marL="171450" indent="-171450" eaLnBrk="1" hangingPunct="1">
              <a:spcBef>
                <a:spcPct val="0"/>
              </a:spcBef>
              <a:buFontTx/>
              <a:buChar char="-"/>
            </a:pPr>
            <a:r>
              <a:rPr lang="en-US" dirty="0">
                <a:latin typeface="Arial" panose="020B0604020202020204" pitchFamily="34" charset="0"/>
                <a:cs typeface="Arial" panose="020B0604020202020204" pitchFamily="34" charset="0"/>
              </a:rPr>
              <a:t>TVC  8000x1 =   8000</a:t>
            </a:r>
          </a:p>
          <a:p>
            <a:pPr marL="0" indent="0" eaLnBrk="1" hangingPunct="1">
              <a:spcBef>
                <a:spcPct val="0"/>
              </a:spcBef>
              <a:buFontTx/>
              <a:buNone/>
            </a:pPr>
            <a:r>
              <a:rPr lang="en-US" dirty="0">
                <a:latin typeface="Arial" panose="020B0604020202020204" pitchFamily="34" charset="0"/>
                <a:cs typeface="Arial" panose="020B0604020202020204" pitchFamily="34" charset="0"/>
              </a:rPr>
              <a:t>=TCM                   12000</a:t>
            </a:r>
          </a:p>
          <a:p>
            <a:pPr marL="171450" indent="-171450" eaLnBrk="1" hangingPunct="1">
              <a:spcBef>
                <a:spcPct val="0"/>
              </a:spcBef>
              <a:buFontTx/>
              <a:buChar char="-"/>
            </a:pPr>
            <a:r>
              <a:rPr lang="en-US" dirty="0">
                <a:latin typeface="Arial" panose="020B0604020202020204" pitchFamily="34" charset="0"/>
                <a:cs typeface="Arial" panose="020B0604020202020204" pitchFamily="34" charset="0"/>
              </a:rPr>
              <a:t>TFC                   (12000)</a:t>
            </a:r>
          </a:p>
          <a:p>
            <a:pPr marL="0" indent="0" eaLnBrk="1" hangingPunct="1">
              <a:spcBef>
                <a:spcPct val="0"/>
              </a:spcBef>
              <a:buFontTx/>
              <a:buNone/>
            </a:pPr>
            <a:r>
              <a:rPr lang="en-US" dirty="0">
                <a:latin typeface="Arial" panose="020B0604020202020204" pitchFamily="34" charset="0"/>
                <a:cs typeface="Arial" panose="020B0604020202020204" pitchFamily="34" charset="0"/>
              </a:rPr>
              <a:t>Income                     0</a:t>
            </a:r>
          </a:p>
          <a:p>
            <a:pPr marL="0" indent="0" eaLnBrk="1" hangingPunct="1">
              <a:spcBef>
                <a:spcPct val="0"/>
              </a:spcBef>
              <a:buFontTx/>
              <a:buNone/>
            </a:pPr>
            <a:endParaRPr lang="en-US" dirty="0">
              <a:latin typeface="Arial" panose="020B0604020202020204" pitchFamily="34" charset="0"/>
              <a:cs typeface="Arial" panose="020B0604020202020204" pitchFamily="34" charset="0"/>
            </a:endParaRPr>
          </a:p>
          <a:p>
            <a:pPr marL="0" indent="0" eaLnBrk="1" hangingPunct="1">
              <a:spcBef>
                <a:spcPct val="0"/>
              </a:spcBef>
              <a:buFontTx/>
              <a:buNone/>
            </a:pPr>
            <a:r>
              <a:rPr lang="en-US" dirty="0">
                <a:latin typeface="Arial" panose="020B0604020202020204" pitchFamily="34" charset="0"/>
                <a:cs typeface="Arial" panose="020B0604020202020204" pitchFamily="34" charset="0"/>
              </a:rPr>
              <a:t>At BEP  = sales 20,000 = (TVC 8000 +12000] </a:t>
            </a:r>
          </a:p>
          <a:p>
            <a:pPr marL="0" indent="0" eaLnBrk="1" hangingPunct="1">
              <a:spcBef>
                <a:spcPct val="0"/>
              </a:spcBef>
              <a:buFontTx/>
              <a:buNone/>
            </a:pPr>
            <a:r>
              <a:rPr lang="en-US" dirty="0">
                <a:latin typeface="Arial" panose="020B0604020202020204" pitchFamily="34" charset="0"/>
                <a:cs typeface="Arial" panose="020B0604020202020204" pitchFamily="34" charset="0"/>
              </a:rPr>
              <a:t>No profit  No loss</a:t>
            </a:r>
          </a:p>
          <a:p>
            <a:pPr marL="0" indent="0" eaLnBrk="1" hangingPunct="1">
              <a:spcBef>
                <a:spcPct val="0"/>
              </a:spcBef>
              <a:buFontTx/>
              <a:buNone/>
            </a:pPr>
            <a:r>
              <a:rPr lang="en-US" dirty="0">
                <a:latin typeface="Arial" panose="020B0604020202020204" pitchFamily="34" charset="0"/>
                <a:cs typeface="Arial" panose="020B0604020202020204" pitchFamily="34" charset="0"/>
              </a:rPr>
              <a:t>TCM = TFC</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profit equation defines profit as the difference between total sales revenue and total fixed and variable costs.</a:t>
            </a:r>
          </a:p>
          <a:p>
            <a:pPr eaLnBrk="1" hangingPunct="1">
              <a:spcBef>
                <a:spcPct val="0"/>
              </a:spcBef>
            </a:pPr>
            <a:endParaRPr lang="en-US" dirty="0">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dirty="0">
                <a:latin typeface="Arial" panose="020B0604020202020204" pitchFamily="34" charset="0"/>
                <a:cs typeface="Arial" panose="020B0604020202020204" pitchFamily="34" charset="0"/>
              </a:rPr>
              <a:t>Total sales revenue and variable costs are a function of the number of units sold (Q), while total fixed costs are independent of the number of units sold. In CVP analysis, we allow any single factor in the equation to vary, while holding everything else constant, to determine the ultimate effect on profit. We have restated the basic equation at the top of your screen to include the components of total sales revenue (unit price x quantity sold) and total variable costs (unit variable costs x quantity</a:t>
            </a:r>
            <a:r>
              <a:rPr lang="en-US" baseline="0" dirty="0">
                <a:latin typeface="Arial" panose="020B0604020202020204" pitchFamily="34" charset="0"/>
                <a:cs typeface="Arial" panose="020B0604020202020204" pitchFamily="34" charset="0"/>
              </a:rPr>
              <a:t> sold)</a:t>
            </a:r>
            <a:r>
              <a:rPr lang="en-US"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To find the break-even point, we simply set the profit equation equal to zero, and solve for the quantity of units (Q).</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200" dirty="0">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sz="1200" dirty="0">
                <a:latin typeface="Arial" panose="020B0604020202020204" pitchFamily="34" charset="0"/>
                <a:cs typeface="Arial" panose="020B0604020202020204" pitchFamily="34" charset="0"/>
              </a:rPr>
              <a:t>Using the information from our prior example, we know that the sales price is $2.50 per unit, the unit</a:t>
            </a:r>
            <a:r>
              <a:rPr lang="en-US" sz="1200" baseline="0" dirty="0">
                <a:latin typeface="Arial" panose="020B0604020202020204" pitchFamily="34" charset="0"/>
                <a:cs typeface="Arial" panose="020B0604020202020204" pitchFamily="34" charset="0"/>
              </a:rPr>
              <a:t> variable costs are $1 and the total fixed costs are $12,000.  When we use these numbers in the profit equation, we get that $1.50Q = $12,000.  We then solve for Q of 8,000 units.</a:t>
            </a:r>
            <a:endParaRPr lang="en-US" sz="1200"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544776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658DA97E-B015-C1AB-D02F-82D5431790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id="{5BACC892-A9DB-6DC7-55DD-32CD233631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BEP in units  = TFC                               </a:t>
            </a:r>
            <a:r>
              <a:rPr lang="en-US" altLang="en-US" u="sng" dirty="0"/>
              <a:t>12000 = 8000u      BE Dollar           8000x 2.5=20000</a:t>
            </a:r>
          </a:p>
          <a:p>
            <a:r>
              <a:rPr lang="en-US" altLang="en-US" dirty="0"/>
              <a:t>                         CM/unit                        1.5</a:t>
            </a:r>
          </a:p>
          <a:p>
            <a:r>
              <a:rPr lang="en-US" altLang="en-US" dirty="0"/>
              <a:t>                                                              </a:t>
            </a:r>
            <a:r>
              <a:rPr lang="en-US" altLang="en-US" u="sng" dirty="0"/>
              <a:t>12000  =20000</a:t>
            </a:r>
          </a:p>
          <a:p>
            <a:r>
              <a:rPr lang="en-US" altLang="en-US" dirty="0"/>
              <a:t>                                                               60%   </a:t>
            </a:r>
          </a:p>
          <a:p>
            <a:endParaRPr lang="en-US" altLang="en-US" dirty="0"/>
          </a:p>
          <a:p>
            <a:endParaRPr lang="en-US" altLang="en-US" dirty="0"/>
          </a:p>
          <a:p>
            <a:r>
              <a:rPr lang="en-US" altLang="en-US" dirty="0"/>
              <a:t>You can see that if we elect to use the formula method, we calculate the same sales of $200,000 at the break-even point.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46421BB-7529-C142-82D4-936A0B87065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a:extLst>
              <a:ext uri="{FF2B5EF4-FFF2-40B4-BE49-F238E27FC236}">
                <a16:creationId xmlns:a16="http://schemas.microsoft.com/office/drawing/2014/main" id="{1CE53B09-1F34-6847-C2CF-907942CCE200}"/>
              </a:ext>
            </a:extLst>
          </p:cNvPr>
          <p:cNvSpPr>
            <a:spLocks noGrp="1" noChangeArrowheads="1"/>
          </p:cNvSpPr>
          <p:nvPr>
            <p:ph type="body" idx="1"/>
          </p:nvPr>
        </p:nvSpPr>
        <p:spPr bwMode="auto"/>
        <p:txBody>
          <a:bodyPr wrap="square" numCol="1" anchor="t" anchorCtr="0" compatLnSpc="1">
            <a:prstTxWarp prst="textNoShape">
              <a:avLst/>
            </a:prstTxWarp>
            <a:normAutofit fontScale="70000" lnSpcReduction="20000"/>
          </a:bodyPr>
          <a:lstStyle/>
          <a:p>
            <a:pPr eaLnBrk="1" hangingPunct="1">
              <a:defRPr/>
            </a:pPr>
            <a:r>
              <a:rPr lang="en-US" altLang="en-US" dirty="0"/>
              <a:t>Let’s calculate the break-even in sales dollars for Coffee Klatch</a:t>
            </a:r>
          </a:p>
          <a:p>
            <a:pPr eaLnBrk="1" hangingPunct="1">
              <a:defRPr/>
            </a:pPr>
            <a:endParaRPr lang="en-US" altLang="en-US" dirty="0"/>
          </a:p>
          <a:p>
            <a:pPr eaLnBrk="1" hangingPunct="1">
              <a:defRPr/>
            </a:pPr>
            <a:endParaRPr lang="en-US" altLang="en-US" dirty="0"/>
          </a:p>
          <a:p>
            <a:pPr eaLnBrk="1" hangingPunct="1">
              <a:defRPr/>
            </a:pPr>
            <a:r>
              <a:rPr lang="en-US" altLang="en-US" dirty="0"/>
              <a:t>1.CM/unit = SP- VC    = 1.49-0.36= $1.13 /unit</a:t>
            </a:r>
          </a:p>
          <a:p>
            <a:pPr eaLnBrk="1" hangingPunct="1">
              <a:defRPr/>
            </a:pPr>
            <a:r>
              <a:rPr lang="en-US" altLang="en-US" dirty="0"/>
              <a:t>   </a:t>
            </a:r>
          </a:p>
          <a:p>
            <a:pPr eaLnBrk="1" hangingPunct="1">
              <a:defRPr/>
            </a:pPr>
            <a:r>
              <a:rPr lang="en-US" altLang="en-US" dirty="0"/>
              <a:t>BEP in units= TFC/CM/unit                      x SP= BEP $</a:t>
            </a:r>
          </a:p>
          <a:p>
            <a:pPr eaLnBrk="1" hangingPunct="1">
              <a:defRPr/>
            </a:pPr>
            <a:r>
              <a:rPr lang="en-US" altLang="en-US" dirty="0"/>
              <a:t>                      1300/1.13= 1150.4 unitsx1.49= $1714.15</a:t>
            </a:r>
          </a:p>
          <a:p>
            <a:pPr eaLnBrk="1" hangingPunct="1">
              <a:defRPr/>
            </a:pPr>
            <a:endParaRPr lang="en-US" altLang="en-US" dirty="0"/>
          </a:p>
          <a:p>
            <a:pPr eaLnBrk="1" hangingPunct="1">
              <a:defRPr/>
            </a:pPr>
            <a:r>
              <a:rPr lang="en-US" altLang="en-US" dirty="0"/>
              <a:t>2. CM Ratio = CM/SP       1.13/1.49=75.83% </a:t>
            </a:r>
          </a:p>
          <a:p>
            <a:pPr eaLnBrk="1" hangingPunct="1">
              <a:defRPr/>
            </a:pPr>
            <a:r>
              <a:rPr lang="en-US" altLang="en-US" dirty="0"/>
              <a:t>BEP in $ = TFC/CM%          1300/75.83%        =1714.15</a:t>
            </a:r>
          </a:p>
          <a:p>
            <a:pPr eaLnBrk="1" hangingPunct="1">
              <a:defRPr/>
            </a:pPr>
            <a:r>
              <a:rPr lang="en-US" altLang="en-US" dirty="0"/>
              <a:t>                                                                                                                         2100x1.49         BEP$  </a:t>
            </a:r>
          </a:p>
          <a:p>
            <a:pPr eaLnBrk="1" hangingPunct="1">
              <a:defRPr/>
            </a:pPr>
            <a:r>
              <a:rPr lang="en-US" altLang="en-US" dirty="0"/>
              <a:t>[1150 x 1.49 – 1150 x0.36] -1300= 0.5        MOS= 2100-1150=950units   OR $ 3129      -      1715=$1414</a:t>
            </a:r>
          </a:p>
          <a:p>
            <a:pPr eaLnBrk="1" hangingPunct="1">
              <a:defRPr/>
            </a:pPr>
            <a:endParaRPr lang="en-US" altLang="en-US" dirty="0"/>
          </a:p>
          <a:p>
            <a:pPr eaLnBrk="1" hangingPunct="1">
              <a:defRPr/>
            </a:pPr>
            <a:endParaRPr lang="en-US" altLang="en-US" dirty="0"/>
          </a:p>
          <a:p>
            <a:pPr eaLnBrk="1" hangingPunct="1">
              <a:defRPr/>
            </a:pPr>
            <a:endParaRPr lang="en-US" altLang="en-US" dirty="0"/>
          </a:p>
          <a:p>
            <a:pPr eaLnBrk="1" hangingPunct="1">
              <a:defRPr/>
            </a:pPr>
            <a:endParaRPr lang="en-US" altLang="en-US" dirty="0"/>
          </a:p>
          <a:p>
            <a:pPr eaLnBrk="1" hangingPunct="1">
              <a:defRPr/>
            </a:pPr>
            <a:endParaRPr lang="en-US" altLang="en-US" dirty="0"/>
          </a:p>
          <a:p>
            <a:pPr eaLnBrk="1" hangingPunct="1">
              <a:defRPr/>
            </a:pPr>
            <a:endParaRPr lang="en-US" altLang="en-US" dirty="0"/>
          </a:p>
          <a:p>
            <a:pPr eaLnBrk="1" hangingPunct="1">
              <a:defRPr/>
            </a:pPr>
            <a:endParaRPr lang="en-US" altLang="en-US" dirty="0"/>
          </a:p>
          <a:p>
            <a:pPr eaLnBrk="1" hangingPunct="1">
              <a:defRPr/>
            </a:pPr>
            <a:r>
              <a:rPr lang="en-US" altLang="en-US" dirty="0"/>
              <a:t>CM/unit = 1.49-0.36= 1.13    FC/CM%</a:t>
            </a:r>
          </a:p>
          <a:p>
            <a:pPr eaLnBrk="1" hangingPunct="1">
              <a:defRPr/>
            </a:pPr>
            <a:r>
              <a:rPr lang="en-US" altLang="en-US" dirty="0"/>
              <a:t>  1300/1.13= 1150.4 units</a:t>
            </a:r>
          </a:p>
          <a:p>
            <a:pPr eaLnBrk="1" hangingPunct="1">
              <a:defRPr/>
            </a:pPr>
            <a:r>
              <a:rPr lang="en-US" altLang="en-US" dirty="0"/>
              <a:t>BEP in dollars= 1150.4 X1.49=1715</a:t>
            </a:r>
          </a:p>
          <a:p>
            <a:pPr eaLnBrk="1" hangingPunct="1">
              <a:defRPr/>
            </a:pPr>
            <a:r>
              <a:rPr lang="en-US" altLang="en-US" dirty="0"/>
              <a:t>  CM %= 1.13/1.49= 75.83%</a:t>
            </a:r>
          </a:p>
          <a:p>
            <a:pPr eaLnBrk="1" hangingPunct="1">
              <a:defRPr/>
            </a:pPr>
            <a:r>
              <a:rPr lang="en-US" altLang="en-US" dirty="0"/>
              <a:t>BEP in dollars = 1300/75.83%= 1715 </a:t>
            </a:r>
          </a:p>
          <a:p>
            <a:pPr eaLnBrk="1" hangingPunct="1">
              <a:defRPr/>
            </a:pPr>
            <a:r>
              <a:rPr lang="en-US" altLang="en-US" dirty="0"/>
              <a:t>0= 1.49Q- 0.36Q- 1300</a:t>
            </a:r>
          </a:p>
          <a:p>
            <a:pPr eaLnBrk="1" hangingPunct="1">
              <a:defRPr/>
            </a:pPr>
            <a:r>
              <a:rPr lang="en-US" altLang="en-US" dirty="0"/>
              <a:t>1300= 1.13Q</a:t>
            </a:r>
          </a:p>
          <a:p>
            <a:pPr eaLnBrk="1" hangingPunct="1">
              <a:defRPr/>
            </a:pPr>
            <a:r>
              <a:rPr lang="en-US" altLang="en-US" dirty="0"/>
              <a: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26">
            <a:extLst>
              <a:ext uri="{FF2B5EF4-FFF2-40B4-BE49-F238E27FC236}">
                <a16:creationId xmlns:a16="http://schemas.microsoft.com/office/drawing/2014/main" id="{7CF63C60-F767-D441-D90D-0A7BC29B20F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1027">
            <a:extLst>
              <a:ext uri="{FF2B5EF4-FFF2-40B4-BE49-F238E27FC236}">
                <a16:creationId xmlns:a16="http://schemas.microsoft.com/office/drawing/2014/main" id="{E83A88DB-B50C-2134-EFAD-B4438014A7C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With a contribution margin ratio of 75.8% (rounded), break-even sales revenue is $1,715.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B02C732-9CBA-3B9F-87F0-9C1398067F8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a:extLst>
              <a:ext uri="{FF2B5EF4-FFF2-40B4-BE49-F238E27FC236}">
                <a16:creationId xmlns:a16="http://schemas.microsoft.com/office/drawing/2014/main" id="{A1D504CC-FD33-44BF-E6CC-71DFCE16271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Now use the contribution margin approach to calculate the break-even point in cups of coffee sold.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B26E767-CFD9-F01A-AD54-4EAE0B2E6B1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a:extLst>
              <a:ext uri="{FF2B5EF4-FFF2-40B4-BE49-F238E27FC236}">
                <a16:creationId xmlns:a16="http://schemas.microsoft.com/office/drawing/2014/main" id="{1D2583D9-7479-8274-5C30-78BAB4C4068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The contribution margin per cup of coffee is $1.13. The number of cups to sell to reach break-even is 1,150.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B5684E0-4D5E-5C03-4AE1-8154DC38FA5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Rectangle 3">
            <a:extLst>
              <a:ext uri="{FF2B5EF4-FFF2-40B4-BE49-F238E27FC236}">
                <a16:creationId xmlns:a16="http://schemas.microsoft.com/office/drawing/2014/main" id="{4F26D2F6-C3E8-42C1-EF24-637D4901934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Target profit is expressed in units sold.  For this equation we divide the sum of the desired target profit plus total fixed expenses by the contribution margin per unit. </a:t>
            </a:r>
          </a:p>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3D0712ED-A2EF-2051-BD07-B6F9A8C0B6A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a:extLst>
              <a:ext uri="{FF2B5EF4-FFF2-40B4-BE49-F238E27FC236}">
                <a16:creationId xmlns:a16="http://schemas.microsoft.com/office/drawing/2014/main" id="{C5F2963A-197C-253F-F145-EF8DF7200D3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Suppose Racing Bicycle Company wants to earn net operating income of $100,000. How many bikes must the company sell to achieve this profit level? Let’s use the formula method.</a:t>
            </a:r>
          </a:p>
          <a:p>
            <a:pPr eaLnBrk="1" hangingPunct="1"/>
            <a:endParaRPr lang="en-US" altLang="en-US"/>
          </a:p>
          <a:p>
            <a:pPr eaLnBrk="1" hangingPunct="1"/>
            <a:r>
              <a:rPr lang="en-US" altLang="en-US"/>
              <a:t>Unit sales to attain the target profit level is equal to the sum of $100,000 (the target profit) plus $80,000 (total fixed expenses) divided by the unit contribution margin of $200. We arrive at 900 units sold to earn net operating income of $100,000.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BDC6DC8F-91F0-7EF9-D7CD-C0FB20D6DB3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Rectangle 3">
            <a:extLst>
              <a:ext uri="{FF2B5EF4-FFF2-40B4-BE49-F238E27FC236}">
                <a16:creationId xmlns:a16="http://schemas.microsoft.com/office/drawing/2014/main" id="{8CE9C603-9B72-9757-E873-C4A028D84E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The formula method is summarized on this slide. It can also be used to compute the dollar sales needed to attain a target profit. Study the equation in the box on your screen.</a:t>
            </a:r>
          </a:p>
          <a:p>
            <a:pPr eaLnBrk="1" hangingPunct="1"/>
            <a:endParaRPr lang="en-US" altLang="en-US"/>
          </a:p>
          <a:p>
            <a:pPr eaLnBrk="1" hangingPunct="1"/>
            <a:r>
              <a:rPr lang="en-US" altLang="en-US"/>
              <a:t>Suppose RBC wants to compute the dollar sales required to earn a target profit of $100,000. The formula method can be used to determine that sales must be $450,000 to earn the desired target profit.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26">
            <a:extLst>
              <a:ext uri="{FF2B5EF4-FFF2-40B4-BE49-F238E27FC236}">
                <a16:creationId xmlns:a16="http://schemas.microsoft.com/office/drawing/2014/main" id="{9805951A-A388-5BA5-38F7-D10320B26FB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1027">
            <a:extLst>
              <a:ext uri="{FF2B5EF4-FFF2-40B4-BE49-F238E27FC236}">
                <a16:creationId xmlns:a16="http://schemas.microsoft.com/office/drawing/2014/main" id="{1D4060FF-37E1-A514-7443-82DB590397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The Coffee Klatch wants to earn a monthly profit of $2,500. How many cups of coffee must the company sell to reach this profit goal?</a:t>
            </a:r>
          </a:p>
          <a:p>
            <a:pPr eaLnBrk="1" hangingPunct="1"/>
            <a:endParaRPr lang="en-US" altLang="en-US"/>
          </a:p>
          <a:p>
            <a:pPr eaLnBrk="1" hangingPunct="1"/>
            <a:r>
              <a:rPr lang="en-US" altLang="en-US" u="sng"/>
              <a:t>1300+2500</a:t>
            </a:r>
          </a:p>
          <a:p>
            <a:pPr eaLnBrk="1" hangingPunct="1"/>
            <a:r>
              <a:rPr lang="en-US" altLang="en-US"/>
              <a:t>   1.13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4BFD84DD-7EDB-8688-94FC-AF81228C3A2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a:extLst>
              <a:ext uri="{FF2B5EF4-FFF2-40B4-BE49-F238E27FC236}">
                <a16:creationId xmlns:a16="http://schemas.microsoft.com/office/drawing/2014/main" id="{51277952-EC54-1A89-980E-ABC7D02FBA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We add the desired profit to the fixed cost and divide by the unit contribution of $1.13. The company must sell 3,363 cups of coffee to reach its profit goal.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26">
            <a:extLst>
              <a:ext uri="{FF2B5EF4-FFF2-40B4-BE49-F238E27FC236}">
                <a16:creationId xmlns:a16="http://schemas.microsoft.com/office/drawing/2014/main" id="{BE44C265-3E10-3C17-AE4B-6922BD9EED7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1027">
            <a:extLst>
              <a:ext uri="{FF2B5EF4-FFF2-40B4-BE49-F238E27FC236}">
                <a16:creationId xmlns:a16="http://schemas.microsoft.com/office/drawing/2014/main" id="{C384D290-E362-5F28-C6AD-D05EF976708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The Coffee Klatch wants to earn a monthly profit of $2,500. How many sales dollars must be generated to attain the target profit level?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ADA1C6CA-FE72-A010-8A41-BD84101757B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a:extLst>
              <a:ext uri="{FF2B5EF4-FFF2-40B4-BE49-F238E27FC236}">
                <a16:creationId xmlns:a16="http://schemas.microsoft.com/office/drawing/2014/main" id="{7B2BD12C-95D7-81D8-B164-27FA028C72A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We add the desired profit to the fixed cost and divide by the contribution margin ratio (.758). The company must generate sales of $5,013 in order to reach its target profit of $2,500.</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rial" panose="020B0604020202020204" pitchFamily="34" charset="0"/>
                <a:cs typeface="Arial" panose="020B0604020202020204" pitchFamily="34" charset="0"/>
              </a:rPr>
              <a:t>The margin of safety is the difference between actual or budgeted sales and the breakeven point. Think of the margin of safety as a buffer zone that identifies how much sales can drop before the business will suffer a loss. This application of CVP analysis is most relevant to companies that face a significant risk of not making a profit, such as start-up businesses or companies that face extreme competition or abrupt changes in demand. </a:t>
            </a:r>
          </a:p>
          <a:p>
            <a:endParaRPr lang="en-US" dirty="0"/>
          </a:p>
        </p:txBody>
      </p:sp>
    </p:spTree>
    <p:extLst>
      <p:ext uri="{BB962C8B-B14F-4D97-AF65-F5344CB8AC3E}">
        <p14:creationId xmlns:p14="http://schemas.microsoft.com/office/powerpoint/2010/main" val="2562887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20,000 – 8000 =CM 12000 – FC12000= 0</a:t>
            </a:r>
          </a:p>
          <a:p>
            <a:pPr eaLnBrk="1" hangingPunct="1">
              <a:spcBef>
                <a:spcPct val="0"/>
              </a:spcBef>
            </a:pPr>
            <a:r>
              <a:rPr lang="en-US" dirty="0">
                <a:latin typeface="Arial" panose="020B0604020202020204" pitchFamily="34" charset="0"/>
                <a:cs typeface="Arial" panose="020B0604020202020204" pitchFamily="34" charset="0"/>
              </a:rPr>
              <a:t>+17500 x 60%                                      10500</a:t>
            </a:r>
          </a:p>
          <a:p>
            <a:pPr eaLnBrk="1" hangingPunct="1">
              <a:spcBef>
                <a:spcPct val="0"/>
              </a:spcBef>
            </a:pPr>
            <a:r>
              <a:rPr lang="en-US" dirty="0">
                <a:latin typeface="Arial" panose="020B0604020202020204" pitchFamily="34" charset="0"/>
                <a:cs typeface="Arial" panose="020B0604020202020204" pitchFamily="34" charset="0"/>
              </a:rPr>
              <a:t>= 37500</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Let’s assume that our hypothetical Starbucks coffee location operated above the break-even point during February with sales of $37,500. During the month, the company reported a profit of $10,500. Let’s calculate Starbucks’ margin of safety.</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Recall that the break-even point was 8,000 units, or $20,000 in total sales. Subtracting $20,000 from Starbucks’ actual sales of $37,500, we find that Starbucks’ margin of safety in dollars is $17,500. </a:t>
            </a:r>
          </a:p>
          <a:p>
            <a:pPr eaLnBrk="1" hangingPunct="1">
              <a:spcBef>
                <a:spcPct val="0"/>
              </a:spcBef>
            </a:pPr>
            <a:endParaRPr lang="en-US" dirty="0"/>
          </a:p>
          <a:p>
            <a:endParaRPr lang="en-US" dirty="0"/>
          </a:p>
        </p:txBody>
      </p:sp>
    </p:spTree>
    <p:extLst>
      <p:ext uri="{BB962C8B-B14F-4D97-AF65-F5344CB8AC3E}">
        <p14:creationId xmlns:p14="http://schemas.microsoft.com/office/powerpoint/2010/main" val="187019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In the previous examples, we simplified the CVP analysis by assuming that Starbucks sells only one type and size of coffee drink. But we all know that Starbucks, and most other businesses, offer more than one product or service. For example, Starbucks sells coffee, tea, pastries, sandwiches, salads, mugs, T-shirts, and other novelty items. Each of these items is likely to have a different price and unit cost, which makes the CVP analysis more complex.</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key to performing CVP analysis in a multiproduct setting is to make an assumption about the relative mix of products or services sold. The mix can be stated in terms of the number of units sold (called the product mix) or as a percentage of total sales revenue (called the sales mix). The product mix is used to compute the weighted-average contribution margin per unit, while the sales mix is used to compute the weighted-average contribution margin ratio, or contribution margin as a percentage of sales. Either of these numbers can be used for multiproduct cost-volume-profit analysis, including break-even or target profit analysis. Which method you use depends on how the information is presented and whether you are trying to solve for the number of units or total sales revenue. As with the single-product scenarios, both methods will yield the same answer as long as you have complete information about unit sales prices. The only caveat is that the analysis will be valid only for the assumed product or sales mix.</a:t>
            </a:r>
            <a:endParaRPr lang="en-US"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7623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rial" panose="020B0604020202020204" pitchFamily="34" charset="0"/>
                <a:cs typeface="Arial" panose="020B0604020202020204" pitchFamily="34" charset="0"/>
              </a:rPr>
              <a:t>We can also do multiproduct CVP analysis by using the sales mix (stated in terms of total sales dollars) to compute the weighted-average contribution margin ratio. This approach is commonly used in business because managers often have aggregated information about revenue and costs by product line (as opposed to the detailed information about prices, quantities, etc.)</a:t>
            </a:r>
          </a:p>
          <a:p>
            <a:endParaRPr lang="en-US" dirty="0"/>
          </a:p>
        </p:txBody>
      </p:sp>
    </p:spTree>
    <p:extLst>
      <p:ext uri="{BB962C8B-B14F-4D97-AF65-F5344CB8AC3E}">
        <p14:creationId xmlns:p14="http://schemas.microsoft.com/office/powerpoint/2010/main" val="37548659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BEP = 12000/62.5%= 19200</a:t>
            </a:r>
          </a:p>
          <a:p>
            <a:pPr eaLnBrk="1" hangingPunct="1">
              <a:spcBef>
                <a:spcPct val="0"/>
              </a:spcBef>
            </a:pPr>
            <a:r>
              <a:rPr lang="en-US" dirty="0">
                <a:latin typeface="Arial" panose="020B0604020202020204" pitchFamily="34" charset="0"/>
                <a:cs typeface="Arial" panose="020B0604020202020204" pitchFamily="34" charset="0"/>
              </a:rPr>
              <a:t>Coffee = 24000/33600 x 19200=$13714 </a:t>
            </a:r>
          </a:p>
          <a:p>
            <a:pPr eaLnBrk="1" hangingPunct="1">
              <a:spcBef>
                <a:spcPct val="0"/>
              </a:spcBef>
            </a:pPr>
            <a:r>
              <a:rPr lang="en-US" dirty="0">
                <a:latin typeface="Arial" panose="020B0604020202020204" pitchFamily="34" charset="0"/>
                <a:cs typeface="Arial" panose="020B0604020202020204" pitchFamily="34" charset="0"/>
              </a:rPr>
              <a:t>Pastries= 9600/33600 x 19200 =$5486</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Consider the following contribution margin statement for Starbucks. This is the same income statement we just prepared for a target profit of $9,000, but the numbers have been restated as a percentage of total sales revenue. The weighted-average contribution margin ratio reflects the contribution margin ratios of the two products weighted according to the relative percentage of total sales revenue.</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In this example, the sales mix is 71.43 percent ($24,000 ÷ $33,600) from coffee and 28.57 percent ($9,600 ÷ $33,600) from pastries. The sales mix is based on total sales revenue (dollars) not units. The 62.5 percent ($21,000/$33,600) means overall or weighted-average contribution margin ratio that every dollar of sales revenue will generate an average of $0.625 in contribution margin. But this number only holds if the sales mix is 71.43 percent coffee and 28.57 percent pastries.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Managers can use the 62.5 percent weighted-average contribution margin ratio to determine how much total sales revenue is needed to break even or earn a target profit.</a:t>
            </a:r>
          </a:p>
        </p:txBody>
      </p:sp>
    </p:spTree>
    <p:extLst>
      <p:ext uri="{BB962C8B-B14F-4D97-AF65-F5344CB8AC3E}">
        <p14:creationId xmlns:p14="http://schemas.microsoft.com/office/powerpoint/2010/main" val="10278306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Assume that the Starbucks’ manager wants to earn a target profit of $15,000. Given the assumed sales mix, what is the total sales revenue needed to achieve this target profit?</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To answer this question, we can use the target sales formula, with the weighted-average contribution margin ratio as the denominator</a:t>
            </a:r>
            <a:r>
              <a:rPr lang="en-US" baseline="0"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To determine how much of the $43,200 ($12,000</a:t>
            </a:r>
            <a:r>
              <a:rPr lang="en-US" baseline="0" dirty="0">
                <a:latin typeface="Arial" panose="020B0604020202020204" pitchFamily="34" charset="0"/>
                <a:cs typeface="Arial" panose="020B0604020202020204" pitchFamily="34" charset="0"/>
              </a:rPr>
              <a:t> + $15,000)/62.5%)</a:t>
            </a:r>
            <a:r>
              <a:rPr lang="en-US" dirty="0">
                <a:latin typeface="Arial" panose="020B0604020202020204" pitchFamily="34" charset="0"/>
                <a:cs typeface="Arial" panose="020B0604020202020204" pitchFamily="34" charset="0"/>
              </a:rPr>
              <a:t> in target sales revenue must come from each product line, we multiply by the assumed sales mix. Notice that we used the total sales mix (not the unit sales mix) to determine how much of the total sales revenue must come from coffee and pastries. Remember that the 62.5% weighted-average contribution margin ratio was weighted according to the sales mix, not the product mix.  Coffee sales would need</a:t>
            </a:r>
            <a:r>
              <a:rPr lang="en-US" baseline="0" dirty="0">
                <a:latin typeface="Arial" panose="020B0604020202020204" pitchFamily="34" charset="0"/>
                <a:cs typeface="Arial" panose="020B0604020202020204" pitchFamily="34" charset="0"/>
              </a:rPr>
              <a:t> to be $30,858 ($43,200 x 71.43%) and pastry sales would need to be $12,342 ($43,200 x 28.57%)</a:t>
            </a: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most important thing to remember when performing cost-volume-profit analysis in a multiproduct setting is to assume and maintain a constant product or sales mix. The mix can be stated in terms of the number of units sold or as a percentage of total sales revenue. The only difference between the two is the unit sales price (which is excluded from the product mix but included in the sales mix). Either approach provides the same end result.</a:t>
            </a:r>
          </a:p>
          <a:p>
            <a:endParaRPr lang="en-US" dirty="0"/>
          </a:p>
        </p:txBody>
      </p:sp>
    </p:spTree>
    <p:extLst>
      <p:ext uri="{BB962C8B-B14F-4D97-AF65-F5344CB8AC3E}">
        <p14:creationId xmlns:p14="http://schemas.microsoft.com/office/powerpoint/2010/main" val="17264636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DC804551-4954-E46E-51D5-729702B29AB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F4A66474-16F7-5100-5DCC-193AFAA9DD4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When a mix of products is sold, break-even can be computed with a </a:t>
            </a:r>
            <a:r>
              <a:rPr lang="en-US" altLang="en-US" b="1"/>
              <a:t>weighted-average contribution margin per unit</a:t>
            </a:r>
            <a:r>
              <a:rPr lang="en-US" altLang="en-US"/>
              <a:t>. This measure combines the per unit contribution margins of each product by their weights in the sales mix. To demonstrate, assume Rydell expands its product line to include basketballs. It adds another production shift, increasing its fixed costs to $48,000. Information for the two products is in Exhibit 21.26.</a:t>
            </a:r>
          </a:p>
          <a:p>
            <a:endParaRPr lang="en-US" altLang="en-US"/>
          </a:p>
          <a:p>
            <a:r>
              <a:rPr lang="en-US" altLang="en-US"/>
              <a:t>Using the data in Exhibit 21.26, the weighted-average contribution margin is computed as $32 per unit as shown in exhibit 21.27.</a:t>
            </a:r>
          </a:p>
        </p:txBody>
      </p:sp>
      <p:sp>
        <p:nvSpPr>
          <p:cNvPr id="100356" name="Slide Number Placeholder 3">
            <a:extLst>
              <a:ext uri="{FF2B5EF4-FFF2-40B4-BE49-F238E27FC236}">
                <a16:creationId xmlns:a16="http://schemas.microsoft.com/office/drawing/2014/main" id="{F85D18E8-9720-8C59-26D3-466FFD360C65}"/>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0AD246C-682D-4AF3-B159-02B3F2BCB2B9}" type="slidenum">
              <a:rPr lang="en-IN" altLang="en-US"/>
              <a:pPr/>
              <a:t>24</a:t>
            </a:fld>
            <a:endParaRPr lang="en-I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a:extLst>
              <a:ext uri="{FF2B5EF4-FFF2-40B4-BE49-F238E27FC236}">
                <a16:creationId xmlns:a16="http://schemas.microsoft.com/office/drawing/2014/main" id="{EFDA508E-DA09-5AFA-740B-8045B2FE6AF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a:extLst>
              <a:ext uri="{FF2B5EF4-FFF2-40B4-BE49-F238E27FC236}">
                <a16:creationId xmlns:a16="http://schemas.microsoft.com/office/drawing/2014/main" id="{BB344855-8C27-FFBD-F48C-0D45638436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When a mix of products is sold, break-even can be computed with a </a:t>
            </a:r>
            <a:r>
              <a:rPr lang="en-US" altLang="en-US" b="1"/>
              <a:t>weighted-average contribution margin per unit</a:t>
            </a:r>
            <a:r>
              <a:rPr lang="en-US" altLang="en-US"/>
              <a:t>. This measure combines the per unit contribution margins of each product by their weights in the sales mix. To demonstrate, assume Rydell expands its product line to include basketballs. It adds another production shift, increasing its fixed costs to $48,000. Information for the two products is in Exhibit 21.26.</a:t>
            </a:r>
          </a:p>
          <a:p>
            <a:endParaRPr lang="en-US" altLang="en-US"/>
          </a:p>
          <a:p>
            <a:r>
              <a:rPr lang="en-US" altLang="en-US"/>
              <a:t>Using the data in Exhibit 21.26, the weighted-average contribution margin is computed as $32 per unit as shown in exhibit 21.27.</a:t>
            </a:r>
          </a:p>
        </p:txBody>
      </p:sp>
      <p:sp>
        <p:nvSpPr>
          <p:cNvPr id="102404" name="Slide Number Placeholder 3">
            <a:extLst>
              <a:ext uri="{FF2B5EF4-FFF2-40B4-BE49-F238E27FC236}">
                <a16:creationId xmlns:a16="http://schemas.microsoft.com/office/drawing/2014/main" id="{AF0467B3-C2E8-D54B-EA85-F29FB4B620A8}"/>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F1A5A81-4B00-472D-99CC-D2D6479CFD31}" type="slidenum">
              <a:rPr lang="en-IN" altLang="en-US"/>
              <a:pPr/>
              <a:t>25</a:t>
            </a:fld>
            <a:endParaRPr lang="en-I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Degree of operating leverage measures the extent to which fixed costs are used to operate the business. In general, high fixed costs indicate that a company is highly leveraged.</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Recall that fixed costs are subtracted from contribution margin to calculate net operating income (profit). If fixed costs are zero, contribution margin (numerator) and net operating income (denominator) are equal, resulting in a degree of operating leverage of one. A degree of operating leverage greater than one means that  managers are using fixed costs for some operations. Fixed costs do not change with volume; as a result, a degree of operating leverage greater than one means that a given change in sales volume will impact profit to a larger degree. </a:t>
            </a:r>
          </a:p>
          <a:p>
            <a:endParaRPr lang="en-US" dirty="0"/>
          </a:p>
        </p:txBody>
      </p:sp>
    </p:spTree>
    <p:extLst>
      <p:ext uri="{BB962C8B-B14F-4D97-AF65-F5344CB8AC3E}">
        <p14:creationId xmlns:p14="http://schemas.microsoft.com/office/powerpoint/2010/main" val="19507378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rial" panose="020B0604020202020204" pitchFamily="34" charset="0"/>
                <a:cs typeface="Arial" panose="020B0604020202020204" pitchFamily="34" charset="0"/>
              </a:rPr>
              <a:t>At less than 20,000 units, profit is higher before automation. </a:t>
            </a:r>
          </a:p>
          <a:p>
            <a:endParaRPr lang="en-US" dirty="0"/>
          </a:p>
        </p:txBody>
      </p:sp>
    </p:spTree>
    <p:extLst>
      <p:ext uri="{BB962C8B-B14F-4D97-AF65-F5344CB8AC3E}">
        <p14:creationId xmlns:p14="http://schemas.microsoft.com/office/powerpoint/2010/main" val="42930082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Automation increases the break-even point because fixed costs are higher. But each unit adds more profit because of the lower variable cost per unit. Profit is the same at 20,000 units. As long as the manager expects demand to exceed 20,000 units per month, the investment in automation should result in increased profit. However, there is a greater risk with automation in the event that demand is not as large as expected. This risk is reflected in a measure called degree of operating leverage.</a:t>
            </a:r>
          </a:p>
        </p:txBody>
      </p:sp>
    </p:spTree>
    <p:extLst>
      <p:ext uri="{BB962C8B-B14F-4D97-AF65-F5344CB8AC3E}">
        <p14:creationId xmlns:p14="http://schemas.microsoft.com/office/powerpoint/2010/main" val="3271927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Sales +10%                          Profits +16.7</a:t>
            </a:r>
            <a:r>
              <a:rPr lang="en-US">
                <a:latin typeface="Arial" panose="020B0604020202020204" pitchFamily="34" charset="0"/>
                <a:cs typeface="Arial" panose="020B0604020202020204" pitchFamily="34" charset="0"/>
              </a:rPr>
              <a:t>%      1.67 </a:t>
            </a:r>
            <a:r>
              <a:rPr lang="en-US" dirty="0">
                <a:latin typeface="Arial" panose="020B0604020202020204" pitchFamily="34" charset="0"/>
                <a:cs typeface="Arial" panose="020B0604020202020204" pitchFamily="34" charset="0"/>
              </a:rPr>
              <a:t>times</a:t>
            </a:r>
          </a:p>
          <a:p>
            <a:pPr eaLnBrk="1" hangingPunct="1">
              <a:spcBef>
                <a:spcPct val="0"/>
              </a:spcBef>
            </a:pPr>
            <a:r>
              <a:rPr lang="en-US" dirty="0">
                <a:latin typeface="Arial" panose="020B0604020202020204" pitchFamily="34" charset="0"/>
                <a:cs typeface="Arial" panose="020B0604020202020204" pitchFamily="34" charset="0"/>
              </a:rPr>
              <a:t>Sales   +10%                                     +24.4%      2.4 times </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degree of operating leverage is a multiplier that we can use to predict how a percentage change in sales revenue will translate into a percentage change in profit. In this example, if sales revenue increases by 10 percent, profit will increase by 16.7 percent (10% × 1.67) without automation or 24.4 percent (10% × 2.44) with automation.</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Keep in mind that operating leverage works in both directions. It magnifies the effect of both increases and decreases in sales revenue. If sales decrease by 10 percent, the company will experience a more dramatic decline in profit with automation than without it. In general, a company with a high degree of operating leverage (high fixed costs) will experience greater swings in profit as a result of changes in sales revenue and is therefore considered riskier than a comparable company with a smaller degree of operating leverage. In making choices about cost structure, managers must consider both the rewards (potential for increased profit) and amount of risk (upside and downside) they are willing to bear.</a:t>
            </a:r>
          </a:p>
          <a:p>
            <a:endParaRPr lang="en-US" dirty="0"/>
          </a:p>
        </p:txBody>
      </p:sp>
    </p:spTree>
    <p:extLst>
      <p:ext uri="{BB962C8B-B14F-4D97-AF65-F5344CB8AC3E}">
        <p14:creationId xmlns:p14="http://schemas.microsoft.com/office/powerpoint/2010/main" val="6004432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Let’s see how the trade-off of fixed and variable costs (through automation) affects Starbucks’ degree of operating leverage. As a starting point, we use the indifference point of 20,000 units so that sales revenue and profit will be the same in both scenarios.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Although profit is the same at 20,000 units, the degree of operating leverage is higher with automation 2.44 ($44,000/$18,000) than without it,</a:t>
            </a:r>
            <a:r>
              <a:rPr lang="en-US" baseline="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1.67($30,000/$18,000). The reason is that automation requires an investment in fixed costs. </a:t>
            </a:r>
          </a:p>
          <a:p>
            <a:endParaRPr lang="en-US" dirty="0"/>
          </a:p>
        </p:txBody>
      </p:sp>
    </p:spTree>
    <p:extLst>
      <p:ext uri="{BB962C8B-B14F-4D97-AF65-F5344CB8AC3E}">
        <p14:creationId xmlns:p14="http://schemas.microsoft.com/office/powerpoint/2010/main" val="4003502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So, the profit equation before automation</a:t>
            </a:r>
            <a:r>
              <a:rPr lang="en-US" baseline="0" dirty="0">
                <a:latin typeface="Arial" panose="020B0604020202020204" pitchFamily="34" charset="0"/>
                <a:cs typeface="Arial" panose="020B0604020202020204" pitchFamily="34" charset="0"/>
              </a:rPr>
              <a:t> must equal the  profit equation after automation.</a:t>
            </a:r>
          </a:p>
          <a:p>
            <a:pPr eaLnBrk="1" hangingPunct="1">
              <a:spcBef>
                <a:spcPct val="0"/>
              </a:spcBef>
            </a:pPr>
            <a:endParaRPr lang="en-US" baseline="0" dirty="0">
              <a:latin typeface="Arial" panose="020B0604020202020204" pitchFamily="34" charset="0"/>
              <a:cs typeface="Arial" panose="020B0604020202020204" pitchFamily="34" charset="0"/>
            </a:endParaRPr>
          </a:p>
          <a:p>
            <a:pPr eaLnBrk="1" hangingPunct="1">
              <a:spcBef>
                <a:spcPct val="0"/>
              </a:spcBef>
            </a:pPr>
            <a:r>
              <a:rPr lang="en-US" baseline="0" dirty="0">
                <a:latin typeface="Arial" panose="020B0604020202020204" pitchFamily="34" charset="0"/>
                <a:cs typeface="Arial" panose="020B0604020202020204" pitchFamily="34" charset="0"/>
              </a:rPr>
              <a:t>$2.50Q -$1.00Q - $12,000 = $2.50Q - $0.30Q - $26,000, when we solve for Q we determine that at a sales volume of 20,000 units, the company will make the same profit with or without automation. I</a:t>
            </a:r>
            <a:r>
              <a:rPr lang="en-US" sz="1200" b="0" i="0" kern="1200" dirty="0">
                <a:solidFill>
                  <a:schemeClr val="tx1"/>
                </a:solidFill>
                <a:effectLst/>
                <a:latin typeface="Arial" panose="020B0604020202020204" pitchFamily="34" charset="0"/>
                <a:ea typeface="+mn-ea"/>
                <a:cs typeface="Arial" panose="020B0604020202020204" pitchFamily="34" charset="0"/>
              </a:rPr>
              <a:t>f volume is more than 20,000 units, the company will make a higher profit with the automated ordering system. But if volume is less than 20,000 units per month, profit will be higher without automation.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4191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Line 8"/>
          <p:cNvSpPr>
            <a:spLocks noChangeShapeType="1"/>
          </p:cNvSpPr>
          <p:nvPr/>
        </p:nvSpPr>
        <p:spPr bwMode="auto">
          <a:xfrm>
            <a:off x="1316038" y="3581400"/>
            <a:ext cx="6511925" cy="0"/>
          </a:xfrm>
          <a:prstGeom prst="line">
            <a:avLst/>
          </a:prstGeom>
          <a:noFill/>
          <a:ln w="19050">
            <a:solidFill>
              <a:schemeClr val="accent1"/>
            </a:solidFill>
            <a:round/>
            <a:headEnd/>
            <a:tailEnd/>
          </a:ln>
          <a:effectLst/>
        </p:spPr>
        <p:txBody>
          <a:bodyPr/>
          <a:lstStyle/>
          <a:p>
            <a:pPr>
              <a:defRPr/>
            </a:pPr>
            <a:endParaRPr lang="en-US" dirty="0">
              <a:latin typeface="Arial" charset="0"/>
            </a:endParaRPr>
          </a:p>
        </p:txBody>
      </p:sp>
      <p:sp>
        <p:nvSpPr>
          <p:cNvPr id="6" name="Rounded Rectangle 5"/>
          <p:cNvSpPr/>
          <p:nvPr/>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5042" name="Rectangle 2"/>
          <p:cNvSpPr>
            <a:spLocks noGrp="1" noChangeArrowheads="1"/>
          </p:cNvSpPr>
          <p:nvPr>
            <p:ph type="ctrTitle"/>
          </p:nvPr>
        </p:nvSpPr>
        <p:spPr>
          <a:xfrm>
            <a:off x="760413" y="2264645"/>
            <a:ext cx="7623175" cy="1316755"/>
          </a:xfrm>
        </p:spPr>
        <p:txBody>
          <a:bodyPr/>
          <a:lstStyle>
            <a:lvl1pPr>
              <a:defRPr sz="4000" b="1">
                <a:solidFill>
                  <a:schemeClr val="tx1"/>
                </a:solidFill>
              </a:defRPr>
            </a:lvl1pPr>
          </a:lstStyle>
          <a:p>
            <a:r>
              <a:rPr lang="en-US" altLang="en-US" dirty="0"/>
              <a:t>Click to edit Master title style</a:t>
            </a:r>
          </a:p>
        </p:txBody>
      </p:sp>
      <p:sp>
        <p:nvSpPr>
          <p:cNvPr id="215043" name="Rectangle 3"/>
          <p:cNvSpPr>
            <a:spLocks noGrp="1" noChangeArrowheads="1"/>
          </p:cNvSpPr>
          <p:nvPr>
            <p:ph type="subTitle" idx="1"/>
          </p:nvPr>
        </p:nvSpPr>
        <p:spPr>
          <a:xfrm>
            <a:off x="1295400" y="3657600"/>
            <a:ext cx="6553200" cy="1316755"/>
          </a:xfrm>
        </p:spPr>
        <p:txBody>
          <a:bodyPr anchor="ctr"/>
          <a:lstStyle>
            <a:lvl1pPr marL="0" indent="0" algn="ctr">
              <a:buFont typeface="Wingdings" pitchFamily="2" charset="2"/>
              <a:buNone/>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ltLang="en-US" dirty="0"/>
              <a:t>Click to edit Master subtitle style</a:t>
            </a:r>
          </a:p>
        </p:txBody>
      </p:sp>
      <p:sp>
        <p:nvSpPr>
          <p:cNvPr id="7" name="Rounded Rectangle 6"/>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2394230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600">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lvl1pPr marL="457200" indent="-457200">
              <a:buClr>
                <a:srgbClr val="000000"/>
              </a:buClr>
              <a:buFont typeface="Arial" panose="020B0604020202020204" pitchFamily="34" charset="0"/>
              <a:buChar char="•"/>
              <a:defRPr/>
            </a:lvl1pPr>
            <a:lvl3pPr marL="1014412" indent="-342900">
              <a:buFont typeface="Wingdings" panose="05000000000000000000" pitchFamily="2" charset="2"/>
              <a:buChar char="§"/>
              <a:defRPr/>
            </a:lvl3pPr>
            <a:lvl4pPr marL="1481137" indent="-457200">
              <a:buClr>
                <a:srgbClr val="000000"/>
              </a:buClr>
              <a:buSzPct val="100000"/>
              <a:buFont typeface="Courier New" panose="02070309020205020404" pitchFamily="49" charset="0"/>
              <a:buChar char="o"/>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10" name="Text Placeholder 9"/>
          <p:cNvSpPr>
            <a:spLocks noGrp="1"/>
          </p:cNvSpPr>
          <p:nvPr>
            <p:ph type="body" sz="quarter" idx="13"/>
          </p:nvPr>
        </p:nvSpPr>
        <p:spPr>
          <a:xfrm>
            <a:off x="457200" y="5943600"/>
            <a:ext cx="8229600" cy="341416"/>
          </a:xfrm>
          <a:prstGeom prst="rect">
            <a:avLst/>
          </a:prstGeom>
        </p:spPr>
        <p:txBody>
          <a:bodyPr anchor="b"/>
          <a:lstStyle>
            <a:lvl1pPr marL="0" indent="0" algn="ctr">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edit Master text styles</a:t>
            </a:r>
          </a:p>
        </p:txBody>
      </p:sp>
    </p:spTree>
    <p:extLst>
      <p:ext uri="{BB962C8B-B14F-4D97-AF65-F5344CB8AC3E}">
        <p14:creationId xmlns:p14="http://schemas.microsoft.com/office/powerpoint/2010/main" val="1020087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10" name="Text Placeholder 9"/>
          <p:cNvSpPr>
            <a:spLocks noGrp="1"/>
          </p:cNvSpPr>
          <p:nvPr>
            <p:ph type="body" sz="quarter" idx="13"/>
          </p:nvPr>
        </p:nvSpPr>
        <p:spPr>
          <a:xfrm>
            <a:off x="457200" y="5791200"/>
            <a:ext cx="8153400" cy="493816"/>
          </a:xfrm>
          <a:prstGeom prst="rect">
            <a:avLst/>
          </a:prstGeom>
        </p:spPr>
        <p:txBody>
          <a:bodyPr anchor="b"/>
          <a:lstStyle>
            <a:lvl1pPr marL="0" indent="0" algn="ctr">
              <a:spcBef>
                <a:spcPts val="0"/>
              </a:spcBef>
              <a:buNone/>
              <a:defRPr sz="22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edit Master text styles</a:t>
            </a:r>
          </a:p>
        </p:txBody>
      </p:sp>
      <p:sp>
        <p:nvSpPr>
          <p:cNvPr id="9" name="Rounded Rectangle 8"/>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TextBox 10"/>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p:cNvSpPr>
            <a:spLocks noGrp="1"/>
          </p:cNvSpPr>
          <p:nvPr>
            <p:ph sz="quarter" idx="14"/>
          </p:nvPr>
        </p:nvSpPr>
        <p:spPr>
          <a:xfrm>
            <a:off x="457200" y="1524000"/>
            <a:ext cx="8229600" cy="426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
          <p:cNvSpPr>
            <a:spLocks noGrp="1"/>
          </p:cNvSpPr>
          <p:nvPr>
            <p:ph type="title"/>
          </p:nvPr>
        </p:nvSpPr>
        <p:spPr>
          <a:xfrm>
            <a:off x="457200" y="277813"/>
            <a:ext cx="8229600" cy="1139825"/>
          </a:xfrm>
        </p:spPr>
        <p:txBody>
          <a:bodyPr anchor="ctr"/>
          <a:lstStyle>
            <a:lvl1pPr>
              <a:defRPr sz="3600">
                <a:solidFill>
                  <a:schemeClr val="tx1"/>
                </a:solidFill>
              </a:defRPr>
            </a:lvl1pPr>
          </a:lstStyle>
          <a:p>
            <a:r>
              <a:rPr lang="en-US" dirty="0"/>
              <a:t>Click to edit Master title style</a:t>
            </a:r>
          </a:p>
        </p:txBody>
      </p:sp>
      <p:sp>
        <p:nvSpPr>
          <p:cNvPr id="13" name="Text Placeholder 3"/>
          <p:cNvSpPr txBox="1">
            <a:spLocks/>
          </p:cNvSpPr>
          <p:nvPr userDrawn="1"/>
        </p:nvSpPr>
        <p:spPr>
          <a:xfrm>
            <a:off x="685800" y="6644714"/>
            <a:ext cx="7404100" cy="213286"/>
          </a:xfrm>
          <a:prstGeom prst="rect">
            <a:avLst/>
          </a:prstGeom>
        </p:spPr>
        <p:txBody>
          <a:bodyPr anchor="ctr"/>
          <a:lstStyle>
            <a:lvl1pPr marL="0" indent="0" algn="l" defTabSz="914400" rtl="0" eaLnBrk="1" latinLnBrk="0" hangingPunct="1">
              <a:spcBef>
                <a:spcPct val="20000"/>
              </a:spcBef>
              <a:buFont typeface="Arial" pitchFamily="34" charset="0"/>
              <a:buNone/>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dirty="0">
                <a:solidFill>
                  <a:prstClr val="black"/>
                </a:solidFill>
                <a:latin typeface="Calibri" panose="020F0502020204030204" pitchFamily="34" charset="0"/>
                <a:cs typeface="Calibri" panose="020F0502020204030204" pitchFamily="34" charset="0"/>
              </a:rPr>
              <a:t>© 2020 McGraw-Hill Education.</a:t>
            </a:r>
          </a:p>
        </p:txBody>
      </p:sp>
    </p:spTree>
    <p:extLst>
      <p:ext uri="{BB962C8B-B14F-4D97-AF65-F5344CB8AC3E}">
        <p14:creationId xmlns:p14="http://schemas.microsoft.com/office/powerpoint/2010/main" val="2004451177"/>
      </p:ext>
    </p:extLst>
  </p:cSld>
  <p:clrMapOvr>
    <a:masterClrMapping/>
  </p:clrMapOvr>
  <p:transition spd="slow"/>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Appendix 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7000"/>
            <a:ext cx="8229600" cy="1139825"/>
          </a:xfrm>
        </p:spPr>
        <p:txBody>
          <a:bodyPr anchor="ctr"/>
          <a:lstStyle>
            <a:lvl1pPr>
              <a:defRPr sz="3600">
                <a:solidFill>
                  <a:srgbClr val="000000"/>
                </a:solidFill>
              </a:defRPr>
            </a:lvl1pPr>
          </a:lstStyle>
          <a:p>
            <a:r>
              <a:rPr lang="en-US" dirty="0"/>
              <a:t>Click to edit Master title style</a:t>
            </a:r>
          </a:p>
        </p:txBody>
      </p:sp>
      <p:sp>
        <p:nvSpPr>
          <p:cNvPr id="3" name="TextBox 2"/>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971979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ection  Slide">
    <p:spTree>
      <p:nvGrpSpPr>
        <p:cNvPr id="1" name=""/>
        <p:cNvGrpSpPr/>
        <p:nvPr/>
      </p:nvGrpSpPr>
      <p:grpSpPr>
        <a:xfrm>
          <a:off x="0" y="0"/>
          <a:ext cx="0" cy="0"/>
          <a:chOff x="0" y="0"/>
          <a:chExt cx="0" cy="0"/>
        </a:xfrm>
      </p:grpSpPr>
      <p:sp>
        <p:nvSpPr>
          <p:cNvPr id="4" name="Line 8"/>
          <p:cNvSpPr>
            <a:spLocks noChangeShapeType="1"/>
          </p:cNvSpPr>
          <p:nvPr/>
        </p:nvSpPr>
        <p:spPr bwMode="auto">
          <a:xfrm>
            <a:off x="1316038" y="3581400"/>
            <a:ext cx="6511925" cy="0"/>
          </a:xfrm>
          <a:prstGeom prst="line">
            <a:avLst/>
          </a:prstGeom>
          <a:noFill/>
          <a:ln w="19050">
            <a:solidFill>
              <a:schemeClr val="accent1"/>
            </a:solidFill>
            <a:round/>
            <a:headEnd/>
            <a:tailEnd/>
          </a:ln>
          <a:effectLst/>
        </p:spPr>
        <p:txBody>
          <a:bodyPr/>
          <a:lstStyle/>
          <a:p>
            <a:pPr>
              <a:defRPr/>
            </a:pPr>
            <a:endParaRPr lang="en-US" dirty="0">
              <a:latin typeface="Arial" charset="0"/>
            </a:endParaRPr>
          </a:p>
        </p:txBody>
      </p:sp>
      <p:sp>
        <p:nvSpPr>
          <p:cNvPr id="6" name="Rounded Rectangle 5"/>
          <p:cNvSpPr/>
          <p:nvPr/>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5042" name="Rectangle 2"/>
          <p:cNvSpPr>
            <a:spLocks noGrp="1" noChangeArrowheads="1"/>
          </p:cNvSpPr>
          <p:nvPr>
            <p:ph type="ctrTitle"/>
          </p:nvPr>
        </p:nvSpPr>
        <p:spPr>
          <a:xfrm>
            <a:off x="760413" y="2264645"/>
            <a:ext cx="7623175" cy="1316755"/>
          </a:xfrm>
        </p:spPr>
        <p:txBody>
          <a:bodyPr/>
          <a:lstStyle>
            <a:lvl1pPr>
              <a:defRPr sz="4000" b="1">
                <a:solidFill>
                  <a:schemeClr val="tx1"/>
                </a:solidFill>
              </a:defRPr>
            </a:lvl1pPr>
          </a:lstStyle>
          <a:p>
            <a:r>
              <a:rPr lang="en-US" altLang="en-US" dirty="0"/>
              <a:t>Click to edit Master title style</a:t>
            </a:r>
          </a:p>
        </p:txBody>
      </p:sp>
      <p:sp>
        <p:nvSpPr>
          <p:cNvPr id="215043" name="Rectangle 3"/>
          <p:cNvSpPr>
            <a:spLocks noGrp="1" noChangeArrowheads="1"/>
          </p:cNvSpPr>
          <p:nvPr>
            <p:ph type="subTitle" idx="1"/>
          </p:nvPr>
        </p:nvSpPr>
        <p:spPr>
          <a:xfrm>
            <a:off x="1295400" y="3657600"/>
            <a:ext cx="6553200" cy="1316755"/>
          </a:xfrm>
        </p:spPr>
        <p:txBody>
          <a:bodyPr anchor="ctr"/>
          <a:lstStyle>
            <a:lvl1pPr marL="0" indent="0" algn="ctr">
              <a:buFont typeface="Wingdings" pitchFamily="2" charset="2"/>
              <a:buNone/>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ltLang="en-US" dirty="0"/>
              <a:t>Click to edit Master subtitle style</a:t>
            </a:r>
          </a:p>
        </p:txBody>
      </p:sp>
      <p:sp>
        <p:nvSpPr>
          <p:cNvPr id="7" name="Rounded Rectangle 6"/>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TextBox 8"/>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10" name="Text Placeholder 3"/>
          <p:cNvSpPr txBox="1">
            <a:spLocks/>
          </p:cNvSpPr>
          <p:nvPr userDrawn="1"/>
        </p:nvSpPr>
        <p:spPr>
          <a:xfrm>
            <a:off x="685800" y="6644714"/>
            <a:ext cx="7404100" cy="213286"/>
          </a:xfrm>
          <a:prstGeom prst="rect">
            <a:avLst/>
          </a:prstGeom>
        </p:spPr>
        <p:txBody>
          <a:bodyPr anchor="ctr"/>
          <a:lstStyle>
            <a:lvl1pPr marL="0" indent="0" algn="l" defTabSz="914400" rtl="0" eaLnBrk="1" latinLnBrk="0" hangingPunct="1">
              <a:spcBef>
                <a:spcPct val="20000"/>
              </a:spcBef>
              <a:buFont typeface="Arial" pitchFamily="34" charset="0"/>
              <a:buNone/>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dirty="0">
                <a:solidFill>
                  <a:prstClr val="black"/>
                </a:solidFill>
                <a:latin typeface="Calibri" panose="020F0502020204030204" pitchFamily="34" charset="0"/>
                <a:cs typeface="Calibri" panose="020F0502020204030204" pitchFamily="34" charset="0"/>
              </a:rPr>
              <a:t>© 2020 McGraw-Hill Education.</a:t>
            </a:r>
          </a:p>
        </p:txBody>
      </p:sp>
    </p:spTree>
    <p:extLst>
      <p:ext uri="{BB962C8B-B14F-4D97-AF65-F5344CB8AC3E}">
        <p14:creationId xmlns:p14="http://schemas.microsoft.com/office/powerpoint/2010/main" val="4165537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bove title">
    <p:spTree>
      <p:nvGrpSpPr>
        <p:cNvPr id="1" name=""/>
        <p:cNvGrpSpPr/>
        <p:nvPr/>
      </p:nvGrpSpPr>
      <p:grpSpPr>
        <a:xfrm>
          <a:off x="0" y="0"/>
          <a:ext cx="0" cy="0"/>
          <a:chOff x="0" y="0"/>
          <a:chExt cx="0" cy="0"/>
        </a:xfrm>
      </p:grpSpPr>
      <p:sp>
        <p:nvSpPr>
          <p:cNvPr id="6" name="Title 1"/>
          <p:cNvSpPr>
            <a:spLocks noGrp="1"/>
          </p:cNvSpPr>
          <p:nvPr>
            <p:ph type="title"/>
          </p:nvPr>
        </p:nvSpPr>
        <p:spPr>
          <a:xfrm>
            <a:off x="457200" y="2667000"/>
            <a:ext cx="8229600" cy="1139825"/>
          </a:xfrm>
        </p:spPr>
        <p:txBody>
          <a:bodyPr anchor="ctr"/>
          <a:lstStyle>
            <a:lvl1pPr>
              <a:defRPr sz="3600">
                <a:solidFill>
                  <a:srgbClr val="000000"/>
                </a:solidFill>
              </a:defRPr>
            </a:lvl1pPr>
          </a:lstStyle>
          <a:p>
            <a:r>
              <a:rPr lang="en-US" dirty="0"/>
              <a:t>Click to edit Master title style</a:t>
            </a:r>
          </a:p>
        </p:txBody>
      </p:sp>
      <p:sp>
        <p:nvSpPr>
          <p:cNvPr id="7" name="TextBox 6"/>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272501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4" name="Line 8"/>
          <p:cNvSpPr>
            <a:spLocks noChangeShapeType="1"/>
          </p:cNvSpPr>
          <p:nvPr/>
        </p:nvSpPr>
        <p:spPr bwMode="auto">
          <a:xfrm>
            <a:off x="1371600" y="3581400"/>
            <a:ext cx="6511925" cy="0"/>
          </a:xfrm>
          <a:prstGeom prst="line">
            <a:avLst/>
          </a:prstGeom>
          <a:noFill/>
          <a:ln w="19050">
            <a:solidFill>
              <a:schemeClr val="accent1"/>
            </a:solidFill>
            <a:round/>
            <a:headEnd/>
            <a:tailEnd/>
          </a:ln>
          <a:effectLst/>
        </p:spPr>
        <p:txBody>
          <a:bodyPr/>
          <a:lstStyle/>
          <a:p>
            <a:pPr>
              <a:defRPr/>
            </a:pPr>
            <a:endParaRPr lang="en-US" dirty="0">
              <a:latin typeface="Arial" charset="0"/>
            </a:endParaRPr>
          </a:p>
        </p:txBody>
      </p:sp>
      <p:sp>
        <p:nvSpPr>
          <p:cNvPr id="6" name="Rounded Rectangle 5"/>
          <p:cNvSpPr/>
          <p:nvPr/>
        </p:nvSpPr>
        <p:spPr>
          <a:xfrm>
            <a:off x="228599" y="84138"/>
            <a:ext cx="8651299" cy="63928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5042" name="Rectangle 2"/>
          <p:cNvSpPr>
            <a:spLocks noGrp="1" noChangeArrowheads="1"/>
          </p:cNvSpPr>
          <p:nvPr>
            <p:ph type="ctrTitle"/>
          </p:nvPr>
        </p:nvSpPr>
        <p:spPr>
          <a:xfrm>
            <a:off x="838200" y="1447800"/>
            <a:ext cx="7623175" cy="1752600"/>
          </a:xfrm>
        </p:spPr>
        <p:txBody>
          <a:bodyPr/>
          <a:lstStyle>
            <a:lvl1pPr>
              <a:defRPr sz="5000">
                <a:solidFill>
                  <a:schemeClr val="tx1"/>
                </a:solidFill>
              </a:defRPr>
            </a:lvl1pPr>
          </a:lstStyle>
          <a:p>
            <a:r>
              <a:rPr lang="en-US" altLang="en-US" dirty="0"/>
              <a:t>Click to edit Master title style</a:t>
            </a:r>
          </a:p>
        </p:txBody>
      </p:sp>
      <p:sp>
        <p:nvSpPr>
          <p:cNvPr id="215043" name="Rectangle 3"/>
          <p:cNvSpPr>
            <a:spLocks noGrp="1" noChangeArrowheads="1"/>
          </p:cNvSpPr>
          <p:nvPr>
            <p:ph type="subTitle" idx="1"/>
          </p:nvPr>
        </p:nvSpPr>
        <p:spPr>
          <a:xfrm>
            <a:off x="1350962" y="3840842"/>
            <a:ext cx="6553200" cy="1752600"/>
          </a:xfrm>
        </p:spPr>
        <p:txBody>
          <a:bodyPr/>
          <a:lstStyle>
            <a:lvl1pPr marL="0" indent="0">
              <a:buFont typeface="Wingdings" pitchFamily="2" charset="2"/>
              <a:buNone/>
              <a:defRPr sz="2800">
                <a:solidFill>
                  <a:schemeClr val="tx1"/>
                </a:solidFill>
                <a:latin typeface="Arial Rounded MT Bold" pitchFamily="34" charset="0"/>
              </a:defRPr>
            </a:lvl1pPr>
          </a:lstStyle>
          <a:p>
            <a:r>
              <a:rPr lang="en-US" altLang="en-US"/>
              <a:t>Click to edit Master subtitle style</a:t>
            </a:r>
            <a:endParaRPr lang="en-US" altLang="en-US" dirty="0"/>
          </a:p>
        </p:txBody>
      </p:sp>
      <p:sp>
        <p:nvSpPr>
          <p:cNvPr id="7" name="Rounded Rectangle 6"/>
          <p:cNvSpPr/>
          <p:nvPr userDrawn="1"/>
        </p:nvSpPr>
        <p:spPr>
          <a:xfrm>
            <a:off x="228600" y="84138"/>
            <a:ext cx="8651298" cy="63928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 name="Text Placeholder 2"/>
          <p:cNvSpPr>
            <a:spLocks noGrp="1"/>
          </p:cNvSpPr>
          <p:nvPr>
            <p:ph type="body" sz="quarter" idx="10"/>
          </p:nvPr>
        </p:nvSpPr>
        <p:spPr>
          <a:xfrm>
            <a:off x="2743200" y="5943600"/>
            <a:ext cx="2362200" cy="304800"/>
          </a:xfrm>
        </p:spPr>
        <p:txBody>
          <a:bodyPr/>
          <a:lstStyle>
            <a:lvl1pPr marL="0" indent="0">
              <a:buNone/>
              <a:defRPr/>
            </a:lvl1pPr>
          </a:lstStyle>
          <a:p>
            <a:pPr lvl="0"/>
            <a:endParaRPr lang="en-US" dirty="0"/>
          </a:p>
        </p:txBody>
      </p:sp>
    </p:spTree>
    <p:extLst>
      <p:ext uri="{BB962C8B-B14F-4D97-AF65-F5344CB8AC3E}">
        <p14:creationId xmlns:p14="http://schemas.microsoft.com/office/powerpoint/2010/main" val="694234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Figure + Caption">
    <p:spTree>
      <p:nvGrpSpPr>
        <p:cNvPr id="1" name=""/>
        <p:cNvGrpSpPr/>
        <p:nvPr/>
      </p:nvGrpSpPr>
      <p:grpSpPr>
        <a:xfrm>
          <a:off x="0" y="0"/>
          <a:ext cx="0" cy="0"/>
          <a:chOff x="0" y="0"/>
          <a:chExt cx="0" cy="0"/>
        </a:xfrm>
      </p:grpSpPr>
      <p:sp>
        <p:nvSpPr>
          <p:cNvPr id="9" name="Rounded Rectangle 8"/>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TextBox 10"/>
          <p:cNvSpPr txBox="1"/>
          <p:nvPr userDrawn="1"/>
        </p:nvSpPr>
        <p:spPr>
          <a:xfrm>
            <a:off x="8610600" y="6581001"/>
            <a:ext cx="685800" cy="276999"/>
          </a:xfrm>
          <a:prstGeom prst="rect">
            <a:avLst/>
          </a:prstGeom>
          <a:noFill/>
        </p:spPr>
        <p:txBody>
          <a:bodyPr wrap="square">
            <a:spAutoFit/>
          </a:bodyPr>
          <a:lstStyle/>
          <a:p>
            <a:pPr>
              <a:defRPr/>
            </a:pPr>
            <a:r>
              <a:rPr lang="en-US" sz="1200" dirty="0">
                <a:latin typeface="Verdana" panose="020B0604030504040204" pitchFamily="34" charset="0"/>
                <a:ea typeface="Verdana" panose="020B0604030504040204" pitchFamily="34" charset="0"/>
                <a:cs typeface="Verdana" panose="020B0604030504040204" pitchFamily="34" charset="0"/>
              </a:rPr>
              <a:t>5-</a:t>
            </a:r>
            <a:fld id="{4EA64432-D7FB-474E-9793-C1F507CC04A8}" type="slidenum">
              <a:rPr lang="en-US" sz="1200" smtClean="0">
                <a:latin typeface="Verdana" panose="020B0604030504040204" pitchFamily="34" charset="0"/>
                <a:ea typeface="Verdana" panose="020B0604030504040204" pitchFamily="34" charset="0"/>
                <a:cs typeface="Verdana" panose="020B0604030504040204" pitchFamily="34" charset="0"/>
              </a:rPr>
              <a:pPr>
                <a:defRPr/>
              </a:pPr>
              <a:t>‹#›</a:t>
            </a:fld>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12" name="Title 1"/>
          <p:cNvSpPr>
            <a:spLocks noGrp="1"/>
          </p:cNvSpPr>
          <p:nvPr>
            <p:ph type="title"/>
          </p:nvPr>
        </p:nvSpPr>
        <p:spPr>
          <a:xfrm>
            <a:off x="457200" y="277813"/>
            <a:ext cx="8229600" cy="1139825"/>
          </a:xfrm>
        </p:spPr>
        <p:txBody>
          <a:bodyPr anchor="ctr"/>
          <a:lstStyle>
            <a:lvl1pPr>
              <a:defRPr sz="3600">
                <a:solidFill>
                  <a:schemeClr val="tx1"/>
                </a:solidFill>
              </a:defRPr>
            </a:lvl1pPr>
          </a:lstStyle>
          <a:p>
            <a:r>
              <a:rPr lang="en-US" dirty="0"/>
              <a:t>Click to edit Master title style</a:t>
            </a:r>
          </a:p>
        </p:txBody>
      </p:sp>
      <p:sp>
        <p:nvSpPr>
          <p:cNvPr id="3" name="Content Placeholder 2"/>
          <p:cNvSpPr>
            <a:spLocks noGrp="1"/>
          </p:cNvSpPr>
          <p:nvPr>
            <p:ph sz="quarter" idx="14"/>
          </p:nvPr>
        </p:nvSpPr>
        <p:spPr>
          <a:xfrm>
            <a:off x="457200" y="1524000"/>
            <a:ext cx="8229600" cy="426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15"/>
          </p:nvPr>
        </p:nvSpPr>
        <p:spPr>
          <a:xfrm>
            <a:off x="685800" y="4419600"/>
            <a:ext cx="79248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3"/>
          </p:nvPr>
        </p:nvSpPr>
        <p:spPr>
          <a:xfrm>
            <a:off x="457200" y="5791200"/>
            <a:ext cx="8153400" cy="493816"/>
          </a:xfrm>
          <a:prstGeom prst="rect">
            <a:avLst/>
          </a:prstGeom>
        </p:spPr>
        <p:txBody>
          <a:bodyPr anchor="b"/>
          <a:lstStyle>
            <a:lvl1pPr marL="0" indent="0" algn="ctr">
              <a:spcBef>
                <a:spcPts val="0"/>
              </a:spcBef>
              <a:buNone/>
              <a:defRPr sz="22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edit Master text styles</a:t>
            </a:r>
          </a:p>
        </p:txBody>
      </p:sp>
      <p:sp>
        <p:nvSpPr>
          <p:cNvPr id="5" name="Content Placeholder 4"/>
          <p:cNvSpPr>
            <a:spLocks noGrp="1"/>
          </p:cNvSpPr>
          <p:nvPr>
            <p:ph sz="quarter" idx="16"/>
          </p:nvPr>
        </p:nvSpPr>
        <p:spPr>
          <a:xfrm>
            <a:off x="4387850" y="2514600"/>
            <a:ext cx="407035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
            <a:extLst>
              <a:ext uri="{FF2B5EF4-FFF2-40B4-BE49-F238E27FC236}">
                <a16:creationId xmlns:a16="http://schemas.microsoft.com/office/drawing/2014/main" id="{195B6CFC-C1DA-4699-AE78-3149A06F0FB9}"/>
              </a:ext>
            </a:extLst>
          </p:cNvPr>
          <p:cNvSpPr txBox="1">
            <a:spLocks/>
          </p:cNvSpPr>
          <p:nvPr userDrawn="1"/>
        </p:nvSpPr>
        <p:spPr>
          <a:xfrm>
            <a:off x="685800" y="6629400"/>
            <a:ext cx="7404100" cy="283885"/>
          </a:xfrm>
          <a:prstGeom prst="rect">
            <a:avLst/>
          </a:prstGeom>
        </p:spPr>
        <p:txBody>
          <a:bodyPr anchor="ctr"/>
          <a:lstStyle>
            <a:lvl1pPr marL="0" indent="0" algn="l" defTabSz="914400" rtl="0" eaLnBrk="1" latinLnBrk="0" hangingPunct="1">
              <a:spcBef>
                <a:spcPct val="20000"/>
              </a:spcBef>
              <a:buFont typeface="Arial" pitchFamily="34" charset="0"/>
              <a:buNone/>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dirty="0">
                <a:solidFill>
                  <a:prstClr val="black"/>
                </a:solidFill>
                <a:latin typeface="Verdana" panose="020B0604030504040204" pitchFamily="34" charset="0"/>
                <a:ea typeface="Verdana" panose="020B0604030504040204" pitchFamily="34" charset="0"/>
                <a:cs typeface="Verdana" panose="020B0604030504040204" pitchFamily="34" charset="0"/>
              </a:rPr>
              <a:t>© 2020 McGraw-Hill Education.</a:t>
            </a:r>
          </a:p>
        </p:txBody>
      </p:sp>
    </p:spTree>
    <p:extLst>
      <p:ext uri="{BB962C8B-B14F-4D97-AF65-F5344CB8AC3E}">
        <p14:creationId xmlns:p14="http://schemas.microsoft.com/office/powerpoint/2010/main" val="3165864773"/>
      </p:ext>
    </p:extLst>
  </p:cSld>
  <p:clrMapOvr>
    <a:masterClrMapping/>
  </p:clrMapOvr>
  <p:transition spd="slow"/>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6934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57200" y="457200"/>
            <a:ext cx="8229600" cy="1066800"/>
          </a:xfrm>
        </p:spPr>
        <p:txBody>
          <a:bodyPr>
            <a:normAutofit/>
          </a:bodyPr>
          <a:lstStyle>
            <a:lvl1pPr>
              <a:defRPr sz="4000"/>
            </a:lvl1pPr>
          </a:lstStyle>
          <a:p>
            <a:r>
              <a:rPr lang="en-US" dirty="0"/>
              <a:t>Click to edit Master title style</a:t>
            </a:r>
          </a:p>
        </p:txBody>
      </p:sp>
    </p:spTree>
    <p:extLst>
      <p:ext uri="{BB962C8B-B14F-4D97-AF65-F5344CB8AC3E}">
        <p14:creationId xmlns:p14="http://schemas.microsoft.com/office/powerpoint/2010/main" val="2531123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64820"/>
            <a:ext cx="8229600" cy="1097280"/>
          </a:xfrm>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94590" y="6283715"/>
            <a:ext cx="6400800" cy="228600"/>
          </a:xfrm>
          <a:prstGeom prst="roundRect">
            <a:avLst/>
          </a:prstGeom>
          <a:solidFill>
            <a:srgbClr val="FFFFCC"/>
          </a:solidFill>
          <a:ln>
            <a:solidFill>
              <a:srgbClr val="385D8A"/>
            </a:solidFill>
          </a:ln>
        </p:spPr>
        <p:txBody>
          <a:bodyPr anchor="ctr">
            <a:noAutofit/>
          </a:bodyPr>
          <a:lstStyle>
            <a:lvl1pPr marL="0" indent="0">
              <a:buNone/>
              <a:defRPr sz="1100">
                <a:latin typeface="Arial" panose="020B0604020202020204" pitchFamily="34" charset="0"/>
                <a:cs typeface="Arial" panose="020B0604020202020204" pitchFamily="34" charset="0"/>
              </a:defRPr>
            </a:lvl1pPr>
          </a:lstStyle>
          <a:p>
            <a:pPr lvl="0"/>
            <a:r>
              <a:rPr lang="en-US" dirty="0"/>
              <a:t>Edit Master text styles</a:t>
            </a:r>
          </a:p>
        </p:txBody>
      </p:sp>
      <p:sp>
        <p:nvSpPr>
          <p:cNvPr id="9" name="Content Placeholder 3"/>
          <p:cNvSpPr>
            <a:spLocks noGrp="1"/>
          </p:cNvSpPr>
          <p:nvPr>
            <p:ph idx="15"/>
          </p:nvPr>
        </p:nvSpPr>
        <p:spPr>
          <a:xfrm>
            <a:off x="7372641" y="1842932"/>
            <a:ext cx="1069848" cy="649224"/>
          </a:xfrm>
          <a:solidFill>
            <a:srgbClr val="FFFF99"/>
          </a:solidFill>
        </p:spPr>
        <p:txBody>
          <a:bodyPr>
            <a:noAutofit/>
          </a:bodyPr>
          <a:lstStyle>
            <a:lvl1pPr marL="0" indent="0" algn="ctr">
              <a:buNone/>
              <a:defRPr sz="1800"/>
            </a:lvl1pPr>
          </a:lstStyle>
          <a:p>
            <a:pPr lvl="0"/>
            <a:r>
              <a:rPr lang="en-US" dirty="0"/>
              <a:t>Edit Master text styles</a:t>
            </a:r>
          </a:p>
        </p:txBody>
      </p:sp>
      <p:sp>
        <p:nvSpPr>
          <p:cNvPr id="7" name="Content Placeholder 4"/>
          <p:cNvSpPr>
            <a:spLocks noGrp="1"/>
          </p:cNvSpPr>
          <p:nvPr>
            <p:ph idx="13"/>
          </p:nvPr>
        </p:nvSpPr>
        <p:spPr>
          <a:xfrm>
            <a:off x="457200" y="2543056"/>
            <a:ext cx="8229600" cy="914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idx="41"/>
          </p:nvPr>
        </p:nvSpPr>
        <p:spPr>
          <a:xfrm>
            <a:off x="7525041" y="3567809"/>
            <a:ext cx="1069848" cy="649224"/>
          </a:xfrm>
          <a:solidFill>
            <a:srgbClr val="FFFF99"/>
          </a:solidFill>
        </p:spPr>
        <p:txBody>
          <a:bodyPr>
            <a:noAutofit/>
          </a:bodyPr>
          <a:lstStyle>
            <a:lvl1pPr marL="0" indent="0" algn="ctr">
              <a:buNone/>
              <a:defRPr sz="1800"/>
            </a:lvl1pPr>
          </a:lstStyle>
          <a:p>
            <a:pPr lvl="0"/>
            <a:r>
              <a:rPr lang="en-US" dirty="0"/>
              <a:t>Edit Master text styles</a:t>
            </a:r>
          </a:p>
        </p:txBody>
      </p:sp>
      <p:sp>
        <p:nvSpPr>
          <p:cNvPr id="8" name="Content Placeholder 5"/>
          <p:cNvSpPr>
            <a:spLocks noGrp="1"/>
          </p:cNvSpPr>
          <p:nvPr>
            <p:ph idx="14"/>
          </p:nvPr>
        </p:nvSpPr>
        <p:spPr>
          <a:xfrm>
            <a:off x="457200" y="4334784"/>
            <a:ext cx="8229600" cy="914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Appendix Link"/>
          <p:cNvSpPr>
            <a:spLocks noGrp="1"/>
          </p:cNvSpPr>
          <p:nvPr>
            <p:ph type="body" sz="quarter" idx="40"/>
          </p:nvPr>
        </p:nvSpPr>
        <p:spPr>
          <a:xfrm>
            <a:off x="3200400" y="6626787"/>
            <a:ext cx="2743200" cy="192024"/>
          </a:xfrm>
        </p:spPr>
        <p:txBody>
          <a:bodyPr anchor="ctr">
            <a:noAutofit/>
          </a:bodyPr>
          <a:lstStyle>
            <a:lvl1pPr marL="0" indent="0" algn="ctr">
              <a:buNone/>
              <a:defRPr sz="1200"/>
            </a:lvl1pPr>
          </a:lstStyle>
          <a:p>
            <a:pPr lvl="0"/>
            <a:r>
              <a:rPr lang="en-US"/>
              <a:t>Click to edit Master text styles</a:t>
            </a:r>
          </a:p>
        </p:txBody>
      </p:sp>
      <p:sp>
        <p:nvSpPr>
          <p:cNvPr id="4" name="Slide Number Placeholder 6">
            <a:extLst>
              <a:ext uri="{FF2B5EF4-FFF2-40B4-BE49-F238E27FC236}">
                <a16:creationId xmlns:a16="http://schemas.microsoft.com/office/drawing/2014/main" id="{8C100A09-A532-84F6-907C-8AE4857C6B2E}"/>
              </a:ext>
            </a:extLst>
          </p:cNvPr>
          <p:cNvSpPr>
            <a:spLocks noGrp="1"/>
          </p:cNvSpPr>
          <p:nvPr>
            <p:ph type="sldNum" sz="quarter" idx="42"/>
          </p:nvPr>
        </p:nvSpPr>
        <p:spPr>
          <a:xfrm>
            <a:off x="0" y="0"/>
            <a:ext cx="0" cy="0"/>
          </a:xfrm>
        </p:spPr>
        <p:txBody>
          <a:bodyPr/>
          <a:lstStyle>
            <a:lvl1pPr>
              <a:defRPr/>
            </a:lvl1pPr>
          </a:lstStyle>
          <a:p>
            <a:pPr>
              <a:defRPr/>
            </a:pPr>
            <a:r>
              <a:rPr lang="en-IN"/>
              <a:t>19-</a:t>
            </a:r>
            <a:fld id="{3A8BBA49-9259-401C-AFA7-DB4BC475F984}" type="slidenum">
              <a:rPr lang="en-IN"/>
              <a:pPr>
                <a:defRPr/>
              </a:pPr>
              <a:t>‹#›</a:t>
            </a:fld>
            <a:endParaRPr lang="en-IN"/>
          </a:p>
        </p:txBody>
      </p:sp>
    </p:spTree>
    <p:extLst>
      <p:ext uri="{BB962C8B-B14F-4D97-AF65-F5344CB8AC3E}">
        <p14:creationId xmlns:p14="http://schemas.microsoft.com/office/powerpoint/2010/main" val="1323680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20483" name="Rectangle 3"/>
          <p:cNvSpPr>
            <a:spLocks noGrp="1" noChangeArrowheads="1"/>
          </p:cNvSpPr>
          <p:nvPr>
            <p:ph type="body" idx="1"/>
          </p:nvPr>
        </p:nvSpPr>
        <p:spPr bwMode="auto">
          <a:xfrm>
            <a:off x="457200" y="1600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8" name="Rounded Rectangle 7"/>
          <p:cNvSpPr/>
          <p:nvPr/>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Rounded Rectangle 8"/>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Text Placeholder 3"/>
          <p:cNvSpPr txBox="1">
            <a:spLocks/>
          </p:cNvSpPr>
          <p:nvPr userDrawn="1"/>
        </p:nvSpPr>
        <p:spPr>
          <a:xfrm>
            <a:off x="685800" y="6644714"/>
            <a:ext cx="7404100" cy="213286"/>
          </a:xfrm>
          <a:prstGeom prst="rect">
            <a:avLst/>
          </a:prstGeom>
        </p:spPr>
        <p:txBody>
          <a:bodyPr anchor="ctr"/>
          <a:lstStyle>
            <a:lvl1pPr marL="0" indent="0" algn="l" defTabSz="914400" rtl="0" eaLnBrk="1" latinLnBrk="0" hangingPunct="1">
              <a:spcBef>
                <a:spcPct val="20000"/>
              </a:spcBef>
              <a:buFont typeface="Arial" pitchFamily="34" charset="0"/>
              <a:buNone/>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dirty="0">
                <a:solidFill>
                  <a:prstClr val="black"/>
                </a:solidFill>
                <a:latin typeface="Calibri" panose="020F0502020204030204" pitchFamily="34" charset="0"/>
                <a:cs typeface="Calibri" panose="020F0502020204030204" pitchFamily="34" charset="0"/>
              </a:rPr>
              <a:t>© 2020 McGraw-Hill Education.</a:t>
            </a:r>
          </a:p>
        </p:txBody>
      </p:sp>
    </p:spTree>
    <p:extLst>
      <p:ext uri="{BB962C8B-B14F-4D97-AF65-F5344CB8AC3E}">
        <p14:creationId xmlns:p14="http://schemas.microsoft.com/office/powerpoint/2010/main" val="2438234396"/>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72" r:id="rId8"/>
    <p:sldLayoutId id="2147483973" r:id="rId9"/>
    <p:sldLayoutId id="2147483974" r:id="rId10"/>
    <p:sldLayoutId id="2147483975" r:id="rId11"/>
  </p:sldLayoutIdLst>
  <p:hf hdr="0" dt="0"/>
  <p:txStyles>
    <p:titleStyle>
      <a:lvl1pPr algn="ctr" rtl="0" eaLnBrk="1" fontAlgn="base" hangingPunct="1">
        <a:spcBef>
          <a:spcPct val="0"/>
        </a:spcBef>
        <a:spcAft>
          <a:spcPct val="0"/>
        </a:spcAft>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rtl="0" eaLnBrk="1" fontAlgn="base" hangingPunct="1">
        <a:spcBef>
          <a:spcPct val="0"/>
        </a:spcBef>
        <a:spcAft>
          <a:spcPct val="0"/>
        </a:spcAft>
        <a:defRPr sz="4200">
          <a:solidFill>
            <a:schemeClr val="tx2"/>
          </a:solidFill>
          <a:latin typeface="Arial" charset="0"/>
        </a:defRPr>
      </a:lvl2pPr>
      <a:lvl3pPr algn="l" rtl="0" eaLnBrk="1" fontAlgn="base" hangingPunct="1">
        <a:spcBef>
          <a:spcPct val="0"/>
        </a:spcBef>
        <a:spcAft>
          <a:spcPct val="0"/>
        </a:spcAft>
        <a:defRPr sz="4200">
          <a:solidFill>
            <a:schemeClr val="tx2"/>
          </a:solidFill>
          <a:latin typeface="Arial" charset="0"/>
        </a:defRPr>
      </a:lvl3pPr>
      <a:lvl4pPr algn="l" rtl="0" eaLnBrk="1" fontAlgn="base" hangingPunct="1">
        <a:spcBef>
          <a:spcPct val="0"/>
        </a:spcBef>
        <a:spcAft>
          <a:spcPct val="0"/>
        </a:spcAft>
        <a:defRPr sz="4200">
          <a:solidFill>
            <a:schemeClr val="tx2"/>
          </a:solidFill>
          <a:latin typeface="Arial" charset="0"/>
        </a:defRPr>
      </a:lvl4pPr>
      <a:lvl5pPr algn="l" rtl="0" eaLnBrk="1" fontAlgn="base" hangingPunct="1">
        <a:spcBef>
          <a:spcPct val="0"/>
        </a:spcBef>
        <a:spcAft>
          <a:spcPct val="0"/>
        </a:spcAft>
        <a:defRPr sz="4200">
          <a:solidFill>
            <a:schemeClr val="tx2"/>
          </a:solidFill>
          <a:latin typeface="Arial" charset="0"/>
        </a:defRPr>
      </a:lvl5pPr>
      <a:lvl6pPr marL="457200" algn="l" rtl="0" eaLnBrk="1" fontAlgn="base" hangingPunct="1">
        <a:spcBef>
          <a:spcPct val="0"/>
        </a:spcBef>
        <a:spcAft>
          <a:spcPct val="0"/>
        </a:spcAft>
        <a:defRPr sz="4200">
          <a:solidFill>
            <a:schemeClr val="tx2"/>
          </a:solidFill>
          <a:latin typeface="Arial" charset="0"/>
        </a:defRPr>
      </a:lvl6pPr>
      <a:lvl7pPr marL="914400" algn="l" rtl="0" eaLnBrk="1" fontAlgn="base" hangingPunct="1">
        <a:spcBef>
          <a:spcPct val="0"/>
        </a:spcBef>
        <a:spcAft>
          <a:spcPct val="0"/>
        </a:spcAft>
        <a:defRPr sz="4200">
          <a:solidFill>
            <a:schemeClr val="tx2"/>
          </a:solidFill>
          <a:latin typeface="Arial" charset="0"/>
        </a:defRPr>
      </a:lvl7pPr>
      <a:lvl8pPr marL="1371600" algn="l" rtl="0" eaLnBrk="1" fontAlgn="base" hangingPunct="1">
        <a:spcBef>
          <a:spcPct val="0"/>
        </a:spcBef>
        <a:spcAft>
          <a:spcPct val="0"/>
        </a:spcAft>
        <a:defRPr sz="4200">
          <a:solidFill>
            <a:schemeClr val="tx2"/>
          </a:solidFill>
          <a:latin typeface="Arial" charset="0"/>
        </a:defRPr>
      </a:lvl8pPr>
      <a:lvl9pPr marL="1828800" algn="l" rtl="0" eaLnBrk="1" fontAlgn="base" hangingPunct="1">
        <a:spcBef>
          <a:spcPct val="0"/>
        </a:spcBef>
        <a:spcAft>
          <a:spcPct val="0"/>
        </a:spcAft>
        <a:defRPr sz="4200">
          <a:solidFill>
            <a:schemeClr val="tx2"/>
          </a:solidFill>
          <a:latin typeface="Arial" charset="0"/>
        </a:defRPr>
      </a:lvl9pPr>
    </p:titleStyle>
    <p:bodyStyle>
      <a:lvl1pPr marL="457200" indent="-457200" algn="l" rtl="0" eaLnBrk="1" fontAlgn="base" hangingPunct="1">
        <a:spcBef>
          <a:spcPct val="20000"/>
        </a:spcBef>
        <a:spcAft>
          <a:spcPct val="0"/>
        </a:spcAft>
        <a:buClrTx/>
        <a:buSzPct val="100000"/>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69925" indent="-325438" algn="l" rtl="0" eaLnBrk="1" fontAlgn="base" hangingPunct="1">
        <a:spcBef>
          <a:spcPct val="20000"/>
        </a:spcBef>
        <a:spcAft>
          <a:spcPct val="0"/>
        </a:spcAft>
        <a:buClrTx/>
        <a:buSzPct val="100000"/>
        <a:buFont typeface="Verdana" panose="020B0604030504040204" pitchFamily="34" charset="0"/>
        <a:buChar char="–"/>
        <a:defRPr sz="24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014412" indent="-342900" algn="l" rtl="0" eaLnBrk="1" fontAlgn="base" hangingPunct="1">
        <a:spcBef>
          <a:spcPct val="20000"/>
        </a:spcBef>
        <a:spcAft>
          <a:spcPct val="0"/>
        </a:spcAft>
        <a:buClrTx/>
        <a:buSzPct val="100000"/>
        <a:buFont typeface="Wingdings" panose="05000000000000000000" pitchFamily="2" charset="2"/>
        <a:buChar char="§"/>
        <a:defRPr sz="2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66837" indent="-342900" algn="l" rtl="0" eaLnBrk="1" fontAlgn="base" hangingPunct="1">
        <a:spcBef>
          <a:spcPct val="20000"/>
        </a:spcBef>
        <a:spcAft>
          <a:spcPct val="0"/>
        </a:spcAft>
        <a:buClr>
          <a:schemeClr val="accent2"/>
        </a:buClr>
        <a:buSzPct val="70000"/>
        <a:buFont typeface="Courier New" panose="02070309020205020404" pitchFamily="49" charset="0"/>
        <a:buChar char="o"/>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6811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slide" Target="slide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wmf"/></Relationships>
</file>

<file path=ppt/slides/_rels/slide1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9.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10.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3.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p:cNvSpPr>
            <a:spLocks noGrp="1"/>
          </p:cNvSpPr>
          <p:nvPr>
            <p:ph type="body" sz="quarter" idx="4294967295"/>
          </p:nvPr>
        </p:nvSpPr>
        <p:spPr>
          <a:xfrm>
            <a:off x="304800" y="6456530"/>
            <a:ext cx="8700655" cy="401470"/>
          </a:xfrm>
          <a:prstGeom prst="rect">
            <a:avLst/>
          </a:prstGeom>
        </p:spPr>
        <p:txBody>
          <a:bodyPr/>
          <a:lstStyle/>
          <a:p>
            <a:pPr marL="0" indent="0" algn="ctr">
              <a:buNone/>
            </a:pPr>
            <a:r>
              <a:rPr lang="en-US" sz="1200" dirty="0"/>
              <a:t>© 2020 McGraw-Hill Education. All rights reserved. Authorized only for instructor use in the classroom. No reproduction or further distribution permitted without the prior written consent of McGraw-Hill Education.</a:t>
            </a:r>
          </a:p>
        </p:txBody>
      </p:sp>
      <p:sp>
        <p:nvSpPr>
          <p:cNvPr id="2" name="Title 1">
            <a:extLst>
              <a:ext uri="{FF2B5EF4-FFF2-40B4-BE49-F238E27FC236}">
                <a16:creationId xmlns:a16="http://schemas.microsoft.com/office/drawing/2014/main" id="{A1318B0D-B127-011A-4388-390CD35125ED}"/>
              </a:ext>
            </a:extLst>
          </p:cNvPr>
          <p:cNvSpPr>
            <a:spLocks noGrp="1"/>
          </p:cNvSpPr>
          <p:nvPr>
            <p:ph type="ctrTitle"/>
          </p:nvPr>
        </p:nvSpPr>
        <p:spPr/>
        <p:txBody>
          <a:bodyPr/>
          <a:lstStyle/>
          <a:p>
            <a:r>
              <a:rPr lang="en-US" b="1" dirty="0">
                <a:solidFill>
                  <a:srgbClr val="FF0000"/>
                </a:solidFill>
              </a:rPr>
              <a:t>LECTURE TWO</a:t>
            </a:r>
          </a:p>
        </p:txBody>
      </p:sp>
      <p:sp>
        <p:nvSpPr>
          <p:cNvPr id="3" name="Subtitle 2">
            <a:extLst>
              <a:ext uri="{FF2B5EF4-FFF2-40B4-BE49-F238E27FC236}">
                <a16:creationId xmlns:a16="http://schemas.microsoft.com/office/drawing/2014/main" id="{35ADEA86-D288-A41D-3F20-6786FFD15DF7}"/>
              </a:ext>
            </a:extLst>
          </p:cNvPr>
          <p:cNvSpPr>
            <a:spLocks noGrp="1"/>
          </p:cNvSpPr>
          <p:nvPr>
            <p:ph type="subTitle" idx="1"/>
          </p:nvPr>
        </p:nvSpPr>
        <p:spPr/>
        <p:txBody>
          <a:bodyPr/>
          <a:lstStyle/>
          <a:p>
            <a:r>
              <a:rPr lang="en-US" dirty="0">
                <a:solidFill>
                  <a:srgbClr val="0033CC"/>
                </a:solidFill>
              </a:rPr>
              <a:t>COST –VOLUME-PROFIT ANALYSIS</a:t>
            </a:r>
          </a:p>
          <a:p>
            <a:r>
              <a:rPr lang="en-US" dirty="0">
                <a:solidFill>
                  <a:srgbClr val="0033CC"/>
                </a:solidFill>
              </a:rPr>
              <a:t>     “BREAK EVEN ANALYSIS</a:t>
            </a:r>
            <a:r>
              <a:rPr lang="en-US" dirty="0"/>
              <a:t>”</a:t>
            </a:r>
          </a:p>
        </p:txBody>
      </p:sp>
    </p:spTree>
    <p:extLst>
      <p:ext uri="{BB962C8B-B14F-4D97-AF65-F5344CB8AC3E}">
        <p14:creationId xmlns:p14="http://schemas.microsoft.com/office/powerpoint/2010/main" val="2804274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FA1089-0B4D-4812-BA8A-89D7F585E0FE}"/>
              </a:ext>
            </a:extLst>
          </p:cNvPr>
          <p:cNvSpPr>
            <a:spLocks noGrp="1"/>
          </p:cNvSpPr>
          <p:nvPr>
            <p:ph type="title"/>
          </p:nvPr>
        </p:nvSpPr>
        <p:spPr/>
        <p:txBody>
          <a:bodyPr/>
          <a:lstStyle/>
          <a:p>
            <a:r>
              <a:rPr lang="en-US" dirty="0"/>
              <a:t>Contribution Margin Income Statement</a:t>
            </a:r>
          </a:p>
        </p:txBody>
      </p:sp>
      <p:pic>
        <p:nvPicPr>
          <p:cNvPr id="9" name="Picture 2" descr="An income statement showing contribution margin for Starbucks Coffee is shown.">
            <a:extLst>
              <a:ext uri="{FF2B5EF4-FFF2-40B4-BE49-F238E27FC236}">
                <a16:creationId xmlns:a16="http://schemas.microsoft.com/office/drawing/2014/main" id="{6265E492-ECBB-4B8F-A32C-3D8004A954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193" y="1600200"/>
            <a:ext cx="8018702" cy="308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5">
            <a:extLst>
              <a:ext uri="{FF2B5EF4-FFF2-40B4-BE49-F238E27FC236}">
                <a16:creationId xmlns:a16="http://schemas.microsoft.com/office/drawing/2014/main" id="{FC67C0DA-4B2C-4DA9-AAEB-2DCB4515B00A}"/>
              </a:ext>
            </a:extLst>
          </p:cNvPr>
          <p:cNvSpPr>
            <a:spLocks noGrp="1"/>
          </p:cNvSpPr>
          <p:nvPr>
            <p:ph sz="quarter" idx="14"/>
          </p:nvPr>
        </p:nvSpPr>
        <p:spPr>
          <a:xfrm>
            <a:off x="457200" y="6120788"/>
            <a:ext cx="8229600" cy="381000"/>
          </a:xfrm>
        </p:spPr>
        <p:txBody>
          <a:bodyPr/>
          <a:lstStyle/>
          <a:p>
            <a:pPr marL="0" indent="0" algn="ctr">
              <a:buNone/>
            </a:pPr>
            <a:r>
              <a:rPr lang="en-US" sz="1800" dirty="0">
                <a:hlinkClick r:id="rId4" action="ppaction://hlinksldjump"/>
              </a:rPr>
              <a:t>Access the text alternative for slide images</a:t>
            </a:r>
            <a:endParaRPr lang="en-US" sz="1800" dirty="0"/>
          </a:p>
        </p:txBody>
      </p:sp>
      <p:sp>
        <p:nvSpPr>
          <p:cNvPr id="7" name="Content Placeholder 12">
            <a:extLst>
              <a:ext uri="{FF2B5EF4-FFF2-40B4-BE49-F238E27FC236}">
                <a16:creationId xmlns:a16="http://schemas.microsoft.com/office/drawing/2014/main" id="{A21A730D-90BB-4B96-B78C-1111A0E3DEE9}"/>
              </a:ext>
            </a:extLst>
          </p:cNvPr>
          <p:cNvSpPr>
            <a:spLocks noGrp="1"/>
          </p:cNvSpPr>
          <p:nvPr>
            <p:ph type="body" sz="quarter" idx="13"/>
          </p:nvPr>
        </p:nvSpPr>
        <p:spPr>
          <a:xfrm>
            <a:off x="533400" y="4800600"/>
            <a:ext cx="8153400" cy="1036874"/>
          </a:xfrm>
        </p:spPr>
        <p:txBody>
          <a:bodyPr anchor="ctr"/>
          <a:lstStyle/>
          <a:p>
            <a:pPr algn="l"/>
            <a:r>
              <a:rPr lang="en-US" sz="2400" dirty="0"/>
              <a:t>Contribution margin is the difference between sales revenue and variable costs.</a:t>
            </a:r>
          </a:p>
        </p:txBody>
      </p:sp>
    </p:spTree>
    <p:extLst>
      <p:ext uri="{BB962C8B-B14F-4D97-AF65-F5344CB8AC3E}">
        <p14:creationId xmlns:p14="http://schemas.microsoft.com/office/powerpoint/2010/main" val="327391988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8EA23A-A279-48B8-A2CF-D184264A4B07}"/>
              </a:ext>
            </a:extLst>
          </p:cNvPr>
          <p:cNvSpPr>
            <a:spLocks noGrp="1"/>
          </p:cNvSpPr>
          <p:nvPr>
            <p:ph type="title"/>
          </p:nvPr>
        </p:nvSpPr>
        <p:spPr/>
        <p:txBody>
          <a:bodyPr/>
          <a:lstStyle/>
          <a:p>
            <a:r>
              <a:rPr lang="en-US" dirty="0"/>
              <a:t>Cost-Volume-Profit in Graph</a:t>
            </a:r>
          </a:p>
        </p:txBody>
      </p:sp>
      <p:pic>
        <p:nvPicPr>
          <p:cNvPr id="6" name="Picture 2" descr="Line graph depicts cost-volume-profit information.">
            <a:extLst>
              <a:ext uri="{FF2B5EF4-FFF2-40B4-BE49-F238E27FC236}">
                <a16:creationId xmlns:a16="http://schemas.microsoft.com/office/drawing/2014/main" id="{670D5EA0-276B-4B6F-95C5-7EABC89496C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67119" y="1538975"/>
            <a:ext cx="5730047" cy="425222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12">
            <a:extLst>
              <a:ext uri="{FF2B5EF4-FFF2-40B4-BE49-F238E27FC236}">
                <a16:creationId xmlns:a16="http://schemas.microsoft.com/office/drawing/2014/main" id="{F1E5089B-49F0-4D0C-B13B-B6B989CE5F49}"/>
              </a:ext>
            </a:extLst>
          </p:cNvPr>
          <p:cNvSpPr>
            <a:spLocks noGrp="1"/>
          </p:cNvSpPr>
          <p:nvPr>
            <p:ph type="body" sz="quarter" idx="13"/>
          </p:nvPr>
        </p:nvSpPr>
        <p:spPr/>
        <p:txBody>
          <a:bodyPr anchor="ctr"/>
          <a:lstStyle/>
          <a:p>
            <a:r>
              <a:rPr lang="en-US" sz="1800" dirty="0">
                <a:hlinkClick r:id="" action="ppaction://noaction"/>
              </a:rPr>
              <a:t>Access the text alternative for slide images</a:t>
            </a:r>
            <a:endParaRPr lang="en-US" sz="1800" dirty="0"/>
          </a:p>
        </p:txBody>
      </p:sp>
    </p:spTree>
    <p:extLst>
      <p:ext uri="{BB962C8B-B14F-4D97-AF65-F5344CB8AC3E}">
        <p14:creationId xmlns:p14="http://schemas.microsoft.com/office/powerpoint/2010/main" val="885729425"/>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B1B29E7-C082-43B7-AE4A-785165F0D906}"/>
              </a:ext>
            </a:extLst>
          </p:cNvPr>
          <p:cNvSpPr>
            <a:spLocks noGrp="1"/>
          </p:cNvSpPr>
          <p:nvPr>
            <p:ph type="title"/>
          </p:nvPr>
        </p:nvSpPr>
        <p:spPr/>
        <p:txBody>
          <a:bodyPr/>
          <a:lstStyle/>
          <a:p>
            <a:r>
              <a:rPr lang="en-US" sz="3200" b="1" dirty="0">
                <a:solidFill>
                  <a:srgbClr val="C00000"/>
                </a:solidFill>
              </a:rPr>
              <a:t>COST_VOLUME _PROFIT ANALYSIS</a:t>
            </a:r>
            <a:br>
              <a:rPr lang="en-US" b="1" dirty="0">
                <a:solidFill>
                  <a:srgbClr val="C00000"/>
                </a:solidFill>
              </a:rPr>
            </a:br>
            <a:r>
              <a:rPr lang="en-US" b="1" dirty="0">
                <a:solidFill>
                  <a:srgbClr val="C00000"/>
                </a:solidFill>
              </a:rPr>
              <a:t>Break- Even Analysis</a:t>
            </a:r>
          </a:p>
        </p:txBody>
      </p:sp>
      <p:sp>
        <p:nvSpPr>
          <p:cNvPr id="7" name="Content Placeholder 6">
            <a:extLst>
              <a:ext uri="{FF2B5EF4-FFF2-40B4-BE49-F238E27FC236}">
                <a16:creationId xmlns:a16="http://schemas.microsoft.com/office/drawing/2014/main" id="{65D3C787-CCFF-4D75-8A52-A307FFA76B45}"/>
              </a:ext>
            </a:extLst>
          </p:cNvPr>
          <p:cNvSpPr>
            <a:spLocks noGrp="1"/>
          </p:cNvSpPr>
          <p:nvPr>
            <p:ph idx="1"/>
          </p:nvPr>
        </p:nvSpPr>
        <p:spPr/>
        <p:txBody>
          <a:bodyPr/>
          <a:lstStyle/>
          <a:p>
            <a:pPr marL="0" indent="0">
              <a:spcBef>
                <a:spcPts val="624"/>
              </a:spcBef>
              <a:buNone/>
            </a:pPr>
            <a:r>
              <a:rPr lang="en-US" sz="1600" dirty="0"/>
              <a:t>Total sales revenue − Total variable cost − Total fixed costs = Profit</a:t>
            </a:r>
          </a:p>
          <a:p>
            <a:pPr marL="0" indent="0">
              <a:spcBef>
                <a:spcPts val="624"/>
              </a:spcBef>
              <a:buNone/>
            </a:pPr>
            <a:r>
              <a:rPr lang="en-US" sz="1600" dirty="0"/>
              <a:t>     (Unit price × Q) − (Unit variable costs × Q) − Total fixed costs = Profit</a:t>
            </a:r>
          </a:p>
          <a:p>
            <a:pPr marL="0" indent="0">
              <a:spcBef>
                <a:spcPts val="624"/>
              </a:spcBef>
              <a:buNone/>
            </a:pPr>
            <a:r>
              <a:rPr lang="en-US" sz="1600" dirty="0"/>
              <a:t>Q = Quantity of unit sold</a:t>
            </a:r>
          </a:p>
          <a:p>
            <a:pPr marL="0" indent="0">
              <a:spcBef>
                <a:spcPts val="624"/>
              </a:spcBef>
              <a:buNone/>
            </a:pPr>
            <a:endParaRPr lang="en-US" sz="1600" dirty="0"/>
          </a:p>
          <a:p>
            <a:pPr marL="0" indent="0">
              <a:spcBef>
                <a:spcPts val="624"/>
              </a:spcBef>
              <a:buNone/>
            </a:pPr>
            <a:r>
              <a:rPr lang="en-US" sz="1600" dirty="0"/>
              <a:t>To find the break-even point, we simply set the profit equation equal to zero, and solve for the quantity of units (Q).</a:t>
            </a:r>
          </a:p>
          <a:p>
            <a:pPr marL="0" indent="0">
              <a:spcBef>
                <a:spcPts val="624"/>
              </a:spcBef>
              <a:buNone/>
            </a:pPr>
            <a:r>
              <a:rPr lang="en-US" sz="1600" b="1" dirty="0">
                <a:solidFill>
                  <a:srgbClr val="0033CC"/>
                </a:solidFill>
              </a:rPr>
              <a:t>(Unit price × Q)−(Unit variable costs × Q) − Total fixed costs = Profit</a:t>
            </a:r>
          </a:p>
          <a:p>
            <a:pPr marL="0" indent="0">
              <a:spcBef>
                <a:spcPts val="624"/>
              </a:spcBef>
              <a:buNone/>
            </a:pPr>
            <a:r>
              <a:rPr lang="en-US" sz="1600" dirty="0"/>
              <a:t>     ($2.50× Q)    −                 ($1.00 × Q)   −      $12,000 =               0</a:t>
            </a:r>
          </a:p>
          <a:p>
            <a:pPr marL="0" indent="0">
              <a:spcBef>
                <a:spcPts val="624"/>
              </a:spcBef>
              <a:buNone/>
            </a:pPr>
            <a:r>
              <a:rPr lang="en-US" sz="1600" dirty="0"/>
              <a:t>           $1.50Q =                      $12,000</a:t>
            </a:r>
          </a:p>
          <a:p>
            <a:pPr marL="0" indent="0">
              <a:spcBef>
                <a:spcPts val="624"/>
              </a:spcBef>
              <a:buNone/>
            </a:pPr>
            <a:r>
              <a:rPr lang="en-US" sz="1600" dirty="0"/>
              <a:t>                    Q = $12,000 ÷ $1.50</a:t>
            </a:r>
          </a:p>
          <a:p>
            <a:pPr marL="0" indent="0">
              <a:spcBef>
                <a:spcPts val="624"/>
              </a:spcBef>
              <a:buNone/>
            </a:pPr>
            <a:r>
              <a:rPr lang="en-US" sz="1600" dirty="0"/>
              <a:t>                    Q = 8,000 units </a:t>
            </a:r>
          </a:p>
          <a:p>
            <a:pPr marL="0" indent="0">
              <a:spcBef>
                <a:spcPts val="624"/>
              </a:spcBef>
              <a:buNone/>
            </a:pPr>
            <a:r>
              <a:rPr lang="en-US" sz="1600" dirty="0"/>
              <a:t>{8000x2.5} – {8000x1}=12000-12000=0</a:t>
            </a:r>
          </a:p>
          <a:p>
            <a:pPr marL="0" indent="0">
              <a:spcBef>
                <a:spcPts val="624"/>
              </a:spcBef>
              <a:buNone/>
            </a:pPr>
            <a:r>
              <a:rPr lang="en-US" sz="1600" dirty="0"/>
              <a:t>OR </a:t>
            </a:r>
            <a:r>
              <a:rPr lang="en-US" sz="1600" b="1" dirty="0">
                <a:solidFill>
                  <a:srgbClr val="0033CC"/>
                </a:solidFill>
              </a:rPr>
              <a:t>By Formula = </a:t>
            </a:r>
            <a:r>
              <a:rPr lang="en-US" sz="1600" b="1" u="sng" dirty="0">
                <a:solidFill>
                  <a:srgbClr val="0033CC"/>
                </a:solidFill>
              </a:rPr>
              <a:t>Total Fixed Cost =</a:t>
            </a:r>
            <a:r>
              <a:rPr lang="en-US" sz="1600" dirty="0"/>
              <a:t>     </a:t>
            </a:r>
            <a:r>
              <a:rPr lang="en-US" sz="1600" u="sng" dirty="0"/>
              <a:t>12000</a:t>
            </a:r>
            <a:r>
              <a:rPr lang="en-US" sz="1600" dirty="0"/>
              <a:t> =  8000 units</a:t>
            </a:r>
          </a:p>
          <a:p>
            <a:pPr marL="0" indent="0">
              <a:spcBef>
                <a:spcPts val="624"/>
              </a:spcBef>
              <a:buNone/>
            </a:pPr>
            <a:r>
              <a:rPr lang="en-US" sz="1600" dirty="0"/>
              <a:t>                              </a:t>
            </a:r>
            <a:r>
              <a:rPr lang="en-US" sz="1600" b="1" dirty="0">
                <a:solidFill>
                  <a:srgbClr val="0033CC"/>
                </a:solidFill>
              </a:rPr>
              <a:t>CM/unit         </a:t>
            </a:r>
            <a:r>
              <a:rPr lang="en-US" sz="1600" dirty="0"/>
              <a:t>             1.5</a:t>
            </a:r>
          </a:p>
        </p:txBody>
      </p:sp>
    </p:spTree>
    <p:extLst>
      <p:ext uri="{BB962C8B-B14F-4D97-AF65-F5344CB8AC3E}">
        <p14:creationId xmlns:p14="http://schemas.microsoft.com/office/powerpoint/2010/main" val="1379333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E3B63BB0-3472-1378-BECB-C513B37B731A}"/>
              </a:ext>
            </a:extLst>
          </p:cNvPr>
          <p:cNvSpPr>
            <a:spLocks noGrp="1"/>
          </p:cNvSpPr>
          <p:nvPr>
            <p:ph type="title"/>
          </p:nvPr>
        </p:nvSpPr>
        <p:spPr/>
        <p:txBody>
          <a:bodyPr>
            <a:normAutofit fontScale="90000"/>
          </a:bodyPr>
          <a:lstStyle/>
          <a:p>
            <a:pPr>
              <a:defRPr/>
            </a:pPr>
            <a:r>
              <a:rPr lang="en-US" dirty="0">
                <a:latin typeface="Arial" charset="0"/>
                <a:cs typeface="Arial" charset="0"/>
              </a:rPr>
              <a:t>Break-even in Dollar Sales:</a:t>
            </a:r>
            <a:br>
              <a:rPr lang="en-US" dirty="0">
                <a:latin typeface="Arial" charset="0"/>
                <a:cs typeface="Arial" charset="0"/>
              </a:rPr>
            </a:br>
            <a:r>
              <a:rPr lang="en-US" dirty="0">
                <a:latin typeface="Arial" charset="0"/>
                <a:cs typeface="Arial" charset="0"/>
              </a:rPr>
              <a:t>Formula Method</a:t>
            </a:r>
          </a:p>
        </p:txBody>
      </p:sp>
      <p:sp>
        <p:nvSpPr>
          <p:cNvPr id="49155" name="TextBox 8">
            <a:extLst>
              <a:ext uri="{FF2B5EF4-FFF2-40B4-BE49-F238E27FC236}">
                <a16:creationId xmlns:a16="http://schemas.microsoft.com/office/drawing/2014/main" id="{95644C2E-EDA2-D308-66AC-B5958EE6CAC0}"/>
              </a:ext>
            </a:extLst>
          </p:cNvPr>
          <p:cNvSpPr txBox="1">
            <a:spLocks noChangeArrowheads="1"/>
          </p:cNvSpPr>
          <p:nvPr/>
        </p:nvSpPr>
        <p:spPr bwMode="auto">
          <a:xfrm>
            <a:off x="457200" y="1919288"/>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800"/>
              <a:t>Now, let’s use the formula method to calculate the dollar sales at the break-even point.</a:t>
            </a:r>
          </a:p>
        </p:txBody>
      </p:sp>
      <p:sp>
        <p:nvSpPr>
          <p:cNvPr id="10" name="TextBox 9">
            <a:extLst>
              <a:ext uri="{FF2B5EF4-FFF2-40B4-BE49-F238E27FC236}">
                <a16:creationId xmlns:a16="http://schemas.microsoft.com/office/drawing/2014/main" id="{B01428CC-4B57-61ED-07AA-016112E4D2C4}"/>
              </a:ext>
            </a:extLst>
          </p:cNvPr>
          <p:cNvSpPr txBox="1">
            <a:spLocks noChangeArrowheads="1"/>
          </p:cNvSpPr>
          <p:nvPr/>
        </p:nvSpPr>
        <p:spPr bwMode="auto">
          <a:xfrm>
            <a:off x="1770063" y="5572125"/>
            <a:ext cx="38747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t>Dollar sales =  </a:t>
            </a:r>
            <a:r>
              <a:rPr lang="en-US" altLang="en-US" sz="2800" dirty="0">
                <a:solidFill>
                  <a:srgbClr val="C00000"/>
                </a:solidFill>
              </a:rPr>
              <a:t>$20,000</a:t>
            </a:r>
          </a:p>
        </p:txBody>
      </p:sp>
      <p:grpSp>
        <p:nvGrpSpPr>
          <p:cNvPr id="2" name="Group 14">
            <a:extLst>
              <a:ext uri="{FF2B5EF4-FFF2-40B4-BE49-F238E27FC236}">
                <a16:creationId xmlns:a16="http://schemas.microsoft.com/office/drawing/2014/main" id="{1D821BF7-5DBE-4758-CB11-278679C44402}"/>
              </a:ext>
            </a:extLst>
          </p:cNvPr>
          <p:cNvGrpSpPr>
            <a:grpSpLocks/>
          </p:cNvGrpSpPr>
          <p:nvPr/>
        </p:nvGrpSpPr>
        <p:grpSpPr bwMode="auto">
          <a:xfrm>
            <a:off x="1752600" y="4662488"/>
            <a:ext cx="5181600" cy="954087"/>
            <a:chOff x="1752600" y="4191000"/>
            <a:chExt cx="5181600" cy="954107"/>
          </a:xfrm>
        </p:grpSpPr>
        <p:sp>
          <p:nvSpPr>
            <p:cNvPr id="49166" name="TextBox 15">
              <a:extLst>
                <a:ext uri="{FF2B5EF4-FFF2-40B4-BE49-F238E27FC236}">
                  <a16:creationId xmlns:a16="http://schemas.microsoft.com/office/drawing/2014/main" id="{43068CC1-04D4-E576-CCC3-D71E332F2FF1}"/>
                </a:ext>
              </a:extLst>
            </p:cNvPr>
            <p:cNvSpPr txBox="1">
              <a:spLocks noChangeArrowheads="1"/>
            </p:cNvSpPr>
            <p:nvPr/>
          </p:nvSpPr>
          <p:spPr bwMode="auto">
            <a:xfrm>
              <a:off x="3505200" y="4191000"/>
              <a:ext cx="34290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800" dirty="0"/>
                <a:t>$12,000</a:t>
              </a:r>
            </a:p>
            <a:p>
              <a:pPr algn="ctr" eaLnBrk="1" hangingPunct="1"/>
              <a:r>
                <a:rPr lang="en-US" altLang="en-US" sz="2800" dirty="0"/>
                <a:t>60%</a:t>
              </a:r>
            </a:p>
          </p:txBody>
        </p:sp>
        <p:sp>
          <p:nvSpPr>
            <p:cNvPr id="49167" name="TextBox 16">
              <a:extLst>
                <a:ext uri="{FF2B5EF4-FFF2-40B4-BE49-F238E27FC236}">
                  <a16:creationId xmlns:a16="http://schemas.microsoft.com/office/drawing/2014/main" id="{0D06ACB2-7B77-DABA-1858-4440012EA361}"/>
                </a:ext>
              </a:extLst>
            </p:cNvPr>
            <p:cNvSpPr txBox="1">
              <a:spLocks noChangeArrowheads="1"/>
            </p:cNvSpPr>
            <p:nvPr/>
          </p:nvSpPr>
          <p:spPr bwMode="auto">
            <a:xfrm>
              <a:off x="1752600" y="4429780"/>
              <a:ext cx="286360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t>Dollar sales = </a:t>
              </a:r>
            </a:p>
          </p:txBody>
        </p:sp>
        <p:cxnSp>
          <p:nvCxnSpPr>
            <p:cNvPr id="14" name="Straight Connector 13">
              <a:extLst>
                <a:ext uri="{FF2B5EF4-FFF2-40B4-BE49-F238E27FC236}">
                  <a16:creationId xmlns:a16="http://schemas.microsoft.com/office/drawing/2014/main" id="{92929BDF-8FE4-B43C-FA31-479F9A63814B}"/>
                </a:ext>
              </a:extLst>
            </p:cNvPr>
            <p:cNvCxnSpPr/>
            <p:nvPr/>
          </p:nvCxnSpPr>
          <p:spPr>
            <a:xfrm>
              <a:off x="4114800" y="4648210"/>
              <a:ext cx="2286000"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158" name="Group 17">
            <a:extLst>
              <a:ext uri="{FF2B5EF4-FFF2-40B4-BE49-F238E27FC236}">
                <a16:creationId xmlns:a16="http://schemas.microsoft.com/office/drawing/2014/main" id="{623E5503-8797-A2C6-5C92-169DABFCA585}"/>
              </a:ext>
            </a:extLst>
          </p:cNvPr>
          <p:cNvGrpSpPr>
            <a:grpSpLocks/>
          </p:cNvGrpSpPr>
          <p:nvPr/>
        </p:nvGrpSpPr>
        <p:grpSpPr bwMode="auto">
          <a:xfrm>
            <a:off x="1676400" y="3138488"/>
            <a:ext cx="5715000" cy="1143000"/>
            <a:chOff x="1676400" y="2667000"/>
            <a:chExt cx="5715000" cy="1143000"/>
          </a:xfrm>
        </p:grpSpPr>
        <p:grpSp>
          <p:nvGrpSpPr>
            <p:cNvPr id="49160" name="Group 7">
              <a:extLst>
                <a:ext uri="{FF2B5EF4-FFF2-40B4-BE49-F238E27FC236}">
                  <a16:creationId xmlns:a16="http://schemas.microsoft.com/office/drawing/2014/main" id="{0B6A9A19-40AB-98BF-7AE0-F7238B54BF8F}"/>
                </a:ext>
              </a:extLst>
            </p:cNvPr>
            <p:cNvGrpSpPr>
              <a:grpSpLocks/>
            </p:cNvGrpSpPr>
            <p:nvPr/>
          </p:nvGrpSpPr>
          <p:grpSpPr bwMode="auto">
            <a:xfrm>
              <a:off x="1676400" y="2667000"/>
              <a:ext cx="5715000" cy="1143000"/>
              <a:chOff x="1143000" y="4343400"/>
              <a:chExt cx="5715000" cy="1143000"/>
            </a:xfrm>
          </p:grpSpPr>
          <p:sp>
            <p:nvSpPr>
              <p:cNvPr id="4" name="Rounded Rectangle 3">
                <a:extLst>
                  <a:ext uri="{FF2B5EF4-FFF2-40B4-BE49-F238E27FC236}">
                    <a16:creationId xmlns:a16="http://schemas.microsoft.com/office/drawing/2014/main" id="{13393A2B-E2DF-A64E-94B2-6B2C09A36E6B}"/>
                  </a:ext>
                </a:extLst>
              </p:cNvPr>
              <p:cNvSpPr/>
              <p:nvPr/>
            </p:nvSpPr>
            <p:spPr>
              <a:xfrm>
                <a:off x="1143000" y="4343400"/>
                <a:ext cx="5715000" cy="1143000"/>
              </a:xfrm>
              <a:prstGeom prst="roundRect">
                <a:avLst/>
              </a:prstGeom>
              <a:solidFill>
                <a:schemeClr val="accent3">
                  <a:lumMod val="40000"/>
                  <a:lumOff val="60000"/>
                </a:schemeClr>
              </a:solidFill>
              <a:ln>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49163" name="Rectangle 11">
                <a:extLst>
                  <a:ext uri="{FF2B5EF4-FFF2-40B4-BE49-F238E27FC236}">
                    <a16:creationId xmlns:a16="http://schemas.microsoft.com/office/drawing/2014/main" id="{C37A7E39-58AC-2066-EBE1-FA3B7713B53C}"/>
                  </a:ext>
                </a:extLst>
              </p:cNvPr>
              <p:cNvSpPr>
                <a:spLocks noChangeArrowheads="1"/>
              </p:cNvSpPr>
              <p:nvPr/>
            </p:nvSpPr>
            <p:spPr bwMode="auto">
              <a:xfrm>
                <a:off x="4149941" y="4514850"/>
                <a:ext cx="2475038"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chemeClr val="tx2"/>
                    </a:solidFill>
                  </a:rPr>
                  <a:t>Fixed expenses</a:t>
                </a:r>
              </a:p>
              <a:p>
                <a:pPr algn="ctr" eaLnBrk="1" hangingPunct="1"/>
                <a:r>
                  <a:rPr lang="en-US" altLang="en-US" sz="2400" b="1">
                    <a:solidFill>
                      <a:schemeClr val="tx2"/>
                    </a:solidFill>
                  </a:rPr>
                  <a:t> CM </a:t>
                </a:r>
                <a:r>
                  <a:rPr lang="en-US" altLang="en-US" sz="2400" b="1">
                    <a:solidFill>
                      <a:srgbClr val="0000FF"/>
                    </a:solidFill>
                  </a:rPr>
                  <a:t>ratio</a:t>
                </a:r>
              </a:p>
            </p:txBody>
          </p:sp>
          <p:sp>
            <p:nvSpPr>
              <p:cNvPr id="49164" name="Rectangle 12">
                <a:extLst>
                  <a:ext uri="{FF2B5EF4-FFF2-40B4-BE49-F238E27FC236}">
                    <a16:creationId xmlns:a16="http://schemas.microsoft.com/office/drawing/2014/main" id="{069036CE-7EAE-3973-4FCD-CCFAF2520338}"/>
                  </a:ext>
                </a:extLst>
              </p:cNvPr>
              <p:cNvSpPr>
                <a:spLocks noChangeArrowheads="1"/>
              </p:cNvSpPr>
              <p:nvPr/>
            </p:nvSpPr>
            <p:spPr bwMode="auto">
              <a:xfrm>
                <a:off x="3810000" y="4693709"/>
                <a:ext cx="3587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solidFill>
                      <a:schemeClr val="tx2"/>
                    </a:solidFill>
                  </a:rPr>
                  <a:t>=</a:t>
                </a:r>
              </a:p>
            </p:txBody>
          </p:sp>
          <p:sp>
            <p:nvSpPr>
              <p:cNvPr id="49165" name="Rectangle 13">
                <a:extLst>
                  <a:ext uri="{FF2B5EF4-FFF2-40B4-BE49-F238E27FC236}">
                    <a16:creationId xmlns:a16="http://schemas.microsoft.com/office/drawing/2014/main" id="{66E44051-F21D-9B71-50B7-8A406BC4E606}"/>
                  </a:ext>
                </a:extLst>
              </p:cNvPr>
              <p:cNvSpPr>
                <a:spLocks noChangeArrowheads="1"/>
              </p:cNvSpPr>
              <p:nvPr/>
            </p:nvSpPr>
            <p:spPr bwMode="auto">
              <a:xfrm>
                <a:off x="1524000" y="4505568"/>
                <a:ext cx="2285883"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C00000"/>
                    </a:solidFill>
                  </a:rPr>
                  <a:t>Dollar sales </a:t>
                </a:r>
                <a:r>
                  <a:rPr lang="en-US" altLang="en-US" sz="2400" b="1">
                    <a:solidFill>
                      <a:schemeClr val="tx2"/>
                    </a:solidFill>
                  </a:rPr>
                  <a:t>to</a:t>
                </a:r>
                <a:br>
                  <a:rPr lang="en-US" altLang="en-US" sz="2400" b="1">
                    <a:solidFill>
                      <a:schemeClr val="tx2"/>
                    </a:solidFill>
                  </a:rPr>
                </a:br>
                <a:r>
                  <a:rPr lang="en-US" altLang="en-US" sz="2400" b="1">
                    <a:solidFill>
                      <a:schemeClr val="tx2"/>
                    </a:solidFill>
                  </a:rPr>
                  <a:t>break even</a:t>
                </a:r>
              </a:p>
            </p:txBody>
          </p:sp>
        </p:grpSp>
        <p:cxnSp>
          <p:nvCxnSpPr>
            <p:cNvPr id="17" name="Straight Connector 16">
              <a:extLst>
                <a:ext uri="{FF2B5EF4-FFF2-40B4-BE49-F238E27FC236}">
                  <a16:creationId xmlns:a16="http://schemas.microsoft.com/office/drawing/2014/main" id="{54E578CA-BC13-4B94-530A-6F1BEC58F75E}"/>
                </a:ext>
              </a:extLst>
            </p:cNvPr>
            <p:cNvCxnSpPr/>
            <p:nvPr/>
          </p:nvCxnSpPr>
          <p:spPr>
            <a:xfrm>
              <a:off x="4800600" y="3255962"/>
              <a:ext cx="2286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49159" name="Picture 9">
            <a:extLst>
              <a:ext uri="{FF2B5EF4-FFF2-40B4-BE49-F238E27FC236}">
                <a16:creationId xmlns:a16="http://schemas.microsoft.com/office/drawing/2014/main" id="{7A21A416-11E6-8E8E-F5AE-D701DFFA78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29600" y="457200"/>
            <a:ext cx="9144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2000"/>
                                        <p:tgtEl>
                                          <p:spTgt spid="2"/>
                                        </p:tgtEl>
                                      </p:cBhvr>
                                    </p:animEffect>
                                  </p:childTnLst>
                                </p:cTn>
                              </p:par>
                            </p:childTnLst>
                          </p:cTn>
                        </p:par>
                        <p:par>
                          <p:cTn id="8" fill="hold" nodeType="afterGroup">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8D0BBFE-A3A6-2A8F-5F45-87929950B278}"/>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Quick Check </a:t>
            </a:r>
            <a:r>
              <a:rPr lang="en-US" altLang="en-US">
                <a:latin typeface="Arial" panose="020B0604020202020204" pitchFamily="34" charset="0"/>
                <a:cs typeface="Arial" panose="020B0604020202020204" pitchFamily="34" charset="0"/>
                <a:sym typeface="Wingdings" panose="05000000000000000000" pitchFamily="2" charset="2"/>
              </a:rPr>
              <a:t></a:t>
            </a:r>
          </a:p>
        </p:txBody>
      </p:sp>
      <p:sp>
        <p:nvSpPr>
          <p:cNvPr id="4" name="Rectangle 3">
            <a:extLst>
              <a:ext uri="{FF2B5EF4-FFF2-40B4-BE49-F238E27FC236}">
                <a16:creationId xmlns:a16="http://schemas.microsoft.com/office/drawing/2014/main" id="{28F5D20A-6AB6-1342-0474-5945A718B332}"/>
              </a:ext>
            </a:extLst>
          </p:cNvPr>
          <p:cNvSpPr txBox="1">
            <a:spLocks noChangeArrowheads="1"/>
          </p:cNvSpPr>
          <p:nvPr/>
        </p:nvSpPr>
        <p:spPr bwMode="auto">
          <a:xfrm>
            <a:off x="457200" y="1600200"/>
            <a:ext cx="8153400" cy="4419600"/>
          </a:xfrm>
          <a:prstGeom prst="rect">
            <a:avLst/>
          </a:prstGeom>
          <a:solidFill>
            <a:schemeClr val="accent4">
              <a:lumMod val="40000"/>
              <a:lumOff val="60000"/>
            </a:schemeClr>
          </a:solidFill>
          <a:ln w="12699">
            <a:solidFill>
              <a:schemeClr val="tx1"/>
            </a:solidFill>
            <a:miter lim="800000"/>
            <a:headEnd/>
            <a:tailEnd/>
          </a:ln>
          <a:effectLst>
            <a:outerShdw dist="35921" dir="2700000" algn="ctr" rotWithShape="0">
              <a:schemeClr val="bg2"/>
            </a:outerShdw>
          </a:effectLst>
        </p:spPr>
        <p:txBody>
          <a:bodyPr lIns="90488" tIns="44450" rIns="90488" bIns="44450"/>
          <a:lstStyle/>
          <a:p>
            <a:pPr marL="290513" eaLnBrk="1" hangingPunct="1">
              <a:spcBef>
                <a:spcPts val="600"/>
              </a:spcBef>
              <a:buClr>
                <a:schemeClr val="accent1"/>
              </a:buClr>
              <a:buSzPct val="76000"/>
              <a:buFont typeface="Times" pitchFamily="34" charset="0"/>
              <a:buNone/>
              <a:defRPr/>
            </a:pPr>
            <a:r>
              <a:rPr lang="en-US" sz="2500" dirty="0">
                <a:latin typeface="Arial" charset="0"/>
                <a:cs typeface="Arial" charset="0"/>
              </a:rPr>
              <a:t>Coffee Klatch is an espresso stand in a downtown office building. The average selling price of a cup of coffee is $1.49 and the average variable expense per cup is $0.36. The average fixed expense per month is $1,300. An average of 2,100 cups are sold each month. What is the break-even sales dollars?</a:t>
            </a:r>
            <a:endParaRPr lang="en-US" sz="2600" dirty="0">
              <a:latin typeface="Arial" charset="0"/>
              <a:cs typeface="Arial" charset="0"/>
            </a:endParaRPr>
          </a:p>
          <a:p>
            <a:pPr marL="407988" lvl="1" indent="-3175" eaLnBrk="1" hangingPunct="1">
              <a:spcBef>
                <a:spcPts val="500"/>
              </a:spcBef>
              <a:buClr>
                <a:schemeClr val="accent2"/>
              </a:buClr>
              <a:buSzPct val="76000"/>
              <a:buFont typeface="Wingdings 3" pitchFamily="18" charset="2"/>
              <a:buNone/>
              <a:defRPr/>
            </a:pPr>
            <a:r>
              <a:rPr lang="en-US" sz="2600" dirty="0">
                <a:latin typeface="Arial" charset="0"/>
                <a:cs typeface="Arial" charset="0"/>
              </a:rPr>
              <a:t>a. $1,300</a:t>
            </a:r>
          </a:p>
          <a:p>
            <a:pPr marL="407988" lvl="1" indent="-3175" eaLnBrk="1" hangingPunct="1">
              <a:spcBef>
                <a:spcPts val="500"/>
              </a:spcBef>
              <a:buClr>
                <a:schemeClr val="accent2"/>
              </a:buClr>
              <a:buSzPct val="76000"/>
              <a:buFont typeface="Wingdings" pitchFamily="2" charset="2"/>
              <a:buNone/>
              <a:defRPr/>
            </a:pPr>
            <a:r>
              <a:rPr lang="en-US" sz="2600" dirty="0">
                <a:latin typeface="Arial" charset="0"/>
                <a:cs typeface="Arial" charset="0"/>
              </a:rPr>
              <a:t>b. $1,715</a:t>
            </a:r>
          </a:p>
          <a:p>
            <a:pPr marL="407988" lvl="1" indent="-3175" eaLnBrk="1" hangingPunct="1">
              <a:spcBef>
                <a:spcPts val="500"/>
              </a:spcBef>
              <a:buClr>
                <a:schemeClr val="accent2"/>
              </a:buClr>
              <a:buSzPct val="76000"/>
              <a:buFont typeface="Wingdings" pitchFamily="2" charset="2"/>
              <a:buNone/>
              <a:defRPr/>
            </a:pPr>
            <a:r>
              <a:rPr lang="en-US" sz="2600" dirty="0">
                <a:latin typeface="Arial" charset="0"/>
                <a:cs typeface="Arial" charset="0"/>
              </a:rPr>
              <a:t>c. $1,788</a:t>
            </a:r>
          </a:p>
          <a:p>
            <a:pPr marL="407988" lvl="1" indent="-3175" eaLnBrk="1" hangingPunct="1">
              <a:spcBef>
                <a:spcPts val="500"/>
              </a:spcBef>
              <a:buClr>
                <a:schemeClr val="accent2"/>
              </a:buClr>
              <a:buSzPct val="76000"/>
              <a:buFont typeface="Wingdings" pitchFamily="2" charset="2"/>
              <a:buNone/>
              <a:defRPr/>
            </a:pPr>
            <a:r>
              <a:rPr lang="en-US" sz="2600" dirty="0">
                <a:latin typeface="Arial" charset="0"/>
                <a:cs typeface="Arial" charset="0"/>
              </a:rPr>
              <a:t>d. $3,129</a:t>
            </a:r>
          </a:p>
        </p:txBody>
      </p:sp>
      <p:pic>
        <p:nvPicPr>
          <p:cNvPr id="5" name="Picture 4" descr="G:\FILES\PFILES\MSOFFICE\MEDIA\CNTCD1\ClipArt2\j0217302.wmf">
            <a:extLst>
              <a:ext uri="{FF2B5EF4-FFF2-40B4-BE49-F238E27FC236}">
                <a16:creationId xmlns:a16="http://schemas.microsoft.com/office/drawing/2014/main" id="{5EE63A5F-8719-4CCB-FBF9-D513064EE4D9}"/>
              </a:ext>
            </a:extLst>
          </p:cNvPr>
          <p:cNvPicPr>
            <a:picLocks noChangeAspect="1" noChangeArrowheads="1"/>
          </p:cNvPicPr>
          <p:nvPr/>
        </p:nvPicPr>
        <p:blipFill>
          <a:blip r:embed="rId3"/>
          <a:srcRect/>
          <a:stretch>
            <a:fillRect/>
          </a:stretch>
        </p:blipFill>
        <p:spPr bwMode="auto">
          <a:xfrm>
            <a:off x="6324600" y="4495800"/>
            <a:ext cx="1836738" cy="136842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med">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a:extLst>
              <a:ext uri="{FF2B5EF4-FFF2-40B4-BE49-F238E27FC236}">
                <a16:creationId xmlns:a16="http://schemas.microsoft.com/office/drawing/2014/main" id="{40950023-C8D0-E194-7ECF-569DE4143DA6}"/>
              </a:ext>
            </a:extLst>
          </p:cNvPr>
          <p:cNvSpPr txBox="1">
            <a:spLocks noChangeArrowheads="1"/>
          </p:cNvSpPr>
          <p:nvPr/>
        </p:nvSpPr>
        <p:spPr bwMode="auto">
          <a:xfrm>
            <a:off x="457200" y="1600200"/>
            <a:ext cx="8153400" cy="4419600"/>
          </a:xfrm>
          <a:prstGeom prst="rect">
            <a:avLst/>
          </a:prstGeom>
          <a:solidFill>
            <a:schemeClr val="accent4">
              <a:lumMod val="40000"/>
              <a:lumOff val="60000"/>
            </a:schemeClr>
          </a:solidFill>
          <a:ln w="12699">
            <a:solidFill>
              <a:schemeClr val="tx1"/>
            </a:solidFill>
            <a:miter lim="800000"/>
            <a:headEnd/>
            <a:tailEnd/>
          </a:ln>
          <a:effectLst>
            <a:outerShdw dist="35921" dir="2700000" algn="ctr" rotWithShape="0">
              <a:schemeClr val="bg2"/>
            </a:outerShdw>
          </a:effectLst>
        </p:spPr>
        <p:txBody>
          <a:bodyPr lIns="90488" tIns="44450" rIns="90488" bIns="44450"/>
          <a:lstStyle/>
          <a:p>
            <a:pPr marL="501650" indent="-501650" eaLnBrk="1" hangingPunct="1">
              <a:spcBef>
                <a:spcPts val="600"/>
              </a:spcBef>
              <a:buClr>
                <a:schemeClr val="accent1"/>
              </a:buClr>
              <a:buSzPct val="76000"/>
              <a:buFont typeface="Times" pitchFamily="34" charset="0"/>
              <a:buNone/>
              <a:defRPr/>
            </a:pPr>
            <a:r>
              <a:rPr lang="en-US" sz="2500" dirty="0">
                <a:latin typeface="Arial" charset="0"/>
                <a:cs typeface="Arial" charset="0"/>
              </a:rPr>
              <a:t> 	Coffee Klatch is an espresso stand in a downtown office building. The average selling price of a cup of coffee is $1.49 and the average variable expense per cup is $0.36. The average fixed expense per month is $1,300. An average of 2,100 cups are sold each month. What is the break-even sales dollars?</a:t>
            </a:r>
            <a:endParaRPr lang="en-US" sz="2600" dirty="0">
              <a:latin typeface="Arial" charset="0"/>
              <a:cs typeface="Arial" charset="0"/>
            </a:endParaRPr>
          </a:p>
          <a:p>
            <a:pPr marL="846138" lvl="1" indent="-571500" eaLnBrk="1" hangingPunct="1">
              <a:spcBef>
                <a:spcPts val="500"/>
              </a:spcBef>
              <a:buClr>
                <a:schemeClr val="accent2"/>
              </a:buClr>
              <a:buSzPct val="76000"/>
              <a:buFont typeface="Wingdings 3" pitchFamily="18" charset="2"/>
              <a:buNone/>
              <a:defRPr/>
            </a:pPr>
            <a:r>
              <a:rPr lang="en-US" sz="2600" dirty="0">
                <a:solidFill>
                  <a:srgbClr val="BFBFBF"/>
                </a:solidFill>
                <a:latin typeface="Arial" charset="0"/>
                <a:cs typeface="Arial" charset="0"/>
              </a:rPr>
              <a:t>   a. $1,300</a:t>
            </a:r>
          </a:p>
          <a:p>
            <a:pPr marL="846138" lvl="1" indent="-571500" eaLnBrk="1" hangingPunct="1">
              <a:spcBef>
                <a:spcPts val="500"/>
              </a:spcBef>
              <a:buClr>
                <a:schemeClr val="accent2"/>
              </a:buClr>
              <a:buSzPct val="76000"/>
              <a:buFont typeface="Wingdings" pitchFamily="2" charset="2"/>
              <a:buNone/>
              <a:defRPr/>
            </a:pPr>
            <a:r>
              <a:rPr lang="en-US" sz="2600" dirty="0">
                <a:latin typeface="Arial" charset="0"/>
                <a:cs typeface="Arial" charset="0"/>
              </a:rPr>
              <a:t>   b. $1,715</a:t>
            </a:r>
          </a:p>
          <a:p>
            <a:pPr marL="846138" lvl="1" indent="-571500" eaLnBrk="1" hangingPunct="1">
              <a:spcBef>
                <a:spcPts val="500"/>
              </a:spcBef>
              <a:buClr>
                <a:schemeClr val="accent2"/>
              </a:buClr>
              <a:buSzPct val="76000"/>
              <a:buFont typeface="Wingdings" pitchFamily="2" charset="2"/>
              <a:buNone/>
              <a:defRPr/>
            </a:pPr>
            <a:r>
              <a:rPr lang="en-US" sz="2600" dirty="0">
                <a:solidFill>
                  <a:srgbClr val="BFBFBF"/>
                </a:solidFill>
                <a:latin typeface="Arial" charset="0"/>
                <a:cs typeface="Arial" charset="0"/>
              </a:rPr>
              <a:t>   c. $1,788</a:t>
            </a:r>
          </a:p>
          <a:p>
            <a:pPr marL="846138" lvl="1" indent="-571500" eaLnBrk="1" hangingPunct="1">
              <a:spcBef>
                <a:spcPts val="500"/>
              </a:spcBef>
              <a:buClr>
                <a:schemeClr val="accent2"/>
              </a:buClr>
              <a:buSzPct val="76000"/>
              <a:buFont typeface="Wingdings" pitchFamily="2" charset="2"/>
              <a:buNone/>
              <a:defRPr/>
            </a:pPr>
            <a:r>
              <a:rPr lang="en-US" sz="2600" dirty="0">
                <a:solidFill>
                  <a:srgbClr val="BFBFBF"/>
                </a:solidFill>
                <a:latin typeface="Arial" charset="0"/>
                <a:cs typeface="Arial" charset="0"/>
              </a:rPr>
              <a:t>   d. $3,129</a:t>
            </a:r>
          </a:p>
        </p:txBody>
      </p:sp>
      <p:pic>
        <p:nvPicPr>
          <p:cNvPr id="16" name="Picture 15" descr="G:\FILES\PFILES\MSOFFICE\MEDIA\CNTCD1\ClipArt2\j0217302.wmf">
            <a:extLst>
              <a:ext uri="{FF2B5EF4-FFF2-40B4-BE49-F238E27FC236}">
                <a16:creationId xmlns:a16="http://schemas.microsoft.com/office/drawing/2014/main" id="{7893D039-1D6E-90A5-D66E-06DFFC7718FB}"/>
              </a:ext>
            </a:extLst>
          </p:cNvPr>
          <p:cNvPicPr>
            <a:picLocks noChangeAspect="1" noChangeArrowheads="1"/>
          </p:cNvPicPr>
          <p:nvPr/>
        </p:nvPicPr>
        <p:blipFill>
          <a:blip r:embed="rId3"/>
          <a:srcRect/>
          <a:stretch>
            <a:fillRect/>
          </a:stretch>
        </p:blipFill>
        <p:spPr bwMode="auto">
          <a:xfrm>
            <a:off x="6324600" y="4495800"/>
            <a:ext cx="1836738" cy="1368425"/>
          </a:xfrm>
          <a:prstGeom prst="rect">
            <a:avLst/>
          </a:prstGeom>
          <a:ln>
            <a:noFill/>
          </a:ln>
          <a:effectLst>
            <a:outerShdw blurRad="292100" dist="139700" dir="2700000" algn="tl" rotWithShape="0">
              <a:srgbClr val="333333">
                <a:alpha val="65000"/>
              </a:srgbClr>
            </a:outerShdw>
          </a:effectLst>
        </p:spPr>
      </p:pic>
      <p:sp>
        <p:nvSpPr>
          <p:cNvPr id="53252" name="Rectangle 3">
            <a:extLst>
              <a:ext uri="{FF2B5EF4-FFF2-40B4-BE49-F238E27FC236}">
                <a16:creationId xmlns:a16="http://schemas.microsoft.com/office/drawing/2014/main" id="{5CB9F736-D1E2-2DBB-CEAB-44009645559A}"/>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Quick Check </a:t>
            </a:r>
            <a:r>
              <a:rPr lang="en-US" altLang="en-US">
                <a:latin typeface="Arial" panose="020B0604020202020204" pitchFamily="34" charset="0"/>
                <a:cs typeface="Arial" panose="020B0604020202020204" pitchFamily="34" charset="0"/>
                <a:sym typeface="Wingdings" panose="05000000000000000000" pitchFamily="2" charset="2"/>
              </a:rPr>
              <a:t></a:t>
            </a:r>
          </a:p>
        </p:txBody>
      </p:sp>
      <p:sp>
        <p:nvSpPr>
          <p:cNvPr id="66564" name="Oval 4">
            <a:extLst>
              <a:ext uri="{FF2B5EF4-FFF2-40B4-BE49-F238E27FC236}">
                <a16:creationId xmlns:a16="http://schemas.microsoft.com/office/drawing/2014/main" id="{8EA9FCE9-BF48-71E2-B9BE-C059865CECC6}"/>
              </a:ext>
            </a:extLst>
          </p:cNvPr>
          <p:cNvSpPr>
            <a:spLocks noChangeArrowheads="1"/>
          </p:cNvSpPr>
          <p:nvPr/>
        </p:nvSpPr>
        <p:spPr bwMode="auto">
          <a:xfrm>
            <a:off x="914400" y="4437063"/>
            <a:ext cx="515938" cy="515937"/>
          </a:xfrm>
          <a:prstGeom prst="ellipse">
            <a:avLst/>
          </a:prstGeom>
          <a:noFill/>
          <a:ln w="50799">
            <a:solidFill>
              <a:srgbClr val="FF0000"/>
            </a:solidFill>
            <a:round/>
            <a:headEnd/>
            <a:tailEnd/>
          </a:ln>
          <a:effectLst>
            <a:outerShdw blurRad="50800" dist="38100" dir="2700000" algn="tl" rotWithShape="0">
              <a:prstClr val="black">
                <a:alpha val="40000"/>
              </a:prstClr>
            </a:outerShdw>
          </a:effectLst>
        </p:spPr>
        <p:txBody>
          <a:bodyPr wrap="none" anchor="ctr"/>
          <a:lstStyle/>
          <a:p>
            <a:pPr eaLnBrk="1" hangingPunct="1">
              <a:defRPr/>
            </a:pPr>
            <a:endParaRPr lang="en-US" dirty="0"/>
          </a:p>
        </p:txBody>
      </p:sp>
      <p:grpSp>
        <p:nvGrpSpPr>
          <p:cNvPr id="53254" name="Group 5">
            <a:extLst>
              <a:ext uri="{FF2B5EF4-FFF2-40B4-BE49-F238E27FC236}">
                <a16:creationId xmlns:a16="http://schemas.microsoft.com/office/drawing/2014/main" id="{768E4A9F-41C6-DE92-73AF-A25C038651A2}"/>
              </a:ext>
            </a:extLst>
          </p:cNvPr>
          <p:cNvGrpSpPr>
            <a:grpSpLocks/>
          </p:cNvGrpSpPr>
          <p:nvPr/>
        </p:nvGrpSpPr>
        <p:grpSpPr bwMode="auto">
          <a:xfrm>
            <a:off x="3276600" y="4100513"/>
            <a:ext cx="5334000" cy="2224087"/>
            <a:chOff x="2160" y="2727"/>
            <a:chExt cx="3360" cy="1401"/>
          </a:xfrm>
        </p:grpSpPr>
        <p:sp>
          <p:nvSpPr>
            <p:cNvPr id="53255" name="Rectangle 6">
              <a:extLst>
                <a:ext uri="{FF2B5EF4-FFF2-40B4-BE49-F238E27FC236}">
                  <a16:creationId xmlns:a16="http://schemas.microsoft.com/office/drawing/2014/main" id="{4280C744-FA3E-2A45-A343-E363CC690D90}"/>
                </a:ext>
              </a:extLst>
            </p:cNvPr>
            <p:cNvSpPr>
              <a:spLocks noChangeArrowheads="1"/>
            </p:cNvSpPr>
            <p:nvPr/>
          </p:nvSpPr>
          <p:spPr bwMode="auto">
            <a:xfrm>
              <a:off x="2160" y="2736"/>
              <a:ext cx="3360" cy="139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p>
          </p:txBody>
        </p:sp>
        <p:sp>
          <p:nvSpPr>
            <p:cNvPr id="53256" name="Text Box 7">
              <a:extLst>
                <a:ext uri="{FF2B5EF4-FFF2-40B4-BE49-F238E27FC236}">
                  <a16:creationId xmlns:a16="http://schemas.microsoft.com/office/drawing/2014/main" id="{9BA8538B-9692-F5F4-D4D0-2AA4AB391863}"/>
                </a:ext>
              </a:extLst>
            </p:cNvPr>
            <p:cNvSpPr txBox="1">
              <a:spLocks noChangeArrowheads="1"/>
            </p:cNvSpPr>
            <p:nvPr/>
          </p:nvSpPr>
          <p:spPr bwMode="auto">
            <a:xfrm>
              <a:off x="3792" y="2727"/>
              <a:ext cx="163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Fixed expenses</a:t>
              </a:r>
            </a:p>
            <a:p>
              <a:pPr algn="ctr" eaLnBrk="1" hangingPunct="1"/>
              <a:r>
                <a:rPr lang="en-US" altLang="en-US" sz="2400" b="1">
                  <a:solidFill>
                    <a:srgbClr val="FFFFFF"/>
                  </a:solidFill>
                </a:rPr>
                <a:t>CM Ratio</a:t>
              </a:r>
            </a:p>
          </p:txBody>
        </p:sp>
        <p:sp>
          <p:nvSpPr>
            <p:cNvPr id="53257" name="Line 8">
              <a:extLst>
                <a:ext uri="{FF2B5EF4-FFF2-40B4-BE49-F238E27FC236}">
                  <a16:creationId xmlns:a16="http://schemas.microsoft.com/office/drawing/2014/main" id="{EDFA9DE6-BAF3-B146-D41F-3BECF6896BEA}"/>
                </a:ext>
              </a:extLst>
            </p:cNvPr>
            <p:cNvSpPr>
              <a:spLocks noChangeShapeType="1"/>
            </p:cNvSpPr>
            <p:nvPr/>
          </p:nvSpPr>
          <p:spPr bwMode="auto">
            <a:xfrm>
              <a:off x="3936" y="2998"/>
              <a:ext cx="1392"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3258" name="Text Box 9">
              <a:extLst>
                <a:ext uri="{FF2B5EF4-FFF2-40B4-BE49-F238E27FC236}">
                  <a16:creationId xmlns:a16="http://schemas.microsoft.com/office/drawing/2014/main" id="{8D3CFEC9-D555-4CBF-DAD2-97158D2C8A16}"/>
                </a:ext>
              </a:extLst>
            </p:cNvPr>
            <p:cNvSpPr txBox="1">
              <a:spLocks noChangeArrowheads="1"/>
            </p:cNvSpPr>
            <p:nvPr/>
          </p:nvSpPr>
          <p:spPr bwMode="auto">
            <a:xfrm>
              <a:off x="2256" y="2728"/>
              <a:ext cx="124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b="1">
                  <a:solidFill>
                    <a:srgbClr val="FFFFFF"/>
                  </a:solidFill>
                </a:rPr>
                <a:t>Break-even</a:t>
              </a:r>
              <a:br>
                <a:rPr lang="en-US" altLang="en-US" sz="2400" b="1">
                  <a:solidFill>
                    <a:srgbClr val="FFFFFF"/>
                  </a:solidFill>
                </a:rPr>
              </a:br>
              <a:r>
                <a:rPr lang="en-US" altLang="en-US" sz="2400" b="1">
                  <a:solidFill>
                    <a:srgbClr val="FFFFFF"/>
                  </a:solidFill>
                </a:rPr>
                <a:t>sales </a:t>
              </a:r>
            </a:p>
          </p:txBody>
        </p:sp>
        <p:sp>
          <p:nvSpPr>
            <p:cNvPr id="53259" name="Text Box 10">
              <a:extLst>
                <a:ext uri="{FF2B5EF4-FFF2-40B4-BE49-F238E27FC236}">
                  <a16:creationId xmlns:a16="http://schemas.microsoft.com/office/drawing/2014/main" id="{0FC55E7F-750F-5BA9-788D-D278A2270510}"/>
                </a:ext>
              </a:extLst>
            </p:cNvPr>
            <p:cNvSpPr txBox="1">
              <a:spLocks noChangeArrowheads="1"/>
            </p:cNvSpPr>
            <p:nvPr/>
          </p:nvSpPr>
          <p:spPr bwMode="auto">
            <a:xfrm>
              <a:off x="3600" y="3168"/>
              <a:ext cx="115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$1,300</a:t>
              </a:r>
            </a:p>
            <a:p>
              <a:pPr algn="ctr" eaLnBrk="1" hangingPunct="1"/>
              <a:r>
                <a:rPr lang="en-US" altLang="en-US" sz="2400" b="1">
                  <a:solidFill>
                    <a:srgbClr val="FFFFFF"/>
                  </a:solidFill>
                </a:rPr>
                <a:t>0.758</a:t>
              </a:r>
            </a:p>
          </p:txBody>
        </p:sp>
        <p:sp>
          <p:nvSpPr>
            <p:cNvPr id="53260" name="Text Box 11">
              <a:extLst>
                <a:ext uri="{FF2B5EF4-FFF2-40B4-BE49-F238E27FC236}">
                  <a16:creationId xmlns:a16="http://schemas.microsoft.com/office/drawing/2014/main" id="{21DF7E67-0539-63E6-FF1D-7F6BEE63A6E2}"/>
                </a:ext>
              </a:extLst>
            </p:cNvPr>
            <p:cNvSpPr txBox="1">
              <a:spLocks noChangeArrowheads="1"/>
            </p:cNvSpPr>
            <p:nvPr/>
          </p:nvSpPr>
          <p:spPr bwMode="auto">
            <a:xfrm>
              <a:off x="3504" y="3744"/>
              <a:ext cx="11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FFFF"/>
                  </a:solidFill>
                </a:rPr>
                <a:t>=   </a:t>
              </a:r>
              <a:r>
                <a:rPr lang="en-US" altLang="en-US" sz="2400" b="1" i="1">
                  <a:solidFill>
                    <a:srgbClr val="FFFF00"/>
                  </a:solidFill>
                </a:rPr>
                <a:t>$1,715</a:t>
              </a:r>
            </a:p>
          </p:txBody>
        </p:sp>
        <p:sp>
          <p:nvSpPr>
            <p:cNvPr id="53261" name="Line 12">
              <a:extLst>
                <a:ext uri="{FF2B5EF4-FFF2-40B4-BE49-F238E27FC236}">
                  <a16:creationId xmlns:a16="http://schemas.microsoft.com/office/drawing/2014/main" id="{E5192E3B-2193-1F53-36C0-6E02D1B657DD}"/>
                </a:ext>
              </a:extLst>
            </p:cNvPr>
            <p:cNvSpPr>
              <a:spLocks noChangeShapeType="1"/>
            </p:cNvSpPr>
            <p:nvPr/>
          </p:nvSpPr>
          <p:spPr bwMode="auto">
            <a:xfrm>
              <a:off x="3936" y="3445"/>
              <a:ext cx="528"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3262" name="Text Box 13">
              <a:extLst>
                <a:ext uri="{FF2B5EF4-FFF2-40B4-BE49-F238E27FC236}">
                  <a16:creationId xmlns:a16="http://schemas.microsoft.com/office/drawing/2014/main" id="{7CE12DC5-0239-9C70-8BFD-BCF0B5A73AB1}"/>
                </a:ext>
              </a:extLst>
            </p:cNvPr>
            <p:cNvSpPr txBox="1">
              <a:spLocks noChangeArrowheads="1"/>
            </p:cNvSpPr>
            <p:nvPr/>
          </p:nvSpPr>
          <p:spPr bwMode="auto">
            <a:xfrm>
              <a:off x="3504" y="329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a:t>
              </a:r>
            </a:p>
          </p:txBody>
        </p:sp>
        <p:sp>
          <p:nvSpPr>
            <p:cNvPr id="53263" name="Text Box 14">
              <a:extLst>
                <a:ext uri="{FF2B5EF4-FFF2-40B4-BE49-F238E27FC236}">
                  <a16:creationId xmlns:a16="http://schemas.microsoft.com/office/drawing/2014/main" id="{5135FA01-780E-D325-F231-1ECB8E57689C}"/>
                </a:ext>
              </a:extLst>
            </p:cNvPr>
            <p:cNvSpPr txBox="1">
              <a:spLocks noChangeArrowheads="1"/>
            </p:cNvSpPr>
            <p:nvPr/>
          </p:nvSpPr>
          <p:spPr bwMode="auto">
            <a:xfrm>
              <a:off x="3503" y="2842"/>
              <a:ext cx="2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solidFill>
                    <a:srgbClr val="FFFFFF"/>
                  </a:solidFill>
                </a:rPr>
                <a:t>=</a:t>
              </a:r>
            </a:p>
          </p:txBody>
        </p:sp>
      </p:grpSp>
    </p:spTree>
  </p:cSld>
  <p:clrMapOvr>
    <a:masterClrMapping/>
  </p:clrMapOvr>
  <p:transition spd="med">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FBC384AD-1EF6-264C-B3D1-C4C3DAD84362}"/>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Quick Check </a:t>
            </a:r>
            <a:r>
              <a:rPr lang="en-US" altLang="en-US">
                <a:latin typeface="Arial" panose="020B0604020202020204" pitchFamily="34" charset="0"/>
                <a:cs typeface="Arial" panose="020B0604020202020204" pitchFamily="34" charset="0"/>
                <a:sym typeface="Wingdings" panose="05000000000000000000" pitchFamily="2" charset="2"/>
              </a:rPr>
              <a:t></a:t>
            </a:r>
          </a:p>
        </p:txBody>
      </p:sp>
      <p:sp>
        <p:nvSpPr>
          <p:cNvPr id="382979" name="Rectangle 3">
            <a:extLst>
              <a:ext uri="{FF2B5EF4-FFF2-40B4-BE49-F238E27FC236}">
                <a16:creationId xmlns:a16="http://schemas.microsoft.com/office/drawing/2014/main" id="{0AE03FA9-C405-C4F3-26F3-486F31D0C315}"/>
              </a:ext>
            </a:extLst>
          </p:cNvPr>
          <p:cNvSpPr>
            <a:spLocks noGrp="1" noChangeArrowheads="1"/>
          </p:cNvSpPr>
          <p:nvPr>
            <p:ph type="body" idx="4294967295"/>
          </p:nvPr>
        </p:nvSpPr>
        <p:spPr>
          <a:xfrm>
            <a:off x="457200" y="1600200"/>
            <a:ext cx="8153400" cy="4419600"/>
          </a:xfrm>
          <a:solidFill>
            <a:schemeClr val="accent4">
              <a:lumMod val="40000"/>
              <a:lumOff val="60000"/>
            </a:schemeClr>
          </a:solidFill>
          <a:ln w="12699">
            <a:solidFill>
              <a:schemeClr val="tx1"/>
            </a:solidFill>
          </a:ln>
          <a:effectLst>
            <a:outerShdw dist="35921" dir="2700000" algn="ctr" rotWithShape="0">
              <a:schemeClr val="bg2"/>
            </a:outerShdw>
          </a:effectLst>
        </p:spPr>
        <p:txBody>
          <a:bodyPr lIns="90488" tIns="44450" rIns="90488" bIns="44450"/>
          <a:lstStyle/>
          <a:p>
            <a:pPr marL="233363" indent="0" eaLnBrk="1" hangingPunct="1">
              <a:buFont typeface="Times" pitchFamily="34" charset="0"/>
              <a:buNone/>
              <a:defRPr/>
            </a:pPr>
            <a:r>
              <a:rPr lang="en-US" sz="2500" dirty="0">
                <a:latin typeface="Arial" charset="0"/>
                <a:cs typeface="Arial" charset="0"/>
              </a:rPr>
              <a:t>Coffee Klatch is an espresso stand in a downtown office building. The average selling price of a cup of coffee is $1.49 and the average variable expense per cup is $0.36. The average fixed expense per month is $1,300. An average of 2,100 cups are sold each month. What is the break-even sales in units?</a:t>
            </a:r>
          </a:p>
          <a:p>
            <a:pPr marL="233363" indent="0" eaLnBrk="1" hangingPunct="1">
              <a:buFont typeface="Times" pitchFamily="34" charset="0"/>
              <a:buNone/>
              <a:defRPr/>
            </a:pPr>
            <a:r>
              <a:rPr lang="en-US" sz="2500" dirty="0">
                <a:latin typeface="Arial" charset="0"/>
                <a:cs typeface="Arial" charset="0"/>
              </a:rPr>
              <a:t> a. 872 cups</a:t>
            </a:r>
          </a:p>
          <a:p>
            <a:pPr marL="233363" indent="0" eaLnBrk="1" hangingPunct="1">
              <a:buFont typeface="Times" pitchFamily="34" charset="0"/>
              <a:buNone/>
              <a:defRPr/>
            </a:pPr>
            <a:r>
              <a:rPr lang="en-US" sz="2500" dirty="0">
                <a:latin typeface="Arial" charset="0"/>
                <a:cs typeface="Arial" charset="0"/>
              </a:rPr>
              <a:t> b. 3,611 cups</a:t>
            </a:r>
          </a:p>
          <a:p>
            <a:pPr marL="233363" indent="0" eaLnBrk="1" hangingPunct="1">
              <a:buFont typeface="Times" pitchFamily="34" charset="0"/>
              <a:buNone/>
              <a:defRPr/>
            </a:pPr>
            <a:r>
              <a:rPr lang="en-US" sz="2500" dirty="0">
                <a:latin typeface="Arial" charset="0"/>
                <a:cs typeface="Arial" charset="0"/>
              </a:rPr>
              <a:t> c. 1,200 cups</a:t>
            </a:r>
          </a:p>
          <a:p>
            <a:pPr marL="233363" indent="0" eaLnBrk="1" hangingPunct="1">
              <a:buFont typeface="Times" pitchFamily="34" charset="0"/>
              <a:buNone/>
              <a:defRPr/>
            </a:pPr>
            <a:r>
              <a:rPr lang="en-US" sz="2500" dirty="0">
                <a:latin typeface="Arial" charset="0"/>
                <a:cs typeface="Arial" charset="0"/>
              </a:rPr>
              <a:t> d. 1,150 cups</a:t>
            </a:r>
          </a:p>
        </p:txBody>
      </p:sp>
      <p:pic>
        <p:nvPicPr>
          <p:cNvPr id="4" name="Picture 4" descr="G:\FILES\PFILES\MSOFFICE\MEDIA\CNTCD1\ClipArt2\j0217302.wmf">
            <a:extLst>
              <a:ext uri="{FF2B5EF4-FFF2-40B4-BE49-F238E27FC236}">
                <a16:creationId xmlns:a16="http://schemas.microsoft.com/office/drawing/2014/main" id="{80464CD2-7DEB-8415-4730-D39D3A7B593F}"/>
              </a:ext>
            </a:extLst>
          </p:cNvPr>
          <p:cNvPicPr>
            <a:picLocks noChangeAspect="1" noChangeArrowheads="1"/>
          </p:cNvPicPr>
          <p:nvPr/>
        </p:nvPicPr>
        <p:blipFill>
          <a:blip r:embed="rId3"/>
          <a:srcRect/>
          <a:stretch>
            <a:fillRect/>
          </a:stretch>
        </p:blipFill>
        <p:spPr bwMode="auto">
          <a:xfrm>
            <a:off x="6324600" y="4495800"/>
            <a:ext cx="1836738" cy="136842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med">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3">
            <a:extLst>
              <a:ext uri="{FF2B5EF4-FFF2-40B4-BE49-F238E27FC236}">
                <a16:creationId xmlns:a16="http://schemas.microsoft.com/office/drawing/2014/main" id="{F8ECB578-68BB-BFC7-2FE2-D2E838041203}"/>
              </a:ext>
            </a:extLst>
          </p:cNvPr>
          <p:cNvSpPr txBox="1">
            <a:spLocks noChangeArrowheads="1"/>
          </p:cNvSpPr>
          <p:nvPr/>
        </p:nvSpPr>
        <p:spPr bwMode="auto">
          <a:xfrm>
            <a:off x="457200" y="1600200"/>
            <a:ext cx="8153400" cy="4419600"/>
          </a:xfrm>
          <a:prstGeom prst="rect">
            <a:avLst/>
          </a:prstGeom>
          <a:solidFill>
            <a:schemeClr val="accent4">
              <a:lumMod val="40000"/>
              <a:lumOff val="60000"/>
            </a:schemeClr>
          </a:solidFill>
          <a:ln w="12699">
            <a:solidFill>
              <a:schemeClr val="tx1"/>
            </a:solidFill>
            <a:miter lim="800000"/>
            <a:headEnd/>
            <a:tailEnd/>
          </a:ln>
          <a:effectLst>
            <a:outerShdw dist="35921" dir="2700000" algn="ctr" rotWithShape="0">
              <a:schemeClr val="bg2"/>
            </a:outerShdw>
          </a:effectLst>
        </p:spPr>
        <p:txBody>
          <a:bodyPr lIns="90488" tIns="44450" rIns="90488" bIns="44450"/>
          <a:lstStyle/>
          <a:p>
            <a:pPr marL="233363" indent="-233363" eaLnBrk="1" hangingPunct="1">
              <a:spcBef>
                <a:spcPts val="600"/>
              </a:spcBef>
              <a:buClr>
                <a:schemeClr val="accent1"/>
              </a:buClr>
              <a:buSzPct val="76000"/>
              <a:buFont typeface="Times" pitchFamily="34" charset="0"/>
              <a:buNone/>
              <a:defRPr/>
            </a:pPr>
            <a:r>
              <a:rPr lang="en-US" sz="2500" dirty="0">
                <a:latin typeface="Arial" charset="0"/>
                <a:cs typeface="Arial" charset="0"/>
              </a:rPr>
              <a:t> 	Coffee Klatch is an espresso stand in a downtown office building. The average selling price of a cup of coffee is $1.49 and the average variable expense per cup is $0.36. The average fixed expense per month is $1,300. An average of 2,100 cups are sold each month. What is the break-even sales in units?</a:t>
            </a:r>
            <a:endParaRPr lang="en-US" sz="2600" dirty="0">
              <a:latin typeface="Arial" charset="0"/>
              <a:cs typeface="Arial" charset="0"/>
            </a:endParaRPr>
          </a:p>
          <a:p>
            <a:pPr marL="677863" lvl="1" indent="-330200" eaLnBrk="1" hangingPunct="1">
              <a:spcBef>
                <a:spcPts val="500"/>
              </a:spcBef>
              <a:buClr>
                <a:schemeClr val="accent2"/>
              </a:buClr>
              <a:buSzPct val="76000"/>
              <a:buFont typeface="Wingdings 3" pitchFamily="18" charset="2"/>
              <a:buNone/>
              <a:defRPr/>
            </a:pPr>
            <a:r>
              <a:rPr lang="en-US" sz="2600" dirty="0">
                <a:solidFill>
                  <a:srgbClr val="BFBFBF"/>
                </a:solidFill>
                <a:latin typeface="Arial" charset="0"/>
                <a:cs typeface="Arial" charset="0"/>
              </a:rPr>
              <a:t>a. 872 cups</a:t>
            </a:r>
          </a:p>
          <a:p>
            <a:pPr marL="677863" lvl="1" indent="-330200" eaLnBrk="1" hangingPunct="1">
              <a:spcBef>
                <a:spcPts val="500"/>
              </a:spcBef>
              <a:buClr>
                <a:schemeClr val="accent2"/>
              </a:buClr>
              <a:buSzPct val="76000"/>
              <a:buFont typeface="Wingdings" pitchFamily="2" charset="2"/>
              <a:buNone/>
              <a:defRPr/>
            </a:pPr>
            <a:r>
              <a:rPr lang="en-US" sz="2600" dirty="0">
                <a:solidFill>
                  <a:srgbClr val="BFBFBF"/>
                </a:solidFill>
                <a:latin typeface="Arial" charset="0"/>
                <a:cs typeface="Arial" charset="0"/>
              </a:rPr>
              <a:t>b. 3,611 cups</a:t>
            </a:r>
          </a:p>
          <a:p>
            <a:pPr marL="677863" lvl="1" indent="-330200" eaLnBrk="1" hangingPunct="1">
              <a:spcBef>
                <a:spcPts val="500"/>
              </a:spcBef>
              <a:buClr>
                <a:schemeClr val="accent2"/>
              </a:buClr>
              <a:buSzPct val="76000"/>
              <a:buFont typeface="Wingdings" pitchFamily="2" charset="2"/>
              <a:buNone/>
              <a:defRPr/>
            </a:pPr>
            <a:r>
              <a:rPr lang="en-US" sz="2600" dirty="0">
                <a:solidFill>
                  <a:srgbClr val="BFBFBF"/>
                </a:solidFill>
                <a:latin typeface="Arial" charset="0"/>
                <a:cs typeface="Arial" charset="0"/>
              </a:rPr>
              <a:t>c. 1,200 cups</a:t>
            </a:r>
          </a:p>
          <a:p>
            <a:pPr marL="677863" lvl="1" indent="-330200" eaLnBrk="1" hangingPunct="1">
              <a:spcBef>
                <a:spcPts val="500"/>
              </a:spcBef>
              <a:buClr>
                <a:schemeClr val="accent2"/>
              </a:buClr>
              <a:buSzPct val="76000"/>
              <a:buFont typeface="Wingdings" pitchFamily="2" charset="2"/>
              <a:buNone/>
              <a:defRPr/>
            </a:pPr>
            <a:r>
              <a:rPr lang="en-US" sz="2600" dirty="0">
                <a:latin typeface="Arial" charset="0"/>
                <a:cs typeface="Arial" charset="0"/>
              </a:rPr>
              <a:t>d. 1,150 cups</a:t>
            </a:r>
          </a:p>
        </p:txBody>
      </p:sp>
      <p:sp>
        <p:nvSpPr>
          <p:cNvPr id="57347" name="Rectangle 1027">
            <a:extLst>
              <a:ext uri="{FF2B5EF4-FFF2-40B4-BE49-F238E27FC236}">
                <a16:creationId xmlns:a16="http://schemas.microsoft.com/office/drawing/2014/main" id="{28263FEF-2259-92DC-84B5-5FE64F596908}"/>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Quick Check </a:t>
            </a:r>
            <a:r>
              <a:rPr lang="en-US" altLang="en-US">
                <a:latin typeface="Arial" panose="020B0604020202020204" pitchFamily="34" charset="0"/>
                <a:cs typeface="Arial" panose="020B0604020202020204" pitchFamily="34" charset="0"/>
                <a:sym typeface="Wingdings" panose="05000000000000000000" pitchFamily="2" charset="2"/>
              </a:rPr>
              <a:t></a:t>
            </a:r>
          </a:p>
        </p:txBody>
      </p:sp>
      <p:sp>
        <p:nvSpPr>
          <p:cNvPr id="64516" name="Oval 1028">
            <a:extLst>
              <a:ext uri="{FF2B5EF4-FFF2-40B4-BE49-F238E27FC236}">
                <a16:creationId xmlns:a16="http://schemas.microsoft.com/office/drawing/2014/main" id="{F8DA518B-24FE-67F0-6EB6-19A77B5FBABC}"/>
              </a:ext>
            </a:extLst>
          </p:cNvPr>
          <p:cNvSpPr>
            <a:spLocks noChangeArrowheads="1"/>
          </p:cNvSpPr>
          <p:nvPr/>
        </p:nvSpPr>
        <p:spPr bwMode="auto">
          <a:xfrm>
            <a:off x="685800" y="5334000"/>
            <a:ext cx="533400" cy="533400"/>
          </a:xfrm>
          <a:prstGeom prst="ellipse">
            <a:avLst/>
          </a:prstGeom>
          <a:noFill/>
          <a:ln w="50799">
            <a:solidFill>
              <a:srgbClr val="FF0000"/>
            </a:solidFill>
            <a:round/>
            <a:headEnd/>
            <a:tailEnd/>
          </a:ln>
          <a:effectLst>
            <a:outerShdw blurRad="50800" dist="38100" dir="2700000" algn="tl" rotWithShape="0">
              <a:prstClr val="black">
                <a:alpha val="40000"/>
              </a:prstClr>
            </a:outerShdw>
          </a:effectLst>
        </p:spPr>
        <p:txBody>
          <a:bodyPr wrap="none" anchor="ctr"/>
          <a:lstStyle/>
          <a:p>
            <a:pPr eaLnBrk="1" hangingPunct="1">
              <a:defRPr/>
            </a:pPr>
            <a:endParaRPr lang="en-US" dirty="0"/>
          </a:p>
        </p:txBody>
      </p:sp>
      <p:grpSp>
        <p:nvGrpSpPr>
          <p:cNvPr id="57349" name="Group 1029">
            <a:extLst>
              <a:ext uri="{FF2B5EF4-FFF2-40B4-BE49-F238E27FC236}">
                <a16:creationId xmlns:a16="http://schemas.microsoft.com/office/drawing/2014/main" id="{C6043B8C-4819-6D4F-E398-E36533D22D87}"/>
              </a:ext>
            </a:extLst>
          </p:cNvPr>
          <p:cNvGrpSpPr>
            <a:grpSpLocks/>
          </p:cNvGrpSpPr>
          <p:nvPr/>
        </p:nvGrpSpPr>
        <p:grpSpPr bwMode="auto">
          <a:xfrm>
            <a:off x="3352800" y="2971800"/>
            <a:ext cx="5486400" cy="3505200"/>
            <a:chOff x="2064" y="1344"/>
            <a:chExt cx="3456" cy="2208"/>
          </a:xfrm>
        </p:grpSpPr>
        <p:sp>
          <p:nvSpPr>
            <p:cNvPr id="57350" name="Rectangle 1030">
              <a:extLst>
                <a:ext uri="{FF2B5EF4-FFF2-40B4-BE49-F238E27FC236}">
                  <a16:creationId xmlns:a16="http://schemas.microsoft.com/office/drawing/2014/main" id="{8B5FFA09-502D-5EDF-41CF-11FB0F3FB369}"/>
                </a:ext>
              </a:extLst>
            </p:cNvPr>
            <p:cNvSpPr>
              <a:spLocks noChangeArrowheads="1"/>
            </p:cNvSpPr>
            <p:nvPr/>
          </p:nvSpPr>
          <p:spPr bwMode="auto">
            <a:xfrm>
              <a:off x="2064" y="1344"/>
              <a:ext cx="3264" cy="220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7351" name="Text Box 1031">
              <a:extLst>
                <a:ext uri="{FF2B5EF4-FFF2-40B4-BE49-F238E27FC236}">
                  <a16:creationId xmlns:a16="http://schemas.microsoft.com/office/drawing/2014/main" id="{98B4BA76-BD12-D2BF-5E69-14583A8BFE50}"/>
                </a:ext>
              </a:extLst>
            </p:cNvPr>
            <p:cNvSpPr txBox="1">
              <a:spLocks noChangeArrowheads="1"/>
            </p:cNvSpPr>
            <p:nvPr/>
          </p:nvSpPr>
          <p:spPr bwMode="auto">
            <a:xfrm>
              <a:off x="3120" y="1392"/>
              <a:ext cx="240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Fixed expenses</a:t>
              </a:r>
            </a:p>
            <a:p>
              <a:pPr algn="ctr" eaLnBrk="1" hangingPunct="1"/>
              <a:r>
                <a:rPr lang="en-US" altLang="en-US" sz="2400" b="1">
                  <a:solidFill>
                    <a:srgbClr val="FFFFFF"/>
                  </a:solidFill>
                </a:rPr>
                <a:t>CM per Unit</a:t>
              </a:r>
            </a:p>
          </p:txBody>
        </p:sp>
        <p:sp>
          <p:nvSpPr>
            <p:cNvPr id="57352" name="Line 1032">
              <a:extLst>
                <a:ext uri="{FF2B5EF4-FFF2-40B4-BE49-F238E27FC236}">
                  <a16:creationId xmlns:a16="http://schemas.microsoft.com/office/drawing/2014/main" id="{73D18BAA-18EE-607C-664C-743FE3AE8BC3}"/>
                </a:ext>
              </a:extLst>
            </p:cNvPr>
            <p:cNvSpPr>
              <a:spLocks noChangeShapeType="1"/>
            </p:cNvSpPr>
            <p:nvPr/>
          </p:nvSpPr>
          <p:spPr bwMode="auto">
            <a:xfrm flipV="1">
              <a:off x="3504" y="1659"/>
              <a:ext cx="1632" cy="22"/>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7353" name="Text Box 1033">
              <a:extLst>
                <a:ext uri="{FF2B5EF4-FFF2-40B4-BE49-F238E27FC236}">
                  <a16:creationId xmlns:a16="http://schemas.microsoft.com/office/drawing/2014/main" id="{8E163BBC-88B6-C088-AD95-E1638C49C1EC}"/>
                </a:ext>
              </a:extLst>
            </p:cNvPr>
            <p:cNvSpPr txBox="1">
              <a:spLocks noChangeArrowheads="1"/>
            </p:cNvSpPr>
            <p:nvPr/>
          </p:nvSpPr>
          <p:spPr bwMode="auto">
            <a:xfrm>
              <a:off x="2121" y="1527"/>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Break-even =</a:t>
              </a:r>
            </a:p>
          </p:txBody>
        </p:sp>
        <p:sp>
          <p:nvSpPr>
            <p:cNvPr id="57354" name="Text Box 1034">
              <a:extLst>
                <a:ext uri="{FF2B5EF4-FFF2-40B4-BE49-F238E27FC236}">
                  <a16:creationId xmlns:a16="http://schemas.microsoft.com/office/drawing/2014/main" id="{35F5F27B-52D5-AF70-1A49-E0584FEE2165}"/>
                </a:ext>
              </a:extLst>
            </p:cNvPr>
            <p:cNvSpPr txBox="1">
              <a:spLocks noChangeArrowheads="1"/>
            </p:cNvSpPr>
            <p:nvPr/>
          </p:nvSpPr>
          <p:spPr bwMode="auto">
            <a:xfrm>
              <a:off x="2448" y="1920"/>
              <a:ext cx="292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$1,300</a:t>
              </a:r>
            </a:p>
            <a:p>
              <a:pPr algn="ctr" eaLnBrk="1" hangingPunct="1"/>
              <a:r>
                <a:rPr lang="en-US" altLang="en-US" sz="2400" b="1">
                  <a:solidFill>
                    <a:srgbClr val="FFFFFF"/>
                  </a:solidFill>
                </a:rPr>
                <a:t>$1.49/cup - $0.36/cup</a:t>
              </a:r>
            </a:p>
          </p:txBody>
        </p:sp>
        <p:sp>
          <p:nvSpPr>
            <p:cNvPr id="57355" name="Text Box 1035">
              <a:extLst>
                <a:ext uri="{FF2B5EF4-FFF2-40B4-BE49-F238E27FC236}">
                  <a16:creationId xmlns:a16="http://schemas.microsoft.com/office/drawing/2014/main" id="{E8073614-8B62-45D1-FE28-4368940B5C6C}"/>
                </a:ext>
              </a:extLst>
            </p:cNvPr>
            <p:cNvSpPr txBox="1">
              <a:spLocks noChangeArrowheads="1"/>
            </p:cNvSpPr>
            <p:nvPr/>
          </p:nvSpPr>
          <p:spPr bwMode="auto">
            <a:xfrm>
              <a:off x="2544" y="261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a:t>
              </a:r>
            </a:p>
          </p:txBody>
        </p:sp>
        <p:sp>
          <p:nvSpPr>
            <p:cNvPr id="57356" name="Text Box 1036">
              <a:extLst>
                <a:ext uri="{FF2B5EF4-FFF2-40B4-BE49-F238E27FC236}">
                  <a16:creationId xmlns:a16="http://schemas.microsoft.com/office/drawing/2014/main" id="{75F475A7-DF7D-760F-A070-E62268F341CA}"/>
                </a:ext>
              </a:extLst>
            </p:cNvPr>
            <p:cNvSpPr txBox="1">
              <a:spLocks noChangeArrowheads="1"/>
            </p:cNvSpPr>
            <p:nvPr/>
          </p:nvSpPr>
          <p:spPr bwMode="auto">
            <a:xfrm>
              <a:off x="2496" y="2506"/>
              <a:ext cx="163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$1,300</a:t>
              </a:r>
            </a:p>
            <a:p>
              <a:pPr algn="ctr" eaLnBrk="1" hangingPunct="1"/>
              <a:r>
                <a:rPr lang="en-US" altLang="en-US" sz="2400" b="1">
                  <a:solidFill>
                    <a:srgbClr val="FFFFFF"/>
                  </a:solidFill>
                </a:rPr>
                <a:t>$1.13/cup</a:t>
              </a:r>
            </a:p>
          </p:txBody>
        </p:sp>
        <p:sp>
          <p:nvSpPr>
            <p:cNvPr id="57357" name="Text Box 1037">
              <a:extLst>
                <a:ext uri="{FF2B5EF4-FFF2-40B4-BE49-F238E27FC236}">
                  <a16:creationId xmlns:a16="http://schemas.microsoft.com/office/drawing/2014/main" id="{EEA87A8A-5ED0-505C-F2BA-73115F7B4435}"/>
                </a:ext>
              </a:extLst>
            </p:cNvPr>
            <p:cNvSpPr txBox="1">
              <a:spLocks noChangeArrowheads="1"/>
            </p:cNvSpPr>
            <p:nvPr/>
          </p:nvSpPr>
          <p:spPr bwMode="auto">
            <a:xfrm>
              <a:off x="2544" y="3120"/>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FFFF"/>
                  </a:solidFill>
                </a:rPr>
                <a:t>= </a:t>
              </a:r>
              <a:r>
                <a:rPr lang="en-US" altLang="en-US" sz="2400" b="1" i="1">
                  <a:solidFill>
                    <a:srgbClr val="FFFF00"/>
                  </a:solidFill>
                </a:rPr>
                <a:t>1,150 cups</a:t>
              </a:r>
            </a:p>
          </p:txBody>
        </p:sp>
        <p:sp>
          <p:nvSpPr>
            <p:cNvPr id="57358" name="Line 1038">
              <a:extLst>
                <a:ext uri="{FF2B5EF4-FFF2-40B4-BE49-F238E27FC236}">
                  <a16:creationId xmlns:a16="http://schemas.microsoft.com/office/drawing/2014/main" id="{FBB1A91D-F9CA-1864-199C-3F4DD88D257C}"/>
                </a:ext>
              </a:extLst>
            </p:cNvPr>
            <p:cNvSpPr>
              <a:spLocks noChangeShapeType="1"/>
            </p:cNvSpPr>
            <p:nvPr/>
          </p:nvSpPr>
          <p:spPr bwMode="auto">
            <a:xfrm>
              <a:off x="2832" y="2188"/>
              <a:ext cx="2112"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7359" name="Line 1039">
              <a:extLst>
                <a:ext uri="{FF2B5EF4-FFF2-40B4-BE49-F238E27FC236}">
                  <a16:creationId xmlns:a16="http://schemas.microsoft.com/office/drawing/2014/main" id="{AD8F70AC-7F4E-40D4-B042-0F787F119052}"/>
                </a:ext>
              </a:extLst>
            </p:cNvPr>
            <p:cNvSpPr>
              <a:spLocks noChangeShapeType="1"/>
            </p:cNvSpPr>
            <p:nvPr/>
          </p:nvSpPr>
          <p:spPr bwMode="auto">
            <a:xfrm>
              <a:off x="2841" y="2775"/>
              <a:ext cx="912"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7360" name="Text Box 1040">
              <a:extLst>
                <a:ext uri="{FF2B5EF4-FFF2-40B4-BE49-F238E27FC236}">
                  <a16:creationId xmlns:a16="http://schemas.microsoft.com/office/drawing/2014/main" id="{E235E749-69DA-09E9-6B61-6A402BCED063}"/>
                </a:ext>
              </a:extLst>
            </p:cNvPr>
            <p:cNvSpPr txBox="1">
              <a:spLocks noChangeArrowheads="1"/>
            </p:cNvSpPr>
            <p:nvPr/>
          </p:nvSpPr>
          <p:spPr bwMode="auto">
            <a:xfrm>
              <a:off x="2496" y="205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a:t>
              </a:r>
            </a:p>
          </p:txBody>
        </p:sp>
      </p:grpSp>
    </p:spTree>
  </p:cSld>
  <p:clrMapOvr>
    <a:masterClrMapping/>
  </p:clrMapOvr>
  <p:transition spd="med">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B1B29E7-C082-43B7-AE4A-785165F0D906}"/>
              </a:ext>
            </a:extLst>
          </p:cNvPr>
          <p:cNvSpPr>
            <a:spLocks noGrp="1"/>
          </p:cNvSpPr>
          <p:nvPr>
            <p:ph type="title"/>
          </p:nvPr>
        </p:nvSpPr>
        <p:spPr/>
        <p:txBody>
          <a:bodyPr/>
          <a:lstStyle/>
          <a:p>
            <a:r>
              <a:rPr lang="en-US" dirty="0"/>
              <a:t>Target Profit Analysis</a:t>
            </a:r>
            <a:br>
              <a:rPr lang="en-US" dirty="0"/>
            </a:br>
            <a:endParaRPr lang="en-US" dirty="0"/>
          </a:p>
        </p:txBody>
      </p:sp>
      <p:sp>
        <p:nvSpPr>
          <p:cNvPr id="7" name="Content Placeholder 6">
            <a:extLst>
              <a:ext uri="{FF2B5EF4-FFF2-40B4-BE49-F238E27FC236}">
                <a16:creationId xmlns:a16="http://schemas.microsoft.com/office/drawing/2014/main" id="{65D3C787-CCFF-4D75-8A52-A307FFA76B45}"/>
              </a:ext>
            </a:extLst>
          </p:cNvPr>
          <p:cNvSpPr>
            <a:spLocks noGrp="1"/>
          </p:cNvSpPr>
          <p:nvPr>
            <p:ph idx="1"/>
          </p:nvPr>
        </p:nvSpPr>
        <p:spPr/>
        <p:txBody>
          <a:bodyPr/>
          <a:lstStyle/>
          <a:p>
            <a:pPr marL="0" indent="0" algn="ctr">
              <a:spcAft>
                <a:spcPts val="1800"/>
              </a:spcAft>
              <a:buNone/>
            </a:pPr>
            <a:r>
              <a:rPr lang="en-US" sz="2400" dirty="0"/>
              <a:t>Assume that the target profit was $18,000.</a:t>
            </a:r>
          </a:p>
          <a:p>
            <a:pPr marL="0" indent="0" algn="ctr">
              <a:spcAft>
                <a:spcPts val="1800"/>
              </a:spcAft>
              <a:buNone/>
            </a:pPr>
            <a:r>
              <a:rPr lang="en-US" sz="2400" dirty="0"/>
              <a:t>Target Profit Analysis</a:t>
            </a:r>
          </a:p>
          <a:p>
            <a:pPr marL="0" indent="0">
              <a:spcAft>
                <a:spcPts val="0"/>
              </a:spcAft>
              <a:buNone/>
            </a:pPr>
            <a:r>
              <a:rPr lang="en-US" sz="1600" dirty="0"/>
              <a:t>(Unit price × Q) − (Unit variable costs × Q) − Total fixed costs = Profit</a:t>
            </a:r>
          </a:p>
          <a:p>
            <a:pPr marL="0" indent="0">
              <a:spcAft>
                <a:spcPts val="0"/>
              </a:spcAft>
              <a:buNone/>
            </a:pPr>
            <a:r>
              <a:rPr lang="en-US" sz="1600" dirty="0"/>
              <a:t>     ($2.50 × Q) −            ($1.00 × Q)         − $12,000 =           $18,000</a:t>
            </a:r>
          </a:p>
          <a:p>
            <a:pPr marL="0" indent="0">
              <a:spcAft>
                <a:spcPts val="0"/>
              </a:spcAft>
              <a:buNone/>
            </a:pPr>
            <a:r>
              <a:rPr lang="en-US" sz="1600" dirty="0"/>
              <a:t>            $1.50 Q = $30,000</a:t>
            </a:r>
          </a:p>
          <a:p>
            <a:pPr marL="0" indent="0">
              <a:spcAft>
                <a:spcPts val="0"/>
              </a:spcAft>
              <a:buNone/>
            </a:pPr>
            <a:r>
              <a:rPr lang="en-US" sz="1600" dirty="0"/>
              <a:t>                      Q = (12000+18000)/1.5</a:t>
            </a:r>
          </a:p>
          <a:p>
            <a:pPr marL="0" indent="0">
              <a:spcAft>
                <a:spcPts val="0"/>
              </a:spcAft>
              <a:buNone/>
            </a:pPr>
            <a:r>
              <a:rPr lang="en-US" sz="1600" dirty="0"/>
              <a:t>                      Q = 20,000 units</a:t>
            </a:r>
          </a:p>
          <a:p>
            <a:pPr marL="0" indent="0">
              <a:spcAft>
                <a:spcPts val="0"/>
              </a:spcAft>
              <a:buNone/>
            </a:pPr>
            <a:endParaRPr lang="en-US" sz="1600" dirty="0"/>
          </a:p>
        </p:txBody>
      </p:sp>
    </p:spTree>
    <p:extLst>
      <p:ext uri="{BB962C8B-B14F-4D97-AF65-F5344CB8AC3E}">
        <p14:creationId xmlns:p14="http://schemas.microsoft.com/office/powerpoint/2010/main" val="960886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C6577BE-508D-FF0F-72F7-ADC19B1EC3A5}"/>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The Formula Method</a:t>
            </a:r>
          </a:p>
        </p:txBody>
      </p:sp>
      <p:sp>
        <p:nvSpPr>
          <p:cNvPr id="65539" name="Rectangle 3">
            <a:extLst>
              <a:ext uri="{FF2B5EF4-FFF2-40B4-BE49-F238E27FC236}">
                <a16:creationId xmlns:a16="http://schemas.microsoft.com/office/drawing/2014/main" id="{4F28A02C-0C10-7793-FD01-86537D0DFBA0}"/>
              </a:ext>
            </a:extLst>
          </p:cNvPr>
          <p:cNvSpPr>
            <a:spLocks noGrp="1"/>
          </p:cNvSpPr>
          <p:nvPr>
            <p:ph type="body" idx="1"/>
          </p:nvPr>
        </p:nvSpPr>
        <p:spPr>
          <a:xfrm>
            <a:off x="228600" y="1752600"/>
            <a:ext cx="8686800" cy="1328738"/>
          </a:xfrm>
          <a:noFill/>
        </p:spPr>
        <p:txBody>
          <a:bodyPr lIns="90488" tIns="44450" rIns="90488" bIns="44450"/>
          <a:lstStyle/>
          <a:p>
            <a:pPr algn="ctr" eaLnBrk="1" hangingPunct="1">
              <a:buFont typeface="Times" panose="02020603050405020304" pitchFamily="18" charset="0"/>
              <a:buNone/>
            </a:pPr>
            <a:r>
              <a:rPr lang="en-US" altLang="en-US" sz="3600">
                <a:latin typeface="Arial" panose="020B0604020202020204" pitchFamily="34" charset="0"/>
                <a:cs typeface="Arial" panose="020B0604020202020204" pitchFamily="34" charset="0"/>
              </a:rPr>
              <a:t>The formula uses the following equation.</a:t>
            </a:r>
          </a:p>
        </p:txBody>
      </p:sp>
      <p:grpSp>
        <p:nvGrpSpPr>
          <p:cNvPr id="65540" name="Group 15">
            <a:extLst>
              <a:ext uri="{FF2B5EF4-FFF2-40B4-BE49-F238E27FC236}">
                <a16:creationId xmlns:a16="http://schemas.microsoft.com/office/drawing/2014/main" id="{1901BBE5-B08D-A5ED-0167-5B64A77D3E1A}"/>
              </a:ext>
            </a:extLst>
          </p:cNvPr>
          <p:cNvGrpSpPr>
            <a:grpSpLocks/>
          </p:cNvGrpSpPr>
          <p:nvPr/>
        </p:nvGrpSpPr>
        <p:grpSpPr bwMode="auto">
          <a:xfrm>
            <a:off x="304800" y="2743200"/>
            <a:ext cx="8534400" cy="1066800"/>
            <a:chOff x="338666" y="2692401"/>
            <a:chExt cx="8534400" cy="1066800"/>
          </a:xfrm>
        </p:grpSpPr>
        <p:sp>
          <p:nvSpPr>
            <p:cNvPr id="15" name="Rounded Rectangle 14">
              <a:extLst>
                <a:ext uri="{FF2B5EF4-FFF2-40B4-BE49-F238E27FC236}">
                  <a16:creationId xmlns:a16="http://schemas.microsoft.com/office/drawing/2014/main" id="{06F7EB1F-CD01-086A-F9C6-BA6E97657E20}"/>
                </a:ext>
              </a:extLst>
            </p:cNvPr>
            <p:cNvSpPr/>
            <p:nvPr/>
          </p:nvSpPr>
          <p:spPr>
            <a:xfrm>
              <a:off x="338666" y="2692401"/>
              <a:ext cx="8534400" cy="1066800"/>
            </a:xfrm>
            <a:prstGeom prst="roundRect">
              <a:avLst/>
            </a:prstGeom>
            <a:solidFill>
              <a:schemeClr val="accent4">
                <a:lumMod val="20000"/>
                <a:lumOff val="80000"/>
              </a:schemeClr>
            </a:solidFill>
            <a:ln>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65544" name="Rectangle 6">
              <a:extLst>
                <a:ext uri="{FF2B5EF4-FFF2-40B4-BE49-F238E27FC236}">
                  <a16:creationId xmlns:a16="http://schemas.microsoft.com/office/drawing/2014/main" id="{31499CFC-A41F-0D76-1E39-F86BB2EACB19}"/>
                </a:ext>
              </a:extLst>
            </p:cNvPr>
            <p:cNvSpPr>
              <a:spLocks noChangeArrowheads="1"/>
            </p:cNvSpPr>
            <p:nvPr/>
          </p:nvSpPr>
          <p:spPr bwMode="auto">
            <a:xfrm>
              <a:off x="3921341" y="2819400"/>
              <a:ext cx="4613059"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chemeClr val="tx2"/>
                  </a:solidFill>
                </a:rPr>
                <a:t>Target profit + Fixed expenses</a:t>
              </a:r>
              <a:br>
                <a:rPr lang="en-US" altLang="en-US" sz="2400" b="1">
                  <a:solidFill>
                    <a:schemeClr val="tx2"/>
                  </a:solidFill>
                </a:rPr>
              </a:br>
              <a:r>
                <a:rPr lang="en-US" altLang="en-US" sz="2400" b="1">
                  <a:solidFill>
                    <a:schemeClr val="tx2"/>
                  </a:solidFill>
                </a:rPr>
                <a:t>CM </a:t>
              </a:r>
              <a:r>
                <a:rPr lang="en-US" altLang="en-US" sz="2400" b="1">
                  <a:solidFill>
                    <a:srgbClr val="008000"/>
                  </a:solidFill>
                </a:rPr>
                <a:t>per unit   </a:t>
              </a:r>
            </a:p>
          </p:txBody>
        </p:sp>
        <p:sp>
          <p:nvSpPr>
            <p:cNvPr id="65545" name="Rectangle 7">
              <a:extLst>
                <a:ext uri="{FF2B5EF4-FFF2-40B4-BE49-F238E27FC236}">
                  <a16:creationId xmlns:a16="http://schemas.microsoft.com/office/drawing/2014/main" id="{C859F5B8-040A-3F6D-2731-043279C7B82C}"/>
                </a:ext>
              </a:extLst>
            </p:cNvPr>
            <p:cNvSpPr>
              <a:spLocks noChangeArrowheads="1"/>
            </p:cNvSpPr>
            <p:nvPr/>
          </p:nvSpPr>
          <p:spPr bwMode="auto">
            <a:xfrm>
              <a:off x="3501183" y="3001963"/>
              <a:ext cx="3587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chemeClr val="tx2"/>
                  </a:solidFill>
                </a:rPr>
                <a:t>=</a:t>
              </a:r>
            </a:p>
          </p:txBody>
        </p:sp>
        <p:sp>
          <p:nvSpPr>
            <p:cNvPr id="65546" name="Rectangle 8">
              <a:extLst>
                <a:ext uri="{FF2B5EF4-FFF2-40B4-BE49-F238E27FC236}">
                  <a16:creationId xmlns:a16="http://schemas.microsoft.com/office/drawing/2014/main" id="{2970A577-55CE-F127-24B3-CCDB96CD8B23}"/>
                </a:ext>
              </a:extLst>
            </p:cNvPr>
            <p:cNvSpPr>
              <a:spLocks noChangeArrowheads="1"/>
            </p:cNvSpPr>
            <p:nvPr/>
          </p:nvSpPr>
          <p:spPr bwMode="auto">
            <a:xfrm>
              <a:off x="699075" y="2819400"/>
              <a:ext cx="2917466"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C00000"/>
                  </a:solidFill>
                </a:rPr>
                <a:t>Unit sales </a:t>
              </a:r>
              <a:r>
                <a:rPr lang="en-US" altLang="en-US" sz="2400" b="1">
                  <a:solidFill>
                    <a:schemeClr val="tx2"/>
                  </a:solidFill>
                </a:rPr>
                <a:t>to attain</a:t>
              </a:r>
              <a:br>
                <a:rPr lang="en-US" altLang="en-US" sz="2400" b="1">
                  <a:solidFill>
                    <a:schemeClr val="tx2"/>
                  </a:solidFill>
                </a:rPr>
              </a:br>
              <a:r>
                <a:rPr lang="en-US" altLang="en-US" sz="2400" b="1">
                  <a:solidFill>
                    <a:schemeClr val="tx2"/>
                  </a:solidFill>
                </a:rPr>
                <a:t>the target profit</a:t>
              </a:r>
            </a:p>
          </p:txBody>
        </p:sp>
        <p:sp>
          <p:nvSpPr>
            <p:cNvPr id="65547" name="Line 9">
              <a:extLst>
                <a:ext uri="{FF2B5EF4-FFF2-40B4-BE49-F238E27FC236}">
                  <a16:creationId xmlns:a16="http://schemas.microsoft.com/office/drawing/2014/main" id="{84F37CB9-6EC8-4567-1E09-FFD03E3718DE}"/>
                </a:ext>
              </a:extLst>
            </p:cNvPr>
            <p:cNvSpPr>
              <a:spLocks noChangeShapeType="1"/>
            </p:cNvSpPr>
            <p:nvPr/>
          </p:nvSpPr>
          <p:spPr bwMode="auto">
            <a:xfrm>
              <a:off x="3921341" y="3251200"/>
              <a:ext cx="45720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pic>
        <p:nvPicPr>
          <p:cNvPr id="70675" name="Picture 19" descr="C:\Users\jonbooker\AppData\Local\Microsoft\Windows\Temporary Internet Files\Content.IE5\ICNRLO95\MCj04395930000[1].png">
            <a:extLst>
              <a:ext uri="{FF2B5EF4-FFF2-40B4-BE49-F238E27FC236}">
                <a16:creationId xmlns:a16="http://schemas.microsoft.com/office/drawing/2014/main" id="{0FFA375A-E218-F2C3-DE68-A5662671D9C3}"/>
              </a:ext>
            </a:extLst>
          </p:cNvPr>
          <p:cNvPicPr>
            <a:picLocks noChangeAspect="1" noChangeArrowheads="1"/>
          </p:cNvPicPr>
          <p:nvPr/>
        </p:nvPicPr>
        <p:blipFill>
          <a:blip r:embed="rId3"/>
          <a:srcRect/>
          <a:stretch>
            <a:fillRect/>
          </a:stretch>
        </p:blipFill>
        <p:spPr bwMode="auto">
          <a:xfrm>
            <a:off x="3200400" y="4267200"/>
            <a:ext cx="2943225" cy="1819275"/>
          </a:xfrm>
          <a:prstGeom prst="rect">
            <a:avLst/>
          </a:prstGeom>
          <a:ln>
            <a:noFill/>
          </a:ln>
          <a:effectLst>
            <a:outerShdw blurRad="292100" dist="139700" dir="2700000" algn="tl" rotWithShape="0">
              <a:srgbClr val="333333">
                <a:alpha val="65000"/>
              </a:srgbClr>
            </a:outerShdw>
          </a:effectLst>
        </p:spPr>
      </p:pic>
      <p:pic>
        <p:nvPicPr>
          <p:cNvPr id="65542" name="Picture 9">
            <a:extLst>
              <a:ext uri="{FF2B5EF4-FFF2-40B4-BE49-F238E27FC236}">
                <a16:creationId xmlns:a16="http://schemas.microsoft.com/office/drawing/2014/main" id="{65B3D4AC-F5D1-451B-349E-156B9B22A5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29600" y="457200"/>
            <a:ext cx="9144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A490F872-0E3B-26D9-374F-C15DAA1705EF}"/>
              </a:ext>
            </a:extLst>
          </p:cNvPr>
          <p:cNvSpPr>
            <a:spLocks noGrp="1" noChangeArrowheads="1"/>
          </p:cNvSpPr>
          <p:nvPr>
            <p:ph type="title"/>
          </p:nvPr>
        </p:nvSpPr>
        <p:spPr/>
        <p:txBody>
          <a:bodyPr lIns="90488" tIns="44450" rIns="90488" bIns="44450">
            <a:normAutofit fontScale="90000"/>
          </a:bodyPr>
          <a:lstStyle/>
          <a:p>
            <a:pPr eaLnBrk="1" hangingPunct="1">
              <a:defRPr/>
            </a:pPr>
            <a:r>
              <a:rPr lang="en-US" dirty="0">
                <a:latin typeface="Arial" charset="0"/>
                <a:cs typeface="Arial" charset="0"/>
              </a:rPr>
              <a:t>Target Profit Analysis in Terms of </a:t>
            </a:r>
            <a:br>
              <a:rPr lang="en-US" dirty="0">
                <a:latin typeface="Arial" charset="0"/>
                <a:cs typeface="Arial" charset="0"/>
              </a:rPr>
            </a:br>
            <a:r>
              <a:rPr lang="en-US" dirty="0">
                <a:latin typeface="Arial" charset="0"/>
                <a:cs typeface="Arial" charset="0"/>
              </a:rPr>
              <a:t>Unit Sales</a:t>
            </a:r>
          </a:p>
        </p:txBody>
      </p:sp>
      <p:sp>
        <p:nvSpPr>
          <p:cNvPr id="67587" name="Rectangle 3">
            <a:extLst>
              <a:ext uri="{FF2B5EF4-FFF2-40B4-BE49-F238E27FC236}">
                <a16:creationId xmlns:a16="http://schemas.microsoft.com/office/drawing/2014/main" id="{BDA92853-24B4-C6D8-6CD3-AA845518EAC1}"/>
              </a:ext>
            </a:extLst>
          </p:cNvPr>
          <p:cNvSpPr>
            <a:spLocks noGrp="1"/>
          </p:cNvSpPr>
          <p:nvPr>
            <p:ph idx="1"/>
          </p:nvPr>
        </p:nvSpPr>
        <p:spPr/>
        <p:txBody>
          <a:bodyPr lIns="90488" tIns="44450" rIns="90488" bIns="44450"/>
          <a:lstStyle/>
          <a:p>
            <a:pPr algn="ctr" eaLnBrk="1" hangingPunct="1">
              <a:buFont typeface="Times" panose="02020603050405020304" pitchFamily="18" charset="0"/>
              <a:buNone/>
            </a:pPr>
            <a:r>
              <a:rPr lang="en-US" altLang="en-US" sz="2400" dirty="0">
                <a:latin typeface="Arial" panose="020B0604020202020204" pitchFamily="34" charset="0"/>
                <a:cs typeface="Arial" panose="020B0604020202020204" pitchFamily="34" charset="0"/>
              </a:rPr>
              <a:t> </a:t>
            </a:r>
            <a:r>
              <a:rPr lang="en-US" altLang="en-US" sz="3200" dirty="0">
                <a:solidFill>
                  <a:srgbClr val="0000CC"/>
                </a:solidFill>
                <a:latin typeface="Arial" panose="020B0604020202020204" pitchFamily="34" charset="0"/>
                <a:cs typeface="Arial" panose="020B0604020202020204" pitchFamily="34" charset="0"/>
              </a:rPr>
              <a:t>Suppose that the Company wants to know how many units must be sold to earn a profit of $18,000.</a:t>
            </a:r>
          </a:p>
          <a:p>
            <a:pPr algn="ctr" eaLnBrk="1" hangingPunct="1">
              <a:buFont typeface="Times" panose="02020603050405020304" pitchFamily="18" charset="0"/>
              <a:buNone/>
            </a:pPr>
            <a:endParaRPr lang="en-US" altLang="en-US" sz="3200" dirty="0">
              <a:solidFill>
                <a:srgbClr val="0000CC"/>
              </a:solidFill>
              <a:latin typeface="Arial" panose="020B0604020202020204" pitchFamily="34" charset="0"/>
              <a:cs typeface="Arial" panose="020B0604020202020204" pitchFamily="34" charset="0"/>
            </a:endParaRPr>
          </a:p>
        </p:txBody>
      </p:sp>
      <p:grpSp>
        <p:nvGrpSpPr>
          <p:cNvPr id="67588" name="Group 5">
            <a:extLst>
              <a:ext uri="{FF2B5EF4-FFF2-40B4-BE49-F238E27FC236}">
                <a16:creationId xmlns:a16="http://schemas.microsoft.com/office/drawing/2014/main" id="{0611E46E-7594-C5E0-ABA1-940189676977}"/>
              </a:ext>
            </a:extLst>
          </p:cNvPr>
          <p:cNvGrpSpPr>
            <a:grpSpLocks/>
          </p:cNvGrpSpPr>
          <p:nvPr/>
        </p:nvGrpSpPr>
        <p:grpSpPr bwMode="auto">
          <a:xfrm>
            <a:off x="304800" y="3443288"/>
            <a:ext cx="8534400" cy="1066800"/>
            <a:chOff x="338666" y="2692401"/>
            <a:chExt cx="8534400" cy="1066800"/>
          </a:xfrm>
        </p:grpSpPr>
        <p:sp>
          <p:nvSpPr>
            <p:cNvPr id="7" name="Rounded Rectangle 6">
              <a:extLst>
                <a:ext uri="{FF2B5EF4-FFF2-40B4-BE49-F238E27FC236}">
                  <a16:creationId xmlns:a16="http://schemas.microsoft.com/office/drawing/2014/main" id="{F300928F-D2DE-4B2B-DA48-02B611F71F44}"/>
                </a:ext>
              </a:extLst>
            </p:cNvPr>
            <p:cNvSpPr/>
            <p:nvPr/>
          </p:nvSpPr>
          <p:spPr>
            <a:xfrm>
              <a:off x="338666" y="2692401"/>
              <a:ext cx="8534400" cy="1066800"/>
            </a:xfrm>
            <a:prstGeom prst="roundRect">
              <a:avLst/>
            </a:prstGeom>
            <a:solidFill>
              <a:schemeClr val="accent4">
                <a:lumMod val="20000"/>
                <a:lumOff val="80000"/>
              </a:schemeClr>
            </a:solidFill>
            <a:ln>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67596" name="Rectangle 6">
              <a:extLst>
                <a:ext uri="{FF2B5EF4-FFF2-40B4-BE49-F238E27FC236}">
                  <a16:creationId xmlns:a16="http://schemas.microsoft.com/office/drawing/2014/main" id="{31DF7B9E-A246-FD44-F555-AEFA0FA7FCC8}"/>
                </a:ext>
              </a:extLst>
            </p:cNvPr>
            <p:cNvSpPr>
              <a:spLocks noChangeArrowheads="1"/>
            </p:cNvSpPr>
            <p:nvPr/>
          </p:nvSpPr>
          <p:spPr bwMode="auto">
            <a:xfrm>
              <a:off x="3921341" y="2819400"/>
              <a:ext cx="4613059"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chemeClr val="tx2"/>
                  </a:solidFill>
                </a:rPr>
                <a:t>Target profit + Fixed expenses</a:t>
              </a:r>
              <a:br>
                <a:rPr lang="en-US" altLang="en-US" sz="2400" b="1">
                  <a:solidFill>
                    <a:schemeClr val="tx2"/>
                  </a:solidFill>
                </a:rPr>
              </a:br>
              <a:r>
                <a:rPr lang="en-US" altLang="en-US" sz="2400" b="1">
                  <a:solidFill>
                    <a:schemeClr val="tx2"/>
                  </a:solidFill>
                </a:rPr>
                <a:t>CM </a:t>
              </a:r>
              <a:r>
                <a:rPr lang="en-US" altLang="en-US" sz="2400" b="1">
                  <a:solidFill>
                    <a:srgbClr val="008000"/>
                  </a:solidFill>
                </a:rPr>
                <a:t>per unit   </a:t>
              </a:r>
            </a:p>
          </p:txBody>
        </p:sp>
        <p:sp>
          <p:nvSpPr>
            <p:cNvPr id="67597" name="Rectangle 7">
              <a:extLst>
                <a:ext uri="{FF2B5EF4-FFF2-40B4-BE49-F238E27FC236}">
                  <a16:creationId xmlns:a16="http://schemas.microsoft.com/office/drawing/2014/main" id="{41E574BB-D0AF-AE2A-349C-46310A0EE480}"/>
                </a:ext>
              </a:extLst>
            </p:cNvPr>
            <p:cNvSpPr>
              <a:spLocks noChangeArrowheads="1"/>
            </p:cNvSpPr>
            <p:nvPr/>
          </p:nvSpPr>
          <p:spPr bwMode="auto">
            <a:xfrm>
              <a:off x="3501183" y="3001963"/>
              <a:ext cx="3587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chemeClr val="tx2"/>
                  </a:solidFill>
                </a:rPr>
                <a:t>=</a:t>
              </a:r>
            </a:p>
          </p:txBody>
        </p:sp>
        <p:sp>
          <p:nvSpPr>
            <p:cNvPr id="67598" name="Rectangle 8">
              <a:extLst>
                <a:ext uri="{FF2B5EF4-FFF2-40B4-BE49-F238E27FC236}">
                  <a16:creationId xmlns:a16="http://schemas.microsoft.com/office/drawing/2014/main" id="{FE53E421-DBF5-D2AB-0CE9-0549D395373E}"/>
                </a:ext>
              </a:extLst>
            </p:cNvPr>
            <p:cNvSpPr>
              <a:spLocks noChangeArrowheads="1"/>
            </p:cNvSpPr>
            <p:nvPr/>
          </p:nvSpPr>
          <p:spPr bwMode="auto">
            <a:xfrm>
              <a:off x="699075" y="2819400"/>
              <a:ext cx="2917466"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C00000"/>
                  </a:solidFill>
                </a:rPr>
                <a:t>Unit sales </a:t>
              </a:r>
              <a:r>
                <a:rPr lang="en-US" altLang="en-US" sz="2400" b="1">
                  <a:solidFill>
                    <a:schemeClr val="tx2"/>
                  </a:solidFill>
                </a:rPr>
                <a:t>to attain</a:t>
              </a:r>
              <a:br>
                <a:rPr lang="en-US" altLang="en-US" sz="2400" b="1">
                  <a:solidFill>
                    <a:schemeClr val="tx2"/>
                  </a:solidFill>
                </a:rPr>
              </a:br>
              <a:r>
                <a:rPr lang="en-US" altLang="en-US" sz="2400" b="1">
                  <a:solidFill>
                    <a:schemeClr val="tx2"/>
                  </a:solidFill>
                </a:rPr>
                <a:t>the target profit</a:t>
              </a:r>
            </a:p>
          </p:txBody>
        </p:sp>
        <p:sp>
          <p:nvSpPr>
            <p:cNvPr id="67599" name="Line 9">
              <a:extLst>
                <a:ext uri="{FF2B5EF4-FFF2-40B4-BE49-F238E27FC236}">
                  <a16:creationId xmlns:a16="http://schemas.microsoft.com/office/drawing/2014/main" id="{3A978FE4-6501-9EEB-6251-2F0C2BACF33C}"/>
                </a:ext>
              </a:extLst>
            </p:cNvPr>
            <p:cNvSpPr>
              <a:spLocks noChangeShapeType="1"/>
            </p:cNvSpPr>
            <p:nvPr/>
          </p:nvSpPr>
          <p:spPr bwMode="auto">
            <a:xfrm>
              <a:off x="3921341" y="3251200"/>
              <a:ext cx="45720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6" name="TextBox 15">
            <a:extLst>
              <a:ext uri="{FF2B5EF4-FFF2-40B4-BE49-F238E27FC236}">
                <a16:creationId xmlns:a16="http://schemas.microsoft.com/office/drawing/2014/main" id="{0FD8CC89-A762-7EE0-C1E9-74340E3FFD38}"/>
              </a:ext>
            </a:extLst>
          </p:cNvPr>
          <p:cNvSpPr txBox="1">
            <a:spLocks noChangeArrowheads="1"/>
          </p:cNvSpPr>
          <p:nvPr/>
        </p:nvSpPr>
        <p:spPr bwMode="auto">
          <a:xfrm>
            <a:off x="1770063" y="5724525"/>
            <a:ext cx="32736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t>Unit sales =  </a:t>
            </a:r>
            <a:r>
              <a:rPr lang="en-US" altLang="en-US" sz="2800" dirty="0">
                <a:solidFill>
                  <a:srgbClr val="C00000"/>
                </a:solidFill>
              </a:rPr>
              <a:t>20000</a:t>
            </a:r>
          </a:p>
        </p:txBody>
      </p:sp>
      <p:grpSp>
        <p:nvGrpSpPr>
          <p:cNvPr id="3" name="Group 20">
            <a:extLst>
              <a:ext uri="{FF2B5EF4-FFF2-40B4-BE49-F238E27FC236}">
                <a16:creationId xmlns:a16="http://schemas.microsoft.com/office/drawing/2014/main" id="{655D2881-E6F7-D1C7-FC71-E27C60F02017}"/>
              </a:ext>
            </a:extLst>
          </p:cNvPr>
          <p:cNvGrpSpPr>
            <a:grpSpLocks/>
          </p:cNvGrpSpPr>
          <p:nvPr/>
        </p:nvGrpSpPr>
        <p:grpSpPr bwMode="auto">
          <a:xfrm>
            <a:off x="1752600" y="4814888"/>
            <a:ext cx="6172200" cy="954087"/>
            <a:chOff x="1752600" y="4191000"/>
            <a:chExt cx="6172200" cy="954107"/>
          </a:xfrm>
        </p:grpSpPr>
        <p:sp>
          <p:nvSpPr>
            <p:cNvPr id="67592" name="TextBox 11">
              <a:extLst>
                <a:ext uri="{FF2B5EF4-FFF2-40B4-BE49-F238E27FC236}">
                  <a16:creationId xmlns:a16="http://schemas.microsoft.com/office/drawing/2014/main" id="{53455A61-7465-17EA-A50E-FDD42C2D2C65}"/>
                </a:ext>
              </a:extLst>
            </p:cNvPr>
            <p:cNvSpPr txBox="1">
              <a:spLocks noChangeArrowheads="1"/>
            </p:cNvSpPr>
            <p:nvPr/>
          </p:nvSpPr>
          <p:spPr bwMode="auto">
            <a:xfrm>
              <a:off x="3505200" y="4191000"/>
              <a:ext cx="4419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800" dirty="0"/>
                <a:t>$18,000 + $12,000</a:t>
              </a:r>
            </a:p>
            <a:p>
              <a:pPr algn="ctr" eaLnBrk="1" hangingPunct="1"/>
              <a:r>
                <a:rPr lang="en-US" altLang="en-US" sz="2800" dirty="0"/>
                <a:t>$1.5</a:t>
              </a:r>
            </a:p>
          </p:txBody>
        </p:sp>
        <p:sp>
          <p:nvSpPr>
            <p:cNvPr id="67593" name="TextBox 12">
              <a:extLst>
                <a:ext uri="{FF2B5EF4-FFF2-40B4-BE49-F238E27FC236}">
                  <a16:creationId xmlns:a16="http://schemas.microsoft.com/office/drawing/2014/main" id="{F621BA2F-4026-74F3-99B6-CDD428F47025}"/>
                </a:ext>
              </a:extLst>
            </p:cNvPr>
            <p:cNvSpPr txBox="1">
              <a:spLocks noChangeArrowheads="1"/>
            </p:cNvSpPr>
            <p:nvPr/>
          </p:nvSpPr>
          <p:spPr bwMode="auto">
            <a:xfrm>
              <a:off x="1752600" y="4429780"/>
              <a:ext cx="286360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t>Unit sales = </a:t>
              </a:r>
            </a:p>
          </p:txBody>
        </p:sp>
        <p:cxnSp>
          <p:nvCxnSpPr>
            <p:cNvPr id="20" name="Straight Connector 19">
              <a:extLst>
                <a:ext uri="{FF2B5EF4-FFF2-40B4-BE49-F238E27FC236}">
                  <a16:creationId xmlns:a16="http://schemas.microsoft.com/office/drawing/2014/main" id="{D40CBFD4-826C-1581-E472-3DCC0058501C}"/>
                </a:ext>
              </a:extLst>
            </p:cNvPr>
            <p:cNvCxnSpPr/>
            <p:nvPr/>
          </p:nvCxnSpPr>
          <p:spPr>
            <a:xfrm>
              <a:off x="3962400" y="4648210"/>
              <a:ext cx="3581400"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67591" name="Picture 9">
            <a:extLst>
              <a:ext uri="{FF2B5EF4-FFF2-40B4-BE49-F238E27FC236}">
                <a16:creationId xmlns:a16="http://schemas.microsoft.com/office/drawing/2014/main" id="{EE67ABC5-EBA4-1C9C-712A-C4E3C330C0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29600" y="457200"/>
            <a:ext cx="9144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upRight)">
                                      <p:cBhvr>
                                        <p:cTn id="7" dur="2000"/>
                                        <p:tgtEl>
                                          <p:spTgt spid="3"/>
                                        </p:tgtEl>
                                      </p:cBhvr>
                                    </p:animEffect>
                                  </p:childTnLst>
                                </p:cTn>
                              </p:par>
                            </p:childTnLst>
                          </p:cTn>
                        </p:par>
                        <p:par>
                          <p:cTn id="8" fill="hold" nodeType="afterGroup">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F37BA9D-485B-F0EB-51DE-FF7F5E619E2E}"/>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Formula Method</a:t>
            </a:r>
          </a:p>
        </p:txBody>
      </p:sp>
      <p:sp>
        <p:nvSpPr>
          <p:cNvPr id="69635" name="Rectangle 3">
            <a:extLst>
              <a:ext uri="{FF2B5EF4-FFF2-40B4-BE49-F238E27FC236}">
                <a16:creationId xmlns:a16="http://schemas.microsoft.com/office/drawing/2014/main" id="{FA1BB763-44E5-E079-C319-61223C364129}"/>
              </a:ext>
            </a:extLst>
          </p:cNvPr>
          <p:cNvSpPr>
            <a:spLocks noGrp="1"/>
          </p:cNvSpPr>
          <p:nvPr>
            <p:ph idx="1"/>
          </p:nvPr>
        </p:nvSpPr>
        <p:spPr/>
        <p:txBody>
          <a:bodyPr lIns="90488" tIns="44450" rIns="90488" bIns="44450"/>
          <a:lstStyle/>
          <a:p>
            <a:pPr algn="ctr" eaLnBrk="1" hangingPunct="1">
              <a:buSzPct val="25000"/>
              <a:buFont typeface="Monotype Sorts" pitchFamily="2" charset="2"/>
              <a:buChar char=" "/>
            </a:pPr>
            <a:r>
              <a:rPr lang="en-US" altLang="en-US" sz="3000" dirty="0">
                <a:latin typeface="Arial" panose="020B0604020202020204" pitchFamily="34" charset="0"/>
                <a:cs typeface="Arial" panose="020B0604020202020204" pitchFamily="34" charset="0"/>
              </a:rPr>
              <a:t>We can calculate the dollar sales needed to attain a target profit.</a:t>
            </a:r>
          </a:p>
        </p:txBody>
      </p:sp>
      <p:grpSp>
        <p:nvGrpSpPr>
          <p:cNvPr id="69636" name="Group 7">
            <a:extLst>
              <a:ext uri="{FF2B5EF4-FFF2-40B4-BE49-F238E27FC236}">
                <a16:creationId xmlns:a16="http://schemas.microsoft.com/office/drawing/2014/main" id="{247B3D5E-2D7D-FFD3-3DFA-BE7380A11EE0}"/>
              </a:ext>
            </a:extLst>
          </p:cNvPr>
          <p:cNvGrpSpPr>
            <a:grpSpLocks/>
          </p:cNvGrpSpPr>
          <p:nvPr/>
        </p:nvGrpSpPr>
        <p:grpSpPr bwMode="auto">
          <a:xfrm>
            <a:off x="457200" y="3205163"/>
            <a:ext cx="8229600" cy="1143000"/>
            <a:chOff x="609600" y="4343400"/>
            <a:chExt cx="8229600" cy="1143000"/>
          </a:xfrm>
        </p:grpSpPr>
        <p:sp>
          <p:nvSpPr>
            <p:cNvPr id="9" name="Rounded Rectangle 8">
              <a:extLst>
                <a:ext uri="{FF2B5EF4-FFF2-40B4-BE49-F238E27FC236}">
                  <a16:creationId xmlns:a16="http://schemas.microsoft.com/office/drawing/2014/main" id="{9F21B29C-BF2A-E5A6-4449-D0D8045F85ED}"/>
                </a:ext>
              </a:extLst>
            </p:cNvPr>
            <p:cNvSpPr/>
            <p:nvPr/>
          </p:nvSpPr>
          <p:spPr>
            <a:xfrm>
              <a:off x="609600" y="4343400"/>
              <a:ext cx="8229600" cy="1143000"/>
            </a:xfrm>
            <a:prstGeom prst="roundRect">
              <a:avLst/>
            </a:prstGeom>
            <a:solidFill>
              <a:schemeClr val="accent3">
                <a:lumMod val="40000"/>
                <a:lumOff val="60000"/>
              </a:schemeClr>
            </a:solidFill>
            <a:ln>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69644" name="Rectangle 11">
              <a:extLst>
                <a:ext uri="{FF2B5EF4-FFF2-40B4-BE49-F238E27FC236}">
                  <a16:creationId xmlns:a16="http://schemas.microsoft.com/office/drawing/2014/main" id="{34EB0080-02E5-B1B8-3015-0000D6281B29}"/>
                </a:ext>
              </a:extLst>
            </p:cNvPr>
            <p:cNvSpPr>
              <a:spLocks noChangeArrowheads="1"/>
            </p:cNvSpPr>
            <p:nvPr/>
          </p:nvSpPr>
          <p:spPr bwMode="auto">
            <a:xfrm>
              <a:off x="4149941" y="4514850"/>
              <a:ext cx="4613059"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chemeClr val="tx2"/>
                  </a:solidFill>
                </a:rPr>
                <a:t>Target profit + Fixed expenses</a:t>
              </a:r>
            </a:p>
            <a:p>
              <a:pPr algn="ctr" eaLnBrk="1" hangingPunct="1"/>
              <a:r>
                <a:rPr lang="en-US" altLang="en-US" sz="2400" b="1">
                  <a:solidFill>
                    <a:schemeClr val="tx2"/>
                  </a:solidFill>
                </a:rPr>
                <a:t> CM </a:t>
              </a:r>
              <a:r>
                <a:rPr lang="en-US" altLang="en-US" sz="2400" b="1">
                  <a:solidFill>
                    <a:srgbClr val="0000FF"/>
                  </a:solidFill>
                </a:rPr>
                <a:t>ratio</a:t>
              </a:r>
            </a:p>
          </p:txBody>
        </p:sp>
        <p:sp>
          <p:nvSpPr>
            <p:cNvPr id="69645" name="Rectangle 12">
              <a:extLst>
                <a:ext uri="{FF2B5EF4-FFF2-40B4-BE49-F238E27FC236}">
                  <a16:creationId xmlns:a16="http://schemas.microsoft.com/office/drawing/2014/main" id="{23F91596-0690-C535-CD58-DA64181664CA}"/>
                </a:ext>
              </a:extLst>
            </p:cNvPr>
            <p:cNvSpPr>
              <a:spLocks noChangeArrowheads="1"/>
            </p:cNvSpPr>
            <p:nvPr/>
          </p:nvSpPr>
          <p:spPr bwMode="auto">
            <a:xfrm>
              <a:off x="3810000" y="4693709"/>
              <a:ext cx="3587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solidFill>
                    <a:schemeClr val="tx2"/>
                  </a:solidFill>
                </a:rPr>
                <a:t>=</a:t>
              </a:r>
            </a:p>
          </p:txBody>
        </p:sp>
        <p:sp>
          <p:nvSpPr>
            <p:cNvPr id="69646" name="Rectangle 13">
              <a:extLst>
                <a:ext uri="{FF2B5EF4-FFF2-40B4-BE49-F238E27FC236}">
                  <a16:creationId xmlns:a16="http://schemas.microsoft.com/office/drawing/2014/main" id="{ADE8EE86-0C21-5028-83A8-251F5325CD33}"/>
                </a:ext>
              </a:extLst>
            </p:cNvPr>
            <p:cNvSpPr>
              <a:spLocks noChangeArrowheads="1"/>
            </p:cNvSpPr>
            <p:nvPr/>
          </p:nvSpPr>
          <p:spPr bwMode="auto">
            <a:xfrm>
              <a:off x="685800" y="4505568"/>
              <a:ext cx="3191580"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C00000"/>
                  </a:solidFill>
                </a:rPr>
                <a:t>Dollar sales </a:t>
              </a:r>
              <a:r>
                <a:rPr lang="en-US" altLang="en-US" sz="2400" b="1">
                  <a:solidFill>
                    <a:schemeClr val="tx2"/>
                  </a:solidFill>
                </a:rPr>
                <a:t>to attain</a:t>
              </a:r>
              <a:br>
                <a:rPr lang="en-US" altLang="en-US" sz="2400" b="1">
                  <a:solidFill>
                    <a:schemeClr val="tx2"/>
                  </a:solidFill>
                </a:rPr>
              </a:br>
              <a:r>
                <a:rPr lang="en-US" altLang="en-US" sz="2400" b="1">
                  <a:solidFill>
                    <a:schemeClr val="tx2"/>
                  </a:solidFill>
                </a:rPr>
                <a:t>the target profit </a:t>
              </a:r>
            </a:p>
          </p:txBody>
        </p:sp>
        <p:sp>
          <p:nvSpPr>
            <p:cNvPr id="69647" name="Line 14">
              <a:extLst>
                <a:ext uri="{FF2B5EF4-FFF2-40B4-BE49-F238E27FC236}">
                  <a16:creationId xmlns:a16="http://schemas.microsoft.com/office/drawing/2014/main" id="{84A39C35-DA33-338D-9172-0C659FD85B96}"/>
                </a:ext>
              </a:extLst>
            </p:cNvPr>
            <p:cNvSpPr>
              <a:spLocks noChangeShapeType="1"/>
            </p:cNvSpPr>
            <p:nvPr/>
          </p:nvSpPr>
          <p:spPr bwMode="auto">
            <a:xfrm>
              <a:off x="4267200" y="4936067"/>
              <a:ext cx="42672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4" name="TextBox 13">
            <a:extLst>
              <a:ext uri="{FF2B5EF4-FFF2-40B4-BE49-F238E27FC236}">
                <a16:creationId xmlns:a16="http://schemas.microsoft.com/office/drawing/2014/main" id="{32522F1D-B593-BB8E-4C33-89AB9E9ECE17}"/>
              </a:ext>
            </a:extLst>
          </p:cNvPr>
          <p:cNvSpPr txBox="1">
            <a:spLocks noChangeArrowheads="1"/>
          </p:cNvSpPr>
          <p:nvPr/>
        </p:nvSpPr>
        <p:spPr bwMode="auto">
          <a:xfrm>
            <a:off x="1770063" y="5653088"/>
            <a:ext cx="38747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t>Dollar sales =  </a:t>
            </a:r>
            <a:r>
              <a:rPr lang="en-US" altLang="en-US" sz="2800" dirty="0">
                <a:solidFill>
                  <a:srgbClr val="C00000"/>
                </a:solidFill>
              </a:rPr>
              <a:t>$50,000</a:t>
            </a:r>
          </a:p>
        </p:txBody>
      </p:sp>
      <p:grpSp>
        <p:nvGrpSpPr>
          <p:cNvPr id="3" name="Group 14">
            <a:extLst>
              <a:ext uri="{FF2B5EF4-FFF2-40B4-BE49-F238E27FC236}">
                <a16:creationId xmlns:a16="http://schemas.microsoft.com/office/drawing/2014/main" id="{01D17521-81D6-8418-D541-5FE9455249D8}"/>
              </a:ext>
            </a:extLst>
          </p:cNvPr>
          <p:cNvGrpSpPr>
            <a:grpSpLocks/>
          </p:cNvGrpSpPr>
          <p:nvPr/>
        </p:nvGrpSpPr>
        <p:grpSpPr bwMode="auto">
          <a:xfrm>
            <a:off x="1752600" y="4652963"/>
            <a:ext cx="6172200" cy="954087"/>
            <a:chOff x="1752600" y="4191000"/>
            <a:chExt cx="6172200" cy="954107"/>
          </a:xfrm>
        </p:grpSpPr>
        <p:sp>
          <p:nvSpPr>
            <p:cNvPr id="69640" name="TextBox 15">
              <a:extLst>
                <a:ext uri="{FF2B5EF4-FFF2-40B4-BE49-F238E27FC236}">
                  <a16:creationId xmlns:a16="http://schemas.microsoft.com/office/drawing/2014/main" id="{104154C7-9418-EAE5-F449-A13D89981814}"/>
                </a:ext>
              </a:extLst>
            </p:cNvPr>
            <p:cNvSpPr txBox="1">
              <a:spLocks noChangeArrowheads="1"/>
            </p:cNvSpPr>
            <p:nvPr/>
          </p:nvSpPr>
          <p:spPr bwMode="auto">
            <a:xfrm>
              <a:off x="3505200" y="4191000"/>
              <a:ext cx="4419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800" dirty="0"/>
                <a:t>$18,000 + $12,000</a:t>
              </a:r>
            </a:p>
            <a:p>
              <a:pPr algn="ctr" eaLnBrk="1" hangingPunct="1"/>
              <a:r>
                <a:rPr lang="en-US" altLang="en-US" sz="2800" dirty="0"/>
                <a:t>60%</a:t>
              </a:r>
            </a:p>
          </p:txBody>
        </p:sp>
        <p:sp>
          <p:nvSpPr>
            <p:cNvPr id="69641" name="TextBox 16">
              <a:extLst>
                <a:ext uri="{FF2B5EF4-FFF2-40B4-BE49-F238E27FC236}">
                  <a16:creationId xmlns:a16="http://schemas.microsoft.com/office/drawing/2014/main" id="{F99ECD3D-FEA3-3DE3-FE3D-4632B69C683E}"/>
                </a:ext>
              </a:extLst>
            </p:cNvPr>
            <p:cNvSpPr txBox="1">
              <a:spLocks noChangeArrowheads="1"/>
            </p:cNvSpPr>
            <p:nvPr/>
          </p:nvSpPr>
          <p:spPr bwMode="auto">
            <a:xfrm>
              <a:off x="1752600" y="4429130"/>
              <a:ext cx="2863850" cy="519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t>Dollar sales = </a:t>
              </a:r>
            </a:p>
          </p:txBody>
        </p:sp>
        <p:cxnSp>
          <p:nvCxnSpPr>
            <p:cNvPr id="18" name="Straight Connector 17">
              <a:extLst>
                <a:ext uri="{FF2B5EF4-FFF2-40B4-BE49-F238E27FC236}">
                  <a16:creationId xmlns:a16="http://schemas.microsoft.com/office/drawing/2014/main" id="{C0261952-4286-AA52-AAF8-1534B4238035}"/>
                </a:ext>
              </a:extLst>
            </p:cNvPr>
            <p:cNvCxnSpPr/>
            <p:nvPr/>
          </p:nvCxnSpPr>
          <p:spPr>
            <a:xfrm>
              <a:off x="4035425" y="4648210"/>
              <a:ext cx="3432175"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69639" name="Picture 9">
            <a:extLst>
              <a:ext uri="{FF2B5EF4-FFF2-40B4-BE49-F238E27FC236}">
                <a16:creationId xmlns:a16="http://schemas.microsoft.com/office/drawing/2014/main" id="{A1957554-5832-CC84-B2C8-91D69A9996D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29600" y="457200"/>
            <a:ext cx="9144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upRight)">
                                      <p:cBhvr>
                                        <p:cTn id="7" dur="2000"/>
                                        <p:tgtEl>
                                          <p:spTgt spid="3"/>
                                        </p:tgtEl>
                                      </p:cBhvr>
                                    </p:animEffect>
                                  </p:childTnLst>
                                </p:cTn>
                              </p:par>
                            </p:childTnLst>
                          </p:cTn>
                        </p:par>
                        <p:par>
                          <p:cTn id="8" fill="hold" nodeType="afterGroup">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C3545EC7-D225-F599-1B86-C601E5F03A3E}"/>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Quick Check </a:t>
            </a:r>
            <a:r>
              <a:rPr lang="en-US" altLang="en-US">
                <a:latin typeface="Arial" panose="020B0604020202020204" pitchFamily="34" charset="0"/>
                <a:cs typeface="Arial" panose="020B0604020202020204" pitchFamily="34" charset="0"/>
                <a:sym typeface="Wingdings" panose="05000000000000000000" pitchFamily="2" charset="2"/>
              </a:rPr>
              <a:t></a:t>
            </a:r>
          </a:p>
        </p:txBody>
      </p:sp>
      <p:sp>
        <p:nvSpPr>
          <p:cNvPr id="397315" name="Rectangle 3">
            <a:extLst>
              <a:ext uri="{FF2B5EF4-FFF2-40B4-BE49-F238E27FC236}">
                <a16:creationId xmlns:a16="http://schemas.microsoft.com/office/drawing/2014/main" id="{EFDD8658-C56F-6BFA-93AB-9317DFF626B2}"/>
              </a:ext>
            </a:extLst>
          </p:cNvPr>
          <p:cNvSpPr>
            <a:spLocks noGrp="1" noChangeArrowheads="1"/>
          </p:cNvSpPr>
          <p:nvPr>
            <p:ph type="body" idx="4294967295"/>
          </p:nvPr>
        </p:nvSpPr>
        <p:spPr>
          <a:xfrm>
            <a:off x="228600" y="1447800"/>
            <a:ext cx="8686800" cy="4876800"/>
          </a:xfrm>
          <a:solidFill>
            <a:srgbClr val="EDECD2"/>
          </a:solidFill>
          <a:ln w="12699">
            <a:solidFill>
              <a:schemeClr val="accent5">
                <a:lumMod val="50000"/>
              </a:schemeClr>
            </a:solidFill>
          </a:ln>
        </p:spPr>
        <p:txBody>
          <a:bodyPr lIns="90488" tIns="44450" rIns="90488" bIns="44450"/>
          <a:lstStyle/>
          <a:p>
            <a:pPr eaLnBrk="1" hangingPunct="1">
              <a:buFont typeface="Times" pitchFamily="34" charset="0"/>
              <a:buNone/>
              <a:defRPr/>
            </a:pPr>
            <a:r>
              <a:rPr lang="en-US" dirty="0">
                <a:latin typeface="Arial" pitchFamily="34" charset="0"/>
                <a:cs typeface="Arial" pitchFamily="34" charset="0"/>
              </a:rPr>
              <a:t> 	Coffee Klatch is an espresso stand in a downtown office building. The average selling price of a cup of coffee is $1.49 and the average variable expense per cup is $0.36. The average fixed expense per month is $1,300.  Use the </a:t>
            </a:r>
            <a:r>
              <a:rPr lang="en-US" i="1" dirty="0">
                <a:solidFill>
                  <a:srgbClr val="C00000"/>
                </a:solidFill>
                <a:latin typeface="Arial" pitchFamily="34" charset="0"/>
                <a:cs typeface="Arial" pitchFamily="34" charset="0"/>
              </a:rPr>
              <a:t>formula method </a:t>
            </a:r>
            <a:r>
              <a:rPr lang="en-US" dirty="0">
                <a:latin typeface="Arial" pitchFamily="34" charset="0"/>
                <a:cs typeface="Arial" pitchFamily="34" charset="0"/>
              </a:rPr>
              <a:t>to determine </a:t>
            </a:r>
            <a:r>
              <a:rPr lang="en-US" dirty="0">
                <a:solidFill>
                  <a:srgbClr val="0000FF"/>
                </a:solidFill>
                <a:latin typeface="Arial" pitchFamily="34" charset="0"/>
                <a:cs typeface="Arial" pitchFamily="34" charset="0"/>
              </a:rPr>
              <a:t>how many cups </a:t>
            </a:r>
            <a:r>
              <a:rPr lang="en-US" dirty="0">
                <a:latin typeface="Arial" pitchFamily="34" charset="0"/>
                <a:cs typeface="Arial" pitchFamily="34" charset="0"/>
              </a:rPr>
              <a:t>of coffee would have to be sold to attain target profits of $2,500 per month.</a:t>
            </a:r>
          </a:p>
          <a:p>
            <a:pPr lvl="1" eaLnBrk="1" hangingPunct="1">
              <a:buFont typeface="Wingdings" pitchFamily="2" charset="2"/>
              <a:buNone/>
              <a:defRPr/>
            </a:pPr>
            <a:r>
              <a:rPr lang="en-US" dirty="0">
                <a:solidFill>
                  <a:schemeClr val="tx1"/>
                </a:solidFill>
                <a:latin typeface="Arial" pitchFamily="34" charset="0"/>
                <a:cs typeface="Arial" pitchFamily="34" charset="0"/>
              </a:rPr>
              <a:t>a. 3,363 cups</a:t>
            </a:r>
          </a:p>
          <a:p>
            <a:pPr lvl="1" eaLnBrk="1" hangingPunct="1">
              <a:buFont typeface="Wingdings" pitchFamily="2" charset="2"/>
              <a:buNone/>
              <a:defRPr/>
            </a:pPr>
            <a:r>
              <a:rPr lang="en-US" dirty="0">
                <a:solidFill>
                  <a:schemeClr val="tx1"/>
                </a:solidFill>
                <a:latin typeface="Arial" pitchFamily="34" charset="0"/>
                <a:cs typeface="Arial" pitchFamily="34" charset="0"/>
              </a:rPr>
              <a:t>b. 2,212 cups</a:t>
            </a:r>
          </a:p>
          <a:p>
            <a:pPr lvl="1" eaLnBrk="1" hangingPunct="1">
              <a:buFont typeface="Wingdings" pitchFamily="2" charset="2"/>
              <a:buNone/>
              <a:defRPr/>
            </a:pPr>
            <a:r>
              <a:rPr lang="en-US" dirty="0">
                <a:solidFill>
                  <a:schemeClr val="tx1"/>
                </a:solidFill>
                <a:latin typeface="Arial" pitchFamily="34" charset="0"/>
                <a:cs typeface="Arial" pitchFamily="34" charset="0"/>
              </a:rPr>
              <a:t>c. 1,150 cups</a:t>
            </a:r>
          </a:p>
          <a:p>
            <a:pPr lvl="1" eaLnBrk="1" hangingPunct="1">
              <a:buFont typeface="Wingdings" pitchFamily="2" charset="2"/>
              <a:buNone/>
              <a:defRPr/>
            </a:pPr>
            <a:r>
              <a:rPr lang="en-US" dirty="0">
                <a:solidFill>
                  <a:schemeClr val="tx1"/>
                </a:solidFill>
                <a:latin typeface="Arial" pitchFamily="34" charset="0"/>
                <a:cs typeface="Arial" pitchFamily="34" charset="0"/>
              </a:rPr>
              <a:t>d. 4,200 cups</a:t>
            </a:r>
          </a:p>
        </p:txBody>
      </p:sp>
      <p:pic>
        <p:nvPicPr>
          <p:cNvPr id="4" name="Picture 3" descr="G:\FILES\PFILES\MSOFFICE\MEDIA\CNTCD1\ClipArt2\j0217302.wmf">
            <a:extLst>
              <a:ext uri="{FF2B5EF4-FFF2-40B4-BE49-F238E27FC236}">
                <a16:creationId xmlns:a16="http://schemas.microsoft.com/office/drawing/2014/main" id="{885CB65F-6ADF-A7A9-926E-E82137F146B6}"/>
              </a:ext>
            </a:extLst>
          </p:cNvPr>
          <p:cNvPicPr>
            <a:picLocks noChangeAspect="1" noChangeArrowheads="1"/>
          </p:cNvPicPr>
          <p:nvPr/>
        </p:nvPicPr>
        <p:blipFill>
          <a:blip r:embed="rId3"/>
          <a:srcRect/>
          <a:stretch>
            <a:fillRect/>
          </a:stretch>
        </p:blipFill>
        <p:spPr bwMode="auto">
          <a:xfrm>
            <a:off x="6324600" y="4498975"/>
            <a:ext cx="1836738" cy="136842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med">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3">
            <a:extLst>
              <a:ext uri="{FF2B5EF4-FFF2-40B4-BE49-F238E27FC236}">
                <a16:creationId xmlns:a16="http://schemas.microsoft.com/office/drawing/2014/main" id="{0D5A35BC-6968-E268-483A-140A43D233FB}"/>
              </a:ext>
            </a:extLst>
          </p:cNvPr>
          <p:cNvSpPr txBox="1">
            <a:spLocks noChangeArrowheads="1"/>
          </p:cNvSpPr>
          <p:nvPr/>
        </p:nvSpPr>
        <p:spPr bwMode="auto">
          <a:xfrm>
            <a:off x="228600" y="1447800"/>
            <a:ext cx="8686800" cy="4876800"/>
          </a:xfrm>
          <a:prstGeom prst="rect">
            <a:avLst/>
          </a:prstGeom>
          <a:solidFill>
            <a:srgbClr val="EDECD2"/>
          </a:solidFill>
          <a:ln w="12699">
            <a:solidFill>
              <a:schemeClr val="accent5">
                <a:lumMod val="50000"/>
              </a:schemeClr>
            </a:solidFill>
            <a:miter lim="800000"/>
            <a:headEnd/>
            <a:tailEnd/>
          </a:ln>
          <a:effectLst/>
        </p:spPr>
        <p:txBody>
          <a:bodyPr lIns="90488" tIns="44450" rIns="90488" bIns="44450"/>
          <a:lstStyle/>
          <a:p>
            <a:pPr marL="273050" indent="-273050" eaLnBrk="1" hangingPunct="1">
              <a:spcBef>
                <a:spcPts val="600"/>
              </a:spcBef>
              <a:buClr>
                <a:schemeClr val="accent1"/>
              </a:buClr>
              <a:buSzPct val="76000"/>
              <a:buFont typeface="Times" pitchFamily="34" charset="0"/>
              <a:buNone/>
              <a:defRPr/>
            </a:pPr>
            <a:r>
              <a:rPr lang="en-US" sz="2600" dirty="0">
                <a:cs typeface="Arial" pitchFamily="34" charset="0"/>
              </a:rPr>
              <a:t> 	Coffee Klatch is an espresso stand in a downtown office building. The average selling price of a cup of coffee is $1.49 and the average variable expense per cup is $0.36. The average fixed expense per month is $1,300.  Use the </a:t>
            </a:r>
            <a:r>
              <a:rPr lang="en-US" sz="2600" i="1" dirty="0">
                <a:solidFill>
                  <a:srgbClr val="C00000"/>
                </a:solidFill>
                <a:cs typeface="Arial" pitchFamily="34" charset="0"/>
              </a:rPr>
              <a:t>formula method </a:t>
            </a:r>
            <a:r>
              <a:rPr lang="en-US" sz="2600" dirty="0">
                <a:cs typeface="Arial" pitchFamily="34" charset="0"/>
              </a:rPr>
              <a:t>to determine how many cups of coffee would have to be sold to attain target profits of $2,500 per month.</a:t>
            </a:r>
          </a:p>
          <a:p>
            <a:pPr marL="547688" lvl="1" indent="-273050" eaLnBrk="1" hangingPunct="1">
              <a:spcBef>
                <a:spcPts val="500"/>
              </a:spcBef>
              <a:buClr>
                <a:schemeClr val="accent2"/>
              </a:buClr>
              <a:buSzPct val="76000"/>
              <a:buFont typeface="Wingdings" pitchFamily="2" charset="2"/>
              <a:buNone/>
              <a:defRPr/>
            </a:pPr>
            <a:r>
              <a:rPr lang="en-US" sz="2600" dirty="0">
                <a:cs typeface="Arial" pitchFamily="34" charset="0"/>
              </a:rPr>
              <a:t>a. 3,363 cups</a:t>
            </a:r>
          </a:p>
          <a:p>
            <a:pPr marL="547688" lvl="1" indent="-273050" eaLnBrk="1" hangingPunct="1">
              <a:spcBef>
                <a:spcPts val="500"/>
              </a:spcBef>
              <a:buClr>
                <a:schemeClr val="accent2"/>
              </a:buClr>
              <a:buSzPct val="76000"/>
              <a:buFont typeface="Wingdings" pitchFamily="2" charset="2"/>
              <a:buNone/>
              <a:defRPr/>
            </a:pPr>
            <a:r>
              <a:rPr lang="en-US" sz="2600" dirty="0">
                <a:solidFill>
                  <a:schemeClr val="accent5">
                    <a:lumMod val="60000"/>
                    <a:lumOff val="40000"/>
                  </a:schemeClr>
                </a:solidFill>
                <a:cs typeface="Arial" pitchFamily="34" charset="0"/>
              </a:rPr>
              <a:t>b. 2,212 cups</a:t>
            </a:r>
          </a:p>
          <a:p>
            <a:pPr marL="547688" lvl="1" indent="-273050" eaLnBrk="1" hangingPunct="1">
              <a:spcBef>
                <a:spcPts val="500"/>
              </a:spcBef>
              <a:buClr>
                <a:schemeClr val="accent2"/>
              </a:buClr>
              <a:buSzPct val="76000"/>
              <a:buFont typeface="Wingdings" pitchFamily="2" charset="2"/>
              <a:buNone/>
              <a:defRPr/>
            </a:pPr>
            <a:r>
              <a:rPr lang="en-US" sz="2600" dirty="0">
                <a:solidFill>
                  <a:schemeClr val="accent5">
                    <a:lumMod val="60000"/>
                    <a:lumOff val="40000"/>
                  </a:schemeClr>
                </a:solidFill>
                <a:cs typeface="Arial" pitchFamily="34" charset="0"/>
              </a:rPr>
              <a:t>c. 1,150 cups</a:t>
            </a:r>
          </a:p>
          <a:p>
            <a:pPr marL="547688" lvl="1" indent="-273050" eaLnBrk="1" hangingPunct="1">
              <a:spcBef>
                <a:spcPts val="500"/>
              </a:spcBef>
              <a:buClr>
                <a:schemeClr val="accent2"/>
              </a:buClr>
              <a:buSzPct val="76000"/>
              <a:buFont typeface="Wingdings" pitchFamily="2" charset="2"/>
              <a:buNone/>
              <a:defRPr/>
            </a:pPr>
            <a:r>
              <a:rPr lang="en-US" sz="2600" dirty="0">
                <a:solidFill>
                  <a:schemeClr val="accent5">
                    <a:lumMod val="60000"/>
                    <a:lumOff val="40000"/>
                  </a:schemeClr>
                </a:solidFill>
                <a:cs typeface="Arial" pitchFamily="34" charset="0"/>
              </a:rPr>
              <a:t>d. 4,200 cups</a:t>
            </a:r>
          </a:p>
        </p:txBody>
      </p:sp>
      <p:pic>
        <p:nvPicPr>
          <p:cNvPr id="21" name="Picture 20" descr="G:\FILES\PFILES\MSOFFICE\MEDIA\CNTCD1\ClipArt2\j0217302.wmf">
            <a:extLst>
              <a:ext uri="{FF2B5EF4-FFF2-40B4-BE49-F238E27FC236}">
                <a16:creationId xmlns:a16="http://schemas.microsoft.com/office/drawing/2014/main" id="{D082ABF1-0650-B27B-46BB-3B7488145E79}"/>
              </a:ext>
            </a:extLst>
          </p:cNvPr>
          <p:cNvPicPr>
            <a:picLocks noChangeAspect="1" noChangeArrowheads="1"/>
          </p:cNvPicPr>
          <p:nvPr/>
        </p:nvPicPr>
        <p:blipFill>
          <a:blip r:embed="rId3"/>
          <a:srcRect/>
          <a:stretch>
            <a:fillRect/>
          </a:stretch>
        </p:blipFill>
        <p:spPr bwMode="auto">
          <a:xfrm>
            <a:off x="6324600" y="4191000"/>
            <a:ext cx="1836738" cy="1368425"/>
          </a:xfrm>
          <a:prstGeom prst="rect">
            <a:avLst/>
          </a:prstGeom>
          <a:ln>
            <a:noFill/>
          </a:ln>
          <a:effectLst>
            <a:outerShdw blurRad="292100" dist="139700" dir="2700000" algn="tl" rotWithShape="0">
              <a:srgbClr val="333333">
                <a:alpha val="65000"/>
              </a:srgbClr>
            </a:outerShdw>
          </a:effectLst>
        </p:spPr>
      </p:pic>
      <p:sp>
        <p:nvSpPr>
          <p:cNvPr id="73732" name="Rectangle 1027">
            <a:extLst>
              <a:ext uri="{FF2B5EF4-FFF2-40B4-BE49-F238E27FC236}">
                <a16:creationId xmlns:a16="http://schemas.microsoft.com/office/drawing/2014/main" id="{7CA18C4B-9222-1159-B3C6-64654EA540B7}"/>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Quick Check </a:t>
            </a:r>
            <a:r>
              <a:rPr lang="en-US" altLang="en-US">
                <a:latin typeface="Arial" panose="020B0604020202020204" pitchFamily="34" charset="0"/>
                <a:cs typeface="Arial" panose="020B0604020202020204" pitchFamily="34" charset="0"/>
                <a:sym typeface="Wingdings" panose="05000000000000000000" pitchFamily="2" charset="2"/>
              </a:rPr>
              <a:t></a:t>
            </a:r>
          </a:p>
        </p:txBody>
      </p:sp>
      <p:sp>
        <p:nvSpPr>
          <p:cNvPr id="80900" name="Oval 1028">
            <a:extLst>
              <a:ext uri="{FF2B5EF4-FFF2-40B4-BE49-F238E27FC236}">
                <a16:creationId xmlns:a16="http://schemas.microsoft.com/office/drawing/2014/main" id="{DA6CDD62-6A66-39B2-0668-74C0655A8835}"/>
              </a:ext>
            </a:extLst>
          </p:cNvPr>
          <p:cNvSpPr>
            <a:spLocks noChangeArrowheads="1"/>
          </p:cNvSpPr>
          <p:nvPr/>
        </p:nvSpPr>
        <p:spPr bwMode="auto">
          <a:xfrm>
            <a:off x="338138" y="4267200"/>
            <a:ext cx="558800" cy="558800"/>
          </a:xfrm>
          <a:prstGeom prst="ellipse">
            <a:avLst/>
          </a:prstGeom>
          <a:noFill/>
          <a:ln w="50799">
            <a:solidFill>
              <a:srgbClr val="FF0000"/>
            </a:solidFill>
            <a:round/>
            <a:headEnd/>
            <a:tailEnd/>
          </a:ln>
          <a:effectLst>
            <a:outerShdw blurRad="50800" dist="38100" dir="2700000" algn="tl" rotWithShape="0">
              <a:prstClr val="black">
                <a:alpha val="40000"/>
              </a:prstClr>
            </a:outerShdw>
          </a:effectLst>
        </p:spPr>
        <p:txBody>
          <a:bodyPr wrap="none" anchor="ctr"/>
          <a:lstStyle/>
          <a:p>
            <a:pPr eaLnBrk="1" hangingPunct="1">
              <a:defRPr/>
            </a:pPr>
            <a:endParaRPr lang="en-US" dirty="0"/>
          </a:p>
        </p:txBody>
      </p:sp>
      <p:grpSp>
        <p:nvGrpSpPr>
          <p:cNvPr id="73734" name="Group 1029">
            <a:extLst>
              <a:ext uri="{FF2B5EF4-FFF2-40B4-BE49-F238E27FC236}">
                <a16:creationId xmlns:a16="http://schemas.microsoft.com/office/drawing/2014/main" id="{3A1D8260-35B5-F03E-8D32-A3585E5FD581}"/>
              </a:ext>
            </a:extLst>
          </p:cNvPr>
          <p:cNvGrpSpPr>
            <a:grpSpLocks/>
          </p:cNvGrpSpPr>
          <p:nvPr/>
        </p:nvGrpSpPr>
        <p:grpSpPr bwMode="auto">
          <a:xfrm>
            <a:off x="1828800" y="2590800"/>
            <a:ext cx="7162800" cy="3733800"/>
            <a:chOff x="1152" y="672"/>
            <a:chExt cx="4464" cy="2208"/>
          </a:xfrm>
        </p:grpSpPr>
        <p:sp>
          <p:nvSpPr>
            <p:cNvPr id="73735" name="Rectangle 1030">
              <a:extLst>
                <a:ext uri="{FF2B5EF4-FFF2-40B4-BE49-F238E27FC236}">
                  <a16:creationId xmlns:a16="http://schemas.microsoft.com/office/drawing/2014/main" id="{4CDEA8F3-B264-AF88-CD2C-1384205DFEF7}"/>
                </a:ext>
              </a:extLst>
            </p:cNvPr>
            <p:cNvSpPr>
              <a:spLocks noChangeArrowheads="1"/>
            </p:cNvSpPr>
            <p:nvPr/>
          </p:nvSpPr>
          <p:spPr bwMode="auto">
            <a:xfrm>
              <a:off x="1200" y="672"/>
              <a:ext cx="4416" cy="220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3736" name="Text Box 1031">
              <a:extLst>
                <a:ext uri="{FF2B5EF4-FFF2-40B4-BE49-F238E27FC236}">
                  <a16:creationId xmlns:a16="http://schemas.microsoft.com/office/drawing/2014/main" id="{F10DAF39-D8C6-FF5E-C7D3-269A95125C90}"/>
                </a:ext>
              </a:extLst>
            </p:cNvPr>
            <p:cNvSpPr txBox="1">
              <a:spLocks noChangeArrowheads="1"/>
            </p:cNvSpPr>
            <p:nvPr/>
          </p:nvSpPr>
          <p:spPr bwMode="auto">
            <a:xfrm>
              <a:off x="2592" y="778"/>
              <a:ext cx="3024"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Target profit + Fixed expenses</a:t>
              </a:r>
            </a:p>
            <a:p>
              <a:pPr algn="ctr" eaLnBrk="1" hangingPunct="1"/>
              <a:r>
                <a:rPr lang="en-US" altLang="en-US" sz="2400" b="1">
                  <a:solidFill>
                    <a:srgbClr val="FFFFFF"/>
                  </a:solidFill>
                </a:rPr>
                <a:t>Unit CM</a:t>
              </a:r>
            </a:p>
          </p:txBody>
        </p:sp>
        <p:sp>
          <p:nvSpPr>
            <p:cNvPr id="73737" name="Line 1032">
              <a:extLst>
                <a:ext uri="{FF2B5EF4-FFF2-40B4-BE49-F238E27FC236}">
                  <a16:creationId xmlns:a16="http://schemas.microsoft.com/office/drawing/2014/main" id="{144693E7-288C-CB3C-0FE3-56CF9563622F}"/>
                </a:ext>
              </a:extLst>
            </p:cNvPr>
            <p:cNvSpPr>
              <a:spLocks noChangeShapeType="1"/>
            </p:cNvSpPr>
            <p:nvPr/>
          </p:nvSpPr>
          <p:spPr bwMode="auto">
            <a:xfrm>
              <a:off x="2688" y="1031"/>
              <a:ext cx="2832"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3738" name="Text Box 1033">
              <a:extLst>
                <a:ext uri="{FF2B5EF4-FFF2-40B4-BE49-F238E27FC236}">
                  <a16:creationId xmlns:a16="http://schemas.microsoft.com/office/drawing/2014/main" id="{C926116F-0C4B-7C15-3F2A-4A7E6975F1B4}"/>
                </a:ext>
              </a:extLst>
            </p:cNvPr>
            <p:cNvSpPr txBox="1">
              <a:spLocks noChangeArrowheads="1"/>
            </p:cNvSpPr>
            <p:nvPr/>
          </p:nvSpPr>
          <p:spPr bwMode="auto">
            <a:xfrm>
              <a:off x="1152" y="682"/>
              <a:ext cx="1344" cy="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b="1">
                  <a:solidFill>
                    <a:srgbClr val="FFFFFF"/>
                  </a:solidFill>
                </a:rPr>
                <a:t>Unit sales</a:t>
              </a:r>
              <a:br>
                <a:rPr lang="en-US" altLang="en-US" sz="2400" b="1">
                  <a:solidFill>
                    <a:srgbClr val="FFFFFF"/>
                  </a:solidFill>
                </a:rPr>
              </a:br>
              <a:r>
                <a:rPr lang="en-US" altLang="en-US" sz="2400" b="1">
                  <a:solidFill>
                    <a:srgbClr val="FFFFFF"/>
                  </a:solidFill>
                </a:rPr>
                <a:t>to attain</a:t>
              </a:r>
              <a:br>
                <a:rPr lang="en-US" altLang="en-US" sz="2400" b="1">
                  <a:solidFill>
                    <a:srgbClr val="FFFFFF"/>
                  </a:solidFill>
                </a:rPr>
              </a:br>
              <a:r>
                <a:rPr lang="en-US" altLang="en-US" sz="2400" b="1">
                  <a:solidFill>
                    <a:srgbClr val="FFFFFF"/>
                  </a:solidFill>
                </a:rPr>
                <a:t>target profit </a:t>
              </a:r>
            </a:p>
          </p:txBody>
        </p:sp>
        <p:sp>
          <p:nvSpPr>
            <p:cNvPr id="73739" name="Text Box 1034">
              <a:extLst>
                <a:ext uri="{FF2B5EF4-FFF2-40B4-BE49-F238E27FC236}">
                  <a16:creationId xmlns:a16="http://schemas.microsoft.com/office/drawing/2014/main" id="{975EDDC1-4F9A-D2E4-409F-31C29556DBE2}"/>
                </a:ext>
              </a:extLst>
            </p:cNvPr>
            <p:cNvSpPr txBox="1">
              <a:spLocks noChangeArrowheads="1"/>
            </p:cNvSpPr>
            <p:nvPr/>
          </p:nvSpPr>
          <p:spPr bwMode="auto">
            <a:xfrm>
              <a:off x="2400" y="2544"/>
              <a:ext cx="1344"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FFFF"/>
                  </a:solidFill>
                </a:rPr>
                <a:t>= 3,363 cups</a:t>
              </a:r>
            </a:p>
          </p:txBody>
        </p:sp>
        <p:grpSp>
          <p:nvGrpSpPr>
            <p:cNvPr id="73740" name="Group 1035">
              <a:extLst>
                <a:ext uri="{FF2B5EF4-FFF2-40B4-BE49-F238E27FC236}">
                  <a16:creationId xmlns:a16="http://schemas.microsoft.com/office/drawing/2014/main" id="{9BBC4EBB-9D43-9B43-3122-2FB26BFE30DE}"/>
                </a:ext>
              </a:extLst>
            </p:cNvPr>
            <p:cNvGrpSpPr>
              <a:grpSpLocks/>
            </p:cNvGrpSpPr>
            <p:nvPr/>
          </p:nvGrpSpPr>
          <p:grpSpPr bwMode="auto">
            <a:xfrm>
              <a:off x="2400" y="1978"/>
              <a:ext cx="1104" cy="486"/>
              <a:chOff x="2400" y="1786"/>
              <a:chExt cx="1104" cy="486"/>
            </a:xfrm>
          </p:grpSpPr>
          <p:sp>
            <p:nvSpPr>
              <p:cNvPr id="73746" name="Text Box 1036">
                <a:extLst>
                  <a:ext uri="{FF2B5EF4-FFF2-40B4-BE49-F238E27FC236}">
                    <a16:creationId xmlns:a16="http://schemas.microsoft.com/office/drawing/2014/main" id="{D92A92B2-CFC0-D2AB-2F49-6424500A7714}"/>
                  </a:ext>
                </a:extLst>
              </p:cNvPr>
              <p:cNvSpPr txBox="1">
                <a:spLocks noChangeArrowheads="1"/>
              </p:cNvSpPr>
              <p:nvPr/>
            </p:nvSpPr>
            <p:spPr bwMode="auto">
              <a:xfrm>
                <a:off x="2400" y="1894"/>
                <a:ext cx="24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a:t>
                </a:r>
              </a:p>
            </p:txBody>
          </p:sp>
          <p:sp>
            <p:nvSpPr>
              <p:cNvPr id="73747" name="Text Box 1037">
                <a:extLst>
                  <a:ext uri="{FF2B5EF4-FFF2-40B4-BE49-F238E27FC236}">
                    <a16:creationId xmlns:a16="http://schemas.microsoft.com/office/drawing/2014/main" id="{54E57D34-037B-6C91-9EE9-27D4261C0E3C}"/>
                  </a:ext>
                </a:extLst>
              </p:cNvPr>
              <p:cNvSpPr txBox="1">
                <a:spLocks noChangeArrowheads="1"/>
              </p:cNvSpPr>
              <p:nvPr/>
            </p:nvSpPr>
            <p:spPr bwMode="auto">
              <a:xfrm>
                <a:off x="2592" y="1786"/>
                <a:ext cx="912"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$3,800</a:t>
                </a:r>
              </a:p>
              <a:p>
                <a:pPr algn="ctr" eaLnBrk="1" hangingPunct="1"/>
                <a:r>
                  <a:rPr lang="en-US" altLang="en-US" sz="2400" b="1">
                    <a:solidFill>
                      <a:srgbClr val="FFFFFF"/>
                    </a:solidFill>
                  </a:rPr>
                  <a:t>$1.13</a:t>
                </a:r>
              </a:p>
            </p:txBody>
          </p:sp>
          <p:sp>
            <p:nvSpPr>
              <p:cNvPr id="73748" name="Line 1038">
                <a:extLst>
                  <a:ext uri="{FF2B5EF4-FFF2-40B4-BE49-F238E27FC236}">
                    <a16:creationId xmlns:a16="http://schemas.microsoft.com/office/drawing/2014/main" id="{FE337184-4476-8355-B99C-DDC398B68A5A}"/>
                  </a:ext>
                </a:extLst>
              </p:cNvPr>
              <p:cNvSpPr>
                <a:spLocks noChangeShapeType="1"/>
              </p:cNvSpPr>
              <p:nvPr/>
            </p:nvSpPr>
            <p:spPr bwMode="auto">
              <a:xfrm>
                <a:off x="2784" y="2039"/>
                <a:ext cx="576"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73741" name="Group 1039">
              <a:extLst>
                <a:ext uri="{FF2B5EF4-FFF2-40B4-BE49-F238E27FC236}">
                  <a16:creationId xmlns:a16="http://schemas.microsoft.com/office/drawing/2014/main" id="{81B220BE-32E9-DB88-6538-68EA25E879BB}"/>
                </a:ext>
              </a:extLst>
            </p:cNvPr>
            <p:cNvGrpSpPr>
              <a:grpSpLocks/>
            </p:cNvGrpSpPr>
            <p:nvPr/>
          </p:nvGrpSpPr>
          <p:grpSpPr bwMode="auto">
            <a:xfrm>
              <a:off x="2352" y="1402"/>
              <a:ext cx="1920" cy="486"/>
              <a:chOff x="2352" y="1200"/>
              <a:chExt cx="1920" cy="486"/>
            </a:xfrm>
          </p:grpSpPr>
          <p:sp>
            <p:nvSpPr>
              <p:cNvPr id="73743" name="Text Box 1040">
                <a:extLst>
                  <a:ext uri="{FF2B5EF4-FFF2-40B4-BE49-F238E27FC236}">
                    <a16:creationId xmlns:a16="http://schemas.microsoft.com/office/drawing/2014/main" id="{676E8970-C332-FAD5-9E9C-C62A6B16F155}"/>
                  </a:ext>
                </a:extLst>
              </p:cNvPr>
              <p:cNvSpPr txBox="1">
                <a:spLocks noChangeArrowheads="1"/>
              </p:cNvSpPr>
              <p:nvPr/>
            </p:nvSpPr>
            <p:spPr bwMode="auto">
              <a:xfrm>
                <a:off x="2592" y="1200"/>
                <a:ext cx="1680"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$2,500 + $1,300</a:t>
                </a:r>
              </a:p>
              <a:p>
                <a:pPr algn="ctr" eaLnBrk="1" hangingPunct="1"/>
                <a:r>
                  <a:rPr lang="en-US" altLang="en-US" sz="2400" b="1">
                    <a:solidFill>
                      <a:srgbClr val="FFFFFF"/>
                    </a:solidFill>
                  </a:rPr>
                  <a:t>$1.49 - $0.36 </a:t>
                </a:r>
              </a:p>
            </p:txBody>
          </p:sp>
          <p:sp>
            <p:nvSpPr>
              <p:cNvPr id="73744" name="Line 1041">
                <a:extLst>
                  <a:ext uri="{FF2B5EF4-FFF2-40B4-BE49-F238E27FC236}">
                    <a16:creationId xmlns:a16="http://schemas.microsoft.com/office/drawing/2014/main" id="{FAA5B50C-2078-E8ED-699A-38973FAE7A43}"/>
                  </a:ext>
                </a:extLst>
              </p:cNvPr>
              <p:cNvSpPr>
                <a:spLocks noChangeShapeType="1"/>
              </p:cNvSpPr>
              <p:nvPr/>
            </p:nvSpPr>
            <p:spPr bwMode="auto">
              <a:xfrm>
                <a:off x="2771" y="1458"/>
                <a:ext cx="1344"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3745" name="Text Box 1042">
                <a:extLst>
                  <a:ext uri="{FF2B5EF4-FFF2-40B4-BE49-F238E27FC236}">
                    <a16:creationId xmlns:a16="http://schemas.microsoft.com/office/drawing/2014/main" id="{1107D3AF-7D9E-C27F-ECB1-9A4A0D6AEBB3}"/>
                  </a:ext>
                </a:extLst>
              </p:cNvPr>
              <p:cNvSpPr txBox="1">
                <a:spLocks noChangeArrowheads="1"/>
              </p:cNvSpPr>
              <p:nvPr/>
            </p:nvSpPr>
            <p:spPr bwMode="auto">
              <a:xfrm>
                <a:off x="2352" y="1330"/>
                <a:ext cx="28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a:t>
                </a:r>
              </a:p>
            </p:txBody>
          </p:sp>
        </p:grpSp>
        <p:sp>
          <p:nvSpPr>
            <p:cNvPr id="73742" name="Text Box 1043">
              <a:extLst>
                <a:ext uri="{FF2B5EF4-FFF2-40B4-BE49-F238E27FC236}">
                  <a16:creationId xmlns:a16="http://schemas.microsoft.com/office/drawing/2014/main" id="{2C27E456-F0AA-0F2F-F7FC-20F590FC18E3}"/>
                </a:ext>
              </a:extLst>
            </p:cNvPr>
            <p:cNvSpPr txBox="1">
              <a:spLocks noChangeArrowheads="1"/>
            </p:cNvSpPr>
            <p:nvPr/>
          </p:nvSpPr>
          <p:spPr bwMode="auto">
            <a:xfrm>
              <a:off x="2352" y="911"/>
              <a:ext cx="2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a:t>
              </a:r>
            </a:p>
          </p:txBody>
        </p:sp>
      </p:grpSp>
    </p:spTree>
  </p:cSld>
  <p:clrMapOvr>
    <a:masterClrMapping/>
  </p:clrMapOvr>
  <p:transition spd="med">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8D11773-723B-BED0-F4CC-D41BDF17CC20}"/>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Quick Check </a:t>
            </a:r>
            <a:r>
              <a:rPr lang="en-US" altLang="en-US">
                <a:latin typeface="Arial" panose="020B0604020202020204" pitchFamily="34" charset="0"/>
                <a:cs typeface="Arial" panose="020B0604020202020204" pitchFamily="34" charset="0"/>
                <a:sym typeface="Wingdings" panose="05000000000000000000" pitchFamily="2" charset="2"/>
              </a:rPr>
              <a:t></a:t>
            </a:r>
          </a:p>
        </p:txBody>
      </p:sp>
      <p:sp>
        <p:nvSpPr>
          <p:cNvPr id="397315" name="Rectangle 3">
            <a:extLst>
              <a:ext uri="{FF2B5EF4-FFF2-40B4-BE49-F238E27FC236}">
                <a16:creationId xmlns:a16="http://schemas.microsoft.com/office/drawing/2014/main" id="{3F3A04E2-A1FF-C03D-D867-058ABB2B0677}"/>
              </a:ext>
            </a:extLst>
          </p:cNvPr>
          <p:cNvSpPr>
            <a:spLocks noGrp="1" noChangeArrowheads="1"/>
          </p:cNvSpPr>
          <p:nvPr>
            <p:ph type="body" idx="4294967295"/>
          </p:nvPr>
        </p:nvSpPr>
        <p:spPr>
          <a:xfrm>
            <a:off x="228600" y="1447800"/>
            <a:ext cx="8686800" cy="4876800"/>
          </a:xfrm>
          <a:solidFill>
            <a:srgbClr val="EDECD2"/>
          </a:solidFill>
          <a:ln w="12699">
            <a:solidFill>
              <a:schemeClr val="accent5">
                <a:lumMod val="50000"/>
              </a:schemeClr>
            </a:solidFill>
          </a:ln>
        </p:spPr>
        <p:txBody>
          <a:bodyPr lIns="90488" tIns="44450" rIns="90488" bIns="44450"/>
          <a:lstStyle/>
          <a:p>
            <a:pPr eaLnBrk="1" hangingPunct="1">
              <a:buFont typeface="Times" pitchFamily="34" charset="0"/>
              <a:buNone/>
              <a:defRPr/>
            </a:pPr>
            <a:r>
              <a:rPr lang="en-US" dirty="0">
                <a:latin typeface="Arial" charset="0"/>
                <a:cs typeface="Arial" charset="0"/>
              </a:rPr>
              <a:t> 	Coffee Klatch is an espresso stand in a downtown office building. The average selling price of a cup of coffee is $1.49 and the average variable expense per cup is $0.36. The average fixed expense per month is $1,300.  Use the </a:t>
            </a:r>
            <a:r>
              <a:rPr lang="en-US" i="1" dirty="0">
                <a:solidFill>
                  <a:srgbClr val="C00000"/>
                </a:solidFill>
                <a:latin typeface="Arial" charset="0"/>
                <a:cs typeface="Arial" charset="0"/>
              </a:rPr>
              <a:t>formula method </a:t>
            </a:r>
            <a:r>
              <a:rPr lang="en-US" dirty="0">
                <a:latin typeface="Arial" charset="0"/>
                <a:cs typeface="Arial" charset="0"/>
              </a:rPr>
              <a:t>to determine the </a:t>
            </a:r>
            <a:r>
              <a:rPr lang="en-US" dirty="0">
                <a:solidFill>
                  <a:srgbClr val="0000FF"/>
                </a:solidFill>
                <a:latin typeface="Arial" charset="0"/>
                <a:cs typeface="Arial" charset="0"/>
              </a:rPr>
              <a:t>sales dollars </a:t>
            </a:r>
            <a:r>
              <a:rPr lang="en-US" dirty="0">
                <a:latin typeface="Arial" charset="0"/>
                <a:cs typeface="Arial" charset="0"/>
              </a:rPr>
              <a:t>that must be generated to attain target profits of $2,500 per month.</a:t>
            </a:r>
          </a:p>
          <a:p>
            <a:pPr lvl="1" eaLnBrk="1" hangingPunct="1">
              <a:buFont typeface="Wingdings" pitchFamily="2" charset="2"/>
              <a:buNone/>
              <a:defRPr/>
            </a:pPr>
            <a:r>
              <a:rPr lang="en-US" dirty="0">
                <a:solidFill>
                  <a:schemeClr val="tx1"/>
                </a:solidFill>
                <a:latin typeface="Arial" charset="0"/>
                <a:cs typeface="Arial" charset="0"/>
              </a:rPr>
              <a:t>a. $2,550</a:t>
            </a:r>
          </a:p>
          <a:p>
            <a:pPr lvl="1" eaLnBrk="1" hangingPunct="1">
              <a:buFont typeface="Wingdings" pitchFamily="2" charset="2"/>
              <a:buNone/>
              <a:defRPr/>
            </a:pPr>
            <a:r>
              <a:rPr lang="en-US" dirty="0">
                <a:solidFill>
                  <a:schemeClr val="tx1"/>
                </a:solidFill>
                <a:latin typeface="Arial" charset="0"/>
                <a:cs typeface="Arial" charset="0"/>
              </a:rPr>
              <a:t>b. $5,013</a:t>
            </a:r>
          </a:p>
          <a:p>
            <a:pPr lvl="1" eaLnBrk="1" hangingPunct="1">
              <a:buFont typeface="Wingdings" pitchFamily="2" charset="2"/>
              <a:buNone/>
              <a:defRPr/>
            </a:pPr>
            <a:r>
              <a:rPr lang="en-US" dirty="0">
                <a:solidFill>
                  <a:schemeClr val="tx1"/>
                </a:solidFill>
                <a:latin typeface="Arial" charset="0"/>
                <a:cs typeface="Arial" charset="0"/>
              </a:rPr>
              <a:t>c. $8,458</a:t>
            </a:r>
          </a:p>
          <a:p>
            <a:pPr lvl="1" eaLnBrk="1" hangingPunct="1">
              <a:buFont typeface="Wingdings" pitchFamily="2" charset="2"/>
              <a:buNone/>
              <a:defRPr/>
            </a:pPr>
            <a:r>
              <a:rPr lang="en-US" dirty="0">
                <a:solidFill>
                  <a:schemeClr val="tx1"/>
                </a:solidFill>
                <a:latin typeface="Arial" charset="0"/>
                <a:cs typeface="Arial" charset="0"/>
              </a:rPr>
              <a:t>d. $10,555</a:t>
            </a:r>
          </a:p>
        </p:txBody>
      </p:sp>
      <p:pic>
        <p:nvPicPr>
          <p:cNvPr id="4" name="Picture 3" descr="G:\FILES\PFILES\MSOFFICE\MEDIA\CNTCD1\ClipArt2\j0217302.wmf">
            <a:extLst>
              <a:ext uri="{FF2B5EF4-FFF2-40B4-BE49-F238E27FC236}">
                <a16:creationId xmlns:a16="http://schemas.microsoft.com/office/drawing/2014/main" id="{538C4B3B-849A-1033-C4FD-5713B4B1BC8D}"/>
              </a:ext>
            </a:extLst>
          </p:cNvPr>
          <p:cNvPicPr>
            <a:picLocks noChangeAspect="1" noChangeArrowheads="1"/>
          </p:cNvPicPr>
          <p:nvPr/>
        </p:nvPicPr>
        <p:blipFill>
          <a:blip r:embed="rId3"/>
          <a:srcRect/>
          <a:stretch>
            <a:fillRect/>
          </a:stretch>
        </p:blipFill>
        <p:spPr bwMode="auto">
          <a:xfrm>
            <a:off x="6324600" y="4575175"/>
            <a:ext cx="1836738" cy="136842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med">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3">
            <a:extLst>
              <a:ext uri="{FF2B5EF4-FFF2-40B4-BE49-F238E27FC236}">
                <a16:creationId xmlns:a16="http://schemas.microsoft.com/office/drawing/2014/main" id="{A65D8E5B-63C0-5BCB-60ED-45EA80D99B5B}"/>
              </a:ext>
            </a:extLst>
          </p:cNvPr>
          <p:cNvSpPr txBox="1">
            <a:spLocks noChangeArrowheads="1"/>
          </p:cNvSpPr>
          <p:nvPr/>
        </p:nvSpPr>
        <p:spPr bwMode="auto">
          <a:xfrm>
            <a:off x="228600" y="1371600"/>
            <a:ext cx="8686800" cy="4876800"/>
          </a:xfrm>
          <a:prstGeom prst="rect">
            <a:avLst/>
          </a:prstGeom>
          <a:solidFill>
            <a:srgbClr val="EDECD2"/>
          </a:solidFill>
          <a:ln w="12699">
            <a:solidFill>
              <a:schemeClr val="accent5">
                <a:lumMod val="50000"/>
              </a:schemeClr>
            </a:solidFill>
            <a:miter lim="800000"/>
            <a:headEnd/>
            <a:tailEnd/>
          </a:ln>
        </p:spPr>
        <p:txBody>
          <a:bodyPr lIns="90488" tIns="44450" rIns="90488" bIns="44450"/>
          <a:lstStyle/>
          <a:p>
            <a:pPr marL="273050" indent="-273050" eaLnBrk="1" hangingPunct="1">
              <a:spcBef>
                <a:spcPts val="600"/>
              </a:spcBef>
              <a:buClr>
                <a:schemeClr val="accent1"/>
              </a:buClr>
              <a:buSzPct val="76000"/>
              <a:buFont typeface="Times" pitchFamily="34" charset="0"/>
              <a:buNone/>
              <a:defRPr/>
            </a:pPr>
            <a:r>
              <a:rPr lang="en-US" sz="2600" dirty="0">
                <a:latin typeface="Arial" charset="0"/>
                <a:cs typeface="Arial" charset="0"/>
              </a:rPr>
              <a:t> 	Coffee Klatch is an espresso stand in a downtown office building. The average selling price of a cup of coffee is $1.49 and the average variable expense per cup is $0.36. The average fixed expense per month is $1,300.  Use the </a:t>
            </a:r>
            <a:r>
              <a:rPr lang="en-US" sz="2600" i="1" dirty="0">
                <a:solidFill>
                  <a:srgbClr val="C00000"/>
                </a:solidFill>
                <a:latin typeface="Arial" charset="0"/>
                <a:cs typeface="Arial" charset="0"/>
              </a:rPr>
              <a:t>formula method </a:t>
            </a:r>
            <a:r>
              <a:rPr lang="en-US" sz="2600" dirty="0">
                <a:latin typeface="Arial" charset="0"/>
                <a:cs typeface="Arial" charset="0"/>
              </a:rPr>
              <a:t>to determine the </a:t>
            </a:r>
            <a:r>
              <a:rPr lang="en-US" sz="2600" dirty="0">
                <a:solidFill>
                  <a:srgbClr val="0000FF"/>
                </a:solidFill>
                <a:latin typeface="Arial" charset="0"/>
                <a:cs typeface="Arial" charset="0"/>
              </a:rPr>
              <a:t>sales dollars </a:t>
            </a:r>
            <a:r>
              <a:rPr lang="en-US" sz="2600" dirty="0">
                <a:latin typeface="Arial" charset="0"/>
                <a:cs typeface="Arial" charset="0"/>
              </a:rPr>
              <a:t>that must be generated to attain target profits of $2,500 per month.</a:t>
            </a:r>
          </a:p>
          <a:p>
            <a:pPr marL="547688" lvl="1" indent="-273050" eaLnBrk="1" hangingPunct="1">
              <a:spcBef>
                <a:spcPts val="500"/>
              </a:spcBef>
              <a:buClr>
                <a:schemeClr val="accent2"/>
              </a:buClr>
              <a:buSzPct val="76000"/>
              <a:buFont typeface="Wingdings" pitchFamily="2" charset="2"/>
              <a:buNone/>
              <a:defRPr/>
            </a:pPr>
            <a:r>
              <a:rPr lang="en-US" sz="2600" dirty="0">
                <a:solidFill>
                  <a:srgbClr val="D4B5AA"/>
                </a:solidFill>
                <a:latin typeface="Arial" charset="0"/>
                <a:cs typeface="Arial" charset="0"/>
              </a:rPr>
              <a:t>a. $2,550</a:t>
            </a:r>
          </a:p>
          <a:p>
            <a:pPr marL="547688" lvl="1" indent="-273050" eaLnBrk="1" hangingPunct="1">
              <a:spcBef>
                <a:spcPts val="500"/>
              </a:spcBef>
              <a:buClr>
                <a:schemeClr val="accent2"/>
              </a:buClr>
              <a:buSzPct val="76000"/>
              <a:buFont typeface="Wingdings" pitchFamily="2" charset="2"/>
              <a:buNone/>
              <a:defRPr/>
            </a:pPr>
            <a:r>
              <a:rPr lang="en-US" sz="2600" dirty="0">
                <a:latin typeface="Arial" charset="0"/>
                <a:cs typeface="Arial" charset="0"/>
              </a:rPr>
              <a:t>b. $5,013</a:t>
            </a:r>
          </a:p>
          <a:p>
            <a:pPr marL="547688" lvl="1" indent="-273050" eaLnBrk="1" hangingPunct="1">
              <a:spcBef>
                <a:spcPts val="500"/>
              </a:spcBef>
              <a:buClr>
                <a:schemeClr val="accent2"/>
              </a:buClr>
              <a:buSzPct val="76000"/>
              <a:buFont typeface="Wingdings" pitchFamily="2" charset="2"/>
              <a:buNone/>
              <a:defRPr/>
            </a:pPr>
            <a:r>
              <a:rPr lang="en-US" sz="2600" dirty="0">
                <a:solidFill>
                  <a:srgbClr val="D4B5AA"/>
                </a:solidFill>
                <a:latin typeface="Arial" charset="0"/>
                <a:cs typeface="Arial" charset="0"/>
              </a:rPr>
              <a:t>c. $8,458</a:t>
            </a:r>
          </a:p>
          <a:p>
            <a:pPr marL="547688" lvl="1" indent="-273050" eaLnBrk="1" hangingPunct="1">
              <a:spcBef>
                <a:spcPts val="500"/>
              </a:spcBef>
              <a:buClr>
                <a:schemeClr val="accent2"/>
              </a:buClr>
              <a:buSzPct val="76000"/>
              <a:buFont typeface="Wingdings" pitchFamily="2" charset="2"/>
              <a:buNone/>
              <a:defRPr/>
            </a:pPr>
            <a:r>
              <a:rPr lang="en-US" sz="2600" dirty="0">
                <a:solidFill>
                  <a:srgbClr val="D4B5AA"/>
                </a:solidFill>
                <a:latin typeface="Arial" charset="0"/>
                <a:cs typeface="Arial" charset="0"/>
              </a:rPr>
              <a:t>d. $10,555</a:t>
            </a:r>
          </a:p>
        </p:txBody>
      </p:sp>
      <p:pic>
        <p:nvPicPr>
          <p:cNvPr id="39" name="Picture 38" descr="G:\FILES\PFILES\MSOFFICE\MEDIA\CNTCD1\ClipArt2\j0217302.wmf">
            <a:extLst>
              <a:ext uri="{FF2B5EF4-FFF2-40B4-BE49-F238E27FC236}">
                <a16:creationId xmlns:a16="http://schemas.microsoft.com/office/drawing/2014/main" id="{29FD98F2-FC3D-8269-5492-13AD121ACC03}"/>
              </a:ext>
            </a:extLst>
          </p:cNvPr>
          <p:cNvPicPr>
            <a:picLocks noChangeAspect="1" noChangeArrowheads="1"/>
          </p:cNvPicPr>
          <p:nvPr/>
        </p:nvPicPr>
        <p:blipFill>
          <a:blip r:embed="rId3"/>
          <a:srcRect/>
          <a:stretch>
            <a:fillRect/>
          </a:stretch>
        </p:blipFill>
        <p:spPr bwMode="auto">
          <a:xfrm>
            <a:off x="6477000" y="4267200"/>
            <a:ext cx="1836738" cy="1368425"/>
          </a:xfrm>
          <a:prstGeom prst="rect">
            <a:avLst/>
          </a:prstGeom>
          <a:ln>
            <a:noFill/>
          </a:ln>
          <a:effectLst>
            <a:outerShdw blurRad="292100" dist="139700" dir="2700000" algn="tl" rotWithShape="0">
              <a:srgbClr val="333333">
                <a:alpha val="65000"/>
              </a:srgbClr>
            </a:outerShdw>
          </a:effectLst>
        </p:spPr>
      </p:pic>
      <p:pic>
        <p:nvPicPr>
          <p:cNvPr id="21" name="Picture 20" descr="G:\FILES\PFILES\MSOFFICE\MEDIA\CNTCD1\ClipArt2\j0217302.wmf">
            <a:extLst>
              <a:ext uri="{FF2B5EF4-FFF2-40B4-BE49-F238E27FC236}">
                <a16:creationId xmlns:a16="http://schemas.microsoft.com/office/drawing/2014/main" id="{3CC8ABED-D873-B7BA-ABB0-D310C1741EFC}"/>
              </a:ext>
            </a:extLst>
          </p:cNvPr>
          <p:cNvPicPr>
            <a:picLocks noChangeAspect="1" noChangeArrowheads="1"/>
          </p:cNvPicPr>
          <p:nvPr/>
        </p:nvPicPr>
        <p:blipFill>
          <a:blip r:embed="rId3"/>
          <a:srcRect/>
          <a:stretch>
            <a:fillRect/>
          </a:stretch>
        </p:blipFill>
        <p:spPr bwMode="auto">
          <a:xfrm>
            <a:off x="6324600" y="4114800"/>
            <a:ext cx="1836738" cy="1368425"/>
          </a:xfrm>
          <a:prstGeom prst="rect">
            <a:avLst/>
          </a:prstGeom>
          <a:ln>
            <a:noFill/>
          </a:ln>
          <a:effectLst>
            <a:outerShdw blurRad="292100" dist="139700" dir="2700000" algn="tl" rotWithShape="0">
              <a:srgbClr val="333333">
                <a:alpha val="65000"/>
              </a:srgbClr>
            </a:outerShdw>
          </a:effectLst>
        </p:spPr>
      </p:pic>
      <p:sp>
        <p:nvSpPr>
          <p:cNvPr id="77829" name="Rectangle 1027">
            <a:extLst>
              <a:ext uri="{FF2B5EF4-FFF2-40B4-BE49-F238E27FC236}">
                <a16:creationId xmlns:a16="http://schemas.microsoft.com/office/drawing/2014/main" id="{E77C2D47-A1F2-BAC7-DBBE-B0DDAF3980FD}"/>
              </a:ext>
            </a:extLst>
          </p:cNvPr>
          <p:cNvSpPr>
            <a:spLocks noGrp="1"/>
          </p:cNvSpPr>
          <p:nvPr>
            <p:ph type="title"/>
          </p:nvPr>
        </p:nvSpPr>
        <p:spPr>
          <a:noFill/>
        </p:spPr>
        <p:txBody>
          <a:bodyPr lIns="90488" tIns="44450" rIns="90488" bIns="44450"/>
          <a:lstStyle/>
          <a:p>
            <a:pPr eaLnBrk="1" hangingPunct="1"/>
            <a:r>
              <a:rPr lang="en-US" altLang="en-US">
                <a:latin typeface="Arial" panose="020B0604020202020204" pitchFamily="34" charset="0"/>
                <a:cs typeface="Arial" panose="020B0604020202020204" pitchFamily="34" charset="0"/>
              </a:rPr>
              <a:t>Quick Check </a:t>
            </a:r>
            <a:r>
              <a:rPr lang="en-US" altLang="en-US">
                <a:latin typeface="Arial" panose="020B0604020202020204" pitchFamily="34" charset="0"/>
                <a:cs typeface="Arial" panose="020B0604020202020204" pitchFamily="34" charset="0"/>
                <a:sym typeface="Wingdings" panose="05000000000000000000" pitchFamily="2" charset="2"/>
              </a:rPr>
              <a:t></a:t>
            </a:r>
          </a:p>
        </p:txBody>
      </p:sp>
      <p:sp>
        <p:nvSpPr>
          <p:cNvPr id="80900" name="Oval 1028">
            <a:extLst>
              <a:ext uri="{FF2B5EF4-FFF2-40B4-BE49-F238E27FC236}">
                <a16:creationId xmlns:a16="http://schemas.microsoft.com/office/drawing/2014/main" id="{84744FAE-B0D2-4774-A842-3351C3A6DB52}"/>
              </a:ext>
            </a:extLst>
          </p:cNvPr>
          <p:cNvSpPr>
            <a:spLocks noChangeArrowheads="1"/>
          </p:cNvSpPr>
          <p:nvPr/>
        </p:nvSpPr>
        <p:spPr bwMode="auto">
          <a:xfrm>
            <a:off x="381000" y="4648200"/>
            <a:ext cx="558800" cy="558800"/>
          </a:xfrm>
          <a:prstGeom prst="ellipse">
            <a:avLst/>
          </a:prstGeom>
          <a:noFill/>
          <a:ln w="50799">
            <a:solidFill>
              <a:srgbClr val="FF0000"/>
            </a:solidFill>
            <a:round/>
            <a:headEnd/>
            <a:tailEnd/>
          </a:ln>
          <a:effectLst>
            <a:outerShdw blurRad="50800" dist="38100" dir="2700000" algn="tl" rotWithShape="0">
              <a:prstClr val="black">
                <a:alpha val="40000"/>
              </a:prstClr>
            </a:outerShdw>
          </a:effectLst>
        </p:spPr>
        <p:txBody>
          <a:bodyPr wrap="none" anchor="ctr"/>
          <a:lstStyle/>
          <a:p>
            <a:pPr eaLnBrk="1" hangingPunct="1">
              <a:defRPr/>
            </a:pPr>
            <a:endParaRPr lang="en-US" dirty="0"/>
          </a:p>
        </p:txBody>
      </p:sp>
      <p:grpSp>
        <p:nvGrpSpPr>
          <p:cNvPr id="77831" name="Group 1029">
            <a:extLst>
              <a:ext uri="{FF2B5EF4-FFF2-40B4-BE49-F238E27FC236}">
                <a16:creationId xmlns:a16="http://schemas.microsoft.com/office/drawing/2014/main" id="{A549D84A-4772-95D1-790A-297EAD6CF933}"/>
              </a:ext>
            </a:extLst>
          </p:cNvPr>
          <p:cNvGrpSpPr>
            <a:grpSpLocks/>
          </p:cNvGrpSpPr>
          <p:nvPr/>
        </p:nvGrpSpPr>
        <p:grpSpPr bwMode="auto">
          <a:xfrm>
            <a:off x="1981200" y="3048000"/>
            <a:ext cx="7162800" cy="3733800"/>
            <a:chOff x="1152" y="672"/>
            <a:chExt cx="4464" cy="2208"/>
          </a:xfrm>
        </p:grpSpPr>
        <p:sp>
          <p:nvSpPr>
            <p:cNvPr id="24" name="Rectangle 1030">
              <a:extLst>
                <a:ext uri="{FF2B5EF4-FFF2-40B4-BE49-F238E27FC236}">
                  <a16:creationId xmlns:a16="http://schemas.microsoft.com/office/drawing/2014/main" id="{AA301D13-48E9-EC68-E30E-0956537203FB}"/>
                </a:ext>
              </a:extLst>
            </p:cNvPr>
            <p:cNvSpPr>
              <a:spLocks noChangeArrowheads="1"/>
            </p:cNvSpPr>
            <p:nvPr/>
          </p:nvSpPr>
          <p:spPr bwMode="auto">
            <a:xfrm>
              <a:off x="1200" y="672"/>
              <a:ext cx="4416" cy="2208"/>
            </a:xfrm>
            <a:prstGeom prst="rect">
              <a:avLst/>
            </a:prstGeom>
            <a:solidFill>
              <a:schemeClr val="accent5">
                <a:lumMod val="75000"/>
              </a:schemeClr>
            </a:solidFill>
            <a:ln w="9525">
              <a:solidFill>
                <a:schemeClr val="tx1"/>
              </a:solidFill>
              <a:miter lim="800000"/>
              <a:headEnd/>
              <a:tailEnd/>
            </a:ln>
          </p:spPr>
          <p:txBody>
            <a:bodyPr wrap="none" anchor="ctr"/>
            <a:lstStyle/>
            <a:p>
              <a:pPr eaLnBrk="1" hangingPunct="1">
                <a:defRPr/>
              </a:pPr>
              <a:endParaRPr lang="en-US" dirty="0"/>
            </a:p>
          </p:txBody>
        </p:sp>
        <p:sp>
          <p:nvSpPr>
            <p:cNvPr id="77833" name="Text Box 1031">
              <a:extLst>
                <a:ext uri="{FF2B5EF4-FFF2-40B4-BE49-F238E27FC236}">
                  <a16:creationId xmlns:a16="http://schemas.microsoft.com/office/drawing/2014/main" id="{0ED4E8A6-C257-3D81-F51E-1CFC2F8FFE96}"/>
                </a:ext>
              </a:extLst>
            </p:cNvPr>
            <p:cNvSpPr txBox="1">
              <a:spLocks noChangeArrowheads="1"/>
            </p:cNvSpPr>
            <p:nvPr/>
          </p:nvSpPr>
          <p:spPr bwMode="auto">
            <a:xfrm>
              <a:off x="2592" y="778"/>
              <a:ext cx="3024"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Target profit + Fixed expenses</a:t>
              </a:r>
            </a:p>
            <a:p>
              <a:pPr algn="ctr" eaLnBrk="1" hangingPunct="1"/>
              <a:r>
                <a:rPr lang="en-US" altLang="en-US" sz="2400" b="1">
                  <a:solidFill>
                    <a:srgbClr val="FFFFFF"/>
                  </a:solidFill>
                </a:rPr>
                <a:t>CM ratio</a:t>
              </a:r>
            </a:p>
          </p:txBody>
        </p:sp>
        <p:sp>
          <p:nvSpPr>
            <p:cNvPr id="77834" name="Line 1032">
              <a:extLst>
                <a:ext uri="{FF2B5EF4-FFF2-40B4-BE49-F238E27FC236}">
                  <a16:creationId xmlns:a16="http://schemas.microsoft.com/office/drawing/2014/main" id="{59072492-8C0B-7F4C-4D83-BC73C9A62314}"/>
                </a:ext>
              </a:extLst>
            </p:cNvPr>
            <p:cNvSpPr>
              <a:spLocks noChangeShapeType="1"/>
            </p:cNvSpPr>
            <p:nvPr/>
          </p:nvSpPr>
          <p:spPr bwMode="auto">
            <a:xfrm>
              <a:off x="2688" y="1031"/>
              <a:ext cx="2832"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835" name="Text Box 1033">
              <a:extLst>
                <a:ext uri="{FF2B5EF4-FFF2-40B4-BE49-F238E27FC236}">
                  <a16:creationId xmlns:a16="http://schemas.microsoft.com/office/drawing/2014/main" id="{48348A25-F728-B838-E17A-8F3EC7DEEE3D}"/>
                </a:ext>
              </a:extLst>
            </p:cNvPr>
            <p:cNvSpPr txBox="1">
              <a:spLocks noChangeArrowheads="1"/>
            </p:cNvSpPr>
            <p:nvPr/>
          </p:nvSpPr>
          <p:spPr bwMode="auto">
            <a:xfrm>
              <a:off x="1152" y="682"/>
              <a:ext cx="1344"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b="1">
                  <a:solidFill>
                    <a:srgbClr val="FFFFFF"/>
                  </a:solidFill>
                </a:rPr>
                <a:t>Sales $</a:t>
              </a:r>
              <a:br>
                <a:rPr lang="en-US" altLang="en-US" sz="2400" b="1">
                  <a:solidFill>
                    <a:srgbClr val="FFFFFF"/>
                  </a:solidFill>
                </a:rPr>
              </a:br>
              <a:r>
                <a:rPr lang="en-US" altLang="en-US" sz="2400" b="1">
                  <a:solidFill>
                    <a:srgbClr val="FFFFFF"/>
                  </a:solidFill>
                </a:rPr>
                <a:t>to attain</a:t>
              </a:r>
              <a:br>
                <a:rPr lang="en-US" altLang="en-US" sz="2400" b="1">
                  <a:solidFill>
                    <a:srgbClr val="FFFFFF"/>
                  </a:solidFill>
                </a:rPr>
              </a:br>
              <a:r>
                <a:rPr lang="en-US" altLang="en-US" sz="2400" b="1">
                  <a:solidFill>
                    <a:srgbClr val="FFFFFF"/>
                  </a:solidFill>
                </a:rPr>
                <a:t>target profit </a:t>
              </a:r>
            </a:p>
          </p:txBody>
        </p:sp>
        <p:sp>
          <p:nvSpPr>
            <p:cNvPr id="77836" name="Text Box 1034">
              <a:extLst>
                <a:ext uri="{FF2B5EF4-FFF2-40B4-BE49-F238E27FC236}">
                  <a16:creationId xmlns:a16="http://schemas.microsoft.com/office/drawing/2014/main" id="{76C7A259-2B0D-B2E4-D19C-9FB1AFA9C521}"/>
                </a:ext>
              </a:extLst>
            </p:cNvPr>
            <p:cNvSpPr txBox="1">
              <a:spLocks noChangeArrowheads="1"/>
            </p:cNvSpPr>
            <p:nvPr/>
          </p:nvSpPr>
          <p:spPr bwMode="auto">
            <a:xfrm>
              <a:off x="2400" y="2544"/>
              <a:ext cx="134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FFFF"/>
                  </a:solidFill>
                </a:rPr>
                <a:t>= $5,013</a:t>
              </a:r>
            </a:p>
          </p:txBody>
        </p:sp>
        <p:grpSp>
          <p:nvGrpSpPr>
            <p:cNvPr id="77837" name="Group 1035">
              <a:extLst>
                <a:ext uri="{FF2B5EF4-FFF2-40B4-BE49-F238E27FC236}">
                  <a16:creationId xmlns:a16="http://schemas.microsoft.com/office/drawing/2014/main" id="{BE9DB935-2CE7-0494-B119-3195213D9134}"/>
                </a:ext>
              </a:extLst>
            </p:cNvPr>
            <p:cNvGrpSpPr>
              <a:grpSpLocks/>
            </p:cNvGrpSpPr>
            <p:nvPr/>
          </p:nvGrpSpPr>
          <p:grpSpPr bwMode="auto">
            <a:xfrm>
              <a:off x="2400" y="1978"/>
              <a:ext cx="1104" cy="491"/>
              <a:chOff x="2400" y="1786"/>
              <a:chExt cx="1104" cy="491"/>
            </a:xfrm>
          </p:grpSpPr>
          <p:sp>
            <p:nvSpPr>
              <p:cNvPr id="77843" name="Text Box 1036">
                <a:extLst>
                  <a:ext uri="{FF2B5EF4-FFF2-40B4-BE49-F238E27FC236}">
                    <a16:creationId xmlns:a16="http://schemas.microsoft.com/office/drawing/2014/main" id="{6F667803-86DA-C066-94D1-EC51F2D93BD8}"/>
                  </a:ext>
                </a:extLst>
              </p:cNvPr>
              <p:cNvSpPr txBox="1">
                <a:spLocks noChangeArrowheads="1"/>
              </p:cNvSpPr>
              <p:nvPr/>
            </p:nvSpPr>
            <p:spPr bwMode="auto">
              <a:xfrm>
                <a:off x="2400" y="189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a:t>
                </a:r>
              </a:p>
            </p:txBody>
          </p:sp>
          <p:sp>
            <p:nvSpPr>
              <p:cNvPr id="77844" name="Text Box 1037">
                <a:extLst>
                  <a:ext uri="{FF2B5EF4-FFF2-40B4-BE49-F238E27FC236}">
                    <a16:creationId xmlns:a16="http://schemas.microsoft.com/office/drawing/2014/main" id="{EFEDE37B-0FD6-B486-B4AD-D9E0AB1B0A25}"/>
                  </a:ext>
                </a:extLst>
              </p:cNvPr>
              <p:cNvSpPr txBox="1">
                <a:spLocks noChangeArrowheads="1"/>
              </p:cNvSpPr>
              <p:nvPr/>
            </p:nvSpPr>
            <p:spPr bwMode="auto">
              <a:xfrm>
                <a:off x="2592" y="1786"/>
                <a:ext cx="912"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$3,800</a:t>
                </a:r>
              </a:p>
              <a:p>
                <a:pPr algn="ctr" eaLnBrk="1" hangingPunct="1"/>
                <a:r>
                  <a:rPr lang="en-US" altLang="en-US" sz="2400" b="1">
                    <a:solidFill>
                      <a:srgbClr val="FFFFFF"/>
                    </a:solidFill>
                  </a:rPr>
                  <a:t>0.758</a:t>
                </a:r>
              </a:p>
            </p:txBody>
          </p:sp>
          <p:sp>
            <p:nvSpPr>
              <p:cNvPr id="77845" name="Line 1038">
                <a:extLst>
                  <a:ext uri="{FF2B5EF4-FFF2-40B4-BE49-F238E27FC236}">
                    <a16:creationId xmlns:a16="http://schemas.microsoft.com/office/drawing/2014/main" id="{0B15B4F9-054D-354B-B581-CBEC4EF3E1C1}"/>
                  </a:ext>
                </a:extLst>
              </p:cNvPr>
              <p:cNvSpPr>
                <a:spLocks noChangeShapeType="1"/>
              </p:cNvSpPr>
              <p:nvPr/>
            </p:nvSpPr>
            <p:spPr bwMode="auto">
              <a:xfrm>
                <a:off x="2784" y="2049"/>
                <a:ext cx="576"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77838" name="Group 1039">
              <a:extLst>
                <a:ext uri="{FF2B5EF4-FFF2-40B4-BE49-F238E27FC236}">
                  <a16:creationId xmlns:a16="http://schemas.microsoft.com/office/drawing/2014/main" id="{C8A0544E-A64E-0C00-A915-1AC72D0C150B}"/>
                </a:ext>
              </a:extLst>
            </p:cNvPr>
            <p:cNvGrpSpPr>
              <a:grpSpLocks/>
            </p:cNvGrpSpPr>
            <p:nvPr/>
          </p:nvGrpSpPr>
          <p:grpSpPr bwMode="auto">
            <a:xfrm>
              <a:off x="2352" y="1402"/>
              <a:ext cx="2647" cy="491"/>
              <a:chOff x="2352" y="1200"/>
              <a:chExt cx="2647" cy="491"/>
            </a:xfrm>
          </p:grpSpPr>
          <p:sp>
            <p:nvSpPr>
              <p:cNvPr id="77840" name="Text Box 1040">
                <a:extLst>
                  <a:ext uri="{FF2B5EF4-FFF2-40B4-BE49-F238E27FC236}">
                    <a16:creationId xmlns:a16="http://schemas.microsoft.com/office/drawing/2014/main" id="{B3773F0E-E790-1439-0347-04009796C474}"/>
                  </a:ext>
                </a:extLst>
              </p:cNvPr>
              <p:cNvSpPr txBox="1">
                <a:spLocks noChangeArrowheads="1"/>
              </p:cNvSpPr>
              <p:nvPr/>
            </p:nvSpPr>
            <p:spPr bwMode="auto">
              <a:xfrm>
                <a:off x="2592" y="1200"/>
                <a:ext cx="2407"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FFFF"/>
                    </a:solidFill>
                  </a:rPr>
                  <a:t>$2,500 + $1,300</a:t>
                </a:r>
              </a:p>
              <a:p>
                <a:pPr algn="ctr" eaLnBrk="1" hangingPunct="1"/>
                <a:r>
                  <a:rPr lang="en-US" altLang="en-US" sz="2400" b="1">
                    <a:solidFill>
                      <a:srgbClr val="FFFFFF"/>
                    </a:solidFill>
                  </a:rPr>
                  <a:t>($1.49 – 0.36) ÷ $1.49</a:t>
                </a:r>
              </a:p>
            </p:txBody>
          </p:sp>
          <p:sp>
            <p:nvSpPr>
              <p:cNvPr id="77841" name="Line 1041">
                <a:extLst>
                  <a:ext uri="{FF2B5EF4-FFF2-40B4-BE49-F238E27FC236}">
                    <a16:creationId xmlns:a16="http://schemas.microsoft.com/office/drawing/2014/main" id="{4EC9B724-3301-9F02-4694-EDCF34BBBC2C}"/>
                  </a:ext>
                </a:extLst>
              </p:cNvPr>
              <p:cNvSpPr>
                <a:spLocks noChangeShapeType="1"/>
              </p:cNvSpPr>
              <p:nvPr/>
            </p:nvSpPr>
            <p:spPr bwMode="auto">
              <a:xfrm flipV="1">
                <a:off x="2760" y="1451"/>
                <a:ext cx="2049" cy="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842" name="Text Box 1042">
                <a:extLst>
                  <a:ext uri="{FF2B5EF4-FFF2-40B4-BE49-F238E27FC236}">
                    <a16:creationId xmlns:a16="http://schemas.microsoft.com/office/drawing/2014/main" id="{64130D93-5460-AF85-C590-A0F494889A18}"/>
                  </a:ext>
                </a:extLst>
              </p:cNvPr>
              <p:cNvSpPr txBox="1">
                <a:spLocks noChangeArrowheads="1"/>
              </p:cNvSpPr>
              <p:nvPr/>
            </p:nvSpPr>
            <p:spPr bwMode="auto">
              <a:xfrm>
                <a:off x="2352" y="133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a:t>
                </a:r>
              </a:p>
            </p:txBody>
          </p:sp>
        </p:grpSp>
        <p:sp>
          <p:nvSpPr>
            <p:cNvPr id="77839" name="Text Box 1043">
              <a:extLst>
                <a:ext uri="{FF2B5EF4-FFF2-40B4-BE49-F238E27FC236}">
                  <a16:creationId xmlns:a16="http://schemas.microsoft.com/office/drawing/2014/main" id="{F983A2B9-664D-7C44-DCBD-8E0E18926204}"/>
                </a:ext>
              </a:extLst>
            </p:cNvPr>
            <p:cNvSpPr txBox="1">
              <a:spLocks noChangeArrowheads="1"/>
            </p:cNvSpPr>
            <p:nvPr/>
          </p:nvSpPr>
          <p:spPr bwMode="auto">
            <a:xfrm>
              <a:off x="2352" y="911"/>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en-US" altLang="en-US" sz="2400" b="1">
                  <a:solidFill>
                    <a:srgbClr val="FFFFFF"/>
                  </a:solidFill>
                </a:rPr>
                <a:t>=</a:t>
              </a:r>
            </a:p>
          </p:txBody>
        </p:sp>
      </p:grpSp>
    </p:spTree>
  </p:cSld>
  <p:clrMapOvr>
    <a:masterClrMapping/>
  </p:clrMapOvr>
  <p:transition spd="med">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EECA56-40DB-450D-AB19-FB375CC02420}"/>
              </a:ext>
            </a:extLst>
          </p:cNvPr>
          <p:cNvSpPr>
            <a:spLocks noGrp="1"/>
          </p:cNvSpPr>
          <p:nvPr>
            <p:ph type="title"/>
          </p:nvPr>
        </p:nvSpPr>
        <p:spPr/>
        <p:txBody>
          <a:bodyPr/>
          <a:lstStyle/>
          <a:p>
            <a:r>
              <a:rPr lang="en-US" b="1" dirty="0">
                <a:solidFill>
                  <a:schemeClr val="tx2">
                    <a:lumMod val="60000"/>
                    <a:lumOff val="40000"/>
                  </a:schemeClr>
                </a:solidFill>
              </a:rPr>
              <a:t>Margin of Safety </a:t>
            </a:r>
          </a:p>
        </p:txBody>
      </p:sp>
      <p:sp>
        <p:nvSpPr>
          <p:cNvPr id="7" name="Content Placeholder 6">
            <a:extLst>
              <a:ext uri="{FF2B5EF4-FFF2-40B4-BE49-F238E27FC236}">
                <a16:creationId xmlns:a16="http://schemas.microsoft.com/office/drawing/2014/main" id="{0222DA75-2EAE-4E09-BA5E-D8B64162E707}"/>
              </a:ext>
            </a:extLst>
          </p:cNvPr>
          <p:cNvSpPr>
            <a:spLocks noGrp="1"/>
          </p:cNvSpPr>
          <p:nvPr>
            <p:ph idx="1"/>
          </p:nvPr>
        </p:nvSpPr>
        <p:spPr/>
        <p:txBody>
          <a:bodyPr/>
          <a:lstStyle/>
          <a:p>
            <a:pPr marL="0" indent="0">
              <a:buNone/>
            </a:pPr>
            <a:r>
              <a:rPr lang="en-US" dirty="0"/>
              <a:t>Margin of safety is the difference between actual or budgeted sales and the break-even point.</a:t>
            </a:r>
          </a:p>
          <a:p>
            <a:pPr marL="0" indent="0">
              <a:buNone/>
            </a:pPr>
            <a:r>
              <a:rPr lang="en-US" dirty="0"/>
              <a:t>It equals</a:t>
            </a:r>
          </a:p>
          <a:p>
            <a:pPr marL="0" indent="0">
              <a:buNone/>
            </a:pPr>
            <a:r>
              <a:rPr lang="en-US" dirty="0"/>
              <a:t>Actual or Budgeted Sales − Break-Even Sales = </a:t>
            </a:r>
          </a:p>
        </p:txBody>
      </p:sp>
    </p:spTree>
    <p:extLst>
      <p:ext uri="{BB962C8B-B14F-4D97-AF65-F5344CB8AC3E}">
        <p14:creationId xmlns:p14="http://schemas.microsoft.com/office/powerpoint/2010/main" val="3032513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424F23-ED5C-4151-A366-D9F70E3A42C6}"/>
              </a:ext>
            </a:extLst>
          </p:cNvPr>
          <p:cNvSpPr>
            <a:spLocks noGrp="1"/>
          </p:cNvSpPr>
          <p:nvPr>
            <p:ph type="title"/>
          </p:nvPr>
        </p:nvSpPr>
        <p:spPr/>
        <p:txBody>
          <a:bodyPr/>
          <a:lstStyle/>
          <a:p>
            <a:r>
              <a:rPr lang="en-US" dirty="0"/>
              <a:t>Margin of Safety </a:t>
            </a:r>
          </a:p>
        </p:txBody>
      </p:sp>
      <p:pic>
        <p:nvPicPr>
          <p:cNvPr id="9" name="Picture 2" descr="Income statement with margin of safety for Starbucks Coffee is shown.">
            <a:extLst>
              <a:ext uri="{FF2B5EF4-FFF2-40B4-BE49-F238E27FC236}">
                <a16:creationId xmlns:a16="http://schemas.microsoft.com/office/drawing/2014/main" id="{9FB7650D-0084-4693-A84D-683F040A01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4724" y="1371600"/>
            <a:ext cx="7974553" cy="4735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7">
            <a:extLst>
              <a:ext uri="{FF2B5EF4-FFF2-40B4-BE49-F238E27FC236}">
                <a16:creationId xmlns:a16="http://schemas.microsoft.com/office/drawing/2014/main" id="{BFFA0BB8-D512-4176-9F3F-25A388F248E6}"/>
              </a:ext>
            </a:extLst>
          </p:cNvPr>
          <p:cNvSpPr>
            <a:spLocks noGrp="1"/>
          </p:cNvSpPr>
          <p:nvPr>
            <p:ph sz="quarter" idx="14"/>
          </p:nvPr>
        </p:nvSpPr>
        <p:spPr>
          <a:xfrm>
            <a:off x="457200" y="6159355"/>
            <a:ext cx="8229600" cy="393845"/>
          </a:xfrm>
        </p:spPr>
        <p:txBody>
          <a:bodyPr/>
          <a:lstStyle/>
          <a:p>
            <a:pPr marL="0" marR="0" indent="0" algn="ctr" defTabSz="914400" rtl="0" eaLnBrk="1" fontAlgn="base" latinLnBrk="0" hangingPunct="1">
              <a:lnSpc>
                <a:spcPct val="100000"/>
              </a:lnSpc>
              <a:spcBef>
                <a:spcPct val="20000"/>
              </a:spcBef>
              <a:spcAft>
                <a:spcPct val="0"/>
              </a:spcAft>
              <a:buClrTx/>
              <a:buSzPct val="100000"/>
              <a:buFont typeface="Arial" panose="020B0604020202020204" pitchFamily="34" charset="0"/>
              <a:buNone/>
              <a:tabLst/>
              <a:defRPr/>
            </a:pPr>
            <a:r>
              <a:rPr lang="en-US" sz="1800" dirty="0">
                <a:solidFill>
                  <a:schemeClr val="tx1"/>
                </a:solidFill>
                <a:effectLst/>
                <a:hlinkClick r:id="" action="ppaction://noaction"/>
              </a:rPr>
              <a:t>Access the text alternative for slide images</a:t>
            </a:r>
            <a:endParaRPr lang="en-US" sz="1800" dirty="0">
              <a:effectLst/>
            </a:endParaRPr>
          </a:p>
        </p:txBody>
      </p:sp>
    </p:spTree>
    <p:extLst>
      <p:ext uri="{BB962C8B-B14F-4D97-AF65-F5344CB8AC3E}">
        <p14:creationId xmlns:p14="http://schemas.microsoft.com/office/powerpoint/2010/main" val="1785688395"/>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AE9C0A-0069-4E1E-9D2D-DD216B05BD88}"/>
              </a:ext>
            </a:extLst>
          </p:cNvPr>
          <p:cNvSpPr>
            <a:spLocks noGrp="1"/>
          </p:cNvSpPr>
          <p:nvPr>
            <p:ph type="title"/>
          </p:nvPr>
        </p:nvSpPr>
        <p:spPr/>
        <p:txBody>
          <a:bodyPr/>
          <a:lstStyle/>
          <a:p>
            <a:r>
              <a:rPr lang="en-US" dirty="0"/>
              <a:t>Multi-Product Cost-Volume-Profit Analysis</a:t>
            </a:r>
          </a:p>
        </p:txBody>
      </p:sp>
      <p:sp>
        <p:nvSpPr>
          <p:cNvPr id="7" name="Content Placeholder 6">
            <a:extLst>
              <a:ext uri="{FF2B5EF4-FFF2-40B4-BE49-F238E27FC236}">
                <a16:creationId xmlns:a16="http://schemas.microsoft.com/office/drawing/2014/main" id="{C6BFCA24-CE27-43D5-BA8C-6A1D6122CA6B}"/>
              </a:ext>
            </a:extLst>
          </p:cNvPr>
          <p:cNvSpPr>
            <a:spLocks noGrp="1"/>
          </p:cNvSpPr>
          <p:nvPr>
            <p:ph idx="1"/>
          </p:nvPr>
        </p:nvSpPr>
        <p:spPr/>
        <p:txBody>
          <a:bodyPr/>
          <a:lstStyle/>
          <a:p>
            <a:pPr marL="0" indent="0">
              <a:buNone/>
            </a:pPr>
            <a:r>
              <a:rPr lang="en-US" dirty="0"/>
              <a:t>Product mix is the relative mix of products or services stated in terms of the number of units sold.</a:t>
            </a:r>
          </a:p>
          <a:p>
            <a:pPr marL="0" indent="0">
              <a:buNone/>
            </a:pPr>
            <a:r>
              <a:rPr lang="en-US" dirty="0"/>
              <a:t>The product mix is used to compute the weighted-average contribution margin per unit.</a:t>
            </a:r>
          </a:p>
          <a:p>
            <a:pPr marL="0" indent="0">
              <a:buNone/>
            </a:pPr>
            <a:r>
              <a:rPr lang="en-US" dirty="0"/>
              <a:t>Sales mix is the relative mix of  products or services as a percentage of total sales revenue.</a:t>
            </a:r>
          </a:p>
          <a:p>
            <a:pPr marL="0" indent="0">
              <a:buNone/>
            </a:pPr>
            <a:r>
              <a:rPr lang="en-US" dirty="0"/>
              <a:t>The sales mix is used to compute the weighted-average contribution margin ratio</a:t>
            </a:r>
          </a:p>
        </p:txBody>
      </p:sp>
    </p:spTree>
    <p:extLst>
      <p:ext uri="{BB962C8B-B14F-4D97-AF65-F5344CB8AC3E}">
        <p14:creationId xmlns:p14="http://schemas.microsoft.com/office/powerpoint/2010/main" val="334559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FF29DB7-0EBB-4AEB-B05B-04824151F808}"/>
              </a:ext>
            </a:extLst>
          </p:cNvPr>
          <p:cNvSpPr>
            <a:spLocks noGrp="1"/>
          </p:cNvSpPr>
          <p:nvPr>
            <p:ph type="title"/>
          </p:nvPr>
        </p:nvSpPr>
        <p:spPr/>
        <p:txBody>
          <a:bodyPr/>
          <a:lstStyle/>
          <a:p>
            <a:r>
              <a:rPr lang="en-US" dirty="0"/>
              <a:t>Weighted-Average Contribution Margin Ratio </a:t>
            </a:r>
          </a:p>
        </p:txBody>
      </p:sp>
      <p:sp>
        <p:nvSpPr>
          <p:cNvPr id="11" name="Content Placeholder 10">
            <a:extLst>
              <a:ext uri="{FF2B5EF4-FFF2-40B4-BE49-F238E27FC236}">
                <a16:creationId xmlns:a16="http://schemas.microsoft.com/office/drawing/2014/main" id="{A7E472D8-A1E2-4639-8BC1-68938F528AE2}"/>
              </a:ext>
            </a:extLst>
          </p:cNvPr>
          <p:cNvSpPr>
            <a:spLocks noGrp="1"/>
          </p:cNvSpPr>
          <p:nvPr>
            <p:ph idx="1"/>
          </p:nvPr>
        </p:nvSpPr>
        <p:spPr/>
        <p:txBody>
          <a:bodyPr/>
          <a:lstStyle/>
          <a:p>
            <a:pPr marL="0" indent="0">
              <a:buNone/>
            </a:pPr>
            <a:r>
              <a:rPr lang="en-US" dirty="0"/>
              <a:t>We can also do multiproduct CVP analysis by using the sales mix (stated in terms of total sales dollars) to compute the weighted-average contribution margin ratio.</a:t>
            </a:r>
          </a:p>
          <a:p>
            <a:pPr marL="0" indent="0">
              <a:buNone/>
            </a:pPr>
            <a:r>
              <a:rPr lang="en-US" dirty="0"/>
              <a:t>This approach is commonly used in business because managers often have aggregated information about revenue and costs by product line.</a:t>
            </a:r>
          </a:p>
        </p:txBody>
      </p:sp>
    </p:spTree>
    <p:extLst>
      <p:ext uri="{BB962C8B-B14F-4D97-AF65-F5344CB8AC3E}">
        <p14:creationId xmlns:p14="http://schemas.microsoft.com/office/powerpoint/2010/main" val="1584367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FFA3342-6064-4DB6-980E-0921F4058A78}"/>
              </a:ext>
            </a:extLst>
          </p:cNvPr>
          <p:cNvSpPr>
            <a:spLocks noGrp="1"/>
          </p:cNvSpPr>
          <p:nvPr>
            <p:ph type="title"/>
          </p:nvPr>
        </p:nvSpPr>
        <p:spPr/>
        <p:txBody>
          <a:bodyPr/>
          <a:lstStyle/>
          <a:p>
            <a:r>
              <a:rPr lang="en-US" dirty="0"/>
              <a:t>Weighted-Average Contribution Margin Ratio </a:t>
            </a:r>
          </a:p>
        </p:txBody>
      </p:sp>
      <p:pic>
        <p:nvPicPr>
          <p:cNvPr id="7" name="Picture 3" descr="Income statement with weighted-average contribution margin ratio for Starbucks Coffee is shown.">
            <a:extLst>
              <a:ext uri="{FF2B5EF4-FFF2-40B4-BE49-F238E27FC236}">
                <a16:creationId xmlns:a16="http://schemas.microsoft.com/office/drawing/2014/main" id="{308F0805-35D4-464D-B703-FF62E376C6E3}"/>
              </a:ext>
            </a:extLst>
          </p:cNvPr>
          <p:cNvPicPr>
            <a:picLocks noChangeAspect="1" noChangeArrowheads="1"/>
          </p:cNvPicPr>
          <p:nvPr/>
        </p:nvPicPr>
        <p:blipFill>
          <a:blip r:embed="rId3" cstate="print"/>
          <a:srcRect/>
          <a:stretch>
            <a:fillRect/>
          </a:stretch>
        </p:blipFill>
        <p:spPr bwMode="auto">
          <a:xfrm>
            <a:off x="699655" y="2380673"/>
            <a:ext cx="7758545" cy="3486727"/>
          </a:xfrm>
          <a:prstGeom prst="rect">
            <a:avLst/>
          </a:prstGeom>
          <a:noFill/>
          <a:ln w="9525">
            <a:noFill/>
            <a:miter lim="800000"/>
            <a:headEnd/>
            <a:tailEnd/>
          </a:ln>
        </p:spPr>
      </p:pic>
      <p:sp>
        <p:nvSpPr>
          <p:cNvPr id="4" name="Content Placeholder 7">
            <a:extLst>
              <a:ext uri="{FF2B5EF4-FFF2-40B4-BE49-F238E27FC236}">
                <a16:creationId xmlns:a16="http://schemas.microsoft.com/office/drawing/2014/main" id="{89C9BF8B-1E73-4869-9F30-BB5DE67D076F}"/>
              </a:ext>
            </a:extLst>
          </p:cNvPr>
          <p:cNvSpPr>
            <a:spLocks noGrp="1"/>
          </p:cNvSpPr>
          <p:nvPr>
            <p:ph sz="quarter" idx="14"/>
          </p:nvPr>
        </p:nvSpPr>
        <p:spPr>
          <a:xfrm>
            <a:off x="457200" y="6159355"/>
            <a:ext cx="8229600" cy="393845"/>
          </a:xfrm>
        </p:spPr>
        <p:txBody>
          <a:bodyPr/>
          <a:lstStyle/>
          <a:p>
            <a:pPr marL="0" marR="0" indent="0" algn="ctr" defTabSz="914400" rtl="0" eaLnBrk="1" fontAlgn="base" latinLnBrk="0" hangingPunct="1">
              <a:lnSpc>
                <a:spcPct val="100000"/>
              </a:lnSpc>
              <a:spcBef>
                <a:spcPct val="20000"/>
              </a:spcBef>
              <a:spcAft>
                <a:spcPct val="0"/>
              </a:spcAft>
              <a:buClrTx/>
              <a:buSzPct val="100000"/>
              <a:buFont typeface="Arial" panose="020B0604020202020204" pitchFamily="34" charset="0"/>
              <a:buNone/>
              <a:tabLst/>
              <a:defRPr/>
            </a:pPr>
            <a:r>
              <a:rPr lang="en-US" sz="1800" dirty="0">
                <a:solidFill>
                  <a:schemeClr val="tx1"/>
                </a:solidFill>
                <a:effectLst/>
                <a:hlinkClick r:id="" action="ppaction://noaction"/>
              </a:rPr>
              <a:t>Access the text alternative for slide images</a:t>
            </a:r>
            <a:endParaRPr lang="en-US" sz="1800" dirty="0">
              <a:effectLst/>
            </a:endParaRPr>
          </a:p>
        </p:txBody>
      </p:sp>
    </p:spTree>
    <p:extLst>
      <p:ext uri="{BB962C8B-B14F-4D97-AF65-F5344CB8AC3E}">
        <p14:creationId xmlns:p14="http://schemas.microsoft.com/office/powerpoint/2010/main" val="1327784877"/>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AB3403-EC7A-43B2-AAA4-F0236C6D2E92}"/>
              </a:ext>
            </a:extLst>
          </p:cNvPr>
          <p:cNvSpPr>
            <a:spLocks noGrp="1"/>
          </p:cNvSpPr>
          <p:nvPr>
            <p:ph type="title"/>
          </p:nvPr>
        </p:nvSpPr>
        <p:spPr/>
        <p:txBody>
          <a:bodyPr/>
          <a:lstStyle/>
          <a:p>
            <a:r>
              <a:rPr lang="en-US" dirty="0"/>
              <a:t>Weighted-Average Contribution Margin Ratio </a:t>
            </a:r>
          </a:p>
        </p:txBody>
      </p:sp>
      <p:sp>
        <p:nvSpPr>
          <p:cNvPr id="7" name="Content Placeholder 6">
            <a:extLst>
              <a:ext uri="{FF2B5EF4-FFF2-40B4-BE49-F238E27FC236}">
                <a16:creationId xmlns:a16="http://schemas.microsoft.com/office/drawing/2014/main" id="{B7ACC678-AFF9-414E-97FD-67B43DEA99B5}"/>
              </a:ext>
            </a:extLst>
          </p:cNvPr>
          <p:cNvSpPr>
            <a:spLocks noGrp="1"/>
          </p:cNvSpPr>
          <p:nvPr>
            <p:ph idx="1"/>
          </p:nvPr>
        </p:nvSpPr>
        <p:spPr>
          <a:xfrm>
            <a:off x="457200" y="1600200"/>
            <a:ext cx="8229600" cy="1139825"/>
          </a:xfrm>
        </p:spPr>
        <p:txBody>
          <a:bodyPr/>
          <a:lstStyle/>
          <a:p>
            <a:pPr marL="0" indent="0">
              <a:buNone/>
            </a:pPr>
            <a:r>
              <a:rPr lang="en-US" dirty="0"/>
              <a:t>Assume that the Starbucks’ manager wants to earn a target profit of $15,000</a:t>
            </a:r>
          </a:p>
        </p:txBody>
      </p:sp>
      <p:graphicFrame>
        <p:nvGraphicFramePr>
          <p:cNvPr id="9" name="Object 8">
            <a:extLst>
              <a:ext uri="{FF2B5EF4-FFF2-40B4-BE49-F238E27FC236}">
                <a16:creationId xmlns:a16="http://schemas.microsoft.com/office/drawing/2014/main" id="{3B12172D-32DB-4E0C-AA6E-67282E6B3293}"/>
              </a:ext>
            </a:extLst>
          </p:cNvPr>
          <p:cNvGraphicFramePr>
            <a:graphicFrameLocks noChangeAspect="1"/>
          </p:cNvGraphicFramePr>
          <p:nvPr/>
        </p:nvGraphicFramePr>
        <p:xfrm>
          <a:off x="243522" y="2740660"/>
          <a:ext cx="8671878" cy="2821940"/>
        </p:xfrm>
        <a:graphic>
          <a:graphicData uri="http://schemas.openxmlformats.org/presentationml/2006/ole">
            <mc:AlternateContent xmlns:mc="http://schemas.openxmlformats.org/markup-compatibility/2006">
              <mc:Choice xmlns:v="urn:schemas-microsoft-com:vml" Requires="v">
                <p:oleObj name="Equation" r:id="rId3" imgW="5384520" imgH="1752480" progId="Equation.DSMT4">
                  <p:embed/>
                </p:oleObj>
              </mc:Choice>
              <mc:Fallback>
                <p:oleObj name="Equation" r:id="rId3" imgW="5384520" imgH="1752480" progId="Equation.DSMT4">
                  <p:embed/>
                  <p:pic>
                    <p:nvPicPr>
                      <p:cNvPr id="9" name="Object 8">
                        <a:extLst>
                          <a:ext uri="{FF2B5EF4-FFF2-40B4-BE49-F238E27FC236}">
                            <a16:creationId xmlns:a16="http://schemas.microsoft.com/office/drawing/2014/main" id="{3B12172D-32DB-4E0C-AA6E-67282E6B3293}"/>
                          </a:ext>
                        </a:extLst>
                      </p:cNvPr>
                      <p:cNvPicPr/>
                      <p:nvPr/>
                    </p:nvPicPr>
                    <p:blipFill>
                      <a:blip r:embed="rId4"/>
                      <a:stretch>
                        <a:fillRect/>
                      </a:stretch>
                    </p:blipFill>
                    <p:spPr>
                      <a:xfrm>
                        <a:off x="243522" y="2740660"/>
                        <a:ext cx="8671878" cy="2821940"/>
                      </a:xfrm>
                      <a:prstGeom prst="rect">
                        <a:avLst/>
                      </a:prstGeom>
                    </p:spPr>
                  </p:pic>
                </p:oleObj>
              </mc:Fallback>
            </mc:AlternateContent>
          </a:graphicData>
        </a:graphic>
      </p:graphicFrame>
    </p:spTree>
    <p:extLst>
      <p:ext uri="{BB962C8B-B14F-4D97-AF65-F5344CB8AC3E}">
        <p14:creationId xmlns:p14="http://schemas.microsoft.com/office/powerpoint/2010/main" val="2949570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86715-9DEB-229E-62FE-68E00F1E100E}"/>
              </a:ext>
            </a:extLst>
          </p:cNvPr>
          <p:cNvSpPr>
            <a:spLocks noGrp="1"/>
          </p:cNvSpPr>
          <p:nvPr>
            <p:ph type="title"/>
          </p:nvPr>
        </p:nvSpPr>
        <p:spPr>
          <a:xfrm>
            <a:off x="457200" y="565150"/>
            <a:ext cx="8229600" cy="1096963"/>
          </a:xfrm>
        </p:spPr>
        <p:txBody>
          <a:bodyPr>
            <a:normAutofit fontScale="90000"/>
          </a:bodyPr>
          <a:lstStyle/>
          <a:p>
            <a:pPr>
              <a:defRPr/>
            </a:pPr>
            <a:r>
              <a:rPr lang="en-US" b="1" dirty="0"/>
              <a:t>Weighted-Average Contribution Margin per Unit</a:t>
            </a:r>
            <a:endParaRPr lang="en-IN" b="1" dirty="0"/>
          </a:p>
        </p:txBody>
      </p:sp>
      <p:sp>
        <p:nvSpPr>
          <p:cNvPr id="3" name="Content Placeholder 2">
            <a:extLst>
              <a:ext uri="{FF2B5EF4-FFF2-40B4-BE49-F238E27FC236}">
                <a16:creationId xmlns:a16="http://schemas.microsoft.com/office/drawing/2014/main" id="{0315D7FA-1B58-4F3D-7C8F-1CEA74918A58}"/>
              </a:ext>
            </a:extLst>
          </p:cNvPr>
          <p:cNvSpPr>
            <a:spLocks noGrp="1"/>
          </p:cNvSpPr>
          <p:nvPr>
            <p:ph idx="1"/>
          </p:nvPr>
        </p:nvSpPr>
        <p:spPr>
          <a:xfrm>
            <a:off x="95250" y="6283325"/>
            <a:ext cx="6400800" cy="228600"/>
          </a:xfrm>
        </p:spPr>
        <p:txBody>
          <a:bodyPr/>
          <a:lstStyle/>
          <a:p>
            <a:pPr>
              <a:spcBef>
                <a:spcPts val="600"/>
              </a:spcBef>
              <a:spcAft>
                <a:spcPts val="600"/>
              </a:spcAft>
              <a:defRPr/>
            </a:pPr>
            <a:r>
              <a:rPr lang="en-US" altLang="en-US" b="1" kern="0" dirty="0">
                <a:solidFill>
                  <a:prstClr val="black"/>
                </a:solidFill>
              </a:rPr>
              <a:t>Learning Objective P3: </a:t>
            </a:r>
            <a:r>
              <a:rPr lang="en-US" dirty="0">
                <a:solidFill>
                  <a:prstClr val="black"/>
                </a:solidFill>
              </a:rPr>
              <a:t>Compute the break-even point for a multiproduct company.</a:t>
            </a:r>
            <a:endParaRPr lang="en-US" dirty="0"/>
          </a:p>
        </p:txBody>
      </p:sp>
      <p:graphicFrame>
        <p:nvGraphicFramePr>
          <p:cNvPr id="10" name="Table 4">
            <a:extLst>
              <a:ext uri="{FF2B5EF4-FFF2-40B4-BE49-F238E27FC236}">
                <a16:creationId xmlns:a16="http://schemas.microsoft.com/office/drawing/2014/main" id="{8EF5CB6B-2F8B-3F08-0F7E-82EFA4078460}"/>
              </a:ext>
            </a:extLst>
          </p:cNvPr>
          <p:cNvGraphicFramePr>
            <a:graphicFrameLocks noGrp="1"/>
          </p:cNvGraphicFramePr>
          <p:nvPr/>
        </p:nvGraphicFramePr>
        <p:xfrm>
          <a:off x="1524000" y="1873250"/>
          <a:ext cx="5486400" cy="2392428"/>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640029">
                <a:tc>
                  <a:txBody>
                    <a:bodyPr/>
                    <a:lstStyle/>
                    <a:p>
                      <a:endParaRPr lang="en-IN" sz="1800" dirty="0"/>
                    </a:p>
                  </a:txBody>
                  <a:tcPr marT="45711" marB="4571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1E4F25"/>
                    </a:solidFill>
                  </a:tcPr>
                </a:tc>
                <a:tc>
                  <a:txBody>
                    <a:bodyPr/>
                    <a:lstStyle/>
                    <a:p>
                      <a:r>
                        <a:rPr lang="en-IN" sz="1800" dirty="0"/>
                        <a:t>Footballs</a:t>
                      </a:r>
                    </a:p>
                  </a:txBody>
                  <a:tcPr marT="45711" marB="4571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1E4F25"/>
                    </a:solidFill>
                  </a:tcPr>
                </a:tc>
                <a:tc>
                  <a:txBody>
                    <a:bodyPr/>
                    <a:lstStyle/>
                    <a:p>
                      <a:r>
                        <a:rPr lang="en-IN" sz="1800" dirty="0"/>
                        <a:t>Basketballs</a:t>
                      </a:r>
                    </a:p>
                  </a:txBody>
                  <a:tcPr marT="45711" marB="4571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1E4F25"/>
                    </a:solidFill>
                  </a:tcPr>
                </a:tc>
                <a:extLst>
                  <a:ext uri="{0D108BD9-81ED-4DB2-BD59-A6C34878D82A}">
                    <a16:rowId xmlns:a16="http://schemas.microsoft.com/office/drawing/2014/main" val="10000"/>
                  </a:ext>
                </a:extLst>
              </a:tr>
              <a:tr h="370768">
                <a:tc>
                  <a:txBody>
                    <a:bodyPr/>
                    <a:lstStyle/>
                    <a:p>
                      <a:r>
                        <a:rPr lang="en-IN" sz="1800" dirty="0"/>
                        <a:t>Sales price per unit</a:t>
                      </a:r>
                    </a:p>
                  </a:txBody>
                  <a:tcPr marT="45711" marB="4571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$100</a:t>
                      </a:r>
                    </a:p>
                  </a:txBody>
                  <a:tcPr marR="365760" marT="45711" marB="4571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$120</a:t>
                      </a:r>
                    </a:p>
                  </a:txBody>
                  <a:tcPr marR="365760" marT="45711" marB="4571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6E3D2"/>
                    </a:solidFill>
                  </a:tcPr>
                </a:tc>
                <a:extLst>
                  <a:ext uri="{0D108BD9-81ED-4DB2-BD59-A6C34878D82A}">
                    <a16:rowId xmlns:a16="http://schemas.microsoft.com/office/drawing/2014/main" val="10001"/>
                  </a:ext>
                </a:extLst>
              </a:tr>
              <a:tr h="370768">
                <a:tc>
                  <a:txBody>
                    <a:bodyPr/>
                    <a:lstStyle/>
                    <a:p>
                      <a:r>
                        <a:rPr lang="en-IN" sz="1800" dirty="0"/>
                        <a:t>Variable costs per unit</a:t>
                      </a:r>
                    </a:p>
                  </a:txBody>
                  <a:tcPr marT="45711" marB="45711">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u="sng" dirty="0"/>
                        <a:t>     70</a:t>
                      </a:r>
                    </a:p>
                  </a:txBody>
                  <a:tcPr marR="365760" marT="45711" marB="45711">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u="sng" dirty="0"/>
                        <a:t>     85</a:t>
                      </a:r>
                    </a:p>
                  </a:txBody>
                  <a:tcPr marR="365760" marT="45711" marB="45711">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extLst>
                  <a:ext uri="{0D108BD9-81ED-4DB2-BD59-A6C34878D82A}">
                    <a16:rowId xmlns:a16="http://schemas.microsoft.com/office/drawing/2014/main" val="10002"/>
                  </a:ext>
                </a:extLst>
              </a:tr>
              <a:tr h="640029">
                <a:tc>
                  <a:txBody>
                    <a:bodyPr/>
                    <a:lstStyle/>
                    <a:p>
                      <a:r>
                        <a:rPr lang="en-IN" sz="1800" dirty="0"/>
                        <a:t>Contribution margin per unit</a:t>
                      </a:r>
                    </a:p>
                  </a:txBody>
                  <a:tcPr marT="45711" marB="45711">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$ 30</a:t>
                      </a:r>
                    </a:p>
                  </a:txBody>
                  <a:tcPr marR="365760" marT="45711" marB="45711">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$ 35</a:t>
                      </a:r>
                    </a:p>
                  </a:txBody>
                  <a:tcPr marR="365760" marT="45711" marB="45711">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extLst>
                  <a:ext uri="{0D108BD9-81ED-4DB2-BD59-A6C34878D82A}">
                    <a16:rowId xmlns:a16="http://schemas.microsoft.com/office/drawing/2014/main" val="10003"/>
                  </a:ext>
                </a:extLst>
              </a:tr>
              <a:tr h="370768">
                <a:tc>
                  <a:txBody>
                    <a:bodyPr/>
                    <a:lstStyle/>
                    <a:p>
                      <a:r>
                        <a:rPr lang="en-IN" sz="1800" dirty="0"/>
                        <a:t>Sales mix percent</a:t>
                      </a:r>
                    </a:p>
                  </a:txBody>
                  <a:tcPr marT="45711" marB="45711">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60%</a:t>
                      </a:r>
                    </a:p>
                  </a:txBody>
                  <a:tcPr marR="365760" marT="45711" marB="45711">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40%</a:t>
                      </a:r>
                    </a:p>
                  </a:txBody>
                  <a:tcPr marR="365760" marT="45711" marB="45711">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extLst>
                  <a:ext uri="{0D108BD9-81ED-4DB2-BD59-A6C34878D82A}">
                    <a16:rowId xmlns:a16="http://schemas.microsoft.com/office/drawing/2014/main" val="10004"/>
                  </a:ext>
                </a:extLst>
              </a:tr>
            </a:tbl>
          </a:graphicData>
        </a:graphic>
      </p:graphicFrame>
      <p:graphicFrame>
        <p:nvGraphicFramePr>
          <p:cNvPr id="99349" name="Object 6">
            <a:extLst>
              <a:ext uri="{FF2B5EF4-FFF2-40B4-BE49-F238E27FC236}">
                <a16:creationId xmlns:a16="http://schemas.microsoft.com/office/drawing/2014/main" id="{AA1D014C-DD4C-9643-E702-C9DC62693768}"/>
              </a:ext>
              <a:ext uri="{C183D7F6-B498-43B3-948B-1728B52AA6E4}">
                <adec:decorative xmlns:adec="http://schemas.microsoft.com/office/drawing/2017/decorative" val="1"/>
              </a:ext>
            </a:extLst>
          </p:cNvPr>
          <p:cNvGraphicFramePr>
            <a:graphicFrameLocks noChangeAspect="1"/>
          </p:cNvGraphicFramePr>
          <p:nvPr/>
        </p:nvGraphicFramePr>
        <p:xfrm>
          <a:off x="139700" y="4979988"/>
          <a:ext cx="8864600" cy="736600"/>
        </p:xfrm>
        <a:graphic>
          <a:graphicData uri="http://schemas.openxmlformats.org/presentationml/2006/ole">
            <mc:AlternateContent xmlns:mc="http://schemas.openxmlformats.org/markup-compatibility/2006">
              <mc:Choice xmlns:v="urn:schemas-microsoft-com:vml" Requires="v">
                <p:oleObj name="Equation" r:id="rId3" imgW="8864600" imgH="736600" progId="Equation.DSMT4">
                  <p:embed/>
                </p:oleObj>
              </mc:Choice>
              <mc:Fallback>
                <p:oleObj name="Equation" r:id="rId3" imgW="8864600" imgH="736600" progId="Equation.DSMT4">
                  <p:embed/>
                  <p:pic>
                    <p:nvPicPr>
                      <p:cNvPr id="99349" name="Object 6">
                        <a:extLst>
                          <a:ext uri="{FF2B5EF4-FFF2-40B4-BE49-F238E27FC236}">
                            <a16:creationId xmlns:a16="http://schemas.microsoft.com/office/drawing/2014/main" id="{AA1D014C-DD4C-9643-E702-C9DC62693768}"/>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4979988"/>
                        <a:ext cx="8864600" cy="736600"/>
                      </a:xfrm>
                      <a:prstGeom prst="rect">
                        <a:avLst/>
                      </a:prstGeom>
                      <a:solidFill>
                        <a:srgbClr val="D8D8E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350" name="Slide Number Placeholder 7">
            <a:extLst>
              <a:ext uri="{FF2B5EF4-FFF2-40B4-BE49-F238E27FC236}">
                <a16:creationId xmlns:a16="http://schemas.microsoft.com/office/drawing/2014/main" id="{DE0F86B4-8EEA-C5AC-1D08-8EA398DC08B7}"/>
              </a:ext>
            </a:extLst>
          </p:cNvPr>
          <p:cNvSpPr>
            <a:spLocks noGrp="1" noChangeArrowheads="1"/>
          </p:cNvSpPr>
          <p:nvPr>
            <p:ph type="sldNum" sz="quarter" idx="4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IN" altLang="en-US"/>
              <a:t>21-</a:t>
            </a:r>
            <a:fld id="{01AB8487-9DEF-4453-B8D4-B1EE04E150E2}" type="slidenum">
              <a:rPr lang="en-IN" altLang="en-US" smtClean="0"/>
              <a:pPr/>
              <a:t>24</a:t>
            </a:fld>
            <a:endParaRPr lang="en-I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6A7CF-7C02-1685-1BDB-5FA9FDB49FDA}"/>
              </a:ext>
            </a:extLst>
          </p:cNvPr>
          <p:cNvSpPr>
            <a:spLocks noGrp="1"/>
          </p:cNvSpPr>
          <p:nvPr>
            <p:ph type="title"/>
          </p:nvPr>
        </p:nvSpPr>
        <p:spPr>
          <a:xfrm>
            <a:off x="457200" y="565150"/>
            <a:ext cx="8229600" cy="1096963"/>
          </a:xfrm>
        </p:spPr>
        <p:txBody>
          <a:bodyPr>
            <a:normAutofit fontScale="90000"/>
          </a:bodyPr>
          <a:lstStyle/>
          <a:p>
            <a:pPr>
              <a:defRPr/>
            </a:pPr>
            <a:r>
              <a:rPr lang="en-US" b="1" dirty="0"/>
              <a:t>Weighted-Average Break-Even in Unit Sales</a:t>
            </a:r>
            <a:endParaRPr lang="en-IN" b="1" dirty="0"/>
          </a:p>
        </p:txBody>
      </p:sp>
      <p:sp>
        <p:nvSpPr>
          <p:cNvPr id="3" name="Content Placeholder 2">
            <a:extLst>
              <a:ext uri="{FF2B5EF4-FFF2-40B4-BE49-F238E27FC236}">
                <a16:creationId xmlns:a16="http://schemas.microsoft.com/office/drawing/2014/main" id="{2401A6C1-2B0D-85F2-5238-5C55D6CF6110}"/>
              </a:ext>
            </a:extLst>
          </p:cNvPr>
          <p:cNvSpPr>
            <a:spLocks noGrp="1"/>
          </p:cNvSpPr>
          <p:nvPr>
            <p:ph idx="1"/>
          </p:nvPr>
        </p:nvSpPr>
        <p:spPr>
          <a:xfrm>
            <a:off x="95250" y="6283325"/>
            <a:ext cx="6400800" cy="228600"/>
          </a:xfrm>
        </p:spPr>
        <p:txBody>
          <a:bodyPr/>
          <a:lstStyle/>
          <a:p>
            <a:pPr>
              <a:spcBef>
                <a:spcPts val="600"/>
              </a:spcBef>
              <a:spcAft>
                <a:spcPts val="600"/>
              </a:spcAft>
              <a:defRPr/>
            </a:pPr>
            <a:r>
              <a:rPr lang="en-US" altLang="en-US" b="1" kern="0" dirty="0">
                <a:solidFill>
                  <a:prstClr val="black"/>
                </a:solidFill>
              </a:rPr>
              <a:t>Learning Objective P3: </a:t>
            </a:r>
            <a:r>
              <a:rPr lang="en-US" dirty="0">
                <a:solidFill>
                  <a:prstClr val="black"/>
                </a:solidFill>
              </a:rPr>
              <a:t>Compute the break-even point for a multiproduct company.</a:t>
            </a:r>
            <a:endParaRPr lang="en-US" dirty="0"/>
          </a:p>
        </p:txBody>
      </p:sp>
      <p:graphicFrame>
        <p:nvGraphicFramePr>
          <p:cNvPr id="101381" name="Object 4">
            <a:extLst>
              <a:ext uri="{FF2B5EF4-FFF2-40B4-BE49-F238E27FC236}">
                <a16:creationId xmlns:a16="http://schemas.microsoft.com/office/drawing/2014/main" id="{6A601E59-B129-2073-1DB7-E9018D679E95}"/>
              </a:ext>
              <a:ext uri="{C183D7F6-B498-43B3-948B-1728B52AA6E4}">
                <adec:decorative xmlns:adec="http://schemas.microsoft.com/office/drawing/2017/decorative" val="1"/>
              </a:ext>
            </a:extLst>
          </p:cNvPr>
          <p:cNvGraphicFramePr>
            <a:graphicFrameLocks noChangeAspect="1"/>
          </p:cNvGraphicFramePr>
          <p:nvPr/>
        </p:nvGraphicFramePr>
        <p:xfrm>
          <a:off x="317500" y="2430463"/>
          <a:ext cx="8509000" cy="546100"/>
        </p:xfrm>
        <a:graphic>
          <a:graphicData uri="http://schemas.openxmlformats.org/presentationml/2006/ole">
            <mc:AlternateContent xmlns:mc="http://schemas.openxmlformats.org/markup-compatibility/2006">
              <mc:Choice xmlns:v="urn:schemas-microsoft-com:vml" Requires="v">
                <p:oleObj name="Equation" r:id="rId3" imgW="8509000" imgH="546100" progId="Equation.DSMT4">
                  <p:embed/>
                </p:oleObj>
              </mc:Choice>
              <mc:Fallback>
                <p:oleObj name="Equation" r:id="rId3" imgW="8509000" imgH="546100" progId="Equation.DSMT4">
                  <p:embed/>
                  <p:pic>
                    <p:nvPicPr>
                      <p:cNvPr id="101381" name="Object 4">
                        <a:extLst>
                          <a:ext uri="{FF2B5EF4-FFF2-40B4-BE49-F238E27FC236}">
                            <a16:creationId xmlns:a16="http://schemas.microsoft.com/office/drawing/2014/main" id="{6A601E59-B129-2073-1DB7-E9018D679E95}"/>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00" y="2430463"/>
                        <a:ext cx="8509000" cy="546100"/>
                      </a:xfrm>
                      <a:prstGeom prst="rect">
                        <a:avLst/>
                      </a:prstGeom>
                      <a:solidFill>
                        <a:srgbClr val="D8D8E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Table 6">
            <a:extLst>
              <a:ext uri="{FF2B5EF4-FFF2-40B4-BE49-F238E27FC236}">
                <a16:creationId xmlns:a16="http://schemas.microsoft.com/office/drawing/2014/main" id="{B4D51EF5-9B67-727A-6D6D-7A1E3D714A08}"/>
              </a:ext>
            </a:extLst>
          </p:cNvPr>
          <p:cNvGraphicFramePr>
            <a:graphicFrameLocks noGrp="1"/>
          </p:cNvGraphicFramePr>
          <p:nvPr/>
        </p:nvGraphicFramePr>
        <p:xfrm>
          <a:off x="198438" y="3903663"/>
          <a:ext cx="8747125" cy="2295525"/>
        </p:xfrm>
        <a:graphic>
          <a:graphicData uri="http://schemas.openxmlformats.org/drawingml/2006/table">
            <a:tbl>
              <a:tblPr firstRow="1" bandRow="1">
                <a:tableStyleId>{5C22544A-7EE6-4342-B048-85BDC9FD1C3A}</a:tableStyleId>
              </a:tblPr>
              <a:tblGrid>
                <a:gridCol w="1219111">
                  <a:extLst>
                    <a:ext uri="{9D8B030D-6E8A-4147-A177-3AD203B41FA5}">
                      <a16:colId xmlns:a16="http://schemas.microsoft.com/office/drawing/2014/main" val="20000"/>
                    </a:ext>
                  </a:extLst>
                </a:gridCol>
                <a:gridCol w="2925868">
                  <a:extLst>
                    <a:ext uri="{9D8B030D-6E8A-4147-A177-3AD203B41FA5}">
                      <a16:colId xmlns:a16="http://schemas.microsoft.com/office/drawing/2014/main" val="20001"/>
                    </a:ext>
                  </a:extLst>
                </a:gridCol>
                <a:gridCol w="1188634">
                  <a:extLst>
                    <a:ext uri="{9D8B030D-6E8A-4147-A177-3AD203B41FA5}">
                      <a16:colId xmlns:a16="http://schemas.microsoft.com/office/drawing/2014/main" val="20002"/>
                    </a:ext>
                  </a:extLst>
                </a:gridCol>
                <a:gridCol w="2194401">
                  <a:extLst>
                    <a:ext uri="{9D8B030D-6E8A-4147-A177-3AD203B41FA5}">
                      <a16:colId xmlns:a16="http://schemas.microsoft.com/office/drawing/2014/main" val="20003"/>
                    </a:ext>
                  </a:extLst>
                </a:gridCol>
                <a:gridCol w="1219111">
                  <a:extLst>
                    <a:ext uri="{9D8B030D-6E8A-4147-A177-3AD203B41FA5}">
                      <a16:colId xmlns:a16="http://schemas.microsoft.com/office/drawing/2014/main" val="20004"/>
                    </a:ext>
                  </a:extLst>
                </a:gridCol>
              </a:tblGrid>
              <a:tr h="914224">
                <a:tc>
                  <a:txBody>
                    <a:bodyPr/>
                    <a:lstStyle/>
                    <a:p>
                      <a:r>
                        <a:rPr lang="en-IN" sz="1800" dirty="0"/>
                        <a:t>Product</a:t>
                      </a:r>
                    </a:p>
                  </a:txBody>
                  <a:tcPr marL="91433" marR="91433" marT="45699" marB="45699"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1E4F25"/>
                    </a:solidFill>
                  </a:tcPr>
                </a:tc>
                <a:tc>
                  <a:txBody>
                    <a:bodyPr/>
                    <a:lstStyle/>
                    <a:p>
                      <a:pPr algn="ctr"/>
                      <a:r>
                        <a:rPr lang="en-IN" sz="1800" dirty="0"/>
                        <a:t>Break-Even Units × Sales Mix</a:t>
                      </a:r>
                    </a:p>
                  </a:txBody>
                  <a:tcPr marL="91433" marR="91433" marT="45699" marB="45699"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1E4F25"/>
                    </a:solidFill>
                  </a:tcPr>
                </a:tc>
                <a:tc>
                  <a:txBody>
                    <a:bodyPr/>
                    <a:lstStyle/>
                    <a:p>
                      <a:pPr algn="ctr"/>
                      <a:r>
                        <a:rPr lang="en-IN" sz="1800" dirty="0"/>
                        <a:t>Unit Sales</a:t>
                      </a:r>
                    </a:p>
                  </a:txBody>
                  <a:tcPr marL="91433" marR="91433" marT="45699" marB="45699"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1E4F25"/>
                    </a:solidFill>
                  </a:tcPr>
                </a:tc>
                <a:tc>
                  <a:txBody>
                    <a:bodyPr/>
                    <a:lstStyle/>
                    <a:p>
                      <a:pPr algn="ctr"/>
                      <a:r>
                        <a:rPr lang="en-IN" sz="1800" dirty="0"/>
                        <a:t>Contribution Margin per Unit </a:t>
                      </a:r>
                    </a:p>
                  </a:txBody>
                  <a:tcPr marL="91433" marR="91433" marT="45699" marB="45699"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1E4F25"/>
                    </a:solidFill>
                  </a:tcPr>
                </a:tc>
                <a:tc>
                  <a:txBody>
                    <a:bodyPr/>
                    <a:lstStyle/>
                    <a:p>
                      <a:pPr algn="ctr"/>
                      <a:r>
                        <a:rPr lang="en-IN" sz="1800" dirty="0"/>
                        <a:t>Contribution Margin</a:t>
                      </a:r>
                    </a:p>
                  </a:txBody>
                  <a:tcPr marL="91433" marR="91433" marT="45699" marB="45699"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1E4F25"/>
                    </a:solidFill>
                  </a:tcPr>
                </a:tc>
                <a:extLst>
                  <a:ext uri="{0D108BD9-81ED-4DB2-BD59-A6C34878D82A}">
                    <a16:rowId xmlns:a16="http://schemas.microsoft.com/office/drawing/2014/main" val="10000"/>
                  </a:ext>
                </a:extLst>
              </a:tr>
              <a:tr h="370676">
                <a:tc>
                  <a:txBody>
                    <a:bodyPr/>
                    <a:lstStyle/>
                    <a:p>
                      <a:r>
                        <a:rPr lang="en-IN" sz="1800" dirty="0"/>
                        <a:t>Footballs</a:t>
                      </a:r>
                    </a:p>
                  </a:txBody>
                  <a:tcPr marL="91433" marR="91433" marT="45699" marB="45699">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6E3D2"/>
                    </a:solidFill>
                  </a:tcPr>
                </a:tc>
                <a:tc>
                  <a:txBody>
                    <a:bodyPr/>
                    <a:lstStyle/>
                    <a:p>
                      <a:pPr algn="ctr"/>
                      <a:r>
                        <a:rPr lang="en-IN" sz="1800" dirty="0"/>
                        <a:t>1,500 × 60%</a:t>
                      </a:r>
                    </a:p>
                  </a:txBody>
                  <a:tcPr marL="91433" marR="91433" marT="45699" marB="45699">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900</a:t>
                      </a:r>
                    </a:p>
                  </a:txBody>
                  <a:tcPr marL="91433" marR="365733" marT="45699" marB="45699">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$30</a:t>
                      </a:r>
                    </a:p>
                  </a:txBody>
                  <a:tcPr marL="91433" marR="1005767" marT="45699" marB="45699">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$27,000</a:t>
                      </a:r>
                    </a:p>
                  </a:txBody>
                  <a:tcPr marL="91433" marR="182867" marT="45699" marB="45699">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6E3D2"/>
                    </a:solidFill>
                  </a:tcPr>
                </a:tc>
                <a:extLst>
                  <a:ext uri="{0D108BD9-81ED-4DB2-BD59-A6C34878D82A}">
                    <a16:rowId xmlns:a16="http://schemas.microsoft.com/office/drawing/2014/main" val="10001"/>
                  </a:ext>
                </a:extLst>
              </a:tr>
              <a:tr h="639949">
                <a:tc>
                  <a:txBody>
                    <a:bodyPr/>
                    <a:lstStyle/>
                    <a:p>
                      <a:r>
                        <a:rPr lang="en-IN" sz="1800" dirty="0"/>
                        <a:t>Basketballs</a:t>
                      </a:r>
                    </a:p>
                  </a:txBody>
                  <a:tcPr marL="91433" marR="91433"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ctr"/>
                      <a:r>
                        <a:rPr lang="en-IN" sz="1800" dirty="0"/>
                        <a:t>1,500 × 40%</a:t>
                      </a:r>
                    </a:p>
                  </a:txBody>
                  <a:tcPr marL="91433" marR="91433"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u="sng" dirty="0"/>
                        <a:t>   600</a:t>
                      </a:r>
                    </a:p>
                  </a:txBody>
                  <a:tcPr marL="91433" marR="365733"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dirty="0"/>
                        <a:t>35</a:t>
                      </a:r>
                    </a:p>
                  </a:txBody>
                  <a:tcPr marL="91433" marR="1005767"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u="sng" dirty="0"/>
                        <a:t>  21,000</a:t>
                      </a:r>
                    </a:p>
                  </a:txBody>
                  <a:tcPr marL="91433" marR="182867"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extLst>
                  <a:ext uri="{0D108BD9-81ED-4DB2-BD59-A6C34878D82A}">
                    <a16:rowId xmlns:a16="http://schemas.microsoft.com/office/drawing/2014/main" val="10002"/>
                  </a:ext>
                </a:extLst>
              </a:tr>
              <a:tr h="370676">
                <a:tc>
                  <a:txBody>
                    <a:bodyPr/>
                    <a:lstStyle/>
                    <a:p>
                      <a:r>
                        <a:rPr lang="en-IN" sz="1800" dirty="0"/>
                        <a:t>Total</a:t>
                      </a:r>
                    </a:p>
                  </a:txBody>
                  <a:tcPr marL="91433" marR="91433"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endParaRPr lang="en-IN" sz="1800" dirty="0"/>
                    </a:p>
                  </a:txBody>
                  <a:tcPr marL="91433" marR="91433"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u="dbl" baseline="0" dirty="0"/>
                        <a:t>1,500</a:t>
                      </a:r>
                    </a:p>
                  </a:txBody>
                  <a:tcPr marL="91433" marR="365733"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endParaRPr lang="en-IN" sz="1800" dirty="0"/>
                    </a:p>
                  </a:txBody>
                  <a:tcPr marL="91433" marR="1005767"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tc>
                  <a:txBody>
                    <a:bodyPr/>
                    <a:lstStyle/>
                    <a:p>
                      <a:pPr algn="r"/>
                      <a:r>
                        <a:rPr lang="en-IN" sz="1800" u="dbl" baseline="0" dirty="0"/>
                        <a:t>$48,000</a:t>
                      </a:r>
                    </a:p>
                  </a:txBody>
                  <a:tcPr marL="91433" marR="182867" marT="45699" marB="45699">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6E3D2"/>
                    </a:solidFill>
                  </a:tcPr>
                </a:tc>
                <a:extLst>
                  <a:ext uri="{0D108BD9-81ED-4DB2-BD59-A6C34878D82A}">
                    <a16:rowId xmlns:a16="http://schemas.microsoft.com/office/drawing/2014/main" val="10003"/>
                  </a:ext>
                </a:extLst>
              </a:tr>
            </a:tbl>
          </a:graphicData>
        </a:graphic>
      </p:graphicFrame>
      <p:sp>
        <p:nvSpPr>
          <p:cNvPr id="101404" name="Slide Number Placeholder 7">
            <a:extLst>
              <a:ext uri="{FF2B5EF4-FFF2-40B4-BE49-F238E27FC236}">
                <a16:creationId xmlns:a16="http://schemas.microsoft.com/office/drawing/2014/main" id="{B2C9BFAF-0D8C-9EDA-818E-6282B3566025}"/>
              </a:ext>
            </a:extLst>
          </p:cNvPr>
          <p:cNvSpPr>
            <a:spLocks noGrp="1" noChangeArrowheads="1"/>
          </p:cNvSpPr>
          <p:nvPr>
            <p:ph type="sldNum" sz="quarter" idx="4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IN" altLang="en-US"/>
              <a:t>21-</a:t>
            </a:r>
            <a:fld id="{7D435253-75F0-4D6C-8339-08475746E79C}" type="slidenum">
              <a:rPr lang="en-IN" altLang="en-US" smtClean="0"/>
              <a:pPr/>
              <a:t>25</a:t>
            </a:fld>
            <a:endParaRPr lang="en-I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AE9C0A-0069-4E1E-9D2D-DD216B05BD88}"/>
              </a:ext>
            </a:extLst>
          </p:cNvPr>
          <p:cNvSpPr>
            <a:spLocks noGrp="1"/>
          </p:cNvSpPr>
          <p:nvPr>
            <p:ph type="title"/>
          </p:nvPr>
        </p:nvSpPr>
        <p:spPr>
          <a:xfrm>
            <a:off x="831273" y="277813"/>
            <a:ext cx="7481455" cy="1139825"/>
          </a:xfrm>
        </p:spPr>
        <p:txBody>
          <a:bodyPr/>
          <a:lstStyle/>
          <a:p>
            <a:r>
              <a:rPr lang="en-US" b="1" dirty="0">
                <a:solidFill>
                  <a:srgbClr val="C00000"/>
                </a:solidFill>
              </a:rPr>
              <a:t>Degree of Operating Leverage (DOL)</a:t>
            </a:r>
          </a:p>
        </p:txBody>
      </p:sp>
      <p:sp>
        <p:nvSpPr>
          <p:cNvPr id="7" name="Content Placeholder 6">
            <a:extLst>
              <a:ext uri="{FF2B5EF4-FFF2-40B4-BE49-F238E27FC236}">
                <a16:creationId xmlns:a16="http://schemas.microsoft.com/office/drawing/2014/main" id="{C6BFCA24-CE27-43D5-BA8C-6A1D6122CA6B}"/>
              </a:ext>
            </a:extLst>
          </p:cNvPr>
          <p:cNvSpPr>
            <a:spLocks noGrp="1"/>
          </p:cNvSpPr>
          <p:nvPr>
            <p:ph idx="1"/>
          </p:nvPr>
        </p:nvSpPr>
        <p:spPr>
          <a:xfrm>
            <a:off x="457200" y="1600200"/>
            <a:ext cx="8229600" cy="2286000"/>
          </a:xfrm>
        </p:spPr>
        <p:txBody>
          <a:bodyPr/>
          <a:lstStyle/>
          <a:p>
            <a:pPr marL="0" indent="0" algn="just">
              <a:buNone/>
            </a:pPr>
            <a:r>
              <a:rPr lang="en-US" dirty="0"/>
              <a:t>Operating leverage is concerned with changes in cost structures. It measures the extent to which fixed costs are used to operate the business. In general, high fixed costs indicate that a company is highly leveraged.</a:t>
            </a:r>
            <a:r>
              <a:rPr lang="en-US" sz="2800" dirty="0"/>
              <a:t> </a:t>
            </a:r>
          </a:p>
          <a:p>
            <a:pPr marL="0" indent="0" algn="just">
              <a:buNone/>
            </a:pPr>
            <a:endParaRPr lang="en-US" sz="2800" dirty="0"/>
          </a:p>
          <a:p>
            <a:pPr marL="0" indent="0" algn="just">
              <a:buNone/>
            </a:pPr>
            <a:r>
              <a:rPr lang="en-US" sz="2800" dirty="0"/>
              <a:t>DOL is a multiplier we can use to predict how a percentage change in sales revenue will translate into a percentage change in profit</a:t>
            </a:r>
            <a:endParaRPr lang="en-US" dirty="0"/>
          </a:p>
          <a:p>
            <a:pPr marL="0" indent="0" algn="just">
              <a:buNone/>
            </a:pPr>
            <a:endParaRPr lang="en-US" dirty="0"/>
          </a:p>
          <a:p>
            <a:pPr marL="0" indent="0" algn="just">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188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716D727-60D7-404A-A9B1-6C527E71D44F}"/>
              </a:ext>
            </a:extLst>
          </p:cNvPr>
          <p:cNvSpPr>
            <a:spLocks noGrp="1"/>
          </p:cNvSpPr>
          <p:nvPr>
            <p:ph type="title"/>
          </p:nvPr>
        </p:nvSpPr>
        <p:spPr/>
        <p:txBody>
          <a:bodyPr/>
          <a:lstStyle/>
          <a:p>
            <a:r>
              <a:rPr lang="en-US" b="1" dirty="0">
                <a:solidFill>
                  <a:srgbClr val="FF0000"/>
                </a:solidFill>
              </a:rPr>
              <a:t>Changes in Cost Structure </a:t>
            </a:r>
          </a:p>
        </p:txBody>
      </p:sp>
      <p:sp>
        <p:nvSpPr>
          <p:cNvPr id="10" name="Content Placeholder 12">
            <a:extLst>
              <a:ext uri="{FF2B5EF4-FFF2-40B4-BE49-F238E27FC236}">
                <a16:creationId xmlns:a16="http://schemas.microsoft.com/office/drawing/2014/main" id="{66A7AADB-04DA-41D8-AE8C-7FF02964B35F}"/>
              </a:ext>
            </a:extLst>
          </p:cNvPr>
          <p:cNvSpPr>
            <a:spLocks noGrp="1"/>
          </p:cNvSpPr>
          <p:nvPr>
            <p:ph type="body" sz="quarter" idx="13"/>
          </p:nvPr>
        </p:nvSpPr>
        <p:spPr>
          <a:xfrm>
            <a:off x="381000" y="1524000"/>
            <a:ext cx="8153400" cy="1600200"/>
          </a:xfrm>
        </p:spPr>
        <p:txBody>
          <a:bodyPr anchor="t"/>
          <a:lstStyle/>
          <a:p>
            <a:pPr marL="0" marR="0" indent="0" algn="l" defTabSz="914400" rtl="0" eaLnBrk="1" fontAlgn="base" latinLnBrk="0" hangingPunct="1">
              <a:spcBef>
                <a:spcPts val="624"/>
              </a:spcBef>
              <a:spcAft>
                <a:spcPct val="0"/>
              </a:spcAft>
              <a:buClrTx/>
              <a:buSzPct val="100000"/>
              <a:buFont typeface="Arial" panose="020B0604020202020204" pitchFamily="34" charset="0"/>
              <a:buNone/>
              <a:tabLst/>
              <a:defRPr/>
            </a:pPr>
            <a:r>
              <a:rPr lang="en-US" sz="24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Automation increases the break-even point because fixed costs are higher. But each unit adds more profit because of the lower variable cost per unit.</a:t>
            </a:r>
            <a:endParaRPr lang="en-US" sz="2000" dirty="0">
              <a:effectLst/>
            </a:endParaRPr>
          </a:p>
        </p:txBody>
      </p:sp>
      <p:pic>
        <p:nvPicPr>
          <p:cNvPr id="9" name="Picture 8" descr="Two line graphs depict the effect of automation on the cost-volume-profit relationship.">
            <a:extLst>
              <a:ext uri="{FF2B5EF4-FFF2-40B4-BE49-F238E27FC236}">
                <a16:creationId xmlns:a16="http://schemas.microsoft.com/office/drawing/2014/main" id="{6DA39150-44F0-4637-BC6E-956E0052ED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3124200"/>
            <a:ext cx="4149097" cy="2886403"/>
          </a:xfrm>
          <a:prstGeom prst="rect">
            <a:avLst/>
          </a:prstGeom>
        </p:spPr>
      </p:pic>
      <p:sp>
        <p:nvSpPr>
          <p:cNvPr id="8" name="Content Placeholder 7">
            <a:extLst>
              <a:ext uri="{FF2B5EF4-FFF2-40B4-BE49-F238E27FC236}">
                <a16:creationId xmlns:a16="http://schemas.microsoft.com/office/drawing/2014/main" id="{3B9C25E9-4B39-40BC-8D4F-811085637F90}"/>
              </a:ext>
            </a:extLst>
          </p:cNvPr>
          <p:cNvSpPr>
            <a:spLocks noGrp="1"/>
          </p:cNvSpPr>
          <p:nvPr>
            <p:ph sz="quarter" idx="14"/>
          </p:nvPr>
        </p:nvSpPr>
        <p:spPr>
          <a:xfrm>
            <a:off x="457200" y="6159355"/>
            <a:ext cx="8229600" cy="393845"/>
          </a:xfrm>
        </p:spPr>
        <p:txBody>
          <a:bodyPr/>
          <a:lstStyle/>
          <a:p>
            <a:pPr marL="0" marR="0" indent="0" algn="ctr" defTabSz="914400" rtl="0" eaLnBrk="1" fontAlgn="base" latinLnBrk="0" hangingPunct="1">
              <a:lnSpc>
                <a:spcPct val="100000"/>
              </a:lnSpc>
              <a:spcBef>
                <a:spcPct val="20000"/>
              </a:spcBef>
              <a:spcAft>
                <a:spcPct val="0"/>
              </a:spcAft>
              <a:buClrTx/>
              <a:buSzPct val="100000"/>
              <a:buFont typeface="Arial" panose="020B0604020202020204" pitchFamily="34" charset="0"/>
              <a:buNone/>
              <a:tabLst/>
              <a:defRPr/>
            </a:pPr>
            <a:r>
              <a:rPr lang="en-US" sz="1800" dirty="0">
                <a:solidFill>
                  <a:schemeClr val="tx1"/>
                </a:solidFill>
                <a:effectLst/>
                <a:hlinkClick r:id="" action="ppaction://noaction"/>
              </a:rPr>
              <a:t>Access the text alternative for slide images</a:t>
            </a:r>
            <a:endParaRPr lang="en-US" sz="1800" dirty="0">
              <a:effectLst/>
            </a:endParaRPr>
          </a:p>
        </p:txBody>
      </p:sp>
    </p:spTree>
    <p:extLst>
      <p:ext uri="{BB962C8B-B14F-4D97-AF65-F5344CB8AC3E}">
        <p14:creationId xmlns:p14="http://schemas.microsoft.com/office/powerpoint/2010/main" val="3476021763"/>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424F23-ED5C-4151-A366-D9F70E3A42C6}"/>
              </a:ext>
            </a:extLst>
          </p:cNvPr>
          <p:cNvSpPr>
            <a:spLocks noGrp="1"/>
          </p:cNvSpPr>
          <p:nvPr>
            <p:ph type="title"/>
          </p:nvPr>
        </p:nvSpPr>
        <p:spPr/>
        <p:txBody>
          <a:bodyPr/>
          <a:lstStyle/>
          <a:p>
            <a:r>
              <a:rPr lang="en-US" b="1" dirty="0">
                <a:solidFill>
                  <a:srgbClr val="FF0000"/>
                </a:solidFill>
              </a:rPr>
              <a:t>Changes in Cost Structure</a:t>
            </a:r>
          </a:p>
        </p:txBody>
      </p:sp>
      <p:pic>
        <p:nvPicPr>
          <p:cNvPr id="6" name="Picture 5" descr="Two line graphs depict the effect of automation on the cost-volume-profit relationship.">
            <a:extLst>
              <a:ext uri="{FF2B5EF4-FFF2-40B4-BE49-F238E27FC236}">
                <a16:creationId xmlns:a16="http://schemas.microsoft.com/office/drawing/2014/main" id="{1F1CC549-46BC-4AD6-9464-19DE56D609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0651" y="1741843"/>
            <a:ext cx="5882698" cy="4125557"/>
          </a:xfrm>
          <a:prstGeom prst="rect">
            <a:avLst/>
          </a:prstGeom>
        </p:spPr>
      </p:pic>
      <p:sp>
        <p:nvSpPr>
          <p:cNvPr id="10" name="Content Placeholder 12">
            <a:extLst>
              <a:ext uri="{FF2B5EF4-FFF2-40B4-BE49-F238E27FC236}">
                <a16:creationId xmlns:a16="http://schemas.microsoft.com/office/drawing/2014/main" id="{022F0E59-1DFE-40A7-86EB-2848A69064E3}"/>
              </a:ext>
            </a:extLst>
          </p:cNvPr>
          <p:cNvSpPr>
            <a:spLocks noGrp="1"/>
          </p:cNvSpPr>
          <p:nvPr>
            <p:ph type="body" sz="quarter" idx="13"/>
          </p:nvPr>
        </p:nvSpPr>
        <p:spPr>
          <a:xfrm>
            <a:off x="457200" y="6059384"/>
            <a:ext cx="8153400" cy="493816"/>
          </a:xfrm>
        </p:spPr>
        <p:txBody>
          <a:bodyPr anchor="ctr"/>
          <a:lstStyle/>
          <a:p>
            <a:r>
              <a:rPr lang="en-US" sz="1800" dirty="0">
                <a:hlinkClick r:id="" action="ppaction://noaction"/>
              </a:rPr>
              <a:t>Access the text alternative for slide images</a:t>
            </a:r>
            <a:endParaRPr lang="en-US" sz="1800" dirty="0"/>
          </a:p>
        </p:txBody>
      </p:sp>
    </p:spTree>
    <p:extLst>
      <p:ext uri="{BB962C8B-B14F-4D97-AF65-F5344CB8AC3E}">
        <p14:creationId xmlns:p14="http://schemas.microsoft.com/office/powerpoint/2010/main" val="2181241432"/>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C53F68-473F-4E30-B8B1-99CAE88346B5}"/>
              </a:ext>
            </a:extLst>
          </p:cNvPr>
          <p:cNvSpPr>
            <a:spLocks noGrp="1"/>
          </p:cNvSpPr>
          <p:nvPr>
            <p:ph type="title"/>
          </p:nvPr>
        </p:nvSpPr>
        <p:spPr>
          <a:xfrm>
            <a:off x="831273" y="277813"/>
            <a:ext cx="7481455" cy="1139825"/>
          </a:xfrm>
        </p:spPr>
        <p:txBody>
          <a:bodyPr/>
          <a:lstStyle/>
          <a:p>
            <a:pPr algn="l"/>
            <a:r>
              <a:rPr lang="en-US" b="1" dirty="0">
                <a:solidFill>
                  <a:srgbClr val="FF0000"/>
                </a:solidFill>
              </a:rPr>
              <a:t>EXAMPLE</a:t>
            </a:r>
            <a:r>
              <a:rPr lang="en-US" dirty="0"/>
              <a:t> </a:t>
            </a:r>
          </a:p>
        </p:txBody>
      </p:sp>
      <p:sp>
        <p:nvSpPr>
          <p:cNvPr id="8" name="Content Placeholder 7">
            <a:extLst>
              <a:ext uri="{FF2B5EF4-FFF2-40B4-BE49-F238E27FC236}">
                <a16:creationId xmlns:a16="http://schemas.microsoft.com/office/drawing/2014/main" id="{F524EF33-0E84-4220-A07A-5719E6D62643}"/>
              </a:ext>
            </a:extLst>
          </p:cNvPr>
          <p:cNvSpPr>
            <a:spLocks noGrp="1"/>
          </p:cNvSpPr>
          <p:nvPr>
            <p:ph sz="quarter" idx="14"/>
          </p:nvPr>
        </p:nvSpPr>
        <p:spPr>
          <a:xfrm>
            <a:off x="457200" y="1524000"/>
            <a:ext cx="8229600" cy="1676400"/>
          </a:xfrm>
        </p:spPr>
        <p:txBody>
          <a:bodyPr/>
          <a:lstStyle/>
          <a:p>
            <a:pPr marL="0" indent="0">
              <a:buNone/>
            </a:pPr>
            <a:r>
              <a:rPr lang="en-US" sz="2000" dirty="0"/>
              <a:t>.  In this example, if sales revenue increases by 10%, profit will increase by 16.7% without automation or 24.4% with automation.</a:t>
            </a:r>
          </a:p>
        </p:txBody>
      </p:sp>
      <p:graphicFrame>
        <p:nvGraphicFramePr>
          <p:cNvPr id="4" name="Table 3">
            <a:extLst>
              <a:ext uri="{FF2B5EF4-FFF2-40B4-BE49-F238E27FC236}">
                <a16:creationId xmlns:a16="http://schemas.microsoft.com/office/drawing/2014/main" id="{C6829BFC-6F32-4311-8E50-440B561FA6BD}"/>
              </a:ext>
            </a:extLst>
          </p:cNvPr>
          <p:cNvGraphicFramePr>
            <a:graphicFrameLocks noGrp="1"/>
          </p:cNvGraphicFramePr>
          <p:nvPr/>
        </p:nvGraphicFramePr>
        <p:xfrm>
          <a:off x="762000" y="3291840"/>
          <a:ext cx="7579665" cy="2194560"/>
        </p:xfrm>
        <a:graphic>
          <a:graphicData uri="http://schemas.openxmlformats.org/drawingml/2006/table">
            <a:tbl>
              <a:tblPr firstRow="1" bandRow="1">
                <a:tableStyleId>{5940675A-B579-460E-94D1-54222C63F5DA}</a:tableStyleId>
              </a:tblPr>
              <a:tblGrid>
                <a:gridCol w="2093265">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822960">
                <a:tc>
                  <a:txBody>
                    <a:bodyPr/>
                    <a:lstStyle/>
                    <a:p>
                      <a:pPr algn="ct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algn="ctr"/>
                      <a:r>
                        <a:rPr lang="en-US" sz="1200" b="1" dirty="0">
                          <a:latin typeface="Verdana" pitchFamily="34" charset="0"/>
                          <a:ea typeface="Verdana" pitchFamily="34" charset="0"/>
                          <a:cs typeface="Verdana" pitchFamily="34" charset="0"/>
                        </a:rPr>
                        <a:t>(No Automation) Base Case</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algn="ctr"/>
                      <a:r>
                        <a:rPr lang="en-US" sz="1200" b="1" dirty="0">
                          <a:latin typeface="Verdana" pitchFamily="34" charset="0"/>
                          <a:ea typeface="Verdana" pitchFamily="34" charset="0"/>
                          <a:cs typeface="Verdana" pitchFamily="34" charset="0"/>
                        </a:rPr>
                        <a:t>(No Automation) 10 Percent Increase</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algn="ctr"/>
                      <a:r>
                        <a:rPr lang="en-US" sz="1200" b="1" dirty="0">
                          <a:latin typeface="Verdana" pitchFamily="34" charset="0"/>
                          <a:ea typeface="Verdana" pitchFamily="34" charset="0"/>
                          <a:cs typeface="Verdana" pitchFamily="34" charset="0"/>
                        </a:rPr>
                        <a:t>(Automation) Base Case</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algn="ctr"/>
                      <a:r>
                        <a:rPr lang="en-US" sz="1200" b="1" dirty="0">
                          <a:latin typeface="Verdana" pitchFamily="34" charset="0"/>
                          <a:ea typeface="Verdana" pitchFamily="34" charset="0"/>
                          <a:cs typeface="Verdana" pitchFamily="34" charset="0"/>
                        </a:rPr>
                        <a:t>(Automation) 10</a:t>
                      </a:r>
                      <a:r>
                        <a:rPr lang="en-US" sz="1200" b="1" baseline="0" dirty="0">
                          <a:latin typeface="Verdana" pitchFamily="34" charset="0"/>
                          <a:ea typeface="Verdana" pitchFamily="34" charset="0"/>
                          <a:cs typeface="Verdana" pitchFamily="34" charset="0"/>
                        </a:rPr>
                        <a:t> Percent Increase</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tc>
                <a:extLst>
                  <a:ext uri="{0D108BD9-81ED-4DB2-BD59-A6C34878D82A}">
                    <a16:rowId xmlns:a16="http://schemas.microsoft.com/office/drawing/2014/main" val="10000"/>
                  </a:ext>
                </a:extLst>
              </a:tr>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Sales revenue</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$55,000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$55,000</a:t>
                      </a:r>
                    </a:p>
                  </a:txBody>
                  <a:tcPr/>
                </a:tc>
                <a:extLst>
                  <a:ext uri="{0D108BD9-81ED-4DB2-BD59-A6C34878D82A}">
                    <a16:rowId xmlns:a16="http://schemas.microsoft.com/office/drawing/2014/main" val="10001"/>
                  </a:ext>
                </a:extLst>
              </a:tr>
              <a:tr h="274320">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Less: Variable costs</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22,000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6,000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6,600</a:t>
                      </a:r>
                    </a:p>
                  </a:txBody>
                  <a:tcPr/>
                </a:tc>
                <a:extLst>
                  <a:ext uri="{0D108BD9-81ED-4DB2-BD59-A6C34878D82A}">
                    <a16:rowId xmlns:a16="http://schemas.microsoft.com/office/drawing/2014/main" val="10002"/>
                  </a:ext>
                </a:extLst>
              </a:tr>
              <a:tr h="274320">
                <a:tc>
                  <a:txBody>
                    <a:bodyPr/>
                    <a:lstStyle/>
                    <a:p>
                      <a:pPr marL="115888" indent="0"/>
                      <a:r>
                        <a:rPr lang="en-US" sz="1200" dirty="0">
                          <a:latin typeface="Verdana" panose="020B0604030504040204" pitchFamily="34" charset="0"/>
                          <a:ea typeface="Verdana" panose="020B0604030504040204" pitchFamily="34" charset="0"/>
                          <a:cs typeface="Verdana" panose="020B0604030504040204" pitchFamily="34" charset="0"/>
                        </a:rPr>
                        <a:t>Contribution margin</a:t>
                      </a:r>
                    </a:p>
                  </a:txBody>
                  <a:tcPr/>
                </a:tc>
                <a:tc>
                  <a:txBody>
                    <a:bodyPr/>
                    <a:lstStyle/>
                    <a:p>
                      <a:pPr algn="r"/>
                      <a:r>
                        <a:rPr lang="en-US" sz="1200" dirty="0">
                          <a:latin typeface="Verdana" pitchFamily="34" charset="0"/>
                          <a:ea typeface="Verdana" pitchFamily="34" charset="0"/>
                          <a:cs typeface="Verdana" pitchFamily="34" charset="0"/>
                        </a:rPr>
                        <a:t>$30,000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itchFamily="34" charset="0"/>
                          <a:ea typeface="Verdana" pitchFamily="34" charset="0"/>
                          <a:cs typeface="Verdana" pitchFamily="34" charset="0"/>
                        </a:rPr>
                        <a:t>$33,000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itchFamily="34" charset="0"/>
                          <a:ea typeface="Verdana" pitchFamily="34" charset="0"/>
                          <a:cs typeface="Verdana" pitchFamily="34" charset="0"/>
                        </a:rPr>
                        <a:t>$44,000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itchFamily="34" charset="0"/>
                          <a:ea typeface="Verdana" pitchFamily="34" charset="0"/>
                          <a:cs typeface="Verdana" pitchFamily="34" charset="0"/>
                        </a:rPr>
                        <a:t>$48,400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3"/>
                  </a:ext>
                </a:extLst>
              </a:tr>
              <a:tr h="274320">
                <a:tc>
                  <a:txBody>
                    <a:bodyPr/>
                    <a:lstStyle/>
                    <a:p>
                      <a:pPr marL="0" indent="0"/>
                      <a:r>
                        <a:rPr lang="en-US" sz="1200" dirty="0">
                          <a:latin typeface="Verdana" pitchFamily="34" charset="0"/>
                          <a:ea typeface="Verdana" pitchFamily="34" charset="0"/>
                          <a:cs typeface="Verdana" pitchFamily="34" charset="0"/>
                        </a:rPr>
                        <a:t>Less: Fixed</a:t>
                      </a:r>
                      <a:r>
                        <a:rPr lang="en-US" sz="1200" baseline="0" dirty="0">
                          <a:latin typeface="Verdana" pitchFamily="34" charset="0"/>
                          <a:ea typeface="Verdana" pitchFamily="34" charset="0"/>
                          <a:cs typeface="Verdana" pitchFamily="34" charset="0"/>
                        </a:rPr>
                        <a:t> costs</a:t>
                      </a:r>
                      <a:endParaRPr lang="en-US" sz="12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a:latin typeface="Verdana" pitchFamily="34" charset="0"/>
                          <a:ea typeface="Verdana" pitchFamily="34" charset="0"/>
                          <a:cs typeface="Verdana" pitchFamily="34" charset="0"/>
                        </a:rPr>
                        <a:t>12,000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a:latin typeface="Verdana" pitchFamily="34" charset="0"/>
                          <a:ea typeface="Verdana" pitchFamily="34" charset="0"/>
                          <a:cs typeface="Verdana" pitchFamily="34" charset="0"/>
                        </a:rPr>
                        <a:t>12,000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a:latin typeface="Verdana" pitchFamily="34" charset="0"/>
                          <a:ea typeface="Verdana" pitchFamily="34" charset="0"/>
                          <a:cs typeface="Verdana" pitchFamily="34" charset="0"/>
                        </a:rPr>
                        <a:t>26,000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a:latin typeface="Verdana" pitchFamily="34" charset="0"/>
                          <a:ea typeface="Verdana" pitchFamily="34" charset="0"/>
                          <a:cs typeface="Verdana" pitchFamily="34" charset="0"/>
                        </a:rPr>
                        <a:t>26,000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4"/>
                  </a:ext>
                </a:extLst>
              </a:tr>
              <a:tr h="274320">
                <a:tc>
                  <a:txBody>
                    <a:bodyPr/>
                    <a:lstStyle/>
                    <a:p>
                      <a:pPr marL="0" indent="115888"/>
                      <a:r>
                        <a:rPr lang="en-US" sz="1200" dirty="0">
                          <a:latin typeface="Verdana" panose="020B0604030504040204" pitchFamily="34" charset="0"/>
                          <a:ea typeface="Verdana" panose="020B0604030504040204" pitchFamily="34" charset="0"/>
                          <a:cs typeface="Verdana" panose="020B0604030504040204" pitchFamily="34" charset="0"/>
                        </a:rPr>
                        <a:t>Net operating income</a:t>
                      </a:r>
                    </a:p>
                  </a:txBody>
                  <a:tcPr/>
                </a:tc>
                <a:tc>
                  <a:txBody>
                    <a:bodyPr/>
                    <a:lstStyle/>
                    <a:p>
                      <a:pPr algn="r"/>
                      <a:r>
                        <a:rPr lang="en-US" sz="1200" dirty="0">
                          <a:latin typeface="Verdana" pitchFamily="34" charset="0"/>
                          <a:ea typeface="Verdana" pitchFamily="34" charset="0"/>
                          <a:cs typeface="Verdana" pitchFamily="34" charset="0"/>
                        </a:rPr>
                        <a:t>$18,000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itchFamily="34" charset="0"/>
                          <a:ea typeface="Verdana" pitchFamily="34" charset="0"/>
                          <a:cs typeface="Verdana" pitchFamily="34" charset="0"/>
                        </a:rPr>
                        <a:t>$21,000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itchFamily="34" charset="0"/>
                          <a:ea typeface="Verdana" pitchFamily="34" charset="0"/>
                          <a:cs typeface="Verdana" pitchFamily="34" charset="0"/>
                        </a:rPr>
                        <a:t>$18,000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itchFamily="34" charset="0"/>
                          <a:ea typeface="Verdana" pitchFamily="34" charset="0"/>
                          <a:cs typeface="Verdana" pitchFamily="34" charset="0"/>
                        </a:rPr>
                        <a:t>$22,400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5"/>
                  </a:ext>
                </a:extLst>
              </a:tr>
            </a:tbl>
          </a:graphicData>
        </a:graphic>
      </p:graphicFrame>
      <p:graphicFrame>
        <p:nvGraphicFramePr>
          <p:cNvPr id="6" name="Object 5" descr="No automation equals $21,000 minus 18,000, divided by 18,000 equals 16.7 percent.&#10;Automatino equals $22,400 minus 18,000; divided by 18,000 equals 24.4 percent." title="Formulas for Percent change in Net Operating Income on Nonautomation versus Automation">
            <a:extLst>
              <a:ext uri="{FF2B5EF4-FFF2-40B4-BE49-F238E27FC236}">
                <a16:creationId xmlns:a16="http://schemas.microsoft.com/office/drawing/2014/main" id="{F959319D-1860-43C7-BFCA-9946FB2DD21C}"/>
              </a:ext>
            </a:extLst>
          </p:cNvPr>
          <p:cNvGraphicFramePr>
            <a:graphicFrameLocks noChangeAspect="1"/>
          </p:cNvGraphicFramePr>
          <p:nvPr/>
        </p:nvGraphicFramePr>
        <p:xfrm>
          <a:off x="800100" y="5638800"/>
          <a:ext cx="7594600" cy="914400"/>
        </p:xfrm>
        <a:graphic>
          <a:graphicData uri="http://schemas.openxmlformats.org/presentationml/2006/ole">
            <mc:AlternateContent xmlns:mc="http://schemas.openxmlformats.org/markup-compatibility/2006">
              <mc:Choice xmlns:v="urn:schemas-microsoft-com:vml" Requires="v">
                <p:oleObj name="Equation" r:id="rId3" imgW="7594560" imgH="914400" progId="Equation.DSMT4">
                  <p:embed/>
                </p:oleObj>
              </mc:Choice>
              <mc:Fallback>
                <p:oleObj name="Equation" r:id="rId3" imgW="7594560" imgH="914400" progId="Equation.DSMT4">
                  <p:embed/>
                  <p:pic>
                    <p:nvPicPr>
                      <p:cNvPr id="6" name="Object 5" descr="No automation equals $21,000 minus 18,000, divided by 18,000 equals 16.7 percent.&#10;Automatino equals $22,400 minus 18,000; divided by 18,000 equals 24.4 percent." title="Formulas for Percent change in Net Operating Income on Nonautomation versus Automation">
                        <a:extLst>
                          <a:ext uri="{FF2B5EF4-FFF2-40B4-BE49-F238E27FC236}">
                            <a16:creationId xmlns:a16="http://schemas.microsoft.com/office/drawing/2014/main" id="{F959319D-1860-43C7-BFCA-9946FB2DD21C}"/>
                          </a:ext>
                        </a:extLst>
                      </p:cNvPr>
                      <p:cNvPicPr>
                        <a:picLocks noChangeAspect="1" noChangeArrowheads="1"/>
                      </p:cNvPicPr>
                      <p:nvPr/>
                    </p:nvPicPr>
                    <p:blipFill>
                      <a:blip r:embed="rId4"/>
                      <a:srcRect/>
                      <a:stretch>
                        <a:fillRect/>
                      </a:stretch>
                    </p:blipFill>
                    <p:spPr bwMode="auto">
                      <a:xfrm>
                        <a:off x="800100" y="5638800"/>
                        <a:ext cx="7594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23406417"/>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C53F68-473F-4E30-B8B1-99CAE88346B5}"/>
              </a:ext>
            </a:extLst>
          </p:cNvPr>
          <p:cNvSpPr>
            <a:spLocks noGrp="1"/>
          </p:cNvSpPr>
          <p:nvPr>
            <p:ph type="title"/>
          </p:nvPr>
        </p:nvSpPr>
        <p:spPr>
          <a:xfrm>
            <a:off x="831273" y="277813"/>
            <a:ext cx="7481455" cy="1139825"/>
          </a:xfrm>
        </p:spPr>
        <p:txBody>
          <a:bodyPr/>
          <a:lstStyle/>
          <a:p>
            <a:r>
              <a:rPr lang="en-US" b="1" dirty="0">
                <a:solidFill>
                  <a:srgbClr val="FF0000"/>
                </a:solidFill>
              </a:rPr>
              <a:t>Degree of Operating Leverage </a:t>
            </a:r>
          </a:p>
        </p:txBody>
      </p:sp>
      <p:sp>
        <p:nvSpPr>
          <p:cNvPr id="8" name="Content Placeholder 7">
            <a:extLst>
              <a:ext uri="{FF2B5EF4-FFF2-40B4-BE49-F238E27FC236}">
                <a16:creationId xmlns:a16="http://schemas.microsoft.com/office/drawing/2014/main" id="{F524EF33-0E84-4220-A07A-5719E6D62643}"/>
              </a:ext>
            </a:extLst>
          </p:cNvPr>
          <p:cNvSpPr>
            <a:spLocks noGrp="1"/>
          </p:cNvSpPr>
          <p:nvPr>
            <p:ph sz="quarter" idx="14"/>
          </p:nvPr>
        </p:nvSpPr>
        <p:spPr>
          <a:xfrm>
            <a:off x="457200" y="1524000"/>
            <a:ext cx="8229600" cy="1295400"/>
          </a:xfrm>
        </p:spPr>
        <p:txBody>
          <a:bodyPr/>
          <a:lstStyle/>
          <a:p>
            <a:pPr marL="0" indent="0">
              <a:buNone/>
            </a:pPr>
            <a:r>
              <a:rPr lang="en-US" sz="2000" dirty="0"/>
              <a:t>Let's see how the trade-off of fixed and variable costs (through automation) affected Starbucks’ degree of operating leverage. We will use the indifference point of 20,000 cups sold.</a:t>
            </a:r>
          </a:p>
        </p:txBody>
      </p:sp>
      <p:graphicFrame>
        <p:nvGraphicFramePr>
          <p:cNvPr id="9" name="Table 8">
            <a:extLst>
              <a:ext uri="{FF2B5EF4-FFF2-40B4-BE49-F238E27FC236}">
                <a16:creationId xmlns:a16="http://schemas.microsoft.com/office/drawing/2014/main" id="{70AB1024-AA8E-4EA4-A931-3CC880CDD769}"/>
              </a:ext>
            </a:extLst>
          </p:cNvPr>
          <p:cNvGraphicFramePr>
            <a:graphicFrameLocks noGrp="1"/>
          </p:cNvGraphicFramePr>
          <p:nvPr/>
        </p:nvGraphicFramePr>
        <p:xfrm>
          <a:off x="495300" y="2971800"/>
          <a:ext cx="8077200" cy="2240277"/>
        </p:xfrm>
        <a:graphic>
          <a:graphicData uri="http://schemas.openxmlformats.org/drawingml/2006/table">
            <a:tbl>
              <a:tblPr firstRow="1" bandRow="1">
                <a:tableStyleId>{5940675A-B579-460E-94D1-54222C63F5DA}</a:tableStyleId>
              </a:tblPr>
              <a:tblGrid>
                <a:gridCol w="2438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822960">
                <a:tc>
                  <a:txBody>
                    <a:bodyPr/>
                    <a:lstStyle/>
                    <a:p>
                      <a:pPr algn="ct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ctr"/>
                      <a:r>
                        <a:rPr lang="en-US" sz="1200" b="1" dirty="0">
                          <a:latin typeface="Verdana" panose="020B0604030504040204" pitchFamily="34" charset="0"/>
                          <a:ea typeface="Verdana" panose="020B0604030504040204" pitchFamily="34" charset="0"/>
                          <a:cs typeface="Verdana" panose="020B0604030504040204" pitchFamily="34" charset="0"/>
                        </a:rPr>
                        <a:t>20,000  Units sold (No Automation) Per Unit</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ctr"/>
                      <a:r>
                        <a:rPr lang="en-US" sz="1200" b="1" dirty="0">
                          <a:latin typeface="Verdana" panose="020B0604030504040204" pitchFamily="34" charset="0"/>
                          <a:ea typeface="Verdana" panose="020B0604030504040204" pitchFamily="34" charset="0"/>
                          <a:cs typeface="Verdana" panose="020B0604030504040204" pitchFamily="34" charset="0"/>
                        </a:rPr>
                        <a:t>20,000  Units sold (No Automation) Total</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ctr"/>
                      <a:r>
                        <a:rPr lang="en-US" sz="1200" b="1" dirty="0">
                          <a:latin typeface="Verdana" panose="020B0604030504040204" pitchFamily="34" charset="0"/>
                          <a:ea typeface="Verdana" panose="020B0604030504040204" pitchFamily="34" charset="0"/>
                          <a:cs typeface="Verdana" panose="020B0604030504040204" pitchFamily="34" charset="0"/>
                        </a:rPr>
                        <a:t>20,000  Units sold (Automation) Per</a:t>
                      </a:r>
                      <a:r>
                        <a:rPr lang="en-US" sz="1200" b="1" baseline="0" dirty="0">
                          <a:latin typeface="Verdana" panose="020B0604030504040204" pitchFamily="34" charset="0"/>
                          <a:ea typeface="Verdana" panose="020B0604030504040204" pitchFamily="34" charset="0"/>
                          <a:cs typeface="Verdana" panose="020B0604030504040204" pitchFamily="34" charset="0"/>
                        </a:rPr>
                        <a:t> Unit</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ctr"/>
                      <a:r>
                        <a:rPr lang="en-US" sz="1200" b="1" dirty="0">
                          <a:latin typeface="Verdana" panose="020B0604030504040204" pitchFamily="34" charset="0"/>
                          <a:ea typeface="Verdana" panose="020B0604030504040204" pitchFamily="34" charset="0"/>
                          <a:cs typeface="Verdana" panose="020B0604030504040204" pitchFamily="34" charset="0"/>
                        </a:rPr>
                        <a:t>20,000  Units sold (Automation) Total</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0"/>
                  </a:ext>
                </a:extLst>
              </a:tr>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Sales revenue</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$2.50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$2.50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$50,000</a:t>
                      </a:r>
                    </a:p>
                  </a:txBody>
                  <a:tcPr/>
                </a:tc>
                <a:extLst>
                  <a:ext uri="{0D108BD9-81ED-4DB2-BD59-A6C34878D82A}">
                    <a16:rowId xmlns:a16="http://schemas.microsoft.com/office/drawing/2014/main" val="10001"/>
                  </a:ext>
                </a:extLst>
              </a:tr>
              <a:tr h="274320">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Less: Variable costs</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1.00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0.30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6,000</a:t>
                      </a:r>
                    </a:p>
                  </a:txBody>
                  <a:tcPr/>
                </a:tc>
                <a:extLst>
                  <a:ext uri="{0D108BD9-81ED-4DB2-BD59-A6C34878D82A}">
                    <a16:rowId xmlns:a16="http://schemas.microsoft.com/office/drawing/2014/main" val="10002"/>
                  </a:ext>
                </a:extLst>
              </a:tr>
              <a:tr h="274320">
                <a:tc>
                  <a:txBody>
                    <a:bodyPr/>
                    <a:lstStyle/>
                    <a:p>
                      <a:pPr marL="0" indent="0"/>
                      <a:r>
                        <a:rPr lang="en-US" sz="1200" dirty="0">
                          <a:latin typeface="Verdana" panose="020B0604030504040204" pitchFamily="34" charset="0"/>
                          <a:ea typeface="Verdana" panose="020B0604030504040204" pitchFamily="34" charset="0"/>
                          <a:cs typeface="Verdana" panose="020B0604030504040204" pitchFamily="34" charset="0"/>
                        </a:rPr>
                        <a:t>Contribution margin</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$1.50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$30,000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$2.20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$44,000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3"/>
                  </a:ext>
                </a:extLst>
              </a:tr>
              <a:tr h="274320">
                <a:tc>
                  <a:txBody>
                    <a:bodyPr/>
                    <a:lstStyle/>
                    <a:p>
                      <a:pPr marL="0" indent="115888"/>
                      <a:r>
                        <a:rPr lang="en-US" sz="1200" dirty="0">
                          <a:latin typeface="Verdana" panose="020B0604030504040204" pitchFamily="34" charset="0"/>
                          <a:ea typeface="Verdana" panose="020B0604030504040204" pitchFamily="34" charset="0"/>
                          <a:cs typeface="Verdana" panose="020B0604030504040204" pitchFamily="34" charset="0"/>
                        </a:rPr>
                        <a:t>Less fixed costs</a:t>
                      </a:r>
                    </a:p>
                  </a:txBody>
                  <a:tcPr/>
                </a:tc>
                <a:tc>
                  <a:txBody>
                    <a:bodyPr/>
                    <a:lstStyle/>
                    <a:p>
                      <a:pPr algn="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12,000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26,000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4"/>
                  </a:ext>
                </a:extLst>
              </a:tr>
              <a:tr h="320037">
                <a:tc>
                  <a:txBody>
                    <a:bodyPr/>
                    <a:lstStyle/>
                    <a:p>
                      <a:pPr marL="0" indent="0"/>
                      <a:r>
                        <a:rPr lang="en-US" sz="1200" dirty="0">
                          <a:latin typeface="Verdana" panose="020B0604030504040204" pitchFamily="34" charset="0"/>
                          <a:ea typeface="Verdana" panose="020B0604030504040204" pitchFamily="34" charset="0"/>
                          <a:cs typeface="Verdana" panose="020B0604030504040204" pitchFamily="34" charset="0"/>
                        </a:rPr>
                        <a:t>Net operating income</a:t>
                      </a:r>
                    </a:p>
                  </a:txBody>
                  <a:tcPr/>
                </a:tc>
                <a:tc>
                  <a:txBody>
                    <a:bodyPr/>
                    <a:lstStyle/>
                    <a:p>
                      <a:pPr algn="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$18,000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$18,000</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5"/>
                  </a:ext>
                </a:extLst>
              </a:tr>
            </a:tbl>
          </a:graphicData>
        </a:graphic>
      </p:graphicFrame>
      <p:graphicFrame>
        <p:nvGraphicFramePr>
          <p:cNvPr id="10" name="Object 9">
            <a:extLst>
              <a:ext uri="{FF2B5EF4-FFF2-40B4-BE49-F238E27FC236}">
                <a16:creationId xmlns:a16="http://schemas.microsoft.com/office/drawing/2014/main" id="{8CCD592B-842E-4A3E-8FD8-7C8C0A2A1E84}"/>
              </a:ext>
            </a:extLst>
          </p:cNvPr>
          <p:cNvGraphicFramePr>
            <a:graphicFrameLocks noChangeAspect="1"/>
          </p:cNvGraphicFramePr>
          <p:nvPr/>
        </p:nvGraphicFramePr>
        <p:xfrm>
          <a:off x="1038225" y="5289550"/>
          <a:ext cx="7065963" cy="1263650"/>
        </p:xfrm>
        <a:graphic>
          <a:graphicData uri="http://schemas.openxmlformats.org/presentationml/2006/ole">
            <mc:AlternateContent xmlns:mc="http://schemas.openxmlformats.org/markup-compatibility/2006">
              <mc:Choice xmlns:v="urn:schemas-microsoft-com:vml" Requires="v">
                <p:oleObj name="Equation" r:id="rId3" imgW="4825800" imgH="863280" progId="Equation.DSMT4">
                  <p:embed/>
                </p:oleObj>
              </mc:Choice>
              <mc:Fallback>
                <p:oleObj name="Equation" r:id="rId3" imgW="4825800" imgH="863280" progId="Equation.DSMT4">
                  <p:embed/>
                  <p:pic>
                    <p:nvPicPr>
                      <p:cNvPr id="10" name="Object 9">
                        <a:extLst>
                          <a:ext uri="{FF2B5EF4-FFF2-40B4-BE49-F238E27FC236}">
                            <a16:creationId xmlns:a16="http://schemas.microsoft.com/office/drawing/2014/main" id="{8CCD592B-842E-4A3E-8FD8-7C8C0A2A1E84}"/>
                          </a:ext>
                        </a:extLst>
                      </p:cNvPr>
                      <p:cNvPicPr/>
                      <p:nvPr/>
                    </p:nvPicPr>
                    <p:blipFill>
                      <a:blip r:embed="rId4"/>
                      <a:stretch>
                        <a:fillRect/>
                      </a:stretch>
                    </p:blipFill>
                    <p:spPr>
                      <a:xfrm>
                        <a:off x="1038225" y="5289550"/>
                        <a:ext cx="7065963" cy="1263650"/>
                      </a:xfrm>
                      <a:prstGeom prst="rect">
                        <a:avLst/>
                      </a:prstGeom>
                    </p:spPr>
                  </p:pic>
                </p:oleObj>
              </mc:Fallback>
            </mc:AlternateContent>
          </a:graphicData>
        </a:graphic>
      </p:graphicFrame>
    </p:spTree>
    <p:extLst>
      <p:ext uri="{BB962C8B-B14F-4D97-AF65-F5344CB8AC3E}">
        <p14:creationId xmlns:p14="http://schemas.microsoft.com/office/powerpoint/2010/main" val="325261179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424F23-ED5C-4151-A366-D9F70E3A42C6}"/>
              </a:ext>
            </a:extLst>
          </p:cNvPr>
          <p:cNvSpPr>
            <a:spLocks noGrp="1"/>
          </p:cNvSpPr>
          <p:nvPr>
            <p:ph type="title"/>
          </p:nvPr>
        </p:nvSpPr>
        <p:spPr/>
        <p:txBody>
          <a:bodyPr/>
          <a:lstStyle/>
          <a:p>
            <a:r>
              <a:rPr lang="en-US" b="1" dirty="0">
                <a:solidFill>
                  <a:srgbClr val="FF0000"/>
                </a:solidFill>
              </a:rPr>
              <a:t>INDIFFERENT POINT</a:t>
            </a:r>
            <a:r>
              <a:rPr lang="en-US" dirty="0">
                <a:solidFill>
                  <a:srgbClr val="FF0000"/>
                </a:solidFill>
              </a:rPr>
              <a:t> </a:t>
            </a:r>
          </a:p>
        </p:txBody>
      </p:sp>
      <p:graphicFrame>
        <p:nvGraphicFramePr>
          <p:cNvPr id="3" name="Object 2"/>
          <p:cNvGraphicFramePr>
            <a:graphicFrameLocks noChangeAspect="1"/>
          </p:cNvGraphicFramePr>
          <p:nvPr/>
        </p:nvGraphicFramePr>
        <p:xfrm>
          <a:off x="141288" y="2674938"/>
          <a:ext cx="8796337" cy="1433512"/>
        </p:xfrm>
        <a:graphic>
          <a:graphicData uri="http://schemas.openxmlformats.org/presentationml/2006/ole">
            <mc:AlternateContent xmlns:mc="http://schemas.openxmlformats.org/markup-compatibility/2006">
              <mc:Choice xmlns:v="urn:schemas-microsoft-com:vml" Requires="v">
                <p:oleObj name="Equation" r:id="rId3" imgW="9677160" imgH="1574640" progId="Equation.DSMT4">
                  <p:embed/>
                </p:oleObj>
              </mc:Choice>
              <mc:Fallback>
                <p:oleObj name="Equation" r:id="rId3" imgW="9677160" imgH="1574640" progId="Equation.DSMT4">
                  <p:embed/>
                  <p:pic>
                    <p:nvPicPr>
                      <p:cNvPr id="3" name="Object 2"/>
                      <p:cNvPicPr/>
                      <p:nvPr/>
                    </p:nvPicPr>
                    <p:blipFill>
                      <a:blip r:embed="rId4"/>
                      <a:stretch>
                        <a:fillRect/>
                      </a:stretch>
                    </p:blipFill>
                    <p:spPr>
                      <a:xfrm>
                        <a:off x="141288" y="2674938"/>
                        <a:ext cx="8796337" cy="1433512"/>
                      </a:xfrm>
                      <a:prstGeom prst="rect">
                        <a:avLst/>
                      </a:prstGeom>
                    </p:spPr>
                  </p:pic>
                </p:oleObj>
              </mc:Fallback>
            </mc:AlternateContent>
          </a:graphicData>
        </a:graphic>
      </p:graphicFrame>
    </p:spTree>
    <p:extLst>
      <p:ext uri="{BB962C8B-B14F-4D97-AF65-F5344CB8AC3E}">
        <p14:creationId xmlns:p14="http://schemas.microsoft.com/office/powerpoint/2010/main" val="1269053968"/>
      </p:ext>
    </p:extLst>
  </p:cSld>
  <p:clrMapOvr>
    <a:masterClrMapping/>
  </p:clrMapOvr>
</p:sld>
</file>

<file path=ppt/theme/theme1.xml><?xml version="1.0" encoding="utf-8"?>
<a:theme xmlns:a="http://schemas.openxmlformats.org/drawingml/2006/main" name="1_Theme1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d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1414294</TotalTime>
  <Words>4869</Words>
  <Application>Microsoft Office PowerPoint</Application>
  <PresentationFormat>On-screen Show (4:3)</PresentationFormat>
  <Paragraphs>418</Paragraphs>
  <Slides>31</Slides>
  <Notes>30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3" baseType="lpstr">
      <vt:lpstr>ＭＳ Ｐゴシック</vt:lpstr>
      <vt:lpstr>Arial</vt:lpstr>
      <vt:lpstr>Arial Rounded MT Bold</vt:lpstr>
      <vt:lpstr>Calibri</vt:lpstr>
      <vt:lpstr>Courier New</vt:lpstr>
      <vt:lpstr>Monotype Sorts</vt:lpstr>
      <vt:lpstr>Times</vt:lpstr>
      <vt:lpstr>Verdana</vt:lpstr>
      <vt:lpstr>Wingdings</vt:lpstr>
      <vt:lpstr>Wingdings 3</vt:lpstr>
      <vt:lpstr>1_Theme1r</vt:lpstr>
      <vt:lpstr>Equation</vt:lpstr>
      <vt:lpstr>LECTURE TWO</vt:lpstr>
      <vt:lpstr>Contribution Margin Income Statement</vt:lpstr>
      <vt:lpstr>Cost-Volume-Profit in Graph</vt:lpstr>
      <vt:lpstr>COST_VOLUME _PROFIT ANALYSIS Break- Even Analysis</vt:lpstr>
      <vt:lpstr>Break-even in Dollar Sales: Formula Method</vt:lpstr>
      <vt:lpstr>Quick Check </vt:lpstr>
      <vt:lpstr>Quick Check </vt:lpstr>
      <vt:lpstr>Quick Check </vt:lpstr>
      <vt:lpstr>Quick Check </vt:lpstr>
      <vt:lpstr>Target Profit Analysis </vt:lpstr>
      <vt:lpstr>The Formula Method</vt:lpstr>
      <vt:lpstr>Target Profit Analysis in Terms of  Unit Sales</vt:lpstr>
      <vt:lpstr>Formula Method</vt:lpstr>
      <vt:lpstr>Quick Check </vt:lpstr>
      <vt:lpstr>Quick Check </vt:lpstr>
      <vt:lpstr>Quick Check </vt:lpstr>
      <vt:lpstr>Quick Check </vt:lpstr>
      <vt:lpstr>Margin of Safety </vt:lpstr>
      <vt:lpstr>Margin of Safety </vt:lpstr>
      <vt:lpstr>Multi-Product Cost-Volume-Profit Analysis</vt:lpstr>
      <vt:lpstr>Weighted-Average Contribution Margin Ratio </vt:lpstr>
      <vt:lpstr>Weighted-Average Contribution Margin Ratio </vt:lpstr>
      <vt:lpstr>Weighted-Average Contribution Margin Ratio </vt:lpstr>
      <vt:lpstr>Weighted-Average Contribution Margin per Unit</vt:lpstr>
      <vt:lpstr>Weighted-Average Break-Even in Unit Sales</vt:lpstr>
      <vt:lpstr>Degree of Operating Leverage (DOL)</vt:lpstr>
      <vt:lpstr>Changes in Cost Structure </vt:lpstr>
      <vt:lpstr>Changes in Cost Structure</vt:lpstr>
      <vt:lpstr>EXAMPLE </vt:lpstr>
      <vt:lpstr>Degree of Operating Leverage </vt:lpstr>
      <vt:lpstr>INDIFFERENT POINT </vt:lpstr>
    </vt:vector>
  </TitlesOfParts>
  <Company>Jon A. Booker, Ph.D., CPA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Cost-Volume-Profit Analysis</dc:title>
  <dc:creator>Whitecotton</dc:creator>
  <cp:lastModifiedBy>Maha Ramadan</cp:lastModifiedBy>
  <cp:revision>1343</cp:revision>
  <dcterms:created xsi:type="dcterms:W3CDTF">2004-06-28T16:23:55Z</dcterms:created>
  <dcterms:modified xsi:type="dcterms:W3CDTF">2026-04-04T20:43:34Z</dcterms:modified>
</cp:coreProperties>
</file>